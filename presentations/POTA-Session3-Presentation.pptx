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Logging &amp;
Uploading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 session — cover the material efficiently and save 15 minutes for the simulation. The simulation is where it clicks. Don't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Band &amp; Mode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up PSKReporter live on screen and show what the current bands look like. Point to Florida on the map. Show where signals are being heard. This is more useful than any propagation theory — students learn to look at the map instead of memorizing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these aren't in competition — they complement each other. Start with SSB for the enjoyment and human contact, switch to FT8 if you're struggling to get to 10. Many operators do both in the same activation. CW is a third option — not covering it deeply in this course but it's very effective for POTA. Point students to CWops and LCWO for practice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CQ POTA — The On-Air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listen-first habit. Especially on 40m, the band can be crowded and jumping on an occupied frequency creates problems. Show the 40m segment on a bandscope if available. The good news: hunters know to listen for activators across a range of frequencies, so you have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this exchange out loud with the class. Have a student call back, you respond. Then switch. The rhythm comes quickly. Emphasize QRZ immediately after — no dead air, no pleasantries during the run. You can chat with someone after you have 10 contacts. Before that, every second of dead air is a hunter giving up and tuning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pileup is a good problem. Tell students that the chaos of 5 stations calling simultaneously is exciting — the trick is staying methodical. Pick one, work them, move on. If you can't separate two stations, don't guess. Ask for a partial. Most hunters are experienced and will adjust to your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Self-Spotting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 open pota.app on the projected screen and walk through spotting. Show what the Spots page looks like from the hunter's side. If a real spot is happening nearby, point it out. The spot page is real-time and refreshes every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FT8 from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FT8 takes about 30 minutes to set up the first time, then it's plug and play. If students want to try FT8 at the capstone activation, offer a brief pre-capstone setup session (even 20 min helps). The Digirig is inexpensive enough to not be a barrier. For IC-705 users: just the USB cable and WSJT-X — almost zero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are surprised by the power warning. Make it concrete: at 100W SSB, the PA is transmitting 100W for 30% of the time on average. At 100W FT8, it's transmitting 100W for 95% of the time. The heat and battery math is completely different. 50W is the safe FT8 ceiling for most 100W radios.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Field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live on screen with HAMRS open on your phone projected. Do a real entry. Show students the QSO list building up. Then do the export — open the file in a text editor so they can see the raw ADIF. This demystifies the format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HAMRS generates this automatically. The two red fields — SIG and SIG_INFO — are what POTA needs that a generic logger won't provide. Show the raw file and highlight those two fields. When students understand the format, they can fix export issues themselves instead of panicking.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upload live if possible. If you have a test account, upload the log you just built in the HAMRS demo. If not, show screenshots of the upload flow. The confirmation screen where the activation shows on the profile is satisfying — screenshot it and show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Awards &amp;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badge icons on pota.app. Tell students their first activation gets them a badge — even just the 1-activation mark. It's motivating. Mention the "most-wanted" parks concept — some operators make a game of finding the rarest parks in their state and activating them. That's a great long-term goal to set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session payoff. Move quickly and don't over-coach — let students figure out the rhythm. The student who freezes at the mic needs one try at it, then they'll be fine. Watch for students who aren't opening HAMRS and gently redirect. The upload confirmation at the end is the "this is real" moment for many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 14.074 MHz
Same pattern: 40m is 7.074, 20m is 14.074, 15m is 21.074. Easy to remember — always .074 offset from the band edge pattern. Dial in USB mode for FT8.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 Missing SIG/SIG_INFO fields
pota.app needs to know these were POTA-specific contacts and which park they were from. HAMRS adds these automatically if you set the park reference at activation start. Generic loggers don't add them. Fix: open the ADIF in a text editor and add &lt;SIG:4&gt;POTA and &lt;SIG_INFO:6&gt;K-XXXX to each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 Check your pota.app spot
No spot = no hunters know you're there. The most common reason for zero responses is a missing or incorrect spot. Check the spot page — is your callsign there? Is the frequency correct? If the spot looks fine and still no response after 5 more minutes, check propagation (PSKReporter) and consider changing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the capstone date, time, meet location, and park reference here. If not yet scheduled, ask students for their available weekends. A Sunday morning activation is ideal for Florida — cooler temps, active bands, parks not yet crowded. Target a park within 20 miles that has a covered pavilion as weather backup. Honeymoon Island (K-2119) or Brooker Creek (K-2872) are great Pinellas-area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10B981"/>
          </a:solidFill>
          <a:ln/>
        </p:spPr>
      </p:sp>
      <p:sp>
        <p:nvSpPr>
          <p:cNvPr id="3" name="Text 1"/>
          <p:cNvSpPr/>
          <p:nvPr/>
        </p:nvSpPr>
        <p:spPr>
          <a:xfrm>
            <a:off x="457200" y="822960"/>
            <a:ext cx="8229600" cy="2011680"/>
          </a:xfrm>
          <a:prstGeom prst="rect">
            <a:avLst/>
          </a:prstGeom>
          <a:noFill/>
          <a:ln/>
        </p:spPr>
        <p:txBody>
          <a:bodyPr wrap="square" rtlCol="0" anchor="ctr"/>
          <a:lstStyle/>
          <a:p>
            <a:pPr indent="0" marL="0">
              <a:buNone/>
            </a:pPr>
            <a:r>
              <a:rPr lang="en-US" sz="4000" b="1" dirty="0">
                <a:solidFill>
                  <a:srgbClr val="FFFFFF"/>
                </a:solidFill>
                <a:latin typeface="Plus Jakarta Sans" pitchFamily="34" charset="0"/>
                <a:ea typeface="Plus Jakarta Sans" pitchFamily="34" charset="-122"/>
                <a:cs typeface="Plus Jakarta Sans" pitchFamily="34" charset="-120"/>
              </a:rPr>
              <a:t>Operating, Logging &amp;</a:t>
            </a:r>
            <a:endParaRPr lang="en-US" sz="4000" dirty="0"/>
          </a:p>
          <a:p>
            <a:pPr indent="0" marL="0">
              <a:buNone/>
            </a:pPr>
            <a:r>
              <a:rPr lang="en-US" sz="4000" b="1" dirty="0">
                <a:solidFill>
                  <a:srgbClr val="FFFFFF"/>
                </a:solidFill>
                <a:latin typeface="Plus Jakarta Sans" pitchFamily="34" charset="0"/>
                <a:ea typeface="Plus Jakarta Sans" pitchFamily="34" charset="-122"/>
                <a:cs typeface="Plus Jakarta Sans" pitchFamily="34" charset="-120"/>
              </a:rPr>
              <a:t>Uploading</a:t>
            </a:r>
            <a:endParaRPr lang="en-US" sz="4000" dirty="0"/>
          </a:p>
        </p:txBody>
      </p:sp>
      <p:sp>
        <p:nvSpPr>
          <p:cNvPr id="4" name="Text 2"/>
          <p:cNvSpPr/>
          <p:nvPr/>
        </p:nvSpPr>
        <p:spPr>
          <a:xfrm>
            <a:off x="457200" y="2743200"/>
            <a:ext cx="8229600" cy="640080"/>
          </a:xfrm>
          <a:prstGeom prst="rect">
            <a:avLst/>
          </a:prstGeom>
          <a:noFill/>
          <a:ln/>
        </p:spPr>
        <p:txBody>
          <a:bodyPr wrap="square" rtlCol="0" anchor="ctr"/>
          <a:lstStyle/>
          <a:p>
            <a:pPr indent="0" marL="0">
              <a:buNone/>
            </a:pPr>
            <a:r>
              <a:rPr lang="en-US" sz="1800" dirty="0">
                <a:solidFill>
                  <a:srgbClr val="6EE7B7"/>
                </a:solidFill>
                <a:latin typeface="Plus Jakarta Sans" pitchFamily="34" charset="0"/>
                <a:ea typeface="Plus Jakarta Sans" pitchFamily="34" charset="-122"/>
                <a:cs typeface="Plus Jakarta Sans" pitchFamily="34" charset="-120"/>
              </a:rPr>
              <a:t>Session 3 — The On-Air Workflow</a:t>
            </a:r>
            <a:endParaRPr lang="en-US" sz="1800" dirty="0"/>
          </a:p>
        </p:txBody>
      </p:sp>
      <p:sp>
        <p:nvSpPr>
          <p:cNvPr id="5" name="Text 3"/>
          <p:cNvSpPr/>
          <p:nvPr/>
        </p:nvSpPr>
        <p:spPr>
          <a:xfrm>
            <a:off x="457200" y="3474720"/>
            <a:ext cx="8229600" cy="457200"/>
          </a:xfrm>
          <a:prstGeom prst="rect">
            <a:avLst/>
          </a:prstGeom>
          <a:noFill/>
          <a:ln/>
        </p:spPr>
        <p:txBody>
          <a:bodyPr wrap="square" rtlCol="0" anchor="ctr"/>
          <a:lstStyle/>
          <a:p>
            <a:pPr indent="0" marL="0">
              <a:buNone/>
            </a:pPr>
            <a:r>
              <a:rPr lang="en-US" sz="1300" dirty="0">
                <a:solidFill>
                  <a:srgbClr val="94A3B8"/>
                </a:solidFill>
                <a:latin typeface="Plus Jakarta Sans" pitchFamily="34" charset="0"/>
                <a:ea typeface="Plus Jakarta Sans" pitchFamily="34" charset="-122"/>
                <a:cs typeface="Plus Jakarta Sans" pitchFamily="34" charset="-120"/>
              </a:rPr>
              <a:t>TavaOne Education · W4GGJ</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Today's Session</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Band and mode selection — when to be where</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CQ POTA procedure and exchange</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Self-spotting on pota.app</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FT8 from the field — why it matters</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HAMRS logging — walkthrough from create to ADIF</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Log upload to pota.app — full workflow</a:t>
            </a:r>
            <a:endParaRPr lang="en-US" sz="1600" dirty="0"/>
          </a:p>
          <a:p>
            <a:pPr marL="342900" indent="-342900">
              <a:spcBef>
                <a:spcPts val="800"/>
              </a:spcBef>
              <a:buSzPct val="100000"/>
              <a:buChar char="•"/>
            </a:pPr>
            <a:r>
              <a:rPr lang="en-US" sz="1600" b="1" dirty="0">
                <a:solidFill>
                  <a:srgbClr val="6EE7B7"/>
                </a:solidFill>
                <a:latin typeface="Plus Jakarta Sans" pitchFamily="34" charset="0"/>
                <a:ea typeface="Plus Jakarta Sans" pitchFamily="34" charset="-122"/>
                <a:cs typeface="Plus Jakarta Sans" pitchFamily="34" charset="-120"/>
              </a:rPr>
              <a:t>Simulated activation — 10 QSOs start to upload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Band &amp; Mode Selection</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When to be where, and why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Band Strategy for Florida Activations</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40m — the workhorse. Morning/afternoon: regional (0–500 mi). Night: 500–2500 mi.</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20m — midday through mid-afternoon. Best for 1,000–4,000 mi hunters.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15m / 10m — when solar flux is high. Check before going. Often excellent in Solar Cycle 25.</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80m — evenings, high noise, short range. Backup when 40m skips over your area.</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VHF FM — 147.555 simplex. Any time. Local hunters, quick opener.</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Pre-activation check:</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PSKReporter.info — see what bands are open in your area</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DX Maps app — real-time propagation map</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POTA Spots page — what bands active activators are using right now</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Mode Tradeoffs</a:t>
            </a:r>
            <a:endParaRPr lang="en-US" sz="2200" dirty="0"/>
          </a:p>
        </p:txBody>
      </p:sp>
      <p:sp>
        <p:nvSpPr>
          <p:cNvPr id="4" name="Shape 2"/>
          <p:cNvSpPr/>
          <p:nvPr/>
        </p:nvSpPr>
        <p:spPr>
          <a:xfrm>
            <a:off x="457200" y="1097280"/>
            <a:ext cx="3840480" cy="5029200"/>
          </a:xfrm>
          <a:prstGeom prst="rect">
            <a:avLst/>
          </a:prstGeom>
          <a:solidFill>
            <a:srgbClr val="F8FAFC"/>
          </a:solidFill>
          <a:ln w="12700">
            <a:solidFill>
              <a:srgbClr val="E2E8F0"/>
            </a:solidFill>
            <a:prstDash val="solid"/>
          </a:ln>
        </p:spPr>
      </p:sp>
      <p:sp>
        <p:nvSpPr>
          <p:cNvPr id="5" name="Shape 3"/>
          <p:cNvSpPr/>
          <p:nvPr/>
        </p:nvSpPr>
        <p:spPr>
          <a:xfrm>
            <a:off x="4846320" y="1097280"/>
            <a:ext cx="3840480" cy="5029200"/>
          </a:xfrm>
          <a:prstGeom prst="rect">
            <a:avLst/>
          </a:prstGeom>
          <a:solidFill>
            <a:srgbClr val="F8FAFC"/>
          </a:solidFill>
          <a:ln w="12700">
            <a:solidFill>
              <a:srgbClr val="E2E8F0"/>
            </a:solidFill>
            <a:prstDash val="solid"/>
          </a:ln>
        </p:spPr>
      </p:sp>
      <p:sp>
        <p:nvSpPr>
          <p:cNvPr id="6" name="Text 4"/>
          <p:cNvSpPr/>
          <p:nvPr/>
        </p:nvSpPr>
        <p:spPr>
          <a:xfrm>
            <a:off x="54864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Phone (SSB)</a:t>
            </a:r>
            <a:endParaRPr lang="en-US" sz="1300" dirty="0"/>
          </a:p>
        </p:txBody>
      </p:sp>
      <p:sp>
        <p:nvSpPr>
          <p:cNvPr id="7" name="Text 5"/>
          <p:cNvSpPr/>
          <p:nvPr/>
        </p:nvSpPr>
        <p:spPr>
          <a:xfrm>
            <a:off x="54864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20–60 contacts/hour in good conditions</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No extra gear needed</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Easy to manage a pileup verbally</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Easiest way to explain you're in a park</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Signal must be strong enough for voice</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Most fun — you talk to real people</a:t>
            </a:r>
            <a:endParaRPr lang="en-US" sz="1300" dirty="0"/>
          </a:p>
        </p:txBody>
      </p:sp>
      <p:sp>
        <p:nvSpPr>
          <p:cNvPr id="8" name="Text 6"/>
          <p:cNvSpPr/>
          <p:nvPr/>
        </p:nvSpPr>
        <p:spPr>
          <a:xfrm>
            <a:off x="493776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FT8/FT4</a:t>
            </a:r>
            <a:endParaRPr lang="en-US" sz="1300" dirty="0"/>
          </a:p>
        </p:txBody>
      </p:sp>
      <p:sp>
        <p:nvSpPr>
          <p:cNvPr id="9" name="Text 7"/>
          <p:cNvSpPr/>
          <p:nvPr/>
        </p:nvSpPr>
        <p:spPr>
          <a:xfrm>
            <a:off x="493776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30–80 contacts/hour, marginal conditions OK</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Needs laptop/tablet + audio interface</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15 dB better than SSB weak-signal</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Excellent for days when SSB is tough</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High TX duty cycle — watch power output</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Works while you're sipping coffee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CQ POTA — The On-Air Workflow</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From first call to last contact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Finding a Clear Frequency</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Before you transmit: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Listen for 30–60 seconds on the frequency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Ask "Is this frequency in use?" (CW: "QRL?")</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Wait 5 seconds — if no response, proceed</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Common POTA frequency ranges (not exclusive):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40m SSB: 7.200–7.290 MHz</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20m SSB: 14.150–14.300 MHz</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15m SSB: 21.200–21.400 MHz</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40m CW: 7.025–7.060 MHz</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Avoid: known repeater inputs, other spotted activators, beacon frequencies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If the band is crowded: go up 5 kHz and try again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The CQ POTA Exchange</a:t>
            </a:r>
            <a:endParaRPr lang="en-US" sz="2200" dirty="0"/>
          </a:p>
        </p:txBody>
      </p:sp>
      <p:sp>
        <p:nvSpPr>
          <p:cNvPr id="4" name="Shape 2"/>
          <p:cNvSpPr/>
          <p:nvPr/>
        </p:nvSpPr>
        <p:spPr>
          <a:xfrm>
            <a:off x="457200" y="1051560"/>
            <a:ext cx="8229600" cy="1554480"/>
          </a:xfrm>
          <a:prstGeom prst="rect">
            <a:avLst/>
          </a:prstGeom>
          <a:solidFill>
            <a:srgbClr val="1E293B"/>
          </a:solidFill>
          <a:ln w="12700">
            <a:solidFill>
              <a:srgbClr val="10B981"/>
            </a:solidFill>
            <a:prstDash val="solid"/>
          </a:ln>
        </p:spPr>
      </p:sp>
      <p:sp>
        <p:nvSpPr>
          <p:cNvPr id="5" name="Text 3"/>
          <p:cNvSpPr/>
          <p:nvPr/>
        </p:nvSpPr>
        <p:spPr>
          <a:xfrm>
            <a:off x="594360" y="1097280"/>
            <a:ext cx="7955280" cy="1417320"/>
          </a:xfrm>
          <a:prstGeom prst="rect">
            <a:avLst/>
          </a:prstGeom>
          <a:noFill/>
          <a:ln/>
        </p:spPr>
        <p:txBody>
          <a:bodyPr wrap="square" rtlCol="0" anchor="ctr"/>
          <a:lstStyle/>
          <a:p>
            <a:pPr indent="0" marL="0">
              <a:buNone/>
            </a:pPr>
            <a:r>
              <a:rPr lang="en-US" sz="1300" dirty="0">
                <a:solidFill>
                  <a:srgbClr val="6EE7B7"/>
                </a:solidFill>
                <a:latin typeface="Courier New" pitchFamily="34" charset="0"/>
                <a:ea typeface="Courier New" pitchFamily="34" charset="-122"/>
                <a:cs typeface="Courier New" pitchFamily="34" charset="-120"/>
              </a:rPr>
              <a:t>CQ POTA, CQ POTA — this is Whiskey Four Golf Golf Juliet, W4GGJ</a:t>
            </a:r>
            <a:endParaRPr lang="en-US" sz="1300" dirty="0"/>
          </a:p>
          <a:p>
            <a:pPr indent="0" marL="0">
              <a:buNone/>
            </a:pPr>
            <a:r>
              <a:rPr lang="en-US" sz="1300" dirty="0">
                <a:solidFill>
                  <a:srgbClr val="6EE7B7"/>
                </a:solidFill>
                <a:latin typeface="Courier New" pitchFamily="34" charset="0"/>
                <a:ea typeface="Courier New" pitchFamily="34" charset="-122"/>
                <a:cs typeface="Courier New" pitchFamily="34" charset="-120"/>
              </a:rPr>
              <a:t>activating K-2119, Honeymoon Island State Park — W4GGJ listening</a:t>
            </a:r>
            <a:endParaRPr lang="en-US" sz="1300" dirty="0"/>
          </a:p>
        </p:txBody>
      </p:sp>
      <p:sp>
        <p:nvSpPr>
          <p:cNvPr id="6" name="Shape 4"/>
          <p:cNvSpPr/>
          <p:nvPr/>
        </p:nvSpPr>
        <p:spPr>
          <a:xfrm>
            <a:off x="457200" y="2788920"/>
            <a:ext cx="8229600" cy="2468880"/>
          </a:xfrm>
          <a:prstGeom prst="rect">
            <a:avLst/>
          </a:prstGeom>
          <a:solidFill>
            <a:srgbClr val="F0FDF4"/>
          </a:solidFill>
          <a:ln w="12700">
            <a:solidFill>
              <a:srgbClr val="E2E8F0"/>
            </a:solidFill>
            <a:prstDash val="solid"/>
          </a:ln>
        </p:spPr>
      </p:sp>
      <p:sp>
        <p:nvSpPr>
          <p:cNvPr id="7" name="Text 5"/>
          <p:cNvSpPr/>
          <p:nvPr/>
        </p:nvSpPr>
        <p:spPr>
          <a:xfrm>
            <a:off x="594360" y="2834640"/>
            <a:ext cx="7955280" cy="365760"/>
          </a:xfrm>
          <a:prstGeom prst="rect">
            <a:avLst/>
          </a:prstGeom>
          <a:noFill/>
          <a:ln/>
        </p:spPr>
        <p:txBody>
          <a:bodyPr wrap="square" rtlCol="0" anchor="ctr"/>
          <a:lstStyle/>
          <a:p>
            <a:pPr indent="0" marL="0">
              <a:buNone/>
            </a:pPr>
            <a:r>
              <a:rPr lang="en-US" sz="1200" b="1" dirty="0">
                <a:solidFill>
                  <a:srgbClr val="065F46"/>
                </a:solidFill>
                <a:latin typeface="Plus Jakarta Sans" pitchFamily="34" charset="0"/>
                <a:ea typeface="Plus Jakarta Sans" pitchFamily="34" charset="-122"/>
                <a:cs typeface="Plus Jakarta Sans" pitchFamily="34" charset="-120"/>
              </a:rPr>
              <a:t>Exchange:</a:t>
            </a:r>
            <a:endParaRPr lang="en-US" sz="1200" dirty="0"/>
          </a:p>
        </p:txBody>
      </p:sp>
      <p:sp>
        <p:nvSpPr>
          <p:cNvPr id="8" name="Text 6"/>
          <p:cNvSpPr/>
          <p:nvPr/>
        </p:nvSpPr>
        <p:spPr>
          <a:xfrm>
            <a:off x="594360" y="3246120"/>
            <a:ext cx="7955280" cy="1920240"/>
          </a:xfrm>
          <a:prstGeom prst="rect">
            <a:avLst/>
          </a:prstGeom>
          <a:noFill/>
          <a:ln/>
        </p:spPr>
        <p:txBody>
          <a:bodyPr wrap="square" rtlCol="0" anchor="t"/>
          <a:lstStyle/>
          <a:p>
            <a:pPr indent="0" marL="0">
              <a:buNone/>
            </a:pPr>
            <a:r>
              <a:rPr lang="en-US" sz="1300" dirty="0">
                <a:solidFill>
                  <a:srgbClr val="334155"/>
                </a:solidFill>
                <a:latin typeface="Courier New" pitchFamily="34" charset="0"/>
                <a:ea typeface="Courier New" pitchFamily="34" charset="-122"/>
                <a:cs typeface="Courier New" pitchFamily="34" charset="-120"/>
              </a:rPr>
              <a:t>HUNTER:    W4GGJ de K1ABC, 59 in Massachusetts</a:t>
            </a:r>
            <a:endParaRPr lang="en-US" sz="1300" dirty="0"/>
          </a:p>
          <a:p>
            <a:pPr indent="0" marL="0">
              <a:buNone/>
            </a:pPr>
            <a:r>
              <a:rPr lang="en-US" sz="1300" dirty="0">
                <a:solidFill>
                  <a:srgbClr val="334155"/>
                </a:solidFill>
                <a:latin typeface="Courier New" pitchFamily="34" charset="0"/>
                <a:ea typeface="Courier New" pitchFamily="34" charset="-122"/>
                <a:cs typeface="Courier New" pitchFamily="34" charset="-120"/>
              </a:rPr>
              <a:t>W4GGJ:     K1ABC, you're 57, thanks for the Parks, 73</a:t>
            </a:r>
            <a:endParaRPr lang="en-US" sz="1300" dirty="0"/>
          </a:p>
          <a:p>
            <a:pPr indent="0" marL="0">
              <a:buNone/>
            </a:pPr>
            <a:r>
              <a:rPr lang="en-US" sz="1300" dirty="0">
                <a:solidFill>
                  <a:srgbClr val="334155"/>
                </a:solidFill>
                <a:latin typeface="Courier New" pitchFamily="34" charset="0"/>
                <a:ea typeface="Courier New" pitchFamily="34" charset="-122"/>
                <a:cs typeface="Courier New" pitchFamily="34" charset="-120"/>
              </a:rPr>
              <a:t>HUNTER:    Thanks! 73</a:t>
            </a:r>
            <a:endParaRPr lang="en-US" sz="1300" dirty="0"/>
          </a:p>
          <a:p>
            <a:pPr indent="0" marL="0">
              <a:buNone/>
            </a:pPr>
            <a:r>
              <a:rPr lang="en-US" sz="1300" dirty="0">
                <a:solidFill>
                  <a:srgbClr val="334155"/>
                </a:solidFill>
                <a:latin typeface="Courier New" pitchFamily="34" charset="0"/>
                <a:ea typeface="Courier New" pitchFamily="34" charset="-122"/>
                <a:cs typeface="Courier New" pitchFamily="34" charset="-120"/>
              </a:rPr>
              <a:t>W4GGJ:     QRZ? W4GGJ  ← go immediately to next caller</a:t>
            </a:r>
            <a:endParaRPr lang="en-US" sz="1300" dirty="0"/>
          </a:p>
        </p:txBody>
      </p:sp>
      <p:sp>
        <p:nvSpPr>
          <p:cNvPr id="9" name="Text 7"/>
          <p:cNvSpPr/>
          <p:nvPr/>
        </p:nvSpPr>
        <p:spPr>
          <a:xfrm>
            <a:off x="457200" y="5394960"/>
            <a:ext cx="8229600" cy="457200"/>
          </a:xfrm>
          <a:prstGeom prst="rect">
            <a:avLst/>
          </a:prstGeom>
          <a:noFill/>
          <a:ln/>
        </p:spPr>
        <p:txBody>
          <a:bodyPr wrap="square" rtlCol="0" anchor="ctr"/>
          <a:lstStyle/>
          <a:p>
            <a:pPr indent="0" marL="0">
              <a:buNone/>
            </a:pPr>
            <a:r>
              <a:rPr lang="en-US" sz="1300" b="1" dirty="0">
                <a:solidFill>
                  <a:srgbClr val="0F172A"/>
                </a:solidFill>
                <a:latin typeface="Plus Jakarta Sans" pitchFamily="34" charset="0"/>
                <a:ea typeface="Plus Jakarta Sans" pitchFamily="34" charset="-122"/>
                <a:cs typeface="Plus Jakarta Sans" pitchFamily="34" charset="-120"/>
              </a:rPr>
              <a:t>Key: callsign + signal report only. No chat during a run.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Managing a Pileup</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When spotting works, multiple hunters call simultaneously</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Rules for working a pileup:</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 Pick ONE callsign you heard clearly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2. Call them back: "W1ABC, you're 57, thanks for the Parks"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3. QSL briefly, then: "QRZ? W4GGJ" — go immediately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4. Never stop calling — dead air loses hunters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5. Never chat during the run</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If you can't pull a full callsign:</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"The station ending in Lima?"</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"Partial copy — last two characters?"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If QRM builds: move 5 kHz, re-spot new frequency</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If pileup outruns you: stay calm, slow down, pick one at a time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Self-Spotting</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Getting hunters on your frequency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Why Spotting Is Non-Negotiable</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Without a spot on pota.app, hunters don't know you're active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 good spot can produce 5–10 callers within 60 seconds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How to self-spot: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pota.app → Activator Tools → Spot Yourself</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Enter: callsign, park reference, frequency, mode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Optional comment: "40m SSB running, come get it"</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Spot accurately: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Frequency must match what you're actually on (not 7.245 when you're on 7.247)</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If you QSY, re-spot immediately</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Also visible to hunters via:</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DX cluster spots (DXsummit.fi)</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HamAlert push notifications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POTA Watch website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FT8 from the Field</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The secret weapon for marginal conditions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Why Learn FT8 for POTA</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FT8 operates 15 dB below the noise floor — far beyond voice range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 band that sounds "dead" may have active FT8 contacts happening on it</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Practical impact: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SSB might get you 3 contacts on a bad band day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FT8 gets you 10 contacts on that same day</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Standard field setup:</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WSJT-X software (free, all platforms)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Digirig ($50) + cable for most radios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OR IC-705 built-in USB (no extra hardware)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POTA FT8 frequencies: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40m: 7.074 MHz (dial USB)</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20m: 14.074 MHz</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15m: 21.074 MHz</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Spot yourself on pota.app even on FT8 — hunters still check spots first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FT8 Duty Cycle Warning</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FT8 is 100% duty cycle — full RF output for 13.5 of every 15 seconds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Implications: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PA runs hot — reduce power for FT8 vs SSB</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Rule of thumb: 50% of max power rating for FT8</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FT-891: don't exceed 50W for FT8</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IC-705: 5W is already conservative — fine at 5W</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Battery impact: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FT8 at 50W ≈ constant 12A draw (no RX recovery)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Plan shorter runtime or bigger battery for FT8 sessions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Contacts per minute: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Once spotted and running: 3–6 contacts/minute is achievable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10 contacts in under 5 minutes is common</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Do your math: the battery trade-off is worth it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Field Logging</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Paper, HAMRS, and WSJT-X</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HAMRS — Full Walkthrough</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1. Open HAMRS → tap + (new activation)</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2. Select POTA template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3. Enter your callsign and park reference (K-2119)</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4. Set default band and mode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5. Tap Start Activation</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Logging a QSO:</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Type callsign in CALL field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Date and time auto-populate in UTC</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Adjust band/mode if changed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Enter RST sent (59 for SSB default)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Tap Log QSO</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Exporting ADIF:</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Activations → tap your activation → Export → ADIF</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Share to email, Drive, or AirDrop</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What ADIF Looks Like</a:t>
            </a:r>
            <a:endParaRPr lang="en-US" sz="2200" dirty="0"/>
          </a:p>
        </p:txBody>
      </p:sp>
      <p:sp>
        <p:nvSpPr>
          <p:cNvPr id="4" name="Shape 2"/>
          <p:cNvSpPr/>
          <p:nvPr/>
        </p:nvSpPr>
        <p:spPr>
          <a:xfrm>
            <a:off x="457200" y="1051560"/>
            <a:ext cx="8229600" cy="2286000"/>
          </a:xfrm>
          <a:prstGeom prst="rect">
            <a:avLst/>
          </a:prstGeom>
          <a:solidFill>
            <a:srgbClr val="1E293B"/>
          </a:solidFill>
          <a:ln w="12700">
            <a:solidFill>
              <a:srgbClr val="10B981"/>
            </a:solidFill>
            <a:prstDash val="solid"/>
          </a:ln>
        </p:spPr>
      </p:sp>
      <p:sp>
        <p:nvSpPr>
          <p:cNvPr id="5" name="Text 3"/>
          <p:cNvSpPr/>
          <p:nvPr/>
        </p:nvSpPr>
        <p:spPr>
          <a:xfrm>
            <a:off x="594360" y="1097280"/>
            <a:ext cx="7955280" cy="2148840"/>
          </a:xfrm>
          <a:prstGeom prst="rect">
            <a:avLst/>
          </a:prstGeom>
          <a:noFill/>
          <a:ln/>
        </p:spPr>
        <p:txBody>
          <a:bodyPr wrap="square" rtlCol="0" anchor="ctr"/>
          <a:lstStyle/>
          <a:p>
            <a:pPr indent="0" marL="0">
              <a:buNone/>
            </a:pPr>
            <a:r>
              <a:rPr lang="en-US" sz="1300" dirty="0">
                <a:solidFill>
                  <a:srgbClr val="6EE7B7"/>
                </a:solidFill>
                <a:latin typeface="Courier New" pitchFamily="34" charset="0"/>
                <a:ea typeface="Courier New" pitchFamily="34" charset="-122"/>
                <a:cs typeface="Courier New" pitchFamily="34" charset="-120"/>
              </a:rPr>
              <a:t>&lt;CALL:5&gt;K1ABC &lt;QSO_DATE:8&gt;20260919 &lt;TIME_ON:4&gt;1532</a:t>
            </a:r>
            <a:endParaRPr lang="en-US" sz="1300" dirty="0"/>
          </a:p>
          <a:p>
            <a:pPr indent="0" marL="0">
              <a:buNone/>
            </a:pPr>
            <a:r>
              <a:rPr lang="en-US" sz="1300" dirty="0">
                <a:solidFill>
                  <a:srgbClr val="6EE7B7"/>
                </a:solidFill>
                <a:latin typeface="Courier New" pitchFamily="34" charset="0"/>
                <a:ea typeface="Courier New" pitchFamily="34" charset="-122"/>
                <a:cs typeface="Courier New" pitchFamily="34" charset="-120"/>
              </a:rPr>
              <a:t>&lt;BAND:3&gt;40M &lt;MODE:3&gt;SSB &lt;RST_SENT:2&gt;59</a:t>
            </a:r>
            <a:endParaRPr lang="en-US" sz="1300" dirty="0"/>
          </a:p>
          <a:p>
            <a:pPr indent="0" marL="0">
              <a:buNone/>
            </a:pPr>
            <a:r>
              <a:rPr lang="en-US" sz="1300" dirty="0">
                <a:solidFill>
                  <a:srgbClr val="6EE7B7"/>
                </a:solidFill>
                <a:latin typeface="Courier New" pitchFamily="34" charset="0"/>
                <a:ea typeface="Courier New" pitchFamily="34" charset="-122"/>
                <a:cs typeface="Courier New" pitchFamily="34" charset="-120"/>
              </a:rPr>
              <a:t>&lt;SIG:4&gt;POTA &lt;SIG_INFO:6&gt;K-2119 &lt;EOR&gt;</a:t>
            </a:r>
            <a:endParaRPr lang="en-US" sz="1300" dirty="0"/>
          </a:p>
        </p:txBody>
      </p:sp>
      <p:sp>
        <p:nvSpPr>
          <p:cNvPr id="6" name="Text 4"/>
          <p:cNvSpPr/>
          <p:nvPr/>
        </p:nvSpPr>
        <p:spPr>
          <a:xfrm>
            <a:off x="457200" y="3429000"/>
            <a:ext cx="8229600" cy="3200400"/>
          </a:xfrm>
          <a:prstGeom prst="rect">
            <a:avLst/>
          </a:prstGeom>
          <a:noFill/>
          <a:ln/>
        </p:spPr>
        <p:txBody>
          <a:bodyPr wrap="square" rtlCol="0" anchor="t"/>
          <a:lstStyle/>
          <a:p>
            <a:pPr indent="0" marL="0">
              <a:spcBef>
                <a:spcPts val="1000"/>
              </a:spcBef>
              <a:buNone/>
            </a:pPr>
            <a:r>
              <a:rPr lang="en-US" sz="1400" b="1" dirty="0">
                <a:solidFill>
                  <a:srgbClr val="0F172A"/>
                </a:solidFill>
                <a:latin typeface="Plus Jakarta Sans" pitchFamily="34" charset="0"/>
                <a:ea typeface="Plus Jakarta Sans" pitchFamily="34" charset="-122"/>
                <a:cs typeface="Plus Jakarta Sans" pitchFamily="34" charset="-120"/>
              </a:rPr>
              <a:t>Critical fields:</a:t>
            </a:r>
            <a:endParaRPr lang="en-US" sz="1400" dirty="0"/>
          </a:p>
          <a:p>
            <a:pPr marL="342900" indent="-342900">
              <a:spcBef>
                <a:spcPts val="5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CALL — their callsign</a:t>
            </a:r>
            <a:endParaRPr lang="en-US" sz="1400" dirty="0"/>
          </a:p>
          <a:p>
            <a:pPr marL="342900" indent="-342900">
              <a:spcBef>
                <a:spcPts val="5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QSO_DATE — YYYYMMDD in UTC</a:t>
            </a:r>
            <a:endParaRPr lang="en-US" sz="1400" dirty="0"/>
          </a:p>
          <a:p>
            <a:pPr marL="342900" indent="-342900">
              <a:spcBef>
                <a:spcPts val="5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TIME_ON — HHMM in UTC</a:t>
            </a:r>
            <a:endParaRPr lang="en-US" sz="1400" dirty="0"/>
          </a:p>
          <a:p>
            <a:pPr marL="342900" indent="-342900">
              <a:spcBef>
                <a:spcPts val="5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BAND — 40M, 20M, 15M, etc.</a:t>
            </a:r>
            <a:endParaRPr lang="en-US" sz="1400" dirty="0"/>
          </a:p>
          <a:p>
            <a:pPr marL="342900" indent="-342900">
              <a:spcBef>
                <a:spcPts val="500"/>
              </a:spcBef>
              <a:buSzPct val="100000"/>
              <a:buChar char="•"/>
            </a:pPr>
            <a:r>
              <a:rPr lang="en-US" sz="1300" b="1" dirty="0">
                <a:solidFill>
                  <a:srgbClr val="DC2626"/>
                </a:solidFill>
                <a:latin typeface="Plus Jakarta Sans" pitchFamily="34" charset="0"/>
                <a:ea typeface="Plus Jakarta Sans" pitchFamily="34" charset="-122"/>
                <a:cs typeface="Plus Jakarta Sans" pitchFamily="34" charset="-120"/>
              </a:rPr>
              <a:t>SIG — must be exactly "POTA"</a:t>
            </a:r>
            <a:endParaRPr lang="en-US" sz="1400" dirty="0"/>
          </a:p>
          <a:p>
            <a:pPr marL="342900" indent="-342900">
              <a:spcBef>
                <a:spcPts val="500"/>
              </a:spcBef>
              <a:buSzPct val="100000"/>
              <a:buChar char="•"/>
            </a:pPr>
            <a:r>
              <a:rPr lang="en-US" sz="1300" b="1" dirty="0">
                <a:solidFill>
                  <a:srgbClr val="DC2626"/>
                </a:solidFill>
                <a:latin typeface="Plus Jakarta Sans" pitchFamily="34" charset="0"/>
                <a:ea typeface="Plus Jakarta Sans" pitchFamily="34" charset="-122"/>
                <a:cs typeface="Plus Jakarta Sans" pitchFamily="34" charset="-120"/>
              </a:rPr>
              <a:t>SIG_INFO — your park reference (K-2119)</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Uploading to pota.app</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Log in to pota.app</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My Activations → Upload Log</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Select your ADIF file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Preview the upload — check park ref and contact count</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Click Submit</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Processing: usually instant</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Common errors: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"0 valid POTA contacts" → missing SIG/SIG_INFO fields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"Invalid park reference" → typo; must include dash (K-2119)</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"Duplicate contact" → normal if re-uploading; duplicates silently rejected</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After upload: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Activation appears on your profile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Hunters get credit automatically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Activation visible in the global leaderboard</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Always upload even if you didn't make 10</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Awards &amp; Milestones</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What you're chasing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POTA Award Structure</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Activator awards — based on valid activation count: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 10, 25, 50, 100, 250, 500, 1000 activations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Park awards — unique parks activated: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Separate from activation count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Rare to repeat the same park a lot early on — explore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Hunter awards — unique parks worked as a hunter:</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 10, 25, 50, 100, 250, 500, 1000 parks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Tracked automatically from uploaded hunter logs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P2P awards — park-to-park contacts: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When you're activating and work another activator</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Both get P2P credit — separate award track</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Leaderboards: worldwide, by entity, by state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Most-wanted list: unactivated or rarely activated parks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274320"/>
            <a:ext cx="8229600" cy="411480"/>
          </a:xfrm>
          <a:prstGeom prst="rect">
            <a:avLst/>
          </a:prstGeom>
          <a:noFill/>
          <a:ln/>
        </p:spPr>
        <p:txBody>
          <a:bodyPr wrap="square" rtlCol="0" anchor="ctr"/>
          <a:lstStyle/>
          <a:p>
            <a:pPr indent="0" marL="0">
              <a:buNone/>
            </a:pPr>
            <a:r>
              <a:rPr lang="en-US" sz="1200" b="1" spc="300" kern="0" dirty="0">
                <a:solidFill>
                  <a:srgbClr val="6EE7B7"/>
                </a:solidFill>
                <a:latin typeface="Plus Jakarta Sans" pitchFamily="34" charset="0"/>
                <a:ea typeface="Plus Jakarta Sans" pitchFamily="34" charset="-122"/>
                <a:cs typeface="Plus Jakarta Sans" pitchFamily="34" charset="-120"/>
              </a:rPr>
              <a:t>SIMULATED ACTIVATION</a:t>
            </a:r>
            <a:endParaRPr lang="en-US" sz="1200" dirty="0"/>
          </a:p>
        </p:txBody>
      </p:sp>
      <p:sp>
        <p:nvSpPr>
          <p:cNvPr id="4" name="Text 2"/>
          <p:cNvSpPr/>
          <p:nvPr/>
        </p:nvSpPr>
        <p:spPr>
          <a:xfrm>
            <a:off x="365760" y="731520"/>
            <a:ext cx="8229600" cy="731520"/>
          </a:xfrm>
          <a:prstGeom prst="rect">
            <a:avLst/>
          </a:prstGeom>
          <a:noFill/>
          <a:ln/>
        </p:spPr>
        <p:txBody>
          <a:bodyPr wrap="square" rtlCol="0" anchor="ctr"/>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From CQ to Upload</a:t>
            </a:r>
            <a:endParaRPr lang="en-US" sz="2800" dirty="0"/>
          </a:p>
        </p:txBody>
      </p:sp>
      <p:sp>
        <p:nvSpPr>
          <p:cNvPr id="5" name="Text 3"/>
          <p:cNvSpPr/>
          <p:nvPr/>
        </p:nvSpPr>
        <p:spPr>
          <a:xfrm>
            <a:off x="365760" y="1554480"/>
            <a:ext cx="8412480" cy="4389120"/>
          </a:xfrm>
          <a:prstGeom prst="rect">
            <a:avLst/>
          </a:prstGeom>
          <a:noFill/>
          <a:ln/>
        </p:spPr>
        <p:txBody>
          <a:bodyPr wrap="square" rtlCol="0" anchor="t"/>
          <a:lstStyle/>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Instructor calls CQ POTA on club station (mock park)</a:t>
            </a:r>
            <a:endParaRPr lang="en-US" sz="1500" dirty="0"/>
          </a:p>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Students call back — take turns at the mic</a:t>
            </a:r>
            <a:endParaRPr lang="en-US" sz="1500" dirty="0"/>
          </a:p>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All students log simultaneously in HAMRS on phones</a:t>
            </a:r>
            <a:endParaRPr lang="en-US" sz="1500" dirty="0"/>
          </a:p>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Paper log backup running simultaneously</a:t>
            </a:r>
            <a:endParaRPr lang="en-US" sz="1500" dirty="0"/>
          </a:p>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Group reaches 10 QSOs together</a:t>
            </a:r>
            <a:endParaRPr lang="en-US" sz="1500" dirty="0"/>
          </a:p>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Export ADIF from HAMRS — open in text editor</a:t>
            </a:r>
            <a:endParaRPr lang="en-US" sz="1500" dirty="0"/>
          </a:p>
          <a:p>
            <a:pPr marL="342900" indent="-342900">
              <a:spcBef>
                <a:spcPts val="800"/>
              </a:spcBef>
              <a:buSzPct val="100000"/>
              <a:buChar char="•"/>
            </a:pPr>
            <a:r>
              <a:rPr lang="en-US" sz="1500" b="1" dirty="0">
                <a:solidFill>
                  <a:srgbClr val="6EE7B7"/>
                </a:solidFill>
                <a:latin typeface="Plus Jakarta Sans" pitchFamily="34" charset="0"/>
                <a:ea typeface="Plus Jakarta Sans" pitchFamily="34" charset="-122"/>
                <a:cs typeface="Plus Jakarta Sans" pitchFamily="34" charset="-120"/>
              </a:rPr>
              <a:t>Upload to pota.app test account — watch it go live</a:t>
            </a:r>
            <a:endParaRPr lang="en-US" sz="1500" dirty="0"/>
          </a:p>
        </p:txBody>
      </p:sp>
      <p:sp>
        <p:nvSpPr>
          <p:cNvPr id="6" name="Text 4"/>
          <p:cNvSpPr/>
          <p:nvPr/>
        </p:nvSpPr>
        <p:spPr>
          <a:xfrm>
            <a:off x="365760" y="6217920"/>
            <a:ext cx="8229600" cy="320040"/>
          </a:xfrm>
          <a:prstGeom prst="rect">
            <a:avLst/>
          </a:prstGeom>
          <a:noFill/>
          <a:ln/>
        </p:spPr>
        <p:txBody>
          <a:bodyPr wrap="square" rtlCol="0" anchor="ctr"/>
          <a:lstStyle/>
          <a:p>
            <a:pPr indent="0" marL="0">
              <a:buNone/>
            </a:pPr>
            <a:r>
              <a:rPr lang="en-US" sz="1100" dirty="0">
                <a:solidFill>
                  <a:srgbClr val="94A3B8"/>
                </a:solidFill>
                <a:latin typeface="Plus Jakarta Sans" pitchFamily="34" charset="0"/>
                <a:ea typeface="Plus Jakarta Sans" pitchFamily="34" charset="-122"/>
                <a:cs typeface="Plus Jakarta Sans" pitchFamily="34" charset="-120"/>
              </a:rPr>
              <a:t>15 minutes · phones out · HAMRS open</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The standard FT8 calling frequency on 20 meters is:</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14.000 MHz (CW calling frequency)</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14.074 MHz (FT8 calling frequency)</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14.225 MHz (SSB general)</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14.300 MHz (maritime emergency)</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You upload your ADIF and pota.app says "0 valid POTA contacts found." The most likely cause is:</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The contacts were on the wrong date</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The SIG and SIG_INFO fields are missing from the ADIF</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You didn't wait 24 hours before uploading</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Your callsign doesn't match your pota.app username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After calling CQ POTA for 10 minutes with no response, what should you try FIRST?</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Give up and go home</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Check if you self-spotted on pota.app with the correct frequency</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Move to 80m immediately</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Call only on CW instead of SSB</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10B981"/>
          </a:solidFill>
          <a:ln/>
        </p:spPr>
      </p:sp>
      <p:sp>
        <p:nvSpPr>
          <p:cNvPr id="3" name="Text 1"/>
          <p:cNvSpPr/>
          <p:nvPr/>
        </p:nvSpPr>
        <p:spPr>
          <a:xfrm>
            <a:off x="457200" y="457200"/>
            <a:ext cx="8229600" cy="548640"/>
          </a:xfrm>
          <a:prstGeom prst="rect">
            <a:avLst/>
          </a:prstGeom>
          <a:noFill/>
          <a:ln/>
        </p:spPr>
        <p:txBody>
          <a:bodyPr wrap="square" rtlCol="0" anchor="ctr"/>
          <a:lstStyle/>
          <a:p>
            <a:pPr indent="0" marL="0">
              <a:buNone/>
            </a:pPr>
            <a:r>
              <a:rPr lang="en-US" sz="1400" b="1" spc="200" kern="0" dirty="0">
                <a:solidFill>
                  <a:srgbClr val="6EE7B7"/>
                </a:solidFill>
                <a:latin typeface="Plus Jakarta Sans" pitchFamily="34" charset="0"/>
                <a:ea typeface="Plus Jakarta Sans" pitchFamily="34" charset="-122"/>
                <a:cs typeface="Plus Jakarta Sans" pitchFamily="34" charset="-120"/>
              </a:rPr>
              <a:t>Session 4 — Field Activation Capstone</a:t>
            </a:r>
            <a:endParaRPr lang="en-US" sz="1400" dirty="0"/>
          </a:p>
        </p:txBody>
      </p:sp>
      <p:sp>
        <p:nvSpPr>
          <p:cNvPr id="4" name="Text 2"/>
          <p:cNvSpPr/>
          <p:nvPr/>
        </p:nvSpPr>
        <p:spPr>
          <a:xfrm>
            <a:off x="457200" y="1097280"/>
            <a:ext cx="8229600" cy="914400"/>
          </a:xfrm>
          <a:prstGeom prst="rect">
            <a:avLst/>
          </a:prstGeom>
          <a:noFill/>
          <a:ln/>
        </p:spPr>
        <p:txBody>
          <a:bodyPr wrap="square" rtlCol="0" anchor="ctr"/>
          <a:lstStyle/>
          <a:p>
            <a:pPr indent="0" marL="0">
              <a:buNone/>
            </a:pPr>
            <a:r>
              <a:rPr lang="en-US" sz="3600" b="1" dirty="0">
                <a:solidFill>
                  <a:srgbClr val="FFFFFF"/>
                </a:solidFill>
                <a:latin typeface="Plus Jakarta Sans" pitchFamily="34" charset="0"/>
                <a:ea typeface="Plus Jakarta Sans" pitchFamily="34" charset="-122"/>
                <a:cs typeface="Plus Jakarta Sans" pitchFamily="34" charset="-120"/>
              </a:rPr>
              <a:t>The Real Thing</a:t>
            </a:r>
            <a:endParaRPr lang="en-US" sz="3600" dirty="0"/>
          </a:p>
        </p:txBody>
      </p:sp>
      <p:sp>
        <p:nvSpPr>
          <p:cNvPr id="5" name="Text 3"/>
          <p:cNvSpPr/>
          <p:nvPr/>
        </p:nvSpPr>
        <p:spPr>
          <a:xfrm>
            <a:off x="457200" y="2103120"/>
            <a:ext cx="8229600" cy="3657600"/>
          </a:xfrm>
          <a:prstGeom prst="rect">
            <a:avLst/>
          </a:prstGeom>
          <a:noFill/>
          <a:ln/>
        </p:spPr>
        <p:txBody>
          <a:bodyPr wrap="square" rtlCol="0" anchor="t"/>
          <a:lstStyle/>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Local POTA park — real activation, real contacts</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Team setup: everyone assembles the station</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Every student operates — at least 1 contact at the mic</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Every student logs in HAMRS simultaneously</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Group self-spots on pota.app</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Upload log live — watch activation go live on pota.app</a:t>
            </a:r>
            <a:endParaRPr lang="en-US" sz="1600" dirty="0"/>
          </a:p>
          <a:p>
            <a:pPr marL="342900" indent="-342900">
              <a:spcBef>
                <a:spcPts val="1000"/>
              </a:spcBef>
              <a:buSzPct val="100000"/>
              <a:buChar char="•"/>
            </a:pPr>
            <a:r>
              <a:rPr lang="en-US" sz="1600" b="1" dirty="0">
                <a:solidFill>
                  <a:srgbClr val="6EE7B7"/>
                </a:solidFill>
                <a:latin typeface="Plus Jakarta Sans" pitchFamily="34" charset="0"/>
                <a:ea typeface="Plus Jakarta Sans" pitchFamily="34" charset="-122"/>
                <a:cs typeface="Plus Jakarta Sans" pitchFamily="34" charset="-120"/>
              </a:rPr>
              <a:t>TavaOne Education POTA Activator Certificate issued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POTA Session 3 — Operating, Logging &amp; Uploading</dc:title>
  <dc:subject>PptxGenJS Presentation</dc:subject>
  <dc:creator>PptxGenJS</dc:creator>
  <cp:lastModifiedBy>PptxGenJS</cp:lastModifiedBy>
  <cp:revision>1</cp:revision>
  <dcterms:created xsi:type="dcterms:W3CDTF">2026-09-19T22:46:05Z</dcterms:created>
  <dcterms:modified xsi:type="dcterms:W3CDTF">2026-09-19T22:46:05Z</dcterms:modified>
</cp:coreProperties>
</file>