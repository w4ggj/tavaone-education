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7 opening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this module: VE exam. You're on the final lap. The Smith chart intimidates most students but it's just a graph — work the practice problems and it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Gain, efficiency, ERP, EIRP — these are the quantities that define how well an antenna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2.15 dB difference between dBi and dBd is because a dipole has 2.15 dBi of gain over an isotropic. A Yagi rated '10 dBd' is '12.15 dBi.' The exam sometimes gives one and asks for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Antenna patterns, practical wire antennas, and Yagi design — practical knowledge for the operating amateur.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steering is a practical DXing skill: if a station is interfering with your target DX and they're 90 degrees apart, a directional antenna can null the interferer while maintaining gain on the DX. The modeling software lets you predict this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Beverage antenna is a favorite of serious 160m DXers — a 500-foot wire stretched through the woods pointed at Europe, terminating in a 600-ohm resistor. It hears weak signals that a transmitting antenna misses due to high noise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exam question: which direction is the director? It's in front of the antenna, toward the desired direction. Remember: directors direct the signal. Reflectors reflect it back. The reflector is behind you, like a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Impedance matching is how you transfer maximum power between the transmitter, feed line, and antenna. The quarter-wave formula is directly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the example on the board: sqrt(200 × 50). First: 200 × 50 = 10,000. Then: sqrt(10,000) = 100. The exam gives you numbers that work out cleanly — they pick the numbers to make the math convenient.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Transmission line behavior is counterintuitive but follows exact mathematical rules. The quarter-wave inversion rule is a guaranteed exam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quarter-wave inversion is the most exam-tested transmission line concept. Ask: what does a quarter-wave shorted stub look like at its input? Open circuit — very high impedance. This is used to build VHF/UHF traps.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Smith chart intimidates students but once you understand the layout it becomes intuitive. Focus on what each region and key point represents.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Smith chart on the board with just the key points labeled: center (match), right (open), left (short), top (inductive), bottom (capacitive). That plus the SWR circles and resistance circles is what the exam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clockwise-toward-generator rule makes sense physically: as you move toward the generator, you move away from the load. A clockwise rotation on the chart corresponds to moving one wavelength / 360 degrees of phase around one revolution.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Receiving-only antennas are optimized for low noise, not transmitting efficiency. They work on completely different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Beverage and the small loop both work by being bad transmitting antennas — low radiation resistance, inefficient. But that's fine because efficiency doesn't matter for receive-only use. What matters is noise — and they're both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 before the quiz. Cover the right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sqrt(25 × 100) = sqrt(2500) = 50. Classic 3-4-5 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dipole has 2.15 dBi of gain over isotropic. So any antenna's dBi is always 2.15 more than its dBd.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quarter-wave line inverts. Open becomes short. Short becomes open. This is fundamental and always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Beverage antennas are inefficient transmitters but excellent low-noise receivers. 160m DXers use them to hear signals they couldn't otherwise detect.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 center = matched. Right edge = open. Left edge = short. All other points are somewhere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impedance matches nicely to 300-ohm twin lead or through a 6:1 balun to 50-ohm coax.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Directors direct. They're shorter and are out front. Reflectors are longer and behind. Both are parasitic (not connected to feed line).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loading coil with high resistance in a short antenna can waste most of the power as heat instead of radiation. That's low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null is at right angles to the loop — if the loop faces north/south, the null points east/west. Rotate until signal disappears to find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full revolution clockwise = moving half a wavelength toward the generator. Remember: toward Generator = clockwise (G clockwise).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exam. Good luck to everyone. After the exam, collect results and file with the VEC. Walk students through checking ULS for their upgraded license.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8288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Module 7: Antennas &amp; Transmission Lines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Gain · Patterns · Matching · Transmission Lines · Smith Chart · Receiving Antennas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2024-2028 Amateur Extra Question Pool — Final Module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TavaOne Education  ·  Pinellas STEM Radio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Final Module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8 exam questions — all of E9 — 16% of your Extra exam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Tied with Module 5 as the heaviest module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This module has the most math — but all of it builds on Module 3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Hour 1: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E9A: Antenna parameters — gain, beamwidth, efficiency, ERP, EIRP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E9B: Radiation patterns and modeling software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E9C: Practical wire antennas — dipole, folded dipole, arrays, rhombic, Beverage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E9D: Yagi antennas and loading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Hour 2: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E9E: Impedance matching — quarter-wave section, stubs, matching networks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E9F: Transmission lines — coax vs. ladder line, velocity factor, line behavior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E9G: The Smith chart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E9H: Receiving antennas — loop, Beverage, active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1: Antenna Parameters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E9A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Antenna Gain and Related Quantities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Radiation resistance: equivalent resistance that would dissipate same power as antenna radiates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Half-wave dipole in free space: ~73 ohms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Quarter-wave vertical over perfect ground: ~35 ohms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Antenna gain references: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dBi: gain over a theoretical isotropic radiator (perfect omnidirectional)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dBd: gain over a half-wave dipole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Conversion: dBi = dBd + 2.15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ERP (Effective Radiated Power): TX power × antenna gain over a dipole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EIRP (Effective Isotropic Radiated Power): ERP + 2.15 dB (over isotropic)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Antenna efficiency = Rradiation / (Rradiation + Rloss)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Beamwidth: angle between -3 dB points on main lobe — narrower = higher gain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2: Patterns and Practical Antennas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Subelements E9B-D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Radiation Patterns and Modeling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Azimuth pattern: antenna radiation in the horizontal plane (viewed from above)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Elevation pattern: antenna radiation in the vertical plane (side view)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Main lobe: direction of maximum radiation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Side lobes: unwanted radiation in other directions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Nulls: directions of minimum radiation — useful for null-steering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Front-to-back ratio: gain of main lobe vs. gain directly behind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Antenna modeling software: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NEC (Numerical Electromagnetics Code): industry-standard engine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EZNEC and 4NEC2: graphical NEC interfaces for amateurs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Models free-space patterns; real-world affected by ground and nearby structures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Practical Wire Antennas (E9C)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Half-wave dipole: ~73-ohm feed impedance in free space; classic reference antenna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Folded dipole: ~300-ohm impedance (4× regular dipole)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More bandwidth; common as Yagi driven element fed through balun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Rhombic: diamond-shaped terminated long-wire; very high gain; wide bandwidth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Needs large lot; used for point-to-point HF links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Beverage: long wire (1+ wavelength) close to ground, terminated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RECEIVING ONLY; traveling-wave; directional; excellent low-noise on 160/80m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Ground effects on antennas: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Low dipole: high angle NVIS for regional communication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High dipole (&gt;0.5λ): low-angle radiation; better for DX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Chordal hop (covered in Module 2) benefits from lower elevation angle = longer hops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Yagi Antennas and Loading (E9D)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Yagi elements: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Driven element: connected to feed line (approximately half-wave)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Director: shorter than driven; placed IN FRONT → adds gain, narrows beam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Reflector: longer than driven; placed BEHIND → increases front-to-back ratio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More elements = more gain + narrower beamwidth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Feed point impedance reduced by nearby directors and reflectors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Common matching methods: gamma match, T-match, hairpin match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Parabolic dish: very high gain at microwave; feed at focal point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Electrically short antennas and loading: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Loading coil adds inductance to bring short antenna to resonance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High-Q coil: narrow bandwidth, high efficiency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Antenna Q: high Q = narrow bandwidth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Vertical ground system: radial wires improve radiation resistance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3: Impedance Matching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E9E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Quarter-Wave Matching and Stubs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Quarter-wave matching section: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Z_match = sqrt(Z1 × Z2)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 quarter-wave section with this impedance transforms Z1 to Z2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Example: match 200Ω antenna to 50Ω coax: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   Z = sqrt(200 × 50) = sqrt(10,000) = 100Ω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 100Ω coax (two 50Ω lines in series, or 75Ω for approximation)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Stub matching: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Open or shorted transmission line sections added in parallel at feed point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Used to cancel reactive component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Shorted quarter-wave stub: appears as open circuit (high impedance) at input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Open quarter-wave stub: appears as short circuit at input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Wilkinson power divider: equal-power split between two outputs at 50Ω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4: Transmission Lines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E9F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Transmission Line Properties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Velocity factor (VF): ratio of signal speed in line to speed of light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Always less than 1 — signal is slower in the dielectric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Typical values: coax 0.66-0.78; ladder line 0.91-0.95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Electrical length = physical length × velocity factor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Free-space quarter wave at 7 MHz = 10.7m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In RG-8 coax (VF=0.66): physical length = 10.7 × 0.66 = 7.1m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Quarter-wave line behavior (the inversion rule):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Open circuit at far end → appears as SHORT CIRCUIT at input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Short circuit at far end → appears as OPEN CIRCUIT at input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Open-wire (ladder line): lower loss than coax but balanced; needs balun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Microstrip: controlled-impedance PCB transmission line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Standing waves: result from impedance mismatch; high SWR = more feed line loss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5: The Smith Chart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E9G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Smith Chart Layout and Reading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The Smith chart is a graphical tool for transmission line and impedance matching problems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Key points: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CENTER: Z0 = perfect match (SWR 1:1) — normalized value 1.0 + j0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RIGHT SIDE: infinite impedance (open circuit)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LEFT SIDE: zero impedance (short circuit)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UPPER HALF: inductive reactance (positive imaginary)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LOWER HALF: capacitive reactance (negative imaginary)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Lines on the chart: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Constant resistance circles: pass through right side; center is their axis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Constant reactance arcs: curved lines from right side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SWR circles: concentric circles centered on Z0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All impedances normalized: divide by Z0 before plotting, multiply after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Using the Smith Chart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Moving along a transmission line: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Moving TOWARD GENERATOR: rotate CLOCKWISE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Moving TOWARD LOAD: rotate COUNTERCLOCKWISE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One complete revolution = one half wavelength along the line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SWR circles: all points on a circle have the same SWR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Center = SWR 1:1; larger circles = higher SWR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Converting impedance to admittance: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Move 180° around the chart (opposite side of same SWR circle)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Reading a point: find R and X from the constant circles/arcs,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then denormalize: Z = (R + jX) × Z0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Practical use: designing a stub matching network, finding SWR at any point on a 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Part 6: Receiving Antennas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CCBB"/>
                </a:solidFill>
              </a:rPr>
              <a:t>Subelement E9H — 1 exam question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Receiving Antennas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Small loop antenna: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Figure-8 pattern with deep nulls at right angles to the loop plane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Used for Radio Direction Finding (RDF) — null points toward source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Excellent for noise reduction by steering nulls at interference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Beverage antenna: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Traveling-wave antenna — 1+ wavelengths long; close to ground; terminated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Pattern: cardioid (unidirectional) toward the terminated end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Very low noise floor — excellent for 160m and 80m DX receiving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Typical length: 500-1000 feet; terminated in 600-800 ohms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Active receiving antenna: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Small antenna element + low-noise preamplifier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Overcomes the impedance/size mismatch of a very small antenna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Useful where a full-size antenna is not practical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RDF (Radio Direction Finding):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Doppler systems: simulate antenna rotation for bearing</a:t>
            </a:r>
            <a:endParaRPr lang="en-US" sz="16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→ Useful for fox hunts and interference source location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Key Numbers — Module 7</a:t>
            </a:r>
            <a:endParaRPr lang="en-US" sz="2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dBi = dBd +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2.15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Dipole feed impedance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~73 ohms in free space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Folded dipole impedance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~300 ohms (4× dipole)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Quarter-wave match formula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Z = sqrt(Z1 × Z2)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Match 200Ω to 50Ω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sqrt(200×50) = 100Ω section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Open end of 1/4-wave line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Short circuit at input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Shorted end of 1/4-wave line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Open circuit at input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Velocity factor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Always &lt;1; signal slower in dielectric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Electrical length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Physical length × velocity factor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Ladder line VF typical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0.91-0.95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Coax VF typical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0.66-0.78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Smith chart center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Perfect match; SWR 1:1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Smith chart right side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Open circuit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Smith chart left side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Short circuit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Smith chart upper half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Inductive reactance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Smith chart toward generator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Clockwise rotation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Smith chart admittance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Move 180° around chart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Yagi director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Shorter; in front; increases gain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Yagi reflector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Longer; behind; increases F/B ratio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Beverage antenna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Receive-only; low noise; 160/80m DX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Small loop pattern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Figure-8; deep nulls perpendicular to loop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Antenna efficiency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Rrad / (Rrad + Rloss)</a:t>
                      </a:r>
                      <a:endParaRPr lang="en-US" sz="1300" dirty="0"/>
                    </a:p>
                  </a:txBody>
                  <a:tcPr marL="88900" marR="889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Amateur Extra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54880" y="4800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E9 · Antennas &amp; Transmission Lines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1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impedance of a quarter-wave matching section to match 25Ω to 100Ω?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62.5Ω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75Ω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50Ω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125Ω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Z = sqrt(25 × 100) = sqrt(2500) = 50Ω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2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How does dBi relate to dBd?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dBd = dBi + 2.15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dBi = dBd + 2.15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dBi = dBd - 2.15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They are equal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dBi = dBd + 2.15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3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input impedance of a quarter-wave line with an open circuit at the far end?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Open circuit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Z0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Short circuit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2 × Z0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Quarter-wave open end appears as a SHORT CIRCUIT at the input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4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A Beverage antenna is best suited for: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High-gain transmitting on 10m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VHF direction finding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Low-noise receiving on 160m and 80m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Wide bandwidth transmitting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Beverage: receive-only, traveling-wave, low noise floor; ideal for 160/80m DX receiving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5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does the center of a Smith chart represent?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Open circuit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Short circuit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Purely reactive impedance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Perfect match (SWR 1:1)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D — Center = Z0 normalized to 1+j0; perfect match; SWR 1:1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6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approximate feed impedance of a folded dipole?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50Ω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73Ω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300Ω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600Ω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C — Folded dipole: ~300Ω (4× the regular dipole's ~73Ω)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7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A Yagi director is placed in front of the driven element and is: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Longer; reflects energy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Shorter; increases forward gain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The same length; provides matching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Variable length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Director: shorter than driven element; placed toward desired direction; increases forward gain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8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determines antenna efficiency?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SWR on the feed line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Ratio of radiation resistance to total resistance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Resonant frequency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Number of radials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Efficiency = Rrad / (Rrad + Rloss)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9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pattern does a small loop receiving antenna produce?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Omnidirectional in loop plane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Figure-8 with nulls perpendicular to loop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Cardioid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Unidirectional toward loop opening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Small loop: figure-8 pattern; deep nulls perpendicular to the plane of the loop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10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Moving clockwise on the Smith chart corresponds to movement in what direction on the transmission line?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Toward the load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Toward the generator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Increasing frequency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Decreasing SWR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Answer: B — Clockwise = toward generator; counterclockwise = toward load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8288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VE Exam — You're Ready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50 questions, 37 to pass (74%)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Bring: government-issued photo ID and your FRN number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After passing: $35 FCC fee via CORES online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License upgrades when the FCC ULS database reflects the new grant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Your call sign stays the same — you can apply for a 1×2 or 2×1 vanity later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TavaOne Education  ·  Pinellas STEM Radio Lab  ·  tavaoneeducation.org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2026-09-19T04:05:24Z</dcterms:created>
  <dcterms:modified xsi:type="dcterms:W3CDTF">2026-09-19T04:05:24Z</dcterms:modified>
</cp:coreProperties>
</file>