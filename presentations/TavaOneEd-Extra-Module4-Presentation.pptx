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4 opening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Schematic symbol recognition is referenced in the pool (Figures E6-1, E6-2, E6-3) but tested conceptually in the written question. Focus on what each device does and when you'd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materials, then transistor types. GaAs vs Si vs GaN is a reliable exam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GaAs vs Si: same physical size, 6x the electron speed. That's why microwave MMICs use GaAs — the transistors can switch faster. GaN adds high power density on top of the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practical difference: BJT draws current at its input (base), FET draws almost none at its input (gate). This makes FETs ideal for high-impedance signal sources and mixers.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Diode identification is heavily tested. Know all five types cold: Zener, Schottky, PIN, varactor, 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Mnemonic for the exam: 'ZVPL' — Zener (voltage reg), Varactor (variable C), PIN (RF switch), LED (light). Schottky is the fast low-drop one for VHF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on CMOS characteristics and logic gate truth tables. FPGA programming language is also a reliable exam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NAND is the 'universal gate' — you can build any other logic function from NANDs alone. This is why it shows up on the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material selection is heavily tested. Ferrite vs powdered iron comes up regularly.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Brass vs ferrite: brass decreases inductance (brass is non-magnetic — it actually slightly opposes the field). Ferrite dramatically increases inductance. This is a reliable test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crystal oscillator works because the mechanical resonance of the quartz is extremely stable. The crystal is physically vibrating at its resonant frequency. Temperature changes affect the resonant frequency — hence TCXOs and OCXOs.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RF packaging choices directly affect circuit performance above VHF. Surface mount vs through-hole is a practical decision, not just an aesthetic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50-ohm standard is arbitrary but universal — everything designed around it, so all pieces interconnect. The MMIC output DC injection convention catches students off guard. It's on the output, not the input, so the input impedance isn't disturbed.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Optoisolators are everywhere in industrial electronics because they break ground loops and protect logic circuits from power transients. The LED side might be at ground; the phototransistor side at 120VAC potential.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right column. Call the left.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GaN is even faster but GaAs came first for MMICs. Both are correct for microwave — GaAs is the traditional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metal-semiconductor junction is what makes Schottky faster and lower drop. No minority carrier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Varactor = varicap = voltage-variable capacitor. PIN switches RF. Zener regulates voltage. Schottky rectifies at VHF.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Forward bias current changes the width of the I (intrinsic) region, changing RF resistance. This is distinct from a regular diode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why your smoke detector battery lasts for years — the CMOS logic is essentially off when idle.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hysteresis: input at exactly the threshold + tiny noise = output flipping hundreds of times per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Ferrite core → increases inductance. Brass slug → decreases inductance. Common use: fine-tuning coils by screwing a brass slug in or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resonances: series (lower freq, low Z) and parallel (higher freq, high Z). Crystal oscillators typically use one or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practice: bias T on the output. The RF choke passes DC but blocks RF; the DC feeds the MMIC through the output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Galvanic isolation means no electron can physically cross from one side to the other. The information crosses as 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and send students to HamStudy.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4114800"/>
            <a:ext cx="9144000" cy="182880"/>
          </a:xfrm>
          <a:prstGeom prst="rect">
            <a:avLst/>
          </a:prstGeom>
          <a:solidFill>
            <a:srgbClr val="2E7D52"/>
          </a:solidFill>
          <a:ln/>
        </p:spPr>
      </p:sp>
      <p:sp>
        <p:nvSpPr>
          <p:cNvPr id="4" name="Text 2"/>
          <p:cNvSpPr/>
          <p:nvPr/>
        </p:nvSpPr>
        <p:spPr>
          <a:xfrm>
            <a:off x="457200" y="914400"/>
            <a:ext cx="8229600" cy="1280160"/>
          </a:xfrm>
          <a:prstGeom prst="rect">
            <a:avLst/>
          </a:prstGeom>
          <a:noFill/>
          <a:ln/>
        </p:spPr>
        <p:txBody>
          <a:bodyPr wrap="square" rtlCol="0" anchor="ctr"/>
          <a:lstStyle/>
          <a:p>
            <a:pPr indent="0" marL="0">
              <a:buNone/>
            </a:pPr>
            <a:r>
              <a:rPr lang="en-US" sz="3800" b="1" dirty="0">
                <a:solidFill>
                  <a:srgbClr val="FFFFFF"/>
                </a:solidFill>
              </a:rPr>
              <a:t>Module 4: Circuit Components</a:t>
            </a:r>
            <a:endParaRPr lang="en-US" sz="3800" dirty="0"/>
          </a:p>
        </p:txBody>
      </p:sp>
      <p:sp>
        <p:nvSpPr>
          <p:cNvPr id="5" name="Text 3"/>
          <p:cNvSpPr/>
          <p:nvPr/>
        </p:nvSpPr>
        <p:spPr>
          <a:xfrm>
            <a:off x="457200" y="2468880"/>
            <a:ext cx="8229600" cy="640080"/>
          </a:xfrm>
          <a:prstGeom prst="rect">
            <a:avLst/>
          </a:prstGeom>
          <a:noFill/>
          <a:ln/>
        </p:spPr>
        <p:txBody>
          <a:bodyPr wrap="square" rtlCol="0" anchor="ctr"/>
          <a:lstStyle/>
          <a:p>
            <a:pPr indent="0" marL="0">
              <a:buNone/>
            </a:pPr>
            <a:r>
              <a:rPr lang="en-US" sz="1700" dirty="0">
                <a:solidFill>
                  <a:srgbClr val="AACCBB"/>
                </a:solidFill>
              </a:rPr>
              <a:t>Semiconductors · Diodes · Digital ICs · Inductors · RF Packaging</a:t>
            </a:r>
            <a:endParaRPr lang="en-US" sz="1700" dirty="0"/>
          </a:p>
          <a:p>
            <a:pPr indent="0" marL="0">
              <a:buNone/>
            </a:pPr>
            <a:r>
              <a:rPr lang="en-US" sz="1700" dirty="0">
                <a:solidFill>
                  <a:srgbClr val="AACCBB"/>
                </a:solidFill>
              </a:rPr>
              <a:t>2024-2028 Amateur Extra Question Pool</a:t>
            </a:r>
            <a:endParaRPr lang="en-US" sz="1700" dirty="0"/>
          </a:p>
        </p:txBody>
      </p:sp>
      <p:sp>
        <p:nvSpPr>
          <p:cNvPr id="6" name="Text 4"/>
          <p:cNvSpPr/>
          <p:nvPr/>
        </p:nvSpPr>
        <p:spPr>
          <a:xfrm>
            <a:off x="457200" y="4617720"/>
            <a:ext cx="8229600" cy="274320"/>
          </a:xfrm>
          <a:prstGeom prst="rect">
            <a:avLst/>
          </a:prstGeom>
          <a:noFill/>
          <a:ln/>
        </p:spPr>
        <p:txBody>
          <a:bodyPr wrap="square" rtlCol="0" anchor="ctr"/>
          <a:lstStyle/>
          <a:p>
            <a:pPr indent="0" marL="0">
              <a:buNone/>
            </a:pPr>
            <a:r>
              <a:rPr lang="en-US" sz="1100" dirty="0">
                <a:solidFill>
                  <a:srgbClr val="AAAAAA"/>
                </a:solidFill>
              </a:rPr>
              <a:t>TavaOne Education  ·  Pinellas STEM Radio Lab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Module 4 Overview</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6 exam questions — E6A through E6F — 12% of your Extra exam</a:t>
            </a:r>
            <a:endParaRPr lang="en-US" sz="1600" dirty="0"/>
          </a:p>
          <a:p>
            <a:pPr marL="190500" indent="-190500">
              <a:spcAft>
                <a:spcPts val="700"/>
              </a:spcAft>
              <a:buSzPct val="100000"/>
              <a:buChar char="•"/>
            </a:pPr>
            <a:r>
              <a:rPr lang="en-US" sz="1600" dirty="0">
                <a:solidFill>
                  <a:srgbClr val="1A1A1A"/>
                </a:solidFill>
              </a:rPr>
              <a:t>This module is heavier on identification than calculation</a:t>
            </a:r>
            <a:endParaRPr lang="en-US" sz="1600" dirty="0"/>
          </a:p>
          <a:p>
            <a:pPr marL="190500" indent="-190500">
              <a:spcAft>
                <a:spcPts val="700"/>
              </a:spcAft>
              <a:buSzPct val="100000"/>
              <a:buChar char="•"/>
            </a:pPr>
            <a:r>
              <a:rPr lang="en-US" sz="1600" dirty="0">
                <a:solidFill>
                  <a:srgbClr val="1A1A1A"/>
                </a:solidFill>
              </a:rPr>
              <a:t>Hour 1:</a:t>
            </a:r>
            <a:endParaRPr lang="en-US" sz="1600" dirty="0"/>
          </a:p>
          <a:p>
            <a:pPr marL="190500" indent="-190500">
              <a:spcAft>
                <a:spcPts val="700"/>
              </a:spcAft>
              <a:buSzPct val="100000"/>
              <a:buChar char="•"/>
            </a:pPr>
            <a:r>
              <a:rPr lang="en-US" sz="1600" dirty="0">
                <a:solidFill>
                  <a:srgbClr val="1A1A1A"/>
                </a:solidFill>
              </a:rPr>
              <a:t>→ E6A: Semiconductor materials and transistors</a:t>
            </a:r>
            <a:endParaRPr lang="en-US" sz="1600" dirty="0"/>
          </a:p>
          <a:p>
            <a:pPr marL="190500" indent="-190500">
              <a:spcAft>
                <a:spcPts val="700"/>
              </a:spcAft>
              <a:buSzPct val="100000"/>
              <a:buChar char="•"/>
            </a:pPr>
            <a:r>
              <a:rPr lang="en-US" sz="1600" dirty="0">
                <a:solidFill>
                  <a:srgbClr val="1A1A1A"/>
                </a:solidFill>
              </a:rPr>
              <a:t>→ E6B: Diode types and their applications</a:t>
            </a:r>
            <a:endParaRPr lang="en-US" sz="1600" dirty="0"/>
          </a:p>
          <a:p>
            <a:pPr marL="190500" indent="-190500">
              <a:spcAft>
                <a:spcPts val="700"/>
              </a:spcAft>
              <a:buSzPct val="100000"/>
              <a:buChar char="•"/>
            </a:pPr>
            <a:r>
              <a:rPr lang="en-US" sz="1600" dirty="0">
                <a:solidFill>
                  <a:srgbClr val="1A1A1A"/>
                </a:solidFill>
              </a:rPr>
              <a:t>Hour 2:</a:t>
            </a:r>
            <a:endParaRPr lang="en-US" sz="1600" dirty="0"/>
          </a:p>
          <a:p>
            <a:pPr marL="190500" indent="-190500">
              <a:spcAft>
                <a:spcPts val="700"/>
              </a:spcAft>
              <a:buSzPct val="100000"/>
              <a:buChar char="•"/>
            </a:pPr>
            <a:r>
              <a:rPr lang="en-US" sz="1600" dirty="0">
                <a:solidFill>
                  <a:srgbClr val="1A1A1A"/>
                </a:solidFill>
              </a:rPr>
              <a:t>→ E6C: Digital ICs — CMOS, logic gates, FPGAs</a:t>
            </a:r>
            <a:endParaRPr lang="en-US" sz="1600" dirty="0"/>
          </a:p>
          <a:p>
            <a:pPr marL="190500" indent="-190500">
              <a:spcAft>
                <a:spcPts val="700"/>
              </a:spcAft>
              <a:buSzPct val="100000"/>
              <a:buChar char="•"/>
            </a:pPr>
            <a:r>
              <a:rPr lang="en-US" sz="1600" dirty="0">
                <a:solidFill>
                  <a:srgbClr val="1A1A1A"/>
                </a:solidFill>
              </a:rPr>
              <a:t>→ E6D: Inductors, transformers, core materials, crystals</a:t>
            </a:r>
            <a:endParaRPr lang="en-US" sz="1600" dirty="0"/>
          </a:p>
          <a:p>
            <a:pPr marL="190500" indent="-190500">
              <a:spcAft>
                <a:spcPts val="700"/>
              </a:spcAft>
              <a:buSzPct val="100000"/>
              <a:buChar char="•"/>
            </a:pPr>
            <a:r>
              <a:rPr lang="en-US" sz="1600" dirty="0">
                <a:solidFill>
                  <a:srgbClr val="1A1A1A"/>
                </a:solidFill>
              </a:rPr>
              <a:t>→ E6E-F: RF semiconductors, IC packaging, electro-optics</a:t>
            </a:r>
            <a:endParaRPr lang="en-US" sz="1600" dirty="0"/>
          </a:p>
          <a:p>
            <a:pPr marL="190500" indent="-190500">
              <a:spcAft>
                <a:spcPts val="700"/>
              </a:spcAft>
              <a:buSzPct val="100000"/>
              <a:buChar char="•"/>
            </a:pPr>
            <a:r>
              <a:rPr lang="en-US" sz="1600" dirty="0">
                <a:solidFill>
                  <a:srgbClr val="1A1A1A"/>
                </a:solidFill>
              </a:rPr>
              <a:t>Focus areas: diode type identification is heavily tested. Know Zener vs. Schottky vs. PIN vs. varactor.</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E6 · Circuit Components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137160" cy="5143500"/>
          </a:xfrm>
          <a:prstGeom prst="rect">
            <a:avLst/>
          </a:prstGeom>
          <a:solidFill>
            <a:srgbClr val="2E7D52"/>
          </a:solidFill>
          <a:ln/>
        </p:spPr>
      </p:sp>
      <p:sp>
        <p:nvSpPr>
          <p:cNvPr id="4" name="Text 2"/>
          <p:cNvSpPr/>
          <p:nvPr/>
        </p:nvSpPr>
        <p:spPr>
          <a:xfrm>
            <a:off x="457200" y="1463040"/>
            <a:ext cx="8229600" cy="1280160"/>
          </a:xfrm>
          <a:prstGeom prst="rect">
            <a:avLst/>
          </a:prstGeom>
          <a:noFill/>
          <a:ln/>
        </p:spPr>
        <p:txBody>
          <a:bodyPr wrap="square" rtlCol="0" anchor="ctr"/>
          <a:lstStyle/>
          <a:p>
            <a:pPr indent="0" marL="0">
              <a:buNone/>
            </a:pPr>
            <a:r>
              <a:rPr lang="en-US" sz="3400" b="1" dirty="0">
                <a:solidFill>
                  <a:srgbClr val="FFFFFF"/>
                </a:solidFill>
              </a:rPr>
              <a:t>Part 1: Semiconductors and Transistors</a:t>
            </a:r>
            <a:endParaRPr lang="en-US" sz="3400" dirty="0"/>
          </a:p>
        </p:txBody>
      </p:sp>
      <p:sp>
        <p:nvSpPr>
          <p:cNvPr id="5" name="Text 3"/>
          <p:cNvSpPr/>
          <p:nvPr/>
        </p:nvSpPr>
        <p:spPr>
          <a:xfrm>
            <a:off x="457200" y="2834640"/>
            <a:ext cx="8229600" cy="548640"/>
          </a:xfrm>
          <a:prstGeom prst="rect">
            <a:avLst/>
          </a:prstGeom>
          <a:noFill/>
          <a:ln/>
        </p:spPr>
        <p:txBody>
          <a:bodyPr wrap="square" rtlCol="0" anchor="ctr"/>
          <a:lstStyle/>
          <a:p>
            <a:pPr indent="0" marL="0">
              <a:buNone/>
            </a:pPr>
            <a:r>
              <a:rPr lang="en-US" sz="1700" dirty="0">
                <a:solidFill>
                  <a:srgbClr val="AACCBB"/>
                </a:solidFill>
              </a:rPr>
              <a:t>Subelement E6A — 1 exam question</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Semiconductor Materials</a:t>
            </a:r>
            <a:endParaRPr lang="en-US" sz="2100" dirty="0"/>
          </a:p>
        </p:txBody>
      </p:sp>
      <p:sp>
        <p:nvSpPr>
          <p:cNvPr id="4" name="Shape 2"/>
          <p:cNvSpPr/>
          <p:nvPr/>
        </p:nvSpPr>
        <p:spPr>
          <a:xfrm>
            <a:off x="274320" y="914400"/>
            <a:ext cx="4114800" cy="347472"/>
          </a:xfrm>
          <a:prstGeom prst="rect">
            <a:avLst/>
          </a:prstGeom>
          <a:solidFill>
            <a:srgbClr val="2E7D52"/>
          </a:solidFill>
          <a:ln/>
        </p:spPr>
      </p:sp>
      <p:sp>
        <p:nvSpPr>
          <p:cNvPr id="5" name="Text 3"/>
          <p:cNvSpPr/>
          <p:nvPr/>
        </p:nvSpPr>
        <p:spPr>
          <a:xfrm>
            <a:off x="274320" y="914400"/>
            <a:ext cx="4114800" cy="347472"/>
          </a:xfrm>
          <a:prstGeom prst="rect">
            <a:avLst/>
          </a:prstGeom>
          <a:noFill/>
          <a:ln/>
        </p:spPr>
        <p:txBody>
          <a:bodyPr wrap="square" lIns="0" tIns="76200" rIns="0" bIns="0" rtlCol="0" anchor="ctr"/>
          <a:lstStyle/>
          <a:p>
            <a:pPr indent="0" marL="0">
              <a:buNone/>
            </a:pPr>
            <a:r>
              <a:rPr lang="en-US" sz="1300" b="1" dirty="0">
                <a:solidFill>
                  <a:srgbClr val="FFFFFF"/>
                </a:solidFill>
              </a:rPr>
              <a:t>Materials</a:t>
            </a:r>
            <a:endParaRPr lang="en-US" sz="1300" dirty="0"/>
          </a:p>
        </p:txBody>
      </p:sp>
      <p:sp>
        <p:nvSpPr>
          <p:cNvPr id="6" name="Shape 4"/>
          <p:cNvSpPr/>
          <p:nvPr/>
        </p:nvSpPr>
        <p:spPr>
          <a:xfrm>
            <a:off x="274320" y="1261872"/>
            <a:ext cx="4114800" cy="3611880"/>
          </a:xfrm>
          <a:prstGeom prst="rect">
            <a:avLst/>
          </a:prstGeom>
          <a:solidFill>
            <a:srgbClr val="F0F4F8"/>
          </a:solidFill>
          <a:ln/>
        </p:spPr>
      </p:sp>
      <p:sp>
        <p:nvSpPr>
          <p:cNvPr id="7" name="Text 5"/>
          <p:cNvSpPr txBox="1"/>
          <p:nvPr/>
        </p:nvSpPr>
        <p:spPr>
          <a:xfrm>
            <a:off x="365760" y="1325880"/>
            <a:ext cx="3931920" cy="3474720"/>
          </a:xfrm>
          <a:prstGeom prst="rect">
            <a:avLst/>
          </a:prstGeom>
          <a:noFill/>
          <a:ln/>
        </p:spPr>
        <p:txBody>
          <a:bodyPr wrap="square" lIns="0" tIns="0" rIns="0" bIns="0" rtlCol="0" anchor="t"/>
          <a:lstStyle/>
          <a:p>
            <a:pPr marL="152400" indent="-152400">
              <a:spcAft>
                <a:spcPts val="600"/>
              </a:spcAft>
              <a:buSzPct val="100000"/>
              <a:buChar char="•"/>
            </a:pPr>
            <a:r>
              <a:rPr lang="en-US" sz="1500" dirty="0">
                <a:solidFill>
                  <a:srgbClr val="1A1A1A"/>
                </a:solidFill>
              </a:rPr>
              <a:t>Silicon (Si): most common; moderate electron mobility</a:t>
            </a:r>
            <a:endParaRPr lang="en-US" sz="1500" dirty="0"/>
          </a:p>
          <a:p>
            <a:pPr marL="152400" indent="-152400">
              <a:spcAft>
                <a:spcPts val="600"/>
              </a:spcAft>
              <a:buSzPct val="100000"/>
              <a:buChar char="•"/>
            </a:pPr>
            <a:r>
              <a:rPr lang="en-US" sz="1500" dirty="0">
                <a:solidFill>
                  <a:srgbClr val="1A1A1A"/>
                </a:solidFill>
              </a:rPr>
              <a:t>GaAs: higher electron mobility → microwave use</a:t>
            </a:r>
            <a:endParaRPr lang="en-US" sz="1500" dirty="0"/>
          </a:p>
          <a:p>
            <a:pPr marL="152400" indent="-152400">
              <a:spcAft>
                <a:spcPts val="600"/>
              </a:spcAft>
              <a:buSzPct val="100000"/>
              <a:buChar char="•"/>
            </a:pPr>
            <a:r>
              <a:rPr lang="en-US" sz="1500" dirty="0">
                <a:solidFill>
                  <a:srgbClr val="1A1A1A"/>
                </a:solidFill>
              </a:rPr>
              <a:t>GaN: highest electron mobility + power density → UHF/SHF power amps, highest MMIC freq</a:t>
            </a:r>
            <a:endParaRPr lang="en-US" sz="1500" dirty="0"/>
          </a:p>
          <a:p>
            <a:pPr marL="152400" indent="-152400">
              <a:spcAft>
                <a:spcPts val="600"/>
              </a:spcAft>
              <a:buSzPct val="100000"/>
              <a:buChar char="•"/>
            </a:pPr>
            <a:r>
              <a:rPr lang="en-US" sz="1500" dirty="0">
                <a:solidFill>
                  <a:srgbClr val="1A1A1A"/>
                </a:solidFill>
              </a:rPr>
              <a:t>N-type: excess free electrons (donor impurity)</a:t>
            </a:r>
            <a:endParaRPr lang="en-US" sz="1500" dirty="0"/>
          </a:p>
          <a:p>
            <a:pPr marL="152400" indent="-152400">
              <a:spcAft>
                <a:spcPts val="600"/>
              </a:spcAft>
              <a:buSzPct val="100000"/>
              <a:buChar char="•"/>
            </a:pPr>
            <a:r>
              <a:rPr lang="en-US" sz="1500" dirty="0">
                <a:solidFill>
                  <a:srgbClr val="1A1A1A"/>
                </a:solidFill>
              </a:rPr>
              <a:t>P-type: excess holes (acceptor impurity)</a:t>
            </a:r>
            <a:endParaRPr lang="en-US" sz="1500" dirty="0"/>
          </a:p>
          <a:p>
            <a:pPr marL="152400" indent="-152400">
              <a:spcAft>
                <a:spcPts val="600"/>
              </a:spcAft>
              <a:buSzPct val="100000"/>
              <a:buChar char="•"/>
            </a:pPr>
            <a:r>
              <a:rPr lang="en-US" sz="1500" dirty="0">
                <a:solidFill>
                  <a:srgbClr val="1A1A1A"/>
                </a:solidFill>
              </a:rPr>
              <a:t>PN junction reverse bias: depletion widens; no current</a:t>
            </a:r>
            <a:endParaRPr lang="en-US" sz="1500" dirty="0"/>
          </a:p>
        </p:txBody>
      </p:sp>
      <p:sp>
        <p:nvSpPr>
          <p:cNvPr id="8" name="Shape 6"/>
          <p:cNvSpPr/>
          <p:nvPr/>
        </p:nvSpPr>
        <p:spPr>
          <a:xfrm>
            <a:off x="4754880" y="914400"/>
            <a:ext cx="4114800" cy="347472"/>
          </a:xfrm>
          <a:prstGeom prst="rect">
            <a:avLst/>
          </a:prstGeom>
          <a:solidFill>
            <a:srgbClr val="1B2A4A"/>
          </a:solidFill>
          <a:ln/>
        </p:spPr>
      </p:sp>
      <p:sp>
        <p:nvSpPr>
          <p:cNvPr id="9" name="Text 7"/>
          <p:cNvSpPr/>
          <p:nvPr/>
        </p:nvSpPr>
        <p:spPr>
          <a:xfrm>
            <a:off x="4754880" y="914400"/>
            <a:ext cx="4114800" cy="347472"/>
          </a:xfrm>
          <a:prstGeom prst="rect">
            <a:avLst/>
          </a:prstGeom>
          <a:noFill/>
          <a:ln/>
        </p:spPr>
        <p:txBody>
          <a:bodyPr wrap="square" lIns="0" tIns="76200" rIns="0" bIns="0" rtlCol="0" anchor="ctr"/>
          <a:lstStyle/>
          <a:p>
            <a:pPr indent="0" marL="0">
              <a:buNone/>
            </a:pPr>
            <a:r>
              <a:rPr lang="en-US" sz="1300" b="1" dirty="0">
                <a:solidFill>
                  <a:srgbClr val="FFFFFF"/>
                </a:solidFill>
              </a:rPr>
              <a:t>Transistor Types</a:t>
            </a:r>
            <a:endParaRPr lang="en-US" sz="1300" dirty="0"/>
          </a:p>
        </p:txBody>
      </p:sp>
      <p:sp>
        <p:nvSpPr>
          <p:cNvPr id="10" name="Shape 8"/>
          <p:cNvSpPr/>
          <p:nvPr/>
        </p:nvSpPr>
        <p:spPr>
          <a:xfrm>
            <a:off x="4754880" y="1261872"/>
            <a:ext cx="4114800" cy="3611880"/>
          </a:xfrm>
          <a:prstGeom prst="rect">
            <a:avLst/>
          </a:prstGeom>
          <a:solidFill>
            <a:srgbClr val="E8EFF8"/>
          </a:solidFill>
          <a:ln/>
        </p:spPr>
      </p:sp>
      <p:sp>
        <p:nvSpPr>
          <p:cNvPr id="11" name="Text 9"/>
          <p:cNvSpPr txBox="1"/>
          <p:nvPr/>
        </p:nvSpPr>
        <p:spPr>
          <a:xfrm>
            <a:off x="4846320" y="1325880"/>
            <a:ext cx="3931920" cy="3474720"/>
          </a:xfrm>
          <a:prstGeom prst="rect">
            <a:avLst/>
          </a:prstGeom>
          <a:noFill/>
          <a:ln/>
        </p:spPr>
        <p:txBody>
          <a:bodyPr wrap="square" lIns="0" tIns="0" rIns="0" bIns="0" rtlCol="0" anchor="t"/>
          <a:lstStyle/>
          <a:p>
            <a:pPr marL="152400" indent="-152400">
              <a:spcAft>
                <a:spcPts val="600"/>
              </a:spcAft>
              <a:buSzPct val="100000"/>
              <a:buChar char="•"/>
            </a:pPr>
            <a:r>
              <a:rPr lang="en-US" sz="1500" dirty="0">
                <a:solidFill>
                  <a:srgbClr val="1A1A1A"/>
                </a:solidFill>
              </a:rPr>
              <a:t>BJT: current-controlled; beta = ΔIc/ΔIb</a:t>
            </a:r>
            <a:endParaRPr lang="en-US" sz="1500" dirty="0"/>
          </a:p>
          <a:p>
            <a:pPr marL="152400" indent="-152400">
              <a:spcAft>
                <a:spcPts val="600"/>
              </a:spcAft>
              <a:buSzPct val="100000"/>
              <a:buChar char="•"/>
            </a:pPr>
            <a:r>
              <a:rPr lang="en-US" sz="1500" dirty="0">
                <a:solidFill>
                  <a:srgbClr val="1A1A1A"/>
                </a:solidFill>
              </a:rPr>
              <a:t>NPN turns on at Vbe ~0.6-0.7V</a:t>
            </a:r>
            <a:endParaRPr lang="en-US" sz="1500" dirty="0"/>
          </a:p>
          <a:p>
            <a:pPr marL="152400" indent="-152400">
              <a:spcAft>
                <a:spcPts val="600"/>
              </a:spcAft>
              <a:buSzPct val="100000"/>
              <a:buChar char="•"/>
            </a:pPr>
            <a:r>
              <a:rPr lang="en-US" sz="1500" dirty="0">
                <a:solidFill>
                  <a:srgbClr val="1A1A1A"/>
                </a:solidFill>
              </a:rPr>
              <a:t>FET: voltage-controlled; higher input impedance than BJT</a:t>
            </a:r>
            <a:endParaRPr lang="en-US" sz="1500" dirty="0"/>
          </a:p>
          <a:p>
            <a:pPr marL="152400" indent="-152400">
              <a:spcAft>
                <a:spcPts val="600"/>
              </a:spcAft>
              <a:buSzPct val="100000"/>
              <a:buChar char="•"/>
            </a:pPr>
            <a:r>
              <a:rPr lang="en-US" sz="1500" dirty="0">
                <a:solidFill>
                  <a:srgbClr val="1A1A1A"/>
                </a:solidFill>
              </a:rPr>
              <a:t>Depletion-mode FET: conducts with no gate voltage</a:t>
            </a:r>
            <a:endParaRPr lang="en-US" sz="1500" dirty="0"/>
          </a:p>
          <a:p>
            <a:pPr marL="152400" indent="-152400">
              <a:spcAft>
                <a:spcPts val="600"/>
              </a:spcAft>
              <a:buSzPct val="100000"/>
              <a:buChar char="•"/>
            </a:pPr>
            <a:r>
              <a:rPr lang="en-US" sz="1500" dirty="0">
                <a:solidFill>
                  <a:srgbClr val="1A1A1A"/>
                </a:solidFill>
              </a:rPr>
              <a:t>Enhancement-mode MOSFET: OFF with no gate voltage</a:t>
            </a:r>
            <a:endParaRPr lang="en-US" sz="1500" dirty="0"/>
          </a:p>
          <a:p>
            <a:pPr marL="152400" indent="-152400">
              <a:spcAft>
                <a:spcPts val="600"/>
              </a:spcAft>
              <a:buSzPct val="100000"/>
              <a:buChar char="•"/>
            </a:pPr>
            <a:r>
              <a:rPr lang="en-US" sz="1500" dirty="0">
                <a:solidFill>
                  <a:srgbClr val="1A1A1A"/>
                </a:solidFill>
              </a:rPr>
              <a:t>Dual-gate MOSFET: two gates for AGC or mixing</a:t>
            </a:r>
            <a:endParaRPr lang="en-US" sz="1500" dirty="0"/>
          </a:p>
          <a:p>
            <a:pPr marL="152400" indent="-152400">
              <a:spcAft>
                <a:spcPts val="600"/>
              </a:spcAft>
              <a:buSzPct val="100000"/>
              <a:buChar char="•"/>
            </a:pPr>
            <a:r>
              <a:rPr lang="en-US" sz="1500" dirty="0">
                <a:solidFill>
                  <a:srgbClr val="1A1A1A"/>
                </a:solidFill>
              </a:rPr>
              <a:t>MOSFET gate protection: Zener diodes clamp against ESD</a:t>
            </a:r>
            <a:endParaRPr lang="en-US" sz="1500" dirty="0"/>
          </a:p>
        </p:txBody>
      </p:sp>
      <p:sp>
        <p:nvSpPr>
          <p:cNvPr id="12" name="Text 10"/>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13" name="Text 11"/>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E6 · Circuit Components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BJT vs FET</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BJT (Bipolar Junction Transistor):</a:t>
            </a:r>
            <a:endParaRPr lang="en-US" sz="1600" dirty="0"/>
          </a:p>
          <a:p>
            <a:pPr marL="190500" indent="-190500">
              <a:spcAft>
                <a:spcPts val="700"/>
              </a:spcAft>
              <a:buSzPct val="100000"/>
              <a:buChar char="•"/>
            </a:pPr>
            <a:r>
              <a:rPr lang="en-US" sz="1600" dirty="0">
                <a:solidFill>
                  <a:srgbClr val="1A1A1A"/>
                </a:solidFill>
              </a:rPr>
              <a:t>→ Base current controls collector current</a:t>
            </a:r>
            <a:endParaRPr lang="en-US" sz="1600" dirty="0"/>
          </a:p>
          <a:p>
            <a:pPr marL="190500" indent="-190500">
              <a:spcAft>
                <a:spcPts val="700"/>
              </a:spcAft>
              <a:buSzPct val="100000"/>
              <a:buChar char="•"/>
            </a:pPr>
            <a:r>
              <a:rPr lang="en-US" sz="1600" dirty="0">
                <a:solidFill>
                  <a:srgbClr val="1A1A1A"/>
                </a:solidFill>
              </a:rPr>
              <a:t>→ Beta (hFE) = collector current / base current</a:t>
            </a:r>
            <a:endParaRPr lang="en-US" sz="1600" dirty="0"/>
          </a:p>
          <a:p>
            <a:pPr marL="190500" indent="-190500">
              <a:spcAft>
                <a:spcPts val="700"/>
              </a:spcAft>
              <a:buSzPct val="100000"/>
              <a:buChar char="•"/>
            </a:pPr>
            <a:r>
              <a:rPr lang="en-US" sz="1600" dirty="0">
                <a:solidFill>
                  <a:srgbClr val="1A1A1A"/>
                </a:solidFill>
              </a:rPr>
              <a:t>→ Consumes input current — lower input impedance</a:t>
            </a:r>
            <a:endParaRPr lang="en-US" sz="1600" dirty="0"/>
          </a:p>
          <a:p>
            <a:pPr marL="190500" indent="-190500">
              <a:spcAft>
                <a:spcPts val="700"/>
              </a:spcAft>
              <a:buSzPct val="100000"/>
              <a:buChar char="•"/>
            </a:pPr>
            <a:r>
              <a:rPr lang="en-US" sz="1600" dirty="0">
                <a:solidFill>
                  <a:srgbClr val="1A1A1A"/>
                </a:solidFill>
              </a:rPr>
              <a:t>→ Good for high-frequency amplifiers; saturates easily</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FET (Field Effect Transistor):</a:t>
            </a:r>
            <a:endParaRPr lang="en-US" sz="1600" dirty="0"/>
          </a:p>
          <a:p>
            <a:pPr marL="190500" indent="-190500">
              <a:spcAft>
                <a:spcPts val="700"/>
              </a:spcAft>
              <a:buSzPct val="100000"/>
              <a:buChar char="•"/>
            </a:pPr>
            <a:r>
              <a:rPr lang="en-US" sz="1600" dirty="0">
                <a:solidFill>
                  <a:srgbClr val="1A1A1A"/>
                </a:solidFill>
              </a:rPr>
              <a:t>→ Gate VOLTAGE controls drain current</a:t>
            </a:r>
            <a:endParaRPr lang="en-US" sz="1600" dirty="0"/>
          </a:p>
          <a:p>
            <a:pPr marL="190500" indent="-190500">
              <a:spcAft>
                <a:spcPts val="700"/>
              </a:spcAft>
              <a:buSzPct val="100000"/>
              <a:buChar char="•"/>
            </a:pPr>
            <a:r>
              <a:rPr lang="en-US" sz="1600" dirty="0">
                <a:solidFill>
                  <a:srgbClr val="1A1A1A"/>
                </a:solidFill>
              </a:rPr>
              <a:t>→ Almost zero gate current — very high input impedance</a:t>
            </a:r>
            <a:endParaRPr lang="en-US" sz="1600" dirty="0"/>
          </a:p>
          <a:p>
            <a:pPr marL="190500" indent="-190500">
              <a:spcAft>
                <a:spcPts val="700"/>
              </a:spcAft>
              <a:buSzPct val="100000"/>
              <a:buChar char="•"/>
            </a:pPr>
            <a:r>
              <a:rPr lang="en-US" sz="1600" dirty="0">
                <a:solidFill>
                  <a:srgbClr val="1A1A1A"/>
                </a:solidFill>
              </a:rPr>
              <a:t>→ JFET: depletion type (reverse bias gate reduces current)</a:t>
            </a:r>
            <a:endParaRPr lang="en-US" sz="1600" dirty="0"/>
          </a:p>
          <a:p>
            <a:pPr marL="190500" indent="-190500">
              <a:spcAft>
                <a:spcPts val="700"/>
              </a:spcAft>
              <a:buSzPct val="100000"/>
              <a:buChar char="•"/>
            </a:pPr>
            <a:r>
              <a:rPr lang="en-US" sz="1600" dirty="0">
                <a:solidFill>
                  <a:srgbClr val="1A1A1A"/>
                </a:solidFill>
              </a:rPr>
              <a:t>→ MOSFET: enhancement (common) or depletion type</a:t>
            </a:r>
            <a:endParaRPr lang="en-US" sz="1600" dirty="0"/>
          </a:p>
          <a:p>
            <a:pPr marL="190500" indent="-190500">
              <a:spcAft>
                <a:spcPts val="700"/>
              </a:spcAft>
              <a:buSzPct val="100000"/>
              <a:buChar char="•"/>
            </a:pPr>
            <a:r>
              <a:rPr lang="en-US" sz="1600" dirty="0">
                <a:solidFill>
                  <a:srgbClr val="1A1A1A"/>
                </a:solidFill>
              </a:rPr>
              <a:t>→ Gate isolation: SiO2 layer or PN junction</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Alpha cutoff frequency: frequency where grounded-base current gain falls to 0.707 (−3 dB) of low-frequency value</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E6 · Circuit Components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137160" cy="5143500"/>
          </a:xfrm>
          <a:prstGeom prst="rect">
            <a:avLst/>
          </a:prstGeom>
          <a:solidFill>
            <a:srgbClr val="2E7D52"/>
          </a:solidFill>
          <a:ln/>
        </p:spPr>
      </p:sp>
      <p:sp>
        <p:nvSpPr>
          <p:cNvPr id="4" name="Text 2"/>
          <p:cNvSpPr/>
          <p:nvPr/>
        </p:nvSpPr>
        <p:spPr>
          <a:xfrm>
            <a:off x="457200" y="1463040"/>
            <a:ext cx="8229600" cy="1280160"/>
          </a:xfrm>
          <a:prstGeom prst="rect">
            <a:avLst/>
          </a:prstGeom>
          <a:noFill/>
          <a:ln/>
        </p:spPr>
        <p:txBody>
          <a:bodyPr wrap="square" rtlCol="0" anchor="ctr"/>
          <a:lstStyle/>
          <a:p>
            <a:pPr indent="0" marL="0">
              <a:buNone/>
            </a:pPr>
            <a:r>
              <a:rPr lang="en-US" sz="3400" b="1" dirty="0">
                <a:solidFill>
                  <a:srgbClr val="FFFFFF"/>
                </a:solidFill>
              </a:rPr>
              <a:t>Part 2: Diode Types</a:t>
            </a:r>
            <a:endParaRPr lang="en-US" sz="3400" dirty="0"/>
          </a:p>
        </p:txBody>
      </p:sp>
      <p:sp>
        <p:nvSpPr>
          <p:cNvPr id="5" name="Text 3"/>
          <p:cNvSpPr/>
          <p:nvPr/>
        </p:nvSpPr>
        <p:spPr>
          <a:xfrm>
            <a:off x="457200" y="2834640"/>
            <a:ext cx="8229600" cy="548640"/>
          </a:xfrm>
          <a:prstGeom prst="rect">
            <a:avLst/>
          </a:prstGeom>
          <a:noFill/>
          <a:ln/>
        </p:spPr>
        <p:txBody>
          <a:bodyPr wrap="square" rtlCol="0" anchor="ctr"/>
          <a:lstStyle/>
          <a:p>
            <a:pPr indent="0" marL="0">
              <a:buNone/>
            </a:pPr>
            <a:r>
              <a:rPr lang="en-US" sz="1700" dirty="0">
                <a:solidFill>
                  <a:srgbClr val="AACCBB"/>
                </a:solidFill>
              </a:rPr>
              <a:t>Subelement E6B — 1 exam question</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Diode Types and Applications</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Zener: conducts in reverse breakdown at a specific voltage — voltage regulation, clamping</a:t>
            </a:r>
            <a:endParaRPr lang="en-US" sz="1600" dirty="0"/>
          </a:p>
          <a:p>
            <a:pPr marL="190500" indent="-190500">
              <a:spcAft>
                <a:spcPts val="700"/>
              </a:spcAft>
              <a:buSzPct val="100000"/>
              <a:buChar char="•"/>
            </a:pPr>
            <a:r>
              <a:rPr lang="en-US" sz="1600" dirty="0">
                <a:solidFill>
                  <a:srgbClr val="1A1A1A"/>
                </a:solidFill>
              </a:rPr>
              <a:t>Schottky: metal-semiconductor junction</a:t>
            </a:r>
            <a:endParaRPr lang="en-US" sz="1600" dirty="0"/>
          </a:p>
          <a:p>
            <a:pPr marL="190500" indent="-190500">
              <a:spcAft>
                <a:spcPts val="700"/>
              </a:spcAft>
              <a:buSzPct val="100000"/>
              <a:buChar char="•"/>
            </a:pPr>
            <a:r>
              <a:rPr lang="en-US" sz="1600" dirty="0">
                <a:solidFill>
                  <a:srgbClr val="1A1A1A"/>
                </a:solidFill>
              </a:rPr>
              <a:t>→ Lower forward voltage drop (~0.2-0.4V vs 0.6-0.7V for silicon)</a:t>
            </a:r>
            <a:endParaRPr lang="en-US" sz="1600" dirty="0"/>
          </a:p>
          <a:p>
            <a:pPr marL="190500" indent="-190500">
              <a:spcAft>
                <a:spcPts val="700"/>
              </a:spcAft>
              <a:buSzPct val="100000"/>
              <a:buChar char="•"/>
            </a:pPr>
            <a:r>
              <a:rPr lang="en-US" sz="1600" dirty="0">
                <a:solidFill>
                  <a:srgbClr val="1A1A1A"/>
                </a:solidFill>
              </a:rPr>
              <a:t>→ Fast switching; VHF/UHF mixer and detector</a:t>
            </a:r>
            <a:endParaRPr lang="en-US" sz="1600" dirty="0"/>
          </a:p>
          <a:p>
            <a:pPr marL="190500" indent="-190500">
              <a:spcAft>
                <a:spcPts val="700"/>
              </a:spcAft>
              <a:buSzPct val="100000"/>
              <a:buChar char="•"/>
            </a:pPr>
            <a:r>
              <a:rPr lang="en-US" sz="1600" dirty="0">
                <a:solidFill>
                  <a:srgbClr val="1A1A1A"/>
                </a:solidFill>
              </a:rPr>
              <a:t>Varactor (varicap): PN junction used in reverse bias</a:t>
            </a:r>
            <a:endParaRPr lang="en-US" sz="1600" dirty="0"/>
          </a:p>
          <a:p>
            <a:pPr marL="190500" indent="-190500">
              <a:spcAft>
                <a:spcPts val="700"/>
              </a:spcAft>
              <a:buSzPct val="100000"/>
              <a:buChar char="•"/>
            </a:pPr>
            <a:r>
              <a:rPr lang="en-US" sz="1600" dirty="0">
                <a:solidFill>
                  <a:srgbClr val="1A1A1A"/>
                </a:solidFill>
              </a:rPr>
              <a:t>→ Junction capacitance varies with voltage — voltage-controlled capacitor</a:t>
            </a:r>
            <a:endParaRPr lang="en-US" sz="1600" dirty="0"/>
          </a:p>
          <a:p>
            <a:pPr marL="190500" indent="-190500">
              <a:spcAft>
                <a:spcPts val="700"/>
              </a:spcAft>
              <a:buSzPct val="100000"/>
              <a:buChar char="•"/>
            </a:pPr>
            <a:r>
              <a:rPr lang="en-US" sz="1600" dirty="0">
                <a:solidFill>
                  <a:srgbClr val="1A1A1A"/>
                </a:solidFill>
              </a:rPr>
              <a:t>→ Used in VCOs, AFC, phase modulators</a:t>
            </a:r>
            <a:endParaRPr lang="en-US" sz="1600" dirty="0"/>
          </a:p>
          <a:p>
            <a:pPr marL="190500" indent="-190500">
              <a:spcAft>
                <a:spcPts val="700"/>
              </a:spcAft>
              <a:buSzPct val="100000"/>
              <a:buChar char="•"/>
            </a:pPr>
            <a:r>
              <a:rPr lang="en-US" sz="1600" dirty="0">
                <a:solidFill>
                  <a:srgbClr val="1A1A1A"/>
                </a:solidFill>
              </a:rPr>
              <a:t>PIN diode: P-Intrinsic-N structure</a:t>
            </a:r>
            <a:endParaRPr lang="en-US" sz="1600" dirty="0"/>
          </a:p>
          <a:p>
            <a:pPr marL="190500" indent="-190500">
              <a:spcAft>
                <a:spcPts val="700"/>
              </a:spcAft>
              <a:buSzPct val="100000"/>
              <a:buChar char="•"/>
            </a:pPr>
            <a:r>
              <a:rPr lang="en-US" sz="1600" dirty="0">
                <a:solidFill>
                  <a:srgbClr val="1A1A1A"/>
                </a:solidFill>
              </a:rPr>
              <a:t>→ Low junction capacitance at RF</a:t>
            </a:r>
            <a:endParaRPr lang="en-US" sz="1600" dirty="0"/>
          </a:p>
          <a:p>
            <a:pPr marL="190500" indent="-190500">
              <a:spcAft>
                <a:spcPts val="700"/>
              </a:spcAft>
              <a:buSzPct val="100000"/>
              <a:buChar char="•"/>
            </a:pPr>
            <a:r>
              <a:rPr lang="en-US" sz="1600" dirty="0">
                <a:solidFill>
                  <a:srgbClr val="1A1A1A"/>
                </a:solidFill>
              </a:rPr>
              <a:t>→ Controlled by forward DC bias current — acts as variable RF resistor</a:t>
            </a:r>
            <a:endParaRPr lang="en-US" sz="1600" dirty="0"/>
          </a:p>
          <a:p>
            <a:pPr marL="190500" indent="-190500">
              <a:spcAft>
                <a:spcPts val="700"/>
              </a:spcAft>
              <a:buSzPct val="100000"/>
              <a:buChar char="•"/>
            </a:pPr>
            <a:r>
              <a:rPr lang="en-US" sz="1600" dirty="0">
                <a:solidFill>
                  <a:srgbClr val="1A1A1A"/>
                </a:solidFill>
              </a:rPr>
              <a:t>→ Used as RF switch or attenuator</a:t>
            </a:r>
            <a:endParaRPr lang="en-US" sz="1600" dirty="0"/>
          </a:p>
          <a:p>
            <a:pPr marL="190500" indent="-190500">
              <a:spcAft>
                <a:spcPts val="700"/>
              </a:spcAft>
              <a:buSzPct val="100000"/>
              <a:buChar char="•"/>
            </a:pPr>
            <a:r>
              <a:rPr lang="en-US" sz="1600" dirty="0">
                <a:solidFill>
                  <a:srgbClr val="1A1A1A"/>
                </a:solidFill>
              </a:rPr>
              <a:t>LED: forward voltage set by semiconductor band gap</a:t>
            </a:r>
            <a:endParaRPr lang="en-US" sz="1600" dirty="0"/>
          </a:p>
          <a:p>
            <a:pPr marL="190500" indent="-190500">
              <a:spcAft>
                <a:spcPts val="700"/>
              </a:spcAft>
              <a:buSzPct val="100000"/>
              <a:buChar char="•"/>
            </a:pPr>
            <a:r>
              <a:rPr lang="en-US" sz="1600" dirty="0">
                <a:solidFill>
                  <a:srgbClr val="1A1A1A"/>
                </a:solidFill>
              </a:rPr>
              <a:t>Point-contact diode: metal point on semiconductor — RF detector</a:t>
            </a:r>
            <a:endParaRPr lang="en-US" sz="1600" dirty="0"/>
          </a:p>
          <a:p>
            <a:pPr marL="190500" indent="-190500">
              <a:spcAft>
                <a:spcPts val="700"/>
              </a:spcAft>
              <a:buSzPct val="100000"/>
              <a:buChar char="•"/>
            </a:pPr>
            <a:r>
              <a:rPr lang="en-US" sz="1600" dirty="0">
                <a:solidFill>
                  <a:srgbClr val="1A1A1A"/>
                </a:solidFill>
              </a:rPr>
              <a:t>Common failure mode: excessive junction temperature from overcurrent</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E6 · Circuit Components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137160" cy="5143500"/>
          </a:xfrm>
          <a:prstGeom prst="rect">
            <a:avLst/>
          </a:prstGeom>
          <a:solidFill>
            <a:srgbClr val="2E7D52"/>
          </a:solidFill>
          <a:ln/>
        </p:spPr>
      </p:sp>
      <p:sp>
        <p:nvSpPr>
          <p:cNvPr id="4" name="Text 2"/>
          <p:cNvSpPr/>
          <p:nvPr/>
        </p:nvSpPr>
        <p:spPr>
          <a:xfrm>
            <a:off x="457200" y="1463040"/>
            <a:ext cx="8229600" cy="1280160"/>
          </a:xfrm>
          <a:prstGeom prst="rect">
            <a:avLst/>
          </a:prstGeom>
          <a:noFill/>
          <a:ln/>
        </p:spPr>
        <p:txBody>
          <a:bodyPr wrap="square" rtlCol="0" anchor="ctr"/>
          <a:lstStyle/>
          <a:p>
            <a:pPr indent="0" marL="0">
              <a:buNone/>
            </a:pPr>
            <a:r>
              <a:rPr lang="en-US" sz="3400" b="1" dirty="0">
                <a:solidFill>
                  <a:srgbClr val="FFFFFF"/>
                </a:solidFill>
              </a:rPr>
              <a:t>Part 3: Digital ICs</a:t>
            </a:r>
            <a:endParaRPr lang="en-US" sz="3400" dirty="0"/>
          </a:p>
        </p:txBody>
      </p:sp>
      <p:sp>
        <p:nvSpPr>
          <p:cNvPr id="5" name="Text 3"/>
          <p:cNvSpPr/>
          <p:nvPr/>
        </p:nvSpPr>
        <p:spPr>
          <a:xfrm>
            <a:off x="457200" y="2834640"/>
            <a:ext cx="8229600" cy="548640"/>
          </a:xfrm>
          <a:prstGeom prst="rect">
            <a:avLst/>
          </a:prstGeom>
          <a:noFill/>
          <a:ln/>
        </p:spPr>
        <p:txBody>
          <a:bodyPr wrap="square" rtlCol="0" anchor="ctr"/>
          <a:lstStyle/>
          <a:p>
            <a:pPr indent="0" marL="0">
              <a:buNone/>
            </a:pPr>
            <a:r>
              <a:rPr lang="en-US" sz="1700" dirty="0">
                <a:solidFill>
                  <a:srgbClr val="AACCBB"/>
                </a:solidFill>
              </a:rPr>
              <a:t>Subelement E6C — 1 exam question</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Logic Families and Gate Behavior</a:t>
            </a:r>
            <a:endParaRPr lang="en-US" sz="2100" dirty="0"/>
          </a:p>
        </p:txBody>
      </p:sp>
      <p:sp>
        <p:nvSpPr>
          <p:cNvPr id="4" name="Shape 2"/>
          <p:cNvSpPr/>
          <p:nvPr/>
        </p:nvSpPr>
        <p:spPr>
          <a:xfrm>
            <a:off x="274320" y="914400"/>
            <a:ext cx="4114800" cy="347472"/>
          </a:xfrm>
          <a:prstGeom prst="rect">
            <a:avLst/>
          </a:prstGeom>
          <a:solidFill>
            <a:srgbClr val="2E7D52"/>
          </a:solidFill>
          <a:ln/>
        </p:spPr>
      </p:sp>
      <p:sp>
        <p:nvSpPr>
          <p:cNvPr id="5" name="Text 3"/>
          <p:cNvSpPr/>
          <p:nvPr/>
        </p:nvSpPr>
        <p:spPr>
          <a:xfrm>
            <a:off x="274320" y="914400"/>
            <a:ext cx="4114800" cy="347472"/>
          </a:xfrm>
          <a:prstGeom prst="rect">
            <a:avLst/>
          </a:prstGeom>
          <a:noFill/>
          <a:ln/>
        </p:spPr>
        <p:txBody>
          <a:bodyPr wrap="square" lIns="0" tIns="76200" rIns="0" bIns="0" rtlCol="0" anchor="ctr"/>
          <a:lstStyle/>
          <a:p>
            <a:pPr indent="0" marL="0">
              <a:buNone/>
            </a:pPr>
            <a:r>
              <a:rPr lang="en-US" sz="1300" b="1" dirty="0">
                <a:solidFill>
                  <a:srgbClr val="FFFFFF"/>
                </a:solidFill>
              </a:rPr>
              <a:t>CMOS vs Others</a:t>
            </a:r>
            <a:endParaRPr lang="en-US" sz="1300" dirty="0"/>
          </a:p>
        </p:txBody>
      </p:sp>
      <p:sp>
        <p:nvSpPr>
          <p:cNvPr id="6" name="Shape 4"/>
          <p:cNvSpPr/>
          <p:nvPr/>
        </p:nvSpPr>
        <p:spPr>
          <a:xfrm>
            <a:off x="274320" y="1261872"/>
            <a:ext cx="4114800" cy="3611880"/>
          </a:xfrm>
          <a:prstGeom prst="rect">
            <a:avLst/>
          </a:prstGeom>
          <a:solidFill>
            <a:srgbClr val="F0F4F8"/>
          </a:solidFill>
          <a:ln/>
        </p:spPr>
      </p:sp>
      <p:sp>
        <p:nvSpPr>
          <p:cNvPr id="7" name="Text 5"/>
          <p:cNvSpPr txBox="1"/>
          <p:nvPr/>
        </p:nvSpPr>
        <p:spPr>
          <a:xfrm>
            <a:off x="365760" y="1325880"/>
            <a:ext cx="3931920" cy="3474720"/>
          </a:xfrm>
          <a:prstGeom prst="rect">
            <a:avLst/>
          </a:prstGeom>
          <a:noFill/>
          <a:ln/>
        </p:spPr>
        <p:txBody>
          <a:bodyPr wrap="square" lIns="0" tIns="0" rIns="0" bIns="0" rtlCol="0" anchor="t"/>
          <a:lstStyle/>
          <a:p>
            <a:pPr marL="152400" indent="-152400">
              <a:spcAft>
                <a:spcPts val="600"/>
              </a:spcAft>
              <a:buSzPct val="100000"/>
              <a:buChar char="•"/>
            </a:pPr>
            <a:r>
              <a:rPr lang="en-US" sz="1500" dirty="0">
                <a:solidFill>
                  <a:srgbClr val="1A1A1A"/>
                </a:solidFill>
              </a:rPr>
              <a:t>CMOS: lowest power consumption (near-zero static current)</a:t>
            </a:r>
            <a:endParaRPr lang="en-US" sz="1500" dirty="0"/>
          </a:p>
          <a:p>
            <a:pPr marL="152400" indent="-152400">
              <a:spcAft>
                <a:spcPts val="600"/>
              </a:spcAft>
              <a:buSzPct val="100000"/>
              <a:buChar char="•"/>
            </a:pPr>
            <a:r>
              <a:rPr lang="en-US" sz="1500" dirty="0">
                <a:solidFill>
                  <a:srgbClr val="1A1A1A"/>
                </a:solidFill>
              </a:rPr>
              <a:t>CMOS threshold: ~half supply voltage</a:t>
            </a:r>
            <a:endParaRPr lang="en-US" sz="1500" dirty="0"/>
          </a:p>
          <a:p>
            <a:pPr marL="152400" indent="-152400">
              <a:spcAft>
                <a:spcPts val="600"/>
              </a:spcAft>
              <a:buSzPct val="100000"/>
              <a:buChar char="•"/>
            </a:pPr>
            <a:r>
              <a:rPr lang="en-US" sz="1500" dirty="0">
                <a:solidFill>
                  <a:srgbClr val="1A1A1A"/>
                </a:solidFill>
              </a:rPr>
              <a:t>CMOS noise immunity: high (wide margin between 0 and 1)</a:t>
            </a:r>
            <a:endParaRPr lang="en-US" sz="1500" dirty="0"/>
          </a:p>
          <a:p>
            <a:pPr marL="152400" indent="-152400">
              <a:spcAft>
                <a:spcPts val="600"/>
              </a:spcAft>
              <a:buSzPct val="100000"/>
              <a:buChar char="•"/>
            </a:pPr>
            <a:r>
              <a:rPr lang="en-US" sz="1500" dirty="0">
                <a:solidFill>
                  <a:srgbClr val="1A1A1A"/>
                </a:solidFill>
              </a:rPr>
              <a:t>BiCMOS: CMOS input impedance + bipolar output drive</a:t>
            </a:r>
            <a:endParaRPr lang="en-US" sz="1500" dirty="0"/>
          </a:p>
          <a:p>
            <a:pPr marL="152400" indent="-152400">
              <a:spcAft>
                <a:spcPts val="600"/>
              </a:spcAft>
              <a:buSzPct val="100000"/>
              <a:buChar char="•"/>
            </a:pPr>
            <a:r>
              <a:rPr lang="en-US" sz="1500" dirty="0">
                <a:solidFill>
                  <a:srgbClr val="1A1A1A"/>
                </a:solidFill>
              </a:rPr>
              <a:t>Tri-state: three states — 0, 1, high-impedance (disconnected)</a:t>
            </a:r>
            <a:endParaRPr lang="en-US" sz="1500" dirty="0"/>
          </a:p>
          <a:p>
            <a:pPr marL="152400" indent="-152400">
              <a:spcAft>
                <a:spcPts val="600"/>
              </a:spcAft>
              <a:buSzPct val="100000"/>
              <a:buChar char="•"/>
            </a:pPr>
            <a:r>
              <a:rPr lang="en-US" sz="1500" dirty="0">
                <a:solidFill>
                  <a:srgbClr val="1A1A1A"/>
                </a:solidFill>
              </a:rPr>
              <a:t>Pull-up resistor: holds pin HIGH when open</a:t>
            </a:r>
            <a:endParaRPr lang="en-US" sz="1500" dirty="0"/>
          </a:p>
          <a:p>
            <a:pPr marL="152400" indent="-152400">
              <a:spcAft>
                <a:spcPts val="600"/>
              </a:spcAft>
              <a:buSzPct val="100000"/>
              <a:buChar char="•"/>
            </a:pPr>
            <a:r>
              <a:rPr lang="en-US" sz="1500" dirty="0">
                <a:solidFill>
                  <a:srgbClr val="1A1A1A"/>
                </a:solidFill>
              </a:rPr>
              <a:t>Pull-down resistor: holds pin LOW when open</a:t>
            </a:r>
            <a:endParaRPr lang="en-US" sz="1500" dirty="0"/>
          </a:p>
          <a:p>
            <a:pPr marL="152400" indent="-152400">
              <a:spcAft>
                <a:spcPts val="600"/>
              </a:spcAft>
              <a:buSzPct val="100000"/>
              <a:buChar char="•"/>
            </a:pPr>
            <a:r>
              <a:rPr lang="en-US" sz="1500" dirty="0">
                <a:solidFill>
                  <a:srgbClr val="1A1A1A"/>
                </a:solidFill>
              </a:rPr>
              <a:t>Comparator hysteresis: prevents chatter on noisy inputs</a:t>
            </a:r>
            <a:endParaRPr lang="en-US" sz="1500" dirty="0"/>
          </a:p>
        </p:txBody>
      </p:sp>
      <p:sp>
        <p:nvSpPr>
          <p:cNvPr id="8" name="Shape 6"/>
          <p:cNvSpPr/>
          <p:nvPr/>
        </p:nvSpPr>
        <p:spPr>
          <a:xfrm>
            <a:off x="4754880" y="914400"/>
            <a:ext cx="4114800" cy="347472"/>
          </a:xfrm>
          <a:prstGeom prst="rect">
            <a:avLst/>
          </a:prstGeom>
          <a:solidFill>
            <a:srgbClr val="1B2A4A"/>
          </a:solidFill>
          <a:ln/>
        </p:spPr>
      </p:sp>
      <p:sp>
        <p:nvSpPr>
          <p:cNvPr id="9" name="Text 7"/>
          <p:cNvSpPr/>
          <p:nvPr/>
        </p:nvSpPr>
        <p:spPr>
          <a:xfrm>
            <a:off x="4754880" y="914400"/>
            <a:ext cx="4114800" cy="347472"/>
          </a:xfrm>
          <a:prstGeom prst="rect">
            <a:avLst/>
          </a:prstGeom>
          <a:noFill/>
          <a:ln/>
        </p:spPr>
        <p:txBody>
          <a:bodyPr wrap="square" lIns="0" tIns="76200" rIns="0" bIns="0" rtlCol="0" anchor="ctr"/>
          <a:lstStyle/>
          <a:p>
            <a:pPr indent="0" marL="0">
              <a:buNone/>
            </a:pPr>
            <a:r>
              <a:rPr lang="en-US" sz="1300" b="1" dirty="0">
                <a:solidFill>
                  <a:srgbClr val="FFFFFF"/>
                </a:solidFill>
              </a:rPr>
              <a:t>Gate Truth Tables</a:t>
            </a:r>
            <a:endParaRPr lang="en-US" sz="1300" dirty="0"/>
          </a:p>
        </p:txBody>
      </p:sp>
      <p:sp>
        <p:nvSpPr>
          <p:cNvPr id="10" name="Shape 8"/>
          <p:cNvSpPr/>
          <p:nvPr/>
        </p:nvSpPr>
        <p:spPr>
          <a:xfrm>
            <a:off x="4754880" y="1261872"/>
            <a:ext cx="4114800" cy="3611880"/>
          </a:xfrm>
          <a:prstGeom prst="rect">
            <a:avLst/>
          </a:prstGeom>
          <a:solidFill>
            <a:srgbClr val="E8EFF8"/>
          </a:solidFill>
          <a:ln/>
        </p:spPr>
      </p:sp>
      <p:sp>
        <p:nvSpPr>
          <p:cNvPr id="11" name="Text 9"/>
          <p:cNvSpPr txBox="1"/>
          <p:nvPr/>
        </p:nvSpPr>
        <p:spPr>
          <a:xfrm>
            <a:off x="4846320" y="1325880"/>
            <a:ext cx="3931920" cy="3474720"/>
          </a:xfrm>
          <a:prstGeom prst="rect">
            <a:avLst/>
          </a:prstGeom>
          <a:noFill/>
          <a:ln/>
        </p:spPr>
        <p:txBody>
          <a:bodyPr wrap="square" lIns="0" tIns="0" rIns="0" bIns="0" rtlCol="0" anchor="t"/>
          <a:lstStyle/>
          <a:p>
            <a:pPr marL="152400" indent="-152400">
              <a:spcAft>
                <a:spcPts val="600"/>
              </a:spcAft>
              <a:buSzPct val="100000"/>
              <a:buChar char="•"/>
            </a:pPr>
            <a:r>
              <a:rPr lang="en-US" sz="1500" dirty="0">
                <a:solidFill>
                  <a:srgbClr val="1A1A1A"/>
                </a:solidFill>
              </a:rPr>
              <a:t>NAND: output=0 only when ALL inputs are 1</a:t>
            </a:r>
            <a:endParaRPr lang="en-US" sz="1500" dirty="0"/>
          </a:p>
          <a:p>
            <a:pPr marL="152400" indent="-152400">
              <a:spcAft>
                <a:spcPts val="600"/>
              </a:spcAft>
              <a:buSzPct val="100000"/>
              <a:buChar char="•"/>
            </a:pPr>
            <a:r>
              <a:rPr lang="en-US" sz="1500" dirty="0">
                <a:solidFill>
                  <a:srgbClr val="1A1A1A"/>
                </a:solidFill>
              </a:rPr>
              <a:t>NOR: output=1 only when ALL inputs are 0</a:t>
            </a:r>
            <a:endParaRPr lang="en-US" sz="1500" dirty="0"/>
          </a:p>
          <a:p>
            <a:pPr marL="152400" indent="-152400">
              <a:spcAft>
                <a:spcPts val="600"/>
              </a:spcAft>
              <a:buSzPct val="100000"/>
              <a:buChar char="•"/>
            </a:pPr>
            <a:r>
              <a:rPr lang="en-US" sz="1500" dirty="0">
                <a:solidFill>
                  <a:srgbClr val="1A1A1A"/>
                </a:solidFill>
              </a:rPr>
              <a:t>OR: output=1 if ANY input is 1</a:t>
            </a:r>
            <a:endParaRPr lang="en-US" sz="1500" dirty="0"/>
          </a:p>
          <a:p>
            <a:pPr marL="152400" indent="-152400">
              <a:spcAft>
                <a:spcPts val="600"/>
              </a:spcAft>
              <a:buSzPct val="100000"/>
              <a:buChar char="•"/>
            </a:pPr>
            <a:r>
              <a:rPr lang="en-US" sz="1500" dirty="0">
                <a:solidFill>
                  <a:srgbClr val="1A1A1A"/>
                </a:solidFill>
              </a:rPr>
              <a:t>AND: output=1 only when ALL inputs are 1</a:t>
            </a:r>
            <a:endParaRPr lang="en-US" sz="1500" dirty="0"/>
          </a:p>
          <a:p>
            <a:pPr marL="152400" indent="-152400">
              <a:spcAft>
                <a:spcPts val="600"/>
              </a:spcAft>
              <a:buSzPct val="100000"/>
              <a:buChar char="•"/>
            </a:pPr>
            <a:r>
              <a:rPr lang="en-US" sz="1500" dirty="0">
                <a:solidFill>
                  <a:srgbClr val="1A1A1A"/>
                </a:solidFill>
              </a:rPr>
              <a:t>XOR: output=1 when inputs DIFFER</a:t>
            </a:r>
            <a:endParaRPr lang="en-US" sz="1500" dirty="0"/>
          </a:p>
          <a:p>
            <a:pPr marL="152400" indent="-152400">
              <a:spcAft>
                <a:spcPts val="600"/>
              </a:spcAft>
              <a:buSzPct val="100000"/>
              <a:buChar char="•"/>
            </a:pPr>
            <a:r>
              <a:rPr lang="en-US" sz="1500" dirty="0">
                <a:solidFill>
                  <a:srgbClr val="1A1A1A"/>
                </a:solidFill>
              </a:rPr>
              <a:t>XNOR: output=0 when inputs differ</a:t>
            </a:r>
            <a:endParaRPr lang="en-US" sz="1500" dirty="0"/>
          </a:p>
          <a:p>
            <a:pPr marL="152400" indent="-152400">
              <a:spcAft>
                <a:spcPts val="600"/>
              </a:spcAft>
              <a:buSzPct val="100000"/>
              <a:buChar char="•"/>
            </a:pPr>
            <a:r>
              <a:rPr lang="en-US" sz="1500" dirty="0">
                <a:solidFill>
                  <a:srgbClr val="1A1A1A"/>
                </a:solidFill>
              </a:rPr>
              <a:t>NOT: inverts the input</a:t>
            </a:r>
            <a:endParaRPr lang="en-US" sz="1500" dirty="0"/>
          </a:p>
          <a:p>
            <a:pPr marL="152400" indent="-152400">
              <a:spcAft>
                <a:spcPts val="600"/>
              </a:spcAft>
              <a:buSzPct val="100000"/>
              <a:buChar char="•"/>
            </a:pPr>
            <a:r>
              <a:rPr lang="en-US" sz="1500" dirty="0">
                <a:solidFill>
                  <a:srgbClr val="1A1A1A"/>
                </a:solidFill>
              </a:rPr>
              <a:t>FPGA: programmed with HDL (VHDL or Verilog)</a:t>
            </a:r>
            <a:endParaRPr lang="en-US" sz="1500" dirty="0"/>
          </a:p>
        </p:txBody>
      </p:sp>
      <p:sp>
        <p:nvSpPr>
          <p:cNvPr id="12" name="Text 10"/>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13" name="Text 11"/>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E6 · Circuit Components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137160" cy="5143500"/>
          </a:xfrm>
          <a:prstGeom prst="rect">
            <a:avLst/>
          </a:prstGeom>
          <a:solidFill>
            <a:srgbClr val="2E7D52"/>
          </a:solidFill>
          <a:ln/>
        </p:spPr>
      </p:sp>
      <p:sp>
        <p:nvSpPr>
          <p:cNvPr id="4" name="Text 2"/>
          <p:cNvSpPr/>
          <p:nvPr/>
        </p:nvSpPr>
        <p:spPr>
          <a:xfrm>
            <a:off x="457200" y="1463040"/>
            <a:ext cx="8229600" cy="1280160"/>
          </a:xfrm>
          <a:prstGeom prst="rect">
            <a:avLst/>
          </a:prstGeom>
          <a:noFill/>
          <a:ln/>
        </p:spPr>
        <p:txBody>
          <a:bodyPr wrap="square" rtlCol="0" anchor="ctr"/>
          <a:lstStyle/>
          <a:p>
            <a:pPr indent="0" marL="0">
              <a:buNone/>
            </a:pPr>
            <a:r>
              <a:rPr lang="en-US" sz="3400" b="1" dirty="0">
                <a:solidFill>
                  <a:srgbClr val="FFFFFF"/>
                </a:solidFill>
              </a:rPr>
              <a:t>Part 4: Inductors, Transformers, Crystals</a:t>
            </a:r>
            <a:endParaRPr lang="en-US" sz="3400" dirty="0"/>
          </a:p>
        </p:txBody>
      </p:sp>
      <p:sp>
        <p:nvSpPr>
          <p:cNvPr id="5" name="Text 3"/>
          <p:cNvSpPr/>
          <p:nvPr/>
        </p:nvSpPr>
        <p:spPr>
          <a:xfrm>
            <a:off x="457200" y="2834640"/>
            <a:ext cx="8229600" cy="548640"/>
          </a:xfrm>
          <a:prstGeom prst="rect">
            <a:avLst/>
          </a:prstGeom>
          <a:noFill/>
          <a:ln/>
        </p:spPr>
        <p:txBody>
          <a:bodyPr wrap="square" rtlCol="0" anchor="ctr"/>
          <a:lstStyle/>
          <a:p>
            <a:pPr indent="0" marL="0">
              <a:buNone/>
            </a:pPr>
            <a:r>
              <a:rPr lang="en-US" sz="1700" dirty="0">
                <a:solidFill>
                  <a:srgbClr val="AACCBB"/>
                </a:solidFill>
              </a:rPr>
              <a:t>Subelement E6D — 1 exam question</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Core Materials and Transformer Basics</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Ferrite: high permeability → fewer turns needed for same inductance</a:t>
            </a:r>
            <a:endParaRPr lang="en-US" sz="1600" dirty="0"/>
          </a:p>
          <a:p>
            <a:pPr marL="190500" indent="-190500">
              <a:spcAft>
                <a:spcPts val="700"/>
              </a:spcAft>
              <a:buSzPct val="100000"/>
              <a:buChar char="•"/>
            </a:pPr>
            <a:r>
              <a:rPr lang="en-US" sz="1600" dirty="0">
                <a:solidFill>
                  <a:srgbClr val="1A1A1A"/>
                </a:solidFill>
              </a:rPr>
              <a:t>→ More temperature-sensitive than powdered iron</a:t>
            </a:r>
            <a:endParaRPr lang="en-US" sz="1600" dirty="0"/>
          </a:p>
          <a:p>
            <a:pPr marL="190500" indent="-190500">
              <a:spcAft>
                <a:spcPts val="700"/>
              </a:spcAft>
              <a:buSzPct val="100000"/>
              <a:buChar char="•"/>
            </a:pPr>
            <a:r>
              <a:rPr lang="en-US" sz="1600" dirty="0">
                <a:solidFill>
                  <a:srgbClr val="1A1A1A"/>
                </a:solidFill>
              </a:rPr>
              <a:t>→ Used for HF transformers, chokes, baluns</a:t>
            </a:r>
            <a:endParaRPr lang="en-US" sz="1600" dirty="0"/>
          </a:p>
          <a:p>
            <a:pPr marL="190500" indent="-190500">
              <a:spcAft>
                <a:spcPts val="700"/>
              </a:spcAft>
              <a:buSzPct val="100000"/>
              <a:buChar char="•"/>
            </a:pPr>
            <a:r>
              <a:rPr lang="en-US" sz="1600" dirty="0">
                <a:solidFill>
                  <a:srgbClr val="1A1A1A"/>
                </a:solidFill>
              </a:rPr>
              <a:t>Powdered iron: lower permeability; better temperature stability</a:t>
            </a:r>
            <a:endParaRPr lang="en-US" sz="1600" dirty="0"/>
          </a:p>
          <a:p>
            <a:pPr marL="190500" indent="-190500">
              <a:spcAft>
                <a:spcPts val="700"/>
              </a:spcAft>
              <a:buSzPct val="100000"/>
              <a:buChar char="•"/>
            </a:pPr>
            <a:r>
              <a:rPr lang="en-US" sz="1600" dirty="0">
                <a:solidFill>
                  <a:srgbClr val="1A1A1A"/>
                </a:solidFill>
              </a:rPr>
              <a:t>→ Used for HF inductors where frequency stability matters more</a:t>
            </a:r>
            <a:endParaRPr lang="en-US" sz="1600" dirty="0"/>
          </a:p>
          <a:p>
            <a:pPr marL="190500" indent="-190500">
              <a:spcAft>
                <a:spcPts val="700"/>
              </a:spcAft>
              <a:buSzPct val="100000"/>
              <a:buChar char="•"/>
            </a:pPr>
            <a:r>
              <a:rPr lang="en-US" sz="1600" dirty="0">
                <a:solidFill>
                  <a:srgbClr val="1A1A1A"/>
                </a:solidFill>
              </a:rPr>
              <a:t>Brass core: DECREASES inductance (diamagnetic material)</a:t>
            </a:r>
            <a:endParaRPr lang="en-US" sz="1600" dirty="0"/>
          </a:p>
          <a:p>
            <a:pPr marL="190500" indent="-190500">
              <a:spcAft>
                <a:spcPts val="700"/>
              </a:spcAft>
              <a:buSzPct val="100000"/>
              <a:buChar char="•"/>
            </a:pPr>
            <a:r>
              <a:rPr lang="en-US" sz="1600" dirty="0">
                <a:solidFill>
                  <a:srgbClr val="1A1A1A"/>
                </a:solidFill>
              </a:rPr>
              <a:t>Air core: no core loss, no saturation — VHF/UHF inductors</a:t>
            </a:r>
            <a:endParaRPr lang="en-US" sz="1600" dirty="0"/>
          </a:p>
          <a:p>
            <a:pPr marL="190500" indent="-190500">
              <a:spcAft>
                <a:spcPts val="700"/>
              </a:spcAft>
              <a:buSzPct val="100000"/>
              <a:buChar char="•"/>
            </a:pPr>
            <a:r>
              <a:rPr lang="en-US" sz="1600" dirty="0">
                <a:solidFill>
                  <a:srgbClr val="1A1A1A"/>
                </a:solidFill>
              </a:rPr>
              <a:t>Laminated cores: thin insulated layers reduce eddy current losses (power transformers)</a:t>
            </a:r>
            <a:endParaRPr lang="en-US" sz="1600" dirty="0"/>
          </a:p>
          <a:p>
            <a:pPr marL="190500" indent="-190500">
              <a:spcAft>
                <a:spcPts val="700"/>
              </a:spcAft>
              <a:buSzPct val="100000"/>
              <a:buChar char="•"/>
            </a:pPr>
            <a:r>
              <a:rPr lang="en-US" sz="1600" dirty="0">
                <a:solidFill>
                  <a:srgbClr val="1A1A1A"/>
                </a:solidFill>
              </a:rPr>
              <a:t>Toroidal core: confines magnetic field; low external radiation</a:t>
            </a:r>
            <a:endParaRPr lang="en-US" sz="1600" dirty="0"/>
          </a:p>
          <a:p>
            <a:pPr marL="190500" indent="-190500">
              <a:spcAft>
                <a:spcPts val="700"/>
              </a:spcAft>
              <a:buSzPct val="100000"/>
              <a:buChar char="•"/>
            </a:pPr>
            <a:r>
              <a:rPr lang="en-US" sz="1600" dirty="0">
                <a:solidFill>
                  <a:srgbClr val="1A1A1A"/>
                </a:solidFill>
              </a:rPr>
              <a:t>Magnetizing current: flows in primary even with no secondary load</a:t>
            </a:r>
            <a:endParaRPr lang="en-US" sz="1600" dirty="0"/>
          </a:p>
          <a:p>
            <a:pPr marL="190500" indent="-190500">
              <a:spcAft>
                <a:spcPts val="700"/>
              </a:spcAft>
              <a:buSzPct val="100000"/>
              <a:buChar char="•"/>
            </a:pPr>
            <a:r>
              <a:rPr lang="en-US" sz="1600" dirty="0">
                <a:solidFill>
                  <a:srgbClr val="1A1A1A"/>
                </a:solidFill>
              </a:rPr>
              <a:t>Inductor saturation: core flux exceeds capacity — inductance collapses</a:t>
            </a:r>
            <a:endParaRPr lang="en-US" sz="1600" dirty="0"/>
          </a:p>
          <a:p>
            <a:pPr marL="190500" indent="-190500">
              <a:spcAft>
                <a:spcPts val="700"/>
              </a:spcAft>
              <a:buSzPct val="100000"/>
              <a:buChar char="•"/>
            </a:pPr>
            <a:r>
              <a:rPr lang="en-US" sz="1600" dirty="0">
                <a:solidFill>
                  <a:srgbClr val="1A1A1A"/>
                </a:solidFill>
              </a:rPr>
              <a:t>Ferrite beads: suppress VHF/UHF parasitic oscillations on leads</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E6 · Circuit Components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Quartz Crystals and Piezoelectric Devices</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Quartz crystal equivalent circuit:</a:t>
            </a:r>
            <a:endParaRPr lang="en-US" sz="1600" dirty="0"/>
          </a:p>
          <a:p>
            <a:pPr marL="190500" indent="-190500">
              <a:spcAft>
                <a:spcPts val="700"/>
              </a:spcAft>
              <a:buSzPct val="100000"/>
              <a:buChar char="•"/>
            </a:pPr>
            <a:r>
              <a:rPr lang="en-US" sz="1600" dirty="0">
                <a:solidFill>
                  <a:srgbClr val="1A1A1A"/>
                </a:solidFill>
              </a:rPr>
              <a:t>→ Series RLC (the mechanical resonance) in PARALLEL with a shunt capacitor</a:t>
            </a:r>
            <a:endParaRPr lang="en-US" sz="1600" dirty="0"/>
          </a:p>
          <a:p>
            <a:pPr marL="190500" indent="-190500">
              <a:spcAft>
                <a:spcPts val="700"/>
              </a:spcAft>
              <a:buSzPct val="100000"/>
              <a:buChar char="•"/>
            </a:pPr>
            <a:r>
              <a:rPr lang="en-US" sz="1600" dirty="0">
                <a:solidFill>
                  <a:srgbClr val="1A1A1A"/>
                </a:solidFill>
              </a:rPr>
              <a:t>→ The shunt C is the electrode capacitance of the package</a:t>
            </a:r>
            <a:endParaRPr lang="en-US" sz="1600" dirty="0"/>
          </a:p>
          <a:p>
            <a:pPr marL="190500" indent="-190500">
              <a:spcAft>
                <a:spcPts val="700"/>
              </a:spcAft>
              <a:buSzPct val="100000"/>
              <a:buChar char="•"/>
            </a:pPr>
            <a:r>
              <a:rPr lang="en-US" sz="1600" dirty="0">
                <a:solidFill>
                  <a:srgbClr val="1A1A1A"/>
                </a:solidFill>
              </a:rPr>
              <a:t>→ Series resonance: lower frequency, lower impedance</a:t>
            </a:r>
            <a:endParaRPr lang="en-US" sz="1600" dirty="0"/>
          </a:p>
          <a:p>
            <a:pPr marL="190500" indent="-190500">
              <a:spcAft>
                <a:spcPts val="700"/>
              </a:spcAft>
              <a:buSzPct val="100000"/>
              <a:buChar char="•"/>
            </a:pPr>
            <a:r>
              <a:rPr lang="en-US" sz="1600" dirty="0">
                <a:solidFill>
                  <a:srgbClr val="1A1A1A"/>
                </a:solidFill>
              </a:rPr>
              <a:t>→ Parallel resonance: slightly higher frequency, very high impedance</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Piezoelectric effect:</a:t>
            </a:r>
            <a:endParaRPr lang="en-US" sz="1600" dirty="0"/>
          </a:p>
          <a:p>
            <a:pPr marL="190500" indent="-190500">
              <a:spcAft>
                <a:spcPts val="700"/>
              </a:spcAft>
              <a:buSzPct val="100000"/>
              <a:buChar char="•"/>
            </a:pPr>
            <a:r>
              <a:rPr lang="en-US" sz="1600" dirty="0">
                <a:solidFill>
                  <a:srgbClr val="1A1A1A"/>
                </a:solidFill>
              </a:rPr>
              <a:t>→ Mechanical stress → voltage</a:t>
            </a:r>
            <a:endParaRPr lang="en-US" sz="1600" dirty="0"/>
          </a:p>
          <a:p>
            <a:pPr marL="190500" indent="-190500">
              <a:spcAft>
                <a:spcPts val="700"/>
              </a:spcAft>
              <a:buSzPct val="100000"/>
              <a:buChar char="•"/>
            </a:pPr>
            <a:r>
              <a:rPr lang="en-US" sz="1600" dirty="0">
                <a:solidFill>
                  <a:srgbClr val="1A1A1A"/>
                </a:solidFill>
              </a:rPr>
              <a:t>→ Applied voltage → mechanical deformation</a:t>
            </a:r>
            <a:endParaRPr lang="en-US" sz="1600" dirty="0"/>
          </a:p>
          <a:p>
            <a:pPr marL="190500" indent="-190500">
              <a:spcAft>
                <a:spcPts val="700"/>
              </a:spcAft>
              <a:buSzPct val="100000"/>
              <a:buChar char="•"/>
            </a:pPr>
            <a:r>
              <a:rPr lang="en-US" sz="1600" dirty="0">
                <a:solidFill>
                  <a:srgbClr val="1A1A1A"/>
                </a:solidFill>
              </a:rPr>
              <a:t>→ Used in: quartz crystals, ceramic resonators, crystal filters, microphones, buzzers</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Permeability: determines how well a core material supports magnetic flux</a:t>
            </a:r>
            <a:endParaRPr lang="en-US" sz="1600" dirty="0"/>
          </a:p>
          <a:p>
            <a:pPr marL="190500" indent="-190500">
              <a:spcAft>
                <a:spcPts val="700"/>
              </a:spcAft>
              <a:buSzPct val="100000"/>
              <a:buChar char="•"/>
            </a:pPr>
            <a:r>
              <a:rPr lang="en-US" sz="1600" dirty="0">
                <a:solidFill>
                  <a:srgbClr val="1A1A1A"/>
                </a:solidFill>
              </a:rPr>
              <a:t>→ Higher permeability = more inductance per turn</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E6 · Circuit Components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137160" cy="5143500"/>
          </a:xfrm>
          <a:prstGeom prst="rect">
            <a:avLst/>
          </a:prstGeom>
          <a:solidFill>
            <a:srgbClr val="2E7D52"/>
          </a:solidFill>
          <a:ln/>
        </p:spPr>
      </p:sp>
      <p:sp>
        <p:nvSpPr>
          <p:cNvPr id="4" name="Text 2"/>
          <p:cNvSpPr/>
          <p:nvPr/>
        </p:nvSpPr>
        <p:spPr>
          <a:xfrm>
            <a:off x="457200" y="1463040"/>
            <a:ext cx="8229600" cy="1280160"/>
          </a:xfrm>
          <a:prstGeom prst="rect">
            <a:avLst/>
          </a:prstGeom>
          <a:noFill/>
          <a:ln/>
        </p:spPr>
        <p:txBody>
          <a:bodyPr wrap="square" rtlCol="0" anchor="ctr"/>
          <a:lstStyle/>
          <a:p>
            <a:pPr indent="0" marL="0">
              <a:buNone/>
            </a:pPr>
            <a:r>
              <a:rPr lang="en-US" sz="3400" b="1" dirty="0">
                <a:solidFill>
                  <a:srgbClr val="FFFFFF"/>
                </a:solidFill>
              </a:rPr>
              <a:t>Part 5: RF Semiconductors and Packaging</a:t>
            </a:r>
            <a:endParaRPr lang="en-US" sz="3400" dirty="0"/>
          </a:p>
        </p:txBody>
      </p:sp>
      <p:sp>
        <p:nvSpPr>
          <p:cNvPr id="5" name="Text 3"/>
          <p:cNvSpPr/>
          <p:nvPr/>
        </p:nvSpPr>
        <p:spPr>
          <a:xfrm>
            <a:off x="457200" y="2834640"/>
            <a:ext cx="8229600" cy="548640"/>
          </a:xfrm>
          <a:prstGeom prst="rect">
            <a:avLst/>
          </a:prstGeom>
          <a:noFill/>
          <a:ln/>
        </p:spPr>
        <p:txBody>
          <a:bodyPr wrap="square" rtlCol="0" anchor="ctr"/>
          <a:lstStyle/>
          <a:p>
            <a:pPr indent="0" marL="0">
              <a:buNone/>
            </a:pPr>
            <a:r>
              <a:rPr lang="en-US" sz="1700" dirty="0">
                <a:solidFill>
                  <a:srgbClr val="AACCBB"/>
                </a:solidFill>
              </a:rPr>
              <a:t>Subelements E6E-F — 1 exam question</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RF and Microwave Semiconductors</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GaAs FET: high electron mobility; low noise figure — microwave LNA and oscillators</a:t>
            </a:r>
            <a:endParaRPr lang="en-US" sz="1600" dirty="0"/>
          </a:p>
          <a:p>
            <a:pPr marL="190500" indent="-190500">
              <a:spcAft>
                <a:spcPts val="700"/>
              </a:spcAft>
              <a:buSzPct val="100000"/>
              <a:buChar char="•"/>
            </a:pPr>
            <a:r>
              <a:rPr lang="en-US" sz="1600" dirty="0">
                <a:solidFill>
                  <a:srgbClr val="1A1A1A"/>
                </a:solidFill>
              </a:rPr>
              <a:t>GaN HEMT: highest electron mobility + power density</a:t>
            </a:r>
            <a:endParaRPr lang="en-US" sz="1600" dirty="0"/>
          </a:p>
          <a:p>
            <a:pPr marL="190500" indent="-190500">
              <a:spcAft>
                <a:spcPts val="700"/>
              </a:spcAft>
              <a:buSzPct val="100000"/>
              <a:buChar char="•"/>
            </a:pPr>
            <a:r>
              <a:rPr lang="en-US" sz="1600" dirty="0">
                <a:solidFill>
                  <a:srgbClr val="1A1A1A"/>
                </a:solidFill>
              </a:rPr>
              <a:t>→ Used for UHF/SHF power amplifiers</a:t>
            </a:r>
            <a:endParaRPr lang="en-US" sz="1600" dirty="0"/>
          </a:p>
          <a:p>
            <a:pPr marL="190500" indent="-190500">
              <a:spcAft>
                <a:spcPts val="700"/>
              </a:spcAft>
              <a:buSzPct val="100000"/>
              <a:buChar char="•"/>
            </a:pPr>
            <a:r>
              <a:rPr lang="en-US" sz="1600" dirty="0">
                <a:solidFill>
                  <a:srgbClr val="1A1A1A"/>
                </a:solidFill>
              </a:rPr>
              <a:t>→ GaN supports the HIGHEST frequencies in MMIC applications</a:t>
            </a:r>
            <a:endParaRPr lang="en-US" sz="1600" dirty="0"/>
          </a:p>
          <a:p>
            <a:pPr marL="190500" indent="-190500">
              <a:spcAft>
                <a:spcPts val="700"/>
              </a:spcAft>
              <a:buSzPct val="100000"/>
              <a:buChar char="•"/>
            </a:pPr>
            <a:r>
              <a:rPr lang="en-US" sz="1600" dirty="0">
                <a:solidFill>
                  <a:srgbClr val="1A1A1A"/>
                </a:solidFill>
              </a:rPr>
              <a:t>MMIC (Monolithic Microwave Integrated Circuit):</a:t>
            </a:r>
            <a:endParaRPr lang="en-US" sz="1600" dirty="0"/>
          </a:p>
          <a:p>
            <a:pPr marL="190500" indent="-190500">
              <a:spcAft>
                <a:spcPts val="700"/>
              </a:spcAft>
              <a:buSzPct val="100000"/>
              <a:buChar char="•"/>
            </a:pPr>
            <a:r>
              <a:rPr lang="en-US" sz="1600" dirty="0">
                <a:solidFill>
                  <a:srgbClr val="1A1A1A"/>
                </a:solidFill>
              </a:rPr>
              <a:t>→ Input and output impedance: 50 ohms</a:t>
            </a:r>
            <a:endParaRPr lang="en-US" sz="1600" dirty="0"/>
          </a:p>
          <a:p>
            <a:pPr marL="190500" indent="-190500">
              <a:spcAft>
                <a:spcPts val="700"/>
              </a:spcAft>
              <a:buSzPct val="100000"/>
              <a:buChar char="•"/>
            </a:pPr>
            <a:r>
              <a:rPr lang="en-US" sz="1600" dirty="0">
                <a:solidFill>
                  <a:srgbClr val="1A1A1A"/>
                </a:solidFill>
              </a:rPr>
              <a:t>→ Controlled gain and low noise figure</a:t>
            </a:r>
            <a:endParaRPr lang="en-US" sz="1600" dirty="0"/>
          </a:p>
          <a:p>
            <a:pPr marL="190500" indent="-190500">
              <a:spcAft>
                <a:spcPts val="700"/>
              </a:spcAft>
              <a:buSzPct val="100000"/>
              <a:buChar char="•"/>
            </a:pPr>
            <a:r>
              <a:rPr lang="en-US" sz="1600" dirty="0">
                <a:solidFill>
                  <a:srgbClr val="1A1A1A"/>
                </a:solidFill>
              </a:rPr>
              <a:t>→ DC power supplied through resistor or RF choke on the OUTPUT lead</a:t>
            </a:r>
            <a:endParaRPr lang="en-US" sz="1600" dirty="0"/>
          </a:p>
          <a:p>
            <a:pPr marL="190500" indent="-190500">
              <a:spcAft>
                <a:spcPts val="700"/>
              </a:spcAft>
              <a:buSzPct val="100000"/>
              <a:buChar char="•"/>
            </a:pPr>
            <a:r>
              <a:rPr lang="en-US" sz="1600" dirty="0">
                <a:solidFill>
                  <a:srgbClr val="1A1A1A"/>
                </a:solidFill>
              </a:rPr>
              <a:t>→ Never feed DC through the input — sensitive to any impedance change</a:t>
            </a:r>
            <a:endParaRPr lang="en-US" sz="1600" dirty="0"/>
          </a:p>
          <a:p>
            <a:pPr marL="190500" indent="-190500">
              <a:spcAft>
                <a:spcPts val="700"/>
              </a:spcAft>
              <a:buSzPct val="100000"/>
              <a:buChar char="•"/>
            </a:pPr>
            <a:r>
              <a:rPr lang="en-US" sz="1600" dirty="0">
                <a:solidFill>
                  <a:srgbClr val="1A1A1A"/>
                </a:solidFill>
              </a:rPr>
              <a:t>Microstrip: printed circuit board transmission line</a:t>
            </a:r>
            <a:endParaRPr lang="en-US" sz="1600" dirty="0"/>
          </a:p>
          <a:p>
            <a:pPr marL="190500" indent="-190500">
              <a:spcAft>
                <a:spcPts val="700"/>
              </a:spcAft>
              <a:buSzPct val="100000"/>
              <a:buChar char="•"/>
            </a:pPr>
            <a:r>
              <a:rPr lang="en-US" sz="1600" dirty="0">
                <a:solidFill>
                  <a:srgbClr val="1A1A1A"/>
                </a:solidFill>
              </a:rPr>
              <a:t>→ Impedance determined by trace width and substrate thickness</a:t>
            </a:r>
            <a:endParaRPr lang="en-US" sz="1600" dirty="0"/>
          </a:p>
          <a:p>
            <a:pPr marL="190500" indent="-190500">
              <a:spcAft>
                <a:spcPts val="700"/>
              </a:spcAft>
              <a:buSzPct val="100000"/>
              <a:buChar char="•"/>
            </a:pPr>
            <a:r>
              <a:rPr lang="en-US" sz="1600" dirty="0">
                <a:solidFill>
                  <a:srgbClr val="1A1A1A"/>
                </a:solidFill>
              </a:rPr>
              <a:t>→ Used to connect MMIC components with controlled impedance</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E6 · Circuit Components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IC Packaging and Electro-Optics</a:t>
            </a:r>
            <a:endParaRPr lang="en-US" sz="2100" dirty="0"/>
          </a:p>
        </p:txBody>
      </p:sp>
      <p:sp>
        <p:nvSpPr>
          <p:cNvPr id="4" name="Shape 2"/>
          <p:cNvSpPr/>
          <p:nvPr/>
        </p:nvSpPr>
        <p:spPr>
          <a:xfrm>
            <a:off x="274320" y="914400"/>
            <a:ext cx="4114800" cy="347472"/>
          </a:xfrm>
          <a:prstGeom prst="rect">
            <a:avLst/>
          </a:prstGeom>
          <a:solidFill>
            <a:srgbClr val="2E7D52"/>
          </a:solidFill>
          <a:ln/>
        </p:spPr>
      </p:sp>
      <p:sp>
        <p:nvSpPr>
          <p:cNvPr id="5" name="Text 3"/>
          <p:cNvSpPr/>
          <p:nvPr/>
        </p:nvSpPr>
        <p:spPr>
          <a:xfrm>
            <a:off x="274320" y="914400"/>
            <a:ext cx="4114800" cy="347472"/>
          </a:xfrm>
          <a:prstGeom prst="rect">
            <a:avLst/>
          </a:prstGeom>
          <a:noFill/>
          <a:ln/>
        </p:spPr>
        <p:txBody>
          <a:bodyPr wrap="square" lIns="0" tIns="76200" rIns="0" bIns="0" rtlCol="0" anchor="ctr"/>
          <a:lstStyle/>
          <a:p>
            <a:pPr indent="0" marL="0">
              <a:buNone/>
            </a:pPr>
            <a:r>
              <a:rPr lang="en-US" sz="1300" b="1" dirty="0">
                <a:solidFill>
                  <a:srgbClr val="FFFFFF"/>
                </a:solidFill>
              </a:rPr>
              <a:t>IC Packaging at RF</a:t>
            </a:r>
            <a:endParaRPr lang="en-US" sz="1300" dirty="0"/>
          </a:p>
        </p:txBody>
      </p:sp>
      <p:sp>
        <p:nvSpPr>
          <p:cNvPr id="6" name="Shape 4"/>
          <p:cNvSpPr/>
          <p:nvPr/>
        </p:nvSpPr>
        <p:spPr>
          <a:xfrm>
            <a:off x="274320" y="1261872"/>
            <a:ext cx="4114800" cy="3611880"/>
          </a:xfrm>
          <a:prstGeom prst="rect">
            <a:avLst/>
          </a:prstGeom>
          <a:solidFill>
            <a:srgbClr val="F0F4F8"/>
          </a:solidFill>
          <a:ln/>
        </p:spPr>
      </p:sp>
      <p:sp>
        <p:nvSpPr>
          <p:cNvPr id="7" name="Text 5"/>
          <p:cNvSpPr txBox="1"/>
          <p:nvPr/>
        </p:nvSpPr>
        <p:spPr>
          <a:xfrm>
            <a:off x="365760" y="1325880"/>
            <a:ext cx="3931920" cy="3474720"/>
          </a:xfrm>
          <a:prstGeom prst="rect">
            <a:avLst/>
          </a:prstGeom>
          <a:noFill/>
          <a:ln/>
        </p:spPr>
        <p:txBody>
          <a:bodyPr wrap="square" lIns="0" tIns="0" rIns="0" bIns="0" rtlCol="0" anchor="t"/>
          <a:lstStyle/>
          <a:p>
            <a:pPr marL="152400" indent="-152400">
              <a:spcAft>
                <a:spcPts val="600"/>
              </a:spcAft>
              <a:buSzPct val="100000"/>
              <a:buChar char="•"/>
            </a:pPr>
            <a:r>
              <a:rPr lang="en-US" sz="1500" dirty="0">
                <a:solidFill>
                  <a:srgbClr val="1A1A1A"/>
                </a:solidFill>
              </a:rPr>
              <a:t>SMD (Surface Mount): shortest leads, least parasitic inductance — best above HF</a:t>
            </a:r>
            <a:endParaRPr lang="en-US" sz="1500" dirty="0"/>
          </a:p>
          <a:p>
            <a:pPr marL="152400" indent="-152400">
              <a:spcAft>
                <a:spcPts val="600"/>
              </a:spcAft>
              <a:buSzPct val="100000"/>
              <a:buChar char="•"/>
            </a:pPr>
            <a:r>
              <a:rPr lang="en-US" sz="1500" dirty="0">
                <a:solidFill>
                  <a:srgbClr val="1A1A1A"/>
                </a:solidFill>
              </a:rPr>
              <a:t>DIP (Dual In-Line): through-hole; long leads = parasitic inductance; limited to HF</a:t>
            </a:r>
            <a:endParaRPr lang="en-US" sz="1500" dirty="0"/>
          </a:p>
          <a:p>
            <a:pPr marL="152400" indent="-152400">
              <a:spcAft>
                <a:spcPts val="600"/>
              </a:spcAft>
              <a:buSzPct val="100000"/>
              <a:buChar char="•"/>
            </a:pPr>
            <a:r>
              <a:rPr lang="en-US" sz="1500" dirty="0">
                <a:solidFill>
                  <a:srgbClr val="1A1A1A"/>
                </a:solidFill>
              </a:rPr>
              <a:t>SOP/SOT/QFP: surface mount variants</a:t>
            </a:r>
            <a:endParaRPr lang="en-US" sz="1500" dirty="0"/>
          </a:p>
          <a:p>
            <a:pPr marL="152400" indent="-152400">
              <a:spcAft>
                <a:spcPts val="600"/>
              </a:spcAft>
              <a:buSzPct val="100000"/>
              <a:buChar char="•"/>
            </a:pPr>
            <a:r>
              <a:rPr lang="en-US" sz="1500" dirty="0">
                <a:solidFill>
                  <a:srgbClr val="1A1A1A"/>
                </a:solidFill>
              </a:rPr>
              <a:t>Rule: smaller package = better at higher frequencies</a:t>
            </a:r>
            <a:endParaRPr lang="en-US" sz="1500" dirty="0"/>
          </a:p>
          <a:p>
            <a:pPr marL="152400" indent="-152400">
              <a:spcAft>
                <a:spcPts val="600"/>
              </a:spcAft>
              <a:buSzPct val="100000"/>
              <a:buChar char="•"/>
            </a:pPr>
            <a:r>
              <a:rPr lang="en-US" sz="1500" dirty="0">
                <a:solidFill>
                  <a:srgbClr val="1A1A1A"/>
                </a:solidFill>
              </a:rPr>
              <a:t>DIP is unusable at UHF due to lead inductance</a:t>
            </a:r>
            <a:endParaRPr lang="en-US" sz="1500" dirty="0"/>
          </a:p>
        </p:txBody>
      </p:sp>
      <p:sp>
        <p:nvSpPr>
          <p:cNvPr id="8" name="Shape 6"/>
          <p:cNvSpPr/>
          <p:nvPr/>
        </p:nvSpPr>
        <p:spPr>
          <a:xfrm>
            <a:off x="4754880" y="914400"/>
            <a:ext cx="4114800" cy="347472"/>
          </a:xfrm>
          <a:prstGeom prst="rect">
            <a:avLst/>
          </a:prstGeom>
          <a:solidFill>
            <a:srgbClr val="1B2A4A"/>
          </a:solidFill>
          <a:ln/>
        </p:spPr>
      </p:sp>
      <p:sp>
        <p:nvSpPr>
          <p:cNvPr id="9" name="Text 7"/>
          <p:cNvSpPr/>
          <p:nvPr/>
        </p:nvSpPr>
        <p:spPr>
          <a:xfrm>
            <a:off x="4754880" y="914400"/>
            <a:ext cx="4114800" cy="347472"/>
          </a:xfrm>
          <a:prstGeom prst="rect">
            <a:avLst/>
          </a:prstGeom>
          <a:noFill/>
          <a:ln/>
        </p:spPr>
        <p:txBody>
          <a:bodyPr wrap="square" lIns="0" tIns="76200" rIns="0" bIns="0" rtlCol="0" anchor="ctr"/>
          <a:lstStyle/>
          <a:p>
            <a:pPr indent="0" marL="0">
              <a:buNone/>
            </a:pPr>
            <a:r>
              <a:rPr lang="en-US" sz="1300" b="1" dirty="0">
                <a:solidFill>
                  <a:srgbClr val="FFFFFF"/>
                </a:solidFill>
              </a:rPr>
              <a:t>Electro-Optical Devices</a:t>
            </a:r>
            <a:endParaRPr lang="en-US" sz="1300" dirty="0"/>
          </a:p>
        </p:txBody>
      </p:sp>
      <p:sp>
        <p:nvSpPr>
          <p:cNvPr id="10" name="Shape 8"/>
          <p:cNvSpPr/>
          <p:nvPr/>
        </p:nvSpPr>
        <p:spPr>
          <a:xfrm>
            <a:off x="4754880" y="1261872"/>
            <a:ext cx="4114800" cy="3611880"/>
          </a:xfrm>
          <a:prstGeom prst="rect">
            <a:avLst/>
          </a:prstGeom>
          <a:solidFill>
            <a:srgbClr val="E8EFF8"/>
          </a:solidFill>
          <a:ln/>
        </p:spPr>
      </p:sp>
      <p:sp>
        <p:nvSpPr>
          <p:cNvPr id="11" name="Text 9"/>
          <p:cNvSpPr txBox="1"/>
          <p:nvPr/>
        </p:nvSpPr>
        <p:spPr>
          <a:xfrm>
            <a:off x="4846320" y="1325880"/>
            <a:ext cx="3931920" cy="3474720"/>
          </a:xfrm>
          <a:prstGeom prst="rect">
            <a:avLst/>
          </a:prstGeom>
          <a:noFill/>
          <a:ln/>
        </p:spPr>
        <p:txBody>
          <a:bodyPr wrap="square" lIns="0" tIns="0" rIns="0" bIns="0" rtlCol="0" anchor="t"/>
          <a:lstStyle/>
          <a:p>
            <a:pPr marL="152400" indent="-152400">
              <a:spcAft>
                <a:spcPts val="600"/>
              </a:spcAft>
              <a:buSzPct val="100000"/>
              <a:buChar char="•"/>
            </a:pPr>
            <a:r>
              <a:rPr lang="en-US" sz="1500" dirty="0">
                <a:solidFill>
                  <a:srgbClr val="1A1A1A"/>
                </a:solidFill>
              </a:rPr>
              <a:t>Photovoltaic cell: light → electrical energy (photovoltaic effect); Si cell ~0.5V open circuit</a:t>
            </a:r>
            <a:endParaRPr lang="en-US" sz="1500" dirty="0"/>
          </a:p>
          <a:p>
            <a:pPr marL="152400" indent="-152400">
              <a:spcAft>
                <a:spcPts val="600"/>
              </a:spcAft>
              <a:buSzPct val="100000"/>
              <a:buChar char="•"/>
            </a:pPr>
            <a:r>
              <a:rPr lang="en-US" sz="1500" dirty="0">
                <a:solidFill>
                  <a:srgbClr val="1A1A1A"/>
                </a:solidFill>
              </a:rPr>
              <a:t>Photoconductive material: more light = less resistance</a:t>
            </a:r>
            <a:endParaRPr lang="en-US" sz="1500" dirty="0"/>
          </a:p>
          <a:p>
            <a:pPr marL="152400" indent="-152400">
              <a:spcAft>
                <a:spcPts val="600"/>
              </a:spcAft>
              <a:buSzPct val="100000"/>
              <a:buChar char="•"/>
            </a:pPr>
            <a:r>
              <a:rPr lang="en-US" sz="1500" dirty="0">
                <a:solidFill>
                  <a:srgbClr val="1A1A1A"/>
                </a:solidFill>
              </a:rPr>
              <a:t>Optoisolator (optocoupler):</a:t>
            </a:r>
            <a:endParaRPr lang="en-US" sz="1500" dirty="0"/>
          </a:p>
          <a:p>
            <a:pPr marL="152400" indent="-152400">
              <a:spcAft>
                <a:spcPts val="600"/>
              </a:spcAft>
              <a:buSzPct val="100000"/>
              <a:buChar char="•"/>
            </a:pPr>
            <a:r>
              <a:rPr lang="en-US" sz="1500" dirty="0">
                <a:solidFill>
                  <a:srgbClr val="1A1A1A"/>
                </a:solidFill>
              </a:rPr>
              <a:t>→ LED + phototransistor in one package</a:t>
            </a:r>
            <a:endParaRPr lang="en-US" sz="1500" dirty="0"/>
          </a:p>
          <a:p>
            <a:pPr marL="152400" indent="-152400">
              <a:spcAft>
                <a:spcPts val="600"/>
              </a:spcAft>
              <a:buSzPct val="100000"/>
              <a:buChar char="•"/>
            </a:pPr>
            <a:r>
              <a:rPr lang="en-US" sz="1500" dirty="0">
                <a:solidFill>
                  <a:srgbClr val="1A1A1A"/>
                </a:solidFill>
              </a:rPr>
              <a:t>→ Complete galvanic isolation between circuits</a:t>
            </a:r>
            <a:endParaRPr lang="en-US" sz="1500" dirty="0"/>
          </a:p>
          <a:p>
            <a:pPr marL="152400" indent="-152400">
              <a:spcAft>
                <a:spcPts val="600"/>
              </a:spcAft>
              <a:buSzPct val="100000"/>
              <a:buChar char="•"/>
            </a:pPr>
            <a:r>
              <a:rPr lang="en-US" sz="1500" dirty="0">
                <a:solidFill>
                  <a:srgbClr val="1A1A1A"/>
                </a:solidFill>
              </a:rPr>
              <a:t>→ Used to interface logic to power circuits safely</a:t>
            </a:r>
            <a:endParaRPr lang="en-US" sz="1500" dirty="0"/>
          </a:p>
        </p:txBody>
      </p:sp>
      <p:sp>
        <p:nvSpPr>
          <p:cNvPr id="12" name="Text 10"/>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13" name="Text 11"/>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E6 · Circuit Components</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Key Facts — Module 4</a:t>
            </a:r>
            <a:endParaRPr lang="en-US" sz="2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8595360" cy="914400"/>
        </p:xfrm>
        <a:graphic>
          <a:graphicData uri="http://schemas.openxmlformats.org/drawingml/2006/table">
            <a:tbl>
              <a:tblPr/>
              <a:tblGrid>
                <a:gridCol w="3840480"/>
                <a:gridCol w="4754880"/>
              </a:tblGrid>
              <a:tr h="0">
                <a:tc>
                  <a:txBody>
                    <a:bodyPr/>
                    <a:lstStyle/>
                    <a:p>
                      <a:pPr indent="0" marL="0">
                        <a:buNone/>
                      </a:pPr>
                      <a:r>
                        <a:rPr lang="en-US" sz="1300" b="1" dirty="0">
                          <a:solidFill>
                            <a:srgbClr val="1B2A4A"/>
                          </a:solidFill>
                        </a:rPr>
                        <a:t>GaAs advantage</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c>
                  <a:txBody>
                    <a:bodyPr/>
                    <a:lstStyle/>
                    <a:p>
                      <a:pPr indent="0" marL="0">
                        <a:buNone/>
                      </a:pPr>
                      <a:r>
                        <a:rPr lang="en-US" sz="1300" dirty="0">
                          <a:solidFill>
                            <a:srgbClr val="1A1A1A"/>
                          </a:solidFill>
                        </a:rPr>
                        <a:t>Higher electron mobility than Si</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r>
              <a:tr h="0">
                <a:tc>
                  <a:txBody>
                    <a:bodyPr/>
                    <a:lstStyle/>
                    <a:p>
                      <a:pPr indent="0" marL="0">
                        <a:buNone/>
                      </a:pPr>
                      <a:r>
                        <a:rPr lang="en-US" sz="1300" b="1" dirty="0">
                          <a:solidFill>
                            <a:srgbClr val="1B2A4A"/>
                          </a:solidFill>
                        </a:rPr>
                        <a:t>GaN application</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A1A1A"/>
                          </a:solidFill>
                        </a:rPr>
                        <a:t>Highest MMIC frequencies; UHF power amps</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300" b="1" dirty="0">
                          <a:solidFill>
                            <a:srgbClr val="1B2A4A"/>
                          </a:solidFill>
                        </a:rPr>
                        <a:t>FET vs BJT</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c>
                  <a:txBody>
                    <a:bodyPr/>
                    <a:lstStyle/>
                    <a:p>
                      <a:pPr indent="0" marL="0">
                        <a:buNone/>
                      </a:pPr>
                      <a:r>
                        <a:rPr lang="en-US" sz="1300" dirty="0">
                          <a:solidFill>
                            <a:srgbClr val="1A1A1A"/>
                          </a:solidFill>
                        </a:rPr>
                        <a:t>FET = higher input impedance</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r>
              <a:tr h="0">
                <a:tc>
                  <a:txBody>
                    <a:bodyPr/>
                    <a:lstStyle/>
                    <a:p>
                      <a:pPr indent="0" marL="0">
                        <a:buNone/>
                      </a:pPr>
                      <a:r>
                        <a:rPr lang="en-US" sz="1300" b="1" dirty="0">
                          <a:solidFill>
                            <a:srgbClr val="1B2A4A"/>
                          </a:solidFill>
                        </a:rPr>
                        <a:t>NPN turn-on voltage</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A1A1A"/>
                          </a:solidFill>
                        </a:rPr>
                        <a:t>Vbe ~0.6-0.7V</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300" b="1" dirty="0">
                          <a:solidFill>
                            <a:srgbClr val="1B2A4A"/>
                          </a:solidFill>
                        </a:rPr>
                        <a:t>Depletion-mode FET</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c>
                  <a:txBody>
                    <a:bodyPr/>
                    <a:lstStyle/>
                    <a:p>
                      <a:pPr indent="0" marL="0">
                        <a:buNone/>
                      </a:pPr>
                      <a:r>
                        <a:rPr lang="en-US" sz="1300" dirty="0">
                          <a:solidFill>
                            <a:srgbClr val="1A1A1A"/>
                          </a:solidFill>
                        </a:rPr>
                        <a:t>Conducts with zero gate voltage</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r>
              <a:tr h="0">
                <a:tc>
                  <a:txBody>
                    <a:bodyPr/>
                    <a:lstStyle/>
                    <a:p>
                      <a:pPr indent="0" marL="0">
                        <a:buNone/>
                      </a:pPr>
                      <a:r>
                        <a:rPr lang="en-US" sz="1300" b="1" dirty="0">
                          <a:solidFill>
                            <a:srgbClr val="1B2A4A"/>
                          </a:solidFill>
                        </a:rPr>
                        <a:t>Zener diode</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A1A1A"/>
                          </a:solidFill>
                        </a:rPr>
                        <a:t>Constant voltage in reverse breakdown</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300" b="1" dirty="0">
                          <a:solidFill>
                            <a:srgbClr val="1B2A4A"/>
                          </a:solidFill>
                        </a:rPr>
                        <a:t>Schottky diode</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c>
                  <a:txBody>
                    <a:bodyPr/>
                    <a:lstStyle/>
                    <a:p>
                      <a:pPr indent="0" marL="0">
                        <a:buNone/>
                      </a:pPr>
                      <a:r>
                        <a:rPr lang="en-US" sz="1300" dirty="0">
                          <a:solidFill>
                            <a:srgbClr val="1A1A1A"/>
                          </a:solidFill>
                        </a:rPr>
                        <a:t>Low Vf; metal-semiconductor; fast; VHF mixer</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r>
              <a:tr h="0">
                <a:tc>
                  <a:txBody>
                    <a:bodyPr/>
                    <a:lstStyle/>
                    <a:p>
                      <a:pPr indent="0" marL="0">
                        <a:buNone/>
                      </a:pPr>
                      <a:r>
                        <a:rPr lang="en-US" sz="1300" b="1" dirty="0">
                          <a:solidFill>
                            <a:srgbClr val="1B2A4A"/>
                          </a:solidFill>
                        </a:rPr>
                        <a:t>Varactor</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A1A1A"/>
                          </a:solidFill>
                        </a:rPr>
                        <a:t>Voltage-controlled capacitor (reverse biased)</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300" b="1" dirty="0">
                          <a:solidFill>
                            <a:srgbClr val="1B2A4A"/>
                          </a:solidFill>
                        </a:rPr>
                        <a:t>PIN diode</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c>
                  <a:txBody>
                    <a:bodyPr/>
                    <a:lstStyle/>
                    <a:p>
                      <a:pPr indent="0" marL="0">
                        <a:buNone/>
                      </a:pPr>
                      <a:r>
                        <a:rPr lang="en-US" sz="1300" dirty="0">
                          <a:solidFill>
                            <a:srgbClr val="1A1A1A"/>
                          </a:solidFill>
                        </a:rPr>
                        <a:t>RF switch; DC forward bias controls RF resistance</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r>
              <a:tr h="0">
                <a:tc>
                  <a:txBody>
                    <a:bodyPr/>
                    <a:lstStyle/>
                    <a:p>
                      <a:pPr indent="0" marL="0">
                        <a:buNone/>
                      </a:pPr>
                      <a:r>
                        <a:rPr lang="en-US" sz="1300" b="1" dirty="0">
                          <a:solidFill>
                            <a:srgbClr val="1B2A4A"/>
                          </a:solidFill>
                        </a:rPr>
                        <a:t>CMOS power</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A1A1A"/>
                          </a:solidFill>
                        </a:rPr>
                        <a:t>Near-zero static power</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300" b="1" dirty="0">
                          <a:solidFill>
                            <a:srgbClr val="1B2A4A"/>
                          </a:solidFill>
                        </a:rPr>
                        <a:t>CMOS threshold</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c>
                  <a:txBody>
                    <a:bodyPr/>
                    <a:lstStyle/>
                    <a:p>
                      <a:pPr indent="0" marL="0">
                        <a:buNone/>
                      </a:pPr>
                      <a:r>
                        <a:rPr lang="en-US" sz="1300" dirty="0">
                          <a:solidFill>
                            <a:srgbClr val="1A1A1A"/>
                          </a:solidFill>
                        </a:rPr>
                        <a:t>~Half supply voltage</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r>
              <a:tr h="0">
                <a:tc>
                  <a:txBody>
                    <a:bodyPr/>
                    <a:lstStyle/>
                    <a:p>
                      <a:pPr indent="0" marL="0">
                        <a:buNone/>
                      </a:pPr>
                      <a:r>
                        <a:rPr lang="en-US" sz="1300" b="1" dirty="0">
                          <a:solidFill>
                            <a:srgbClr val="1B2A4A"/>
                          </a:solidFill>
                        </a:rPr>
                        <a:t>FPGA programmed with</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A1A1A"/>
                          </a:solidFill>
                        </a:rPr>
                        <a:t>HDL (Hardware Description Language)</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300" b="1" dirty="0">
                          <a:solidFill>
                            <a:srgbClr val="1B2A4A"/>
                          </a:solidFill>
                        </a:rPr>
                        <a:t>Ferrite vs powdered iron</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c>
                  <a:txBody>
                    <a:bodyPr/>
                    <a:lstStyle/>
                    <a:p>
                      <a:pPr indent="0" marL="0">
                        <a:buNone/>
                      </a:pPr>
                      <a:r>
                        <a:rPr lang="en-US" sz="1300" dirty="0">
                          <a:solidFill>
                            <a:srgbClr val="1A1A1A"/>
                          </a:solidFill>
                        </a:rPr>
                        <a:t>Ferrite = fewer turns; pow. iron = better temp stability</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r>
              <a:tr h="0">
                <a:tc>
                  <a:txBody>
                    <a:bodyPr/>
                    <a:lstStyle/>
                    <a:p>
                      <a:pPr indent="0" marL="0">
                        <a:buNone/>
                      </a:pPr>
                      <a:r>
                        <a:rPr lang="en-US" sz="1300" b="1" dirty="0">
                          <a:solidFill>
                            <a:srgbClr val="1B2A4A"/>
                          </a:solidFill>
                        </a:rPr>
                        <a:t>Brass core effect</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A1A1A"/>
                          </a:solidFill>
                        </a:rPr>
                        <a:t>DECREASES inductance</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300" b="1" dirty="0">
                          <a:solidFill>
                            <a:srgbClr val="1B2A4A"/>
                          </a:solidFill>
                        </a:rPr>
                        <a:t>Crystal eq circuit</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c>
                  <a:txBody>
                    <a:bodyPr/>
                    <a:lstStyle/>
                    <a:p>
                      <a:pPr indent="0" marL="0">
                        <a:buNone/>
                      </a:pPr>
                      <a:r>
                        <a:rPr lang="en-US" sz="1300" dirty="0">
                          <a:solidFill>
                            <a:srgbClr val="1A1A1A"/>
                          </a:solidFill>
                        </a:rPr>
                        <a:t>Series RLC || shunt capacitor</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r>
              <a:tr h="0">
                <a:tc>
                  <a:txBody>
                    <a:bodyPr/>
                    <a:lstStyle/>
                    <a:p>
                      <a:pPr indent="0" marL="0">
                        <a:buNone/>
                      </a:pPr>
                      <a:r>
                        <a:rPr lang="en-US" sz="1300" b="1" dirty="0">
                          <a:solidFill>
                            <a:srgbClr val="1B2A4A"/>
                          </a:solidFill>
                        </a:rPr>
                        <a:t>MMIC I/O impedance</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A1A1A"/>
                          </a:solidFill>
                        </a:rPr>
                        <a:t>50 ohms; DC fed through OUTPUT lead</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300" b="1" dirty="0">
                          <a:solidFill>
                            <a:srgbClr val="1B2A4A"/>
                          </a:solidFill>
                        </a:rPr>
                        <a:t>SMD advantage</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c>
                  <a:txBody>
                    <a:bodyPr/>
                    <a:lstStyle/>
                    <a:p>
                      <a:pPr indent="0" marL="0">
                        <a:buNone/>
                      </a:pPr>
                      <a:r>
                        <a:rPr lang="en-US" sz="1300" dirty="0">
                          <a:solidFill>
                            <a:srgbClr val="1A1A1A"/>
                          </a:solidFill>
                        </a:rPr>
                        <a:t>Least parasitic inductance at RF</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r>
              <a:tr h="0">
                <a:tc>
                  <a:txBody>
                    <a:bodyPr/>
                    <a:lstStyle/>
                    <a:p>
                      <a:pPr indent="0" marL="0">
                        <a:buNone/>
                      </a:pPr>
                      <a:r>
                        <a:rPr lang="en-US" sz="1300" b="1" dirty="0">
                          <a:solidFill>
                            <a:srgbClr val="1B2A4A"/>
                          </a:solidFill>
                        </a:rPr>
                        <a:t>Optoisolator</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A1A1A"/>
                          </a:solidFill>
                        </a:rPr>
                        <a:t>LED + phototransistor; electrical isolation</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Text 2"/>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3"/>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E6 · Circuit Components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1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Which semiconductor material is used in microwave MMICs due to its higher electron mobility?</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Silicon</a:t>
            </a:r>
            <a:endParaRPr lang="en-US" sz="1600" dirty="0"/>
          </a:p>
          <a:p>
            <a:pPr>
              <a:spcAft>
                <a:spcPts val="1000"/>
              </a:spcAft>
            </a:pPr>
            <a:r>
              <a:rPr lang="en-US" sz="1600" dirty="0">
                <a:solidFill>
                  <a:srgbClr val="1A1A1A"/>
                </a:solidFill>
              </a:rPr>
              <a:t>B.  Germanium</a:t>
            </a:r>
            <a:endParaRPr lang="en-US" sz="1600" dirty="0"/>
          </a:p>
          <a:p>
            <a:pPr>
              <a:spcAft>
                <a:spcPts val="1000"/>
              </a:spcAft>
            </a:pPr>
            <a:r>
              <a:rPr lang="en-US" sz="1600" dirty="0">
                <a:solidFill>
                  <a:srgbClr val="1A1A1A"/>
                </a:solidFill>
              </a:rPr>
              <a:t>C.  GaAs</a:t>
            </a:r>
            <a:endParaRPr lang="en-US" sz="1600" dirty="0"/>
          </a:p>
          <a:p>
            <a:pPr>
              <a:spcAft>
                <a:spcPts val="1000"/>
              </a:spcAft>
            </a:pPr>
            <a:r>
              <a:rPr lang="en-US" sz="1600" dirty="0">
                <a:solidFill>
                  <a:srgbClr val="1A1A1A"/>
                </a:solidFill>
              </a:rPr>
              <a:t>D.  Silicon carbide</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C — GaAs has significantly higher electron mobility than silicon</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2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What is the primary advantage of a Schottky diode vs a silicon PN diode?</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Higher reverse breakdown voltage</a:t>
            </a:r>
            <a:endParaRPr lang="en-US" sz="1600" dirty="0"/>
          </a:p>
          <a:p>
            <a:pPr>
              <a:spcAft>
                <a:spcPts val="1000"/>
              </a:spcAft>
            </a:pPr>
            <a:r>
              <a:rPr lang="en-US" sz="1600" dirty="0">
                <a:solidFill>
                  <a:srgbClr val="1A1A1A"/>
                </a:solidFill>
              </a:rPr>
              <a:t>B.  Lower forward voltage drop</a:t>
            </a:r>
            <a:endParaRPr lang="en-US" sz="1600" dirty="0"/>
          </a:p>
          <a:p>
            <a:pPr>
              <a:spcAft>
                <a:spcPts val="1000"/>
              </a:spcAft>
            </a:pPr>
            <a:r>
              <a:rPr lang="en-US" sz="1600" dirty="0">
                <a:solidFill>
                  <a:srgbClr val="1A1A1A"/>
                </a:solidFill>
              </a:rPr>
              <a:t>C.  Higher junction capacitance</a:t>
            </a:r>
            <a:endParaRPr lang="en-US" sz="1600" dirty="0"/>
          </a:p>
          <a:p>
            <a:pPr>
              <a:spcAft>
                <a:spcPts val="1000"/>
              </a:spcAft>
            </a:pPr>
            <a:r>
              <a:rPr lang="en-US" sz="1600" dirty="0">
                <a:solidFill>
                  <a:srgbClr val="1A1A1A"/>
                </a:solidFill>
              </a:rPr>
              <a:t>D.  Better temperature stability</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B — Schottky: ~0.2-0.4V forward drop vs 0.6-0.7V for silicon PN</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3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What type of diode is used as a voltage-controlled capacitor?</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PIN diode</a:t>
            </a:r>
            <a:endParaRPr lang="en-US" sz="1600" dirty="0"/>
          </a:p>
          <a:p>
            <a:pPr>
              <a:spcAft>
                <a:spcPts val="1000"/>
              </a:spcAft>
            </a:pPr>
            <a:r>
              <a:rPr lang="en-US" sz="1600" dirty="0">
                <a:solidFill>
                  <a:srgbClr val="1A1A1A"/>
                </a:solidFill>
              </a:rPr>
              <a:t>B.  Schottky</a:t>
            </a:r>
            <a:endParaRPr lang="en-US" sz="1600" dirty="0"/>
          </a:p>
          <a:p>
            <a:pPr>
              <a:spcAft>
                <a:spcPts val="1000"/>
              </a:spcAft>
            </a:pPr>
            <a:r>
              <a:rPr lang="en-US" sz="1600" dirty="0">
                <a:solidFill>
                  <a:srgbClr val="1A1A1A"/>
                </a:solidFill>
              </a:rPr>
              <a:t>C.  Zener</a:t>
            </a:r>
            <a:endParaRPr lang="en-US" sz="1600" dirty="0"/>
          </a:p>
          <a:p>
            <a:pPr>
              <a:spcAft>
                <a:spcPts val="1000"/>
              </a:spcAft>
            </a:pPr>
            <a:r>
              <a:rPr lang="en-US" sz="1600" dirty="0">
                <a:solidFill>
                  <a:srgbClr val="1A1A1A"/>
                </a:solidFill>
              </a:rPr>
              <a:t>D.  Varactor</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D — Varactor: reverse-biased junction capacitance varies with voltage</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4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A PIN diode in an RF switch circuit is controlled by:</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RF signal amplitude</a:t>
            </a:r>
            <a:endParaRPr lang="en-US" sz="1600" dirty="0"/>
          </a:p>
          <a:p>
            <a:pPr>
              <a:spcAft>
                <a:spcPts val="1000"/>
              </a:spcAft>
            </a:pPr>
            <a:r>
              <a:rPr lang="en-US" sz="1600" dirty="0">
                <a:solidFill>
                  <a:srgbClr val="1A1A1A"/>
                </a:solidFill>
              </a:rPr>
              <a:t>B.  Reverse bias voltage only</a:t>
            </a:r>
            <a:endParaRPr lang="en-US" sz="1600" dirty="0"/>
          </a:p>
          <a:p>
            <a:pPr>
              <a:spcAft>
                <a:spcPts val="1000"/>
              </a:spcAft>
            </a:pPr>
            <a:r>
              <a:rPr lang="en-US" sz="1600" dirty="0">
                <a:solidFill>
                  <a:srgbClr val="1A1A1A"/>
                </a:solidFill>
              </a:rPr>
              <a:t>C.  Forward DC bias current</a:t>
            </a:r>
            <a:endParaRPr lang="en-US" sz="1600" dirty="0"/>
          </a:p>
          <a:p>
            <a:pPr>
              <a:spcAft>
                <a:spcPts val="1000"/>
              </a:spcAft>
            </a:pPr>
            <a:r>
              <a:rPr lang="en-US" sz="1600" dirty="0">
                <a:solidFill>
                  <a:srgbClr val="1A1A1A"/>
                </a:solidFill>
              </a:rPr>
              <a:t>D.  Gate voltage</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C — PIN diode: RF resistance controlled by forward DC bias current</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5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What logic family has the lowest static power consumption?</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TTL</a:t>
            </a:r>
            <a:endParaRPr lang="en-US" sz="1600" dirty="0"/>
          </a:p>
          <a:p>
            <a:pPr>
              <a:spcAft>
                <a:spcPts val="1000"/>
              </a:spcAft>
            </a:pPr>
            <a:r>
              <a:rPr lang="en-US" sz="1600" dirty="0">
                <a:solidFill>
                  <a:srgbClr val="1A1A1A"/>
                </a:solidFill>
              </a:rPr>
              <a:t>B.  ECL</a:t>
            </a:r>
            <a:endParaRPr lang="en-US" sz="1600" dirty="0"/>
          </a:p>
          <a:p>
            <a:pPr>
              <a:spcAft>
                <a:spcPts val="1000"/>
              </a:spcAft>
            </a:pPr>
            <a:r>
              <a:rPr lang="en-US" sz="1600" dirty="0">
                <a:solidFill>
                  <a:srgbClr val="1A1A1A"/>
                </a:solidFill>
              </a:rPr>
              <a:t>C.  CMOS</a:t>
            </a:r>
            <a:endParaRPr lang="en-US" sz="1600" dirty="0"/>
          </a:p>
          <a:p>
            <a:pPr>
              <a:spcAft>
                <a:spcPts val="1000"/>
              </a:spcAft>
            </a:pPr>
            <a:r>
              <a:rPr lang="en-US" sz="1600" dirty="0">
                <a:solidFill>
                  <a:srgbClr val="1A1A1A"/>
                </a:solidFill>
              </a:rPr>
              <a:t>D.  BiCMOS</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C — CMOS draws near-zero static current (only during switching transitions)</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6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Comparator hysteresis prevents what problem?</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Output saturation</a:t>
            </a:r>
            <a:endParaRPr lang="en-US" sz="1600" dirty="0"/>
          </a:p>
          <a:p>
            <a:pPr>
              <a:spcAft>
                <a:spcPts val="1000"/>
              </a:spcAft>
            </a:pPr>
            <a:r>
              <a:rPr lang="en-US" sz="1600" dirty="0">
                <a:solidFill>
                  <a:srgbClr val="1A1A1A"/>
                </a:solidFill>
              </a:rPr>
              <a:t>B.  Oscillation of the oscillator stage</a:t>
            </a:r>
            <a:endParaRPr lang="en-US" sz="1600" dirty="0"/>
          </a:p>
          <a:p>
            <a:pPr>
              <a:spcAft>
                <a:spcPts val="1000"/>
              </a:spcAft>
            </a:pPr>
            <a:r>
              <a:rPr lang="en-US" sz="1600" dirty="0">
                <a:solidFill>
                  <a:srgbClr val="1A1A1A"/>
                </a:solidFill>
              </a:rPr>
              <a:t>C.  Chatter from noise near the switching threshold</a:t>
            </a:r>
            <a:endParaRPr lang="en-US" sz="1600" dirty="0"/>
          </a:p>
          <a:p>
            <a:pPr>
              <a:spcAft>
                <a:spcPts val="1000"/>
              </a:spcAft>
            </a:pPr>
            <a:r>
              <a:rPr lang="en-US" sz="1600" dirty="0">
                <a:solidFill>
                  <a:srgbClr val="1A1A1A"/>
                </a:solidFill>
              </a:rPr>
              <a:t>D.  Thermal runaway</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C — Hysteresis creates two switching thresholds; prevents rapid toggling on noisy inputs</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7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A brass slug inserted into an inductor coil will:</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Increase inductance</a:t>
            </a:r>
            <a:endParaRPr lang="en-US" sz="1600" dirty="0"/>
          </a:p>
          <a:p>
            <a:pPr>
              <a:spcAft>
                <a:spcPts val="1000"/>
              </a:spcAft>
            </a:pPr>
            <a:r>
              <a:rPr lang="en-US" sz="1600" dirty="0">
                <a:solidFill>
                  <a:srgbClr val="1A1A1A"/>
                </a:solidFill>
              </a:rPr>
              <a:t>B.  Decrease inductance</a:t>
            </a:r>
            <a:endParaRPr lang="en-US" sz="1600" dirty="0"/>
          </a:p>
          <a:p>
            <a:pPr>
              <a:spcAft>
                <a:spcPts val="1000"/>
              </a:spcAft>
            </a:pPr>
            <a:r>
              <a:rPr lang="en-US" sz="1600" dirty="0">
                <a:solidFill>
                  <a:srgbClr val="1A1A1A"/>
                </a:solidFill>
              </a:rPr>
              <a:t>C.  Have no effect</a:t>
            </a:r>
            <a:endParaRPr lang="en-US" sz="1600" dirty="0"/>
          </a:p>
          <a:p>
            <a:pPr>
              <a:spcAft>
                <a:spcPts val="1000"/>
              </a:spcAft>
            </a:pPr>
            <a:r>
              <a:rPr lang="en-US" sz="1600" dirty="0">
                <a:solidFill>
                  <a:srgbClr val="1A1A1A"/>
                </a:solidFill>
              </a:rPr>
              <a:t>D.  Increase Q</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B — Brass is diamagnetic; it slightly opposes the magnetic field and decreases inductance</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8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What is the equivalent circuit of a quartz crystal?</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Parallel LC tank</a:t>
            </a:r>
            <a:endParaRPr lang="en-US" sz="1600" dirty="0"/>
          </a:p>
          <a:p>
            <a:pPr>
              <a:spcAft>
                <a:spcPts val="1000"/>
              </a:spcAft>
            </a:pPr>
            <a:r>
              <a:rPr lang="en-US" sz="1600" dirty="0">
                <a:solidFill>
                  <a:srgbClr val="1A1A1A"/>
                </a:solidFill>
              </a:rPr>
              <a:t>B.  Series RLC only</a:t>
            </a:r>
            <a:endParaRPr lang="en-US" sz="1600" dirty="0"/>
          </a:p>
          <a:p>
            <a:pPr>
              <a:spcAft>
                <a:spcPts val="1000"/>
              </a:spcAft>
            </a:pPr>
            <a:r>
              <a:rPr lang="en-US" sz="1600" dirty="0">
                <a:solidFill>
                  <a:srgbClr val="1A1A1A"/>
                </a:solidFill>
              </a:rPr>
              <a:t>C.  Series RLC in parallel with a capacitor</a:t>
            </a:r>
            <a:endParaRPr lang="en-US" sz="1600" dirty="0"/>
          </a:p>
          <a:p>
            <a:pPr>
              <a:spcAft>
                <a:spcPts val="1000"/>
              </a:spcAft>
            </a:pPr>
            <a:r>
              <a:rPr lang="en-US" sz="1600" dirty="0">
                <a:solidFill>
                  <a:srgbClr val="1A1A1A"/>
                </a:solidFill>
              </a:rPr>
              <a:t>D.  RC low-pass filter</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C — Series RLC (mechanical resonance) in parallel with shunt capacitor (electrode capacitance)</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9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How is DC power supplied to an MMIC?</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Through a coupling capacitor on the input</a:t>
            </a:r>
            <a:endParaRPr lang="en-US" sz="1600" dirty="0"/>
          </a:p>
          <a:p>
            <a:pPr>
              <a:spcAft>
                <a:spcPts val="1000"/>
              </a:spcAft>
            </a:pPr>
            <a:r>
              <a:rPr lang="en-US" sz="1600" dirty="0">
                <a:solidFill>
                  <a:srgbClr val="1A1A1A"/>
                </a:solidFill>
              </a:rPr>
              <a:t>B.  Through a separate DC pin</a:t>
            </a:r>
            <a:endParaRPr lang="en-US" sz="1600" dirty="0"/>
          </a:p>
          <a:p>
            <a:pPr>
              <a:spcAft>
                <a:spcPts val="1000"/>
              </a:spcAft>
            </a:pPr>
            <a:r>
              <a:rPr lang="en-US" sz="1600" dirty="0">
                <a:solidFill>
                  <a:srgbClr val="1A1A1A"/>
                </a:solidFill>
              </a:rPr>
              <a:t>C.  Through a resistor or RF choke on the output lead</a:t>
            </a:r>
            <a:endParaRPr lang="en-US" sz="1600" dirty="0"/>
          </a:p>
          <a:p>
            <a:pPr>
              <a:spcAft>
                <a:spcPts val="1000"/>
              </a:spcAft>
            </a:pPr>
            <a:r>
              <a:rPr lang="en-US" sz="1600" dirty="0">
                <a:solidFill>
                  <a:srgbClr val="1A1A1A"/>
                </a:solidFill>
              </a:rPr>
              <a:t>D.  Through the ground plane</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C — DC supplied through output lead via RF choke or resistor; input is left unaffected</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10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What does an optoisolator provide between its input and output circuits?</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Impedance matching</a:t>
            </a:r>
            <a:endParaRPr lang="en-US" sz="1600" dirty="0"/>
          </a:p>
          <a:p>
            <a:pPr>
              <a:spcAft>
                <a:spcPts val="1000"/>
              </a:spcAft>
            </a:pPr>
            <a:r>
              <a:rPr lang="en-US" sz="1600" dirty="0">
                <a:solidFill>
                  <a:srgbClr val="1A1A1A"/>
                </a:solidFill>
              </a:rPr>
              <a:t>B.  Frequency translation</a:t>
            </a:r>
            <a:endParaRPr lang="en-US" sz="1600" dirty="0"/>
          </a:p>
          <a:p>
            <a:pPr>
              <a:spcAft>
                <a:spcPts val="1000"/>
              </a:spcAft>
            </a:pPr>
            <a:r>
              <a:rPr lang="en-US" sz="1600" dirty="0">
                <a:solidFill>
                  <a:srgbClr val="1A1A1A"/>
                </a:solidFill>
              </a:rPr>
              <a:t>C.  Complete galvanic (electrical) isolation</a:t>
            </a:r>
            <a:endParaRPr lang="en-US" sz="1600" dirty="0"/>
          </a:p>
          <a:p>
            <a:pPr>
              <a:spcAft>
                <a:spcPts val="1000"/>
              </a:spcAft>
            </a:pPr>
            <a:r>
              <a:rPr lang="en-US" sz="1600" dirty="0">
                <a:solidFill>
                  <a:srgbClr val="1A1A1A"/>
                </a:solidFill>
              </a:rPr>
              <a:t>D.  Voltage regulation</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C — LED on one side, phototransistor on the other; no electrical connection between them</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Text 1"/>
          <p:cNvSpPr/>
          <p:nvPr/>
        </p:nvSpPr>
        <p:spPr>
          <a:xfrm>
            <a:off x="457200" y="640080"/>
            <a:ext cx="8229600" cy="731520"/>
          </a:xfrm>
          <a:prstGeom prst="rect">
            <a:avLst/>
          </a:prstGeom>
          <a:noFill/>
          <a:ln/>
        </p:spPr>
        <p:txBody>
          <a:bodyPr wrap="square" rtlCol="0" anchor="ctr"/>
          <a:lstStyle/>
          <a:p>
            <a:pPr indent="0" marL="0">
              <a:buNone/>
            </a:pPr>
            <a:r>
              <a:rPr lang="en-US" sz="3000" b="1" dirty="0">
                <a:solidFill>
                  <a:srgbClr val="FFFFFF"/>
                </a:solidFill>
              </a:rPr>
              <a:t>Before Module 5</a:t>
            </a:r>
            <a:endParaRPr lang="en-US" sz="3000" dirty="0"/>
          </a:p>
        </p:txBody>
      </p:sp>
      <p:sp>
        <p:nvSpPr>
          <p:cNvPr id="4" name="Text 2"/>
          <p:cNvSpPr/>
          <p:nvPr/>
        </p:nvSpPr>
        <p:spPr>
          <a:xfrm>
            <a:off x="457200" y="1508760"/>
            <a:ext cx="8229600" cy="365760"/>
          </a:xfrm>
          <a:prstGeom prst="rect">
            <a:avLst/>
          </a:prstGeom>
          <a:noFill/>
          <a:ln/>
        </p:spPr>
        <p:txBody>
          <a:bodyPr wrap="square" rtlCol="0" anchor="ctr"/>
          <a:lstStyle/>
          <a:p>
            <a:pPr indent="0" marL="0">
              <a:buNone/>
            </a:pPr>
            <a:r>
              <a:rPr lang="en-US" sz="1700" b="1" dirty="0">
                <a:solidFill>
                  <a:srgbClr val="2E7D52"/>
                </a:solidFill>
              </a:rPr>
              <a:t>Your assignment:</a:t>
            </a:r>
            <a:endParaRPr lang="en-US" sz="1700" dirty="0"/>
          </a:p>
        </p:txBody>
      </p:sp>
      <p:sp>
        <p:nvSpPr>
          <p:cNvPr id="5" name="Text 3"/>
          <p:cNvSpPr txBox="1"/>
          <p:nvPr/>
        </p:nvSpPr>
        <p:spPr>
          <a:xfrm>
            <a:off x="457200" y="1920240"/>
            <a:ext cx="8229600" cy="182880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FFFFFF"/>
                </a:solidFill>
              </a:rPr>
              <a:t>Drill HamStudy E6A-E6F to 80%+ confidence</a:t>
            </a:r>
            <a:endParaRPr lang="en-US" sz="1600" dirty="0"/>
          </a:p>
          <a:p>
            <a:pPr marL="190500" indent="-190500">
              <a:spcAft>
                <a:spcPts val="700"/>
              </a:spcAft>
              <a:buSzPct val="100000"/>
              <a:buChar char="•"/>
            </a:pPr>
            <a:r>
              <a:rPr lang="en-US" sz="1600" dirty="0">
                <a:solidFill>
                  <a:srgbClr val="FFFFFF"/>
                </a:solidFill>
              </a:rPr>
              <a:t>Spend extra time on E6B (diode types) — Zener, Schottky, PIN, varactor are all tested</a:t>
            </a:r>
            <a:endParaRPr lang="en-US" sz="1600" dirty="0"/>
          </a:p>
          <a:p>
            <a:pPr marL="190500" indent="-190500">
              <a:spcAft>
                <a:spcPts val="700"/>
              </a:spcAft>
              <a:buSzPct val="100000"/>
              <a:buChar char="•"/>
            </a:pPr>
            <a:r>
              <a:rPr lang="en-US" sz="1600" dirty="0">
                <a:solidFill>
                  <a:srgbClr val="FFFFFF"/>
                </a:solidFill>
              </a:rPr>
              <a:t>Core materials (E6D): ferrite vs powdered iron, brass core — these are reliable exam questions</a:t>
            </a:r>
            <a:endParaRPr lang="en-US" sz="1600" dirty="0"/>
          </a:p>
        </p:txBody>
      </p:sp>
      <p:sp>
        <p:nvSpPr>
          <p:cNvPr id="6" name="Text 4"/>
          <p:cNvSpPr/>
          <p:nvPr/>
        </p:nvSpPr>
        <p:spPr>
          <a:xfrm>
            <a:off x="457200" y="3794760"/>
            <a:ext cx="8229600" cy="320040"/>
          </a:xfrm>
          <a:prstGeom prst="rect">
            <a:avLst/>
          </a:prstGeom>
          <a:noFill/>
          <a:ln/>
        </p:spPr>
        <p:txBody>
          <a:bodyPr wrap="square" rtlCol="0" anchor="ctr"/>
          <a:lstStyle/>
          <a:p>
            <a:pPr indent="0" marL="0">
              <a:buNone/>
            </a:pPr>
            <a:r>
              <a:rPr lang="en-US" sz="1500" b="1" dirty="0">
                <a:solidFill>
                  <a:srgbClr val="2E7D52"/>
                </a:solidFill>
              </a:rPr>
              <a:t>Coming up:</a:t>
            </a:r>
            <a:endParaRPr lang="en-US" sz="1500" dirty="0"/>
          </a:p>
        </p:txBody>
      </p:sp>
      <p:sp>
        <p:nvSpPr>
          <p:cNvPr id="7" name="Text 5"/>
          <p:cNvSpPr/>
          <p:nvPr/>
        </p:nvSpPr>
        <p:spPr>
          <a:xfrm>
            <a:off x="457200" y="4114800"/>
            <a:ext cx="8229600" cy="548640"/>
          </a:xfrm>
          <a:prstGeom prst="rect">
            <a:avLst/>
          </a:prstGeom>
          <a:noFill/>
          <a:ln/>
        </p:spPr>
        <p:txBody>
          <a:bodyPr wrap="square" rtlCol="0" anchor="ctr"/>
          <a:lstStyle/>
          <a:p>
            <a:pPr indent="0" marL="0">
              <a:buNone/>
            </a:pPr>
            <a:r>
              <a:rPr lang="en-US" sz="1400" dirty="0">
                <a:solidFill>
                  <a:srgbClr val="AACCBB"/>
                </a:solidFill>
              </a:rPr>
              <a:t>Module 5: Practical Circuits — the hardest module. Amplifier classes, filter responses, SDR/DSP, op-amp gain formulas, oscillator types. 8 exam questions. Budget maximum HamStudy time.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2026-09-19T03:59:44Z</dcterms:created>
  <dcterms:modified xsi:type="dcterms:W3CDTF">2026-09-19T03:59:44Z</dcterms:modified>
</cp:coreProperties>
</file>