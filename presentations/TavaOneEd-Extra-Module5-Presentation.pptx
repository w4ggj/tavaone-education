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this is the one to budget extra HamStudy time for. E7B (amplifier classes) and E7G (op-amp gain) have direct calculation questions. Get comfortable with the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Flip-flops and logic gates — the building blocks of every digital circuit in your radio.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the frequency synthesizer in your radio uses flip-flop chains to divide down a reference oscillator. A 100 MHz crystal divided by 10 million gives 10 Hz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tests NAND, XOR, and XNOR most often. NAND: only false when all true. XOR: true when different. XNOR: the inverse of XOR.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Amplifier class selection is one of the most practical decisions in RF circuit design. Every transmitter PA is designed around one of these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is Class C fine for FM but not SSB? FM is constant amplitude — the tuned output restores the sine wave. SSB has amplitude modulation baked into it — Class C would clip the peaks and distort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Emitter follower (common collector) is the transistor version of a cathode follower in tubes. It buffers impedance — high-Z in, low-Z out — without much voltage gain. Classic use: driving a coax cable from a high-impedance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Filter response names are directly tested. Know the three filter types and what makes each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trick: Butter-worth = smooth (like butter). Cheby-shev = ripple in (starts with 'rip'). Elliptical = ripple everywhere. Ask: which filter would you use for a crystal bandpass filter in a receiver? Chebyshev or elliptical — sharp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Pi-network is the standard in any HF amplifier output because it simultaneously matches impedance AND provides low-pass filtering. The L-network only matches. The Pi-network does both in one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Modulators and demodulators are at the heart of every radio. Know which circuit does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modulator is the key stage in an SSB transmitter. It cancels the carrier while keeping the sidebands. Then the sideband filter removes one sideband, leaving just the upper or 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SDR is how modern radios work. The concepts here explain why a Flex or IC-7300 works differently from a classic superheterodyne.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IC-7300 digitizes the entire HF spectrum right after a low-noise amplifier. All filtering, AGC, and demodulation happens in an FPGA. The physical radio is essentially a high-quality ADC with an antenna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Op-amp gain calculations appear directly on the exam. Know both formulas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two examples right now. Inverting: Rin=2.2k, Rf=22k → -(22k/2.2k) = -10. Non-inverting: Rin=1k, Rf=4.7k → 1+(4.7k/1k) = 5.7. These exact numbers show up in the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transmitter has an oscillator. Know the topology names and what distinguishes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what's in your radio's synthesizer? Probably a PLL with a DDS. The DDS generates a fine-step reference for the PLL, giving you the frequency resolution you see on the dial.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OCXO vs TCXO: OCXO is better (orders of magnitude more stable) but draws more power and takes time to warm up. TCXO is a compromise — good stability without the warmup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right side. Say the answer.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 16. Count the 2: 2, 4, 8, 16. That's 4 flip-flops.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C clips the waveform — fine for CW and FM (constant amplitude) but destroys SSB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Butterworth = no ripple. Chebyshev = passband ripple only. Elliptical = both. Steepest transition = elliptical.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multiplies audio times carrier. When they're equal and opposite, the carrier terms cancel. Only sidebands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16-bit ADC: 16 × 6 = 96 dB dynamic range. 12-bit: 72 dB. This is a direct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over Rin: 22k/2.2k = 10. Inverting, so negative: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Non-inverting: add 1. 4.7k/1k = 4.7, then +1 = 5.7. Positive because non-inverting.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Colpitts = capacitive divider. Hartley = tapped (inductive) divider. Remember: C = Capacitors.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VCO can drift, but the PLL error correction keeps pulling it back to the exact frequency the crystal demands.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 = one stable state. Bi = two stable states (flip-flop). Astable = NO stable states; runs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and send students to HamStudy.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4114800"/>
            <a:ext cx="9144000" cy="182880"/>
          </a:xfrm>
          <a:prstGeom prst="rect">
            <a:avLst/>
          </a:prstGeom>
          <a:solidFill>
            <a:srgbClr val="2E7D52"/>
          </a:solidFill>
          <a:ln/>
        </p:spPr>
      </p:sp>
      <p:sp>
        <p:nvSpPr>
          <p:cNvPr id="4" name="Text 2"/>
          <p:cNvSpPr/>
          <p:nvPr/>
        </p:nvSpPr>
        <p:spPr>
          <a:xfrm>
            <a:off x="457200" y="914400"/>
            <a:ext cx="8229600" cy="1280160"/>
          </a:xfrm>
          <a:prstGeom prst="rect">
            <a:avLst/>
          </a:prstGeom>
          <a:noFill/>
          <a:ln/>
        </p:spPr>
        <p:txBody>
          <a:bodyPr wrap="square" rtlCol="0" anchor="ctr"/>
          <a:lstStyle/>
          <a:p>
            <a:pPr indent="0" marL="0">
              <a:buNone/>
            </a:pPr>
            <a:r>
              <a:rPr lang="en-US" sz="3800" b="1" dirty="0">
                <a:solidFill>
                  <a:srgbClr val="FFFFFF"/>
                </a:solidFill>
              </a:rPr>
              <a:t>Module 5: Practical Circuits</a:t>
            </a:r>
            <a:endParaRPr lang="en-US" sz="3800" dirty="0"/>
          </a:p>
        </p:txBody>
      </p:sp>
      <p:sp>
        <p:nvSpPr>
          <p:cNvPr id="5" name="Text 3"/>
          <p:cNvSpPr/>
          <p:nvPr/>
        </p:nvSpPr>
        <p:spPr>
          <a:xfrm>
            <a:off x="457200" y="2468880"/>
            <a:ext cx="8229600" cy="640080"/>
          </a:xfrm>
          <a:prstGeom prst="rect">
            <a:avLst/>
          </a:prstGeom>
          <a:noFill/>
          <a:ln/>
        </p:spPr>
        <p:txBody>
          <a:bodyPr wrap="square" rtlCol="0" anchor="ctr"/>
          <a:lstStyle/>
          <a:p>
            <a:pPr indent="0" marL="0">
              <a:buNone/>
            </a:pPr>
            <a:r>
              <a:rPr lang="en-US" sz="1700" dirty="0">
                <a:solidFill>
                  <a:srgbClr val="AACCBB"/>
                </a:solidFill>
              </a:rPr>
              <a:t>Digital Circuits · Amplifiers · Filters · SDR · Op-Amps · Oscillators</a:t>
            </a:r>
            <a:endParaRPr lang="en-US" sz="1700" dirty="0"/>
          </a:p>
          <a:p>
            <a:pPr indent="0" marL="0">
              <a:buNone/>
            </a:pPr>
            <a:r>
              <a:rPr lang="en-US" sz="1700" dirty="0">
                <a:solidFill>
                  <a:srgbClr val="AACCBB"/>
                </a:solidFill>
              </a:rPr>
              <a:t>2024-2028 Amateur Extra Question Pool</a:t>
            </a:r>
            <a:endParaRPr lang="en-US" sz="1700" dirty="0"/>
          </a:p>
        </p:txBody>
      </p:sp>
      <p:sp>
        <p:nvSpPr>
          <p:cNvPr id="6" name="Text 4"/>
          <p:cNvSpPr/>
          <p:nvPr/>
        </p:nvSpPr>
        <p:spPr>
          <a:xfrm>
            <a:off x="457200" y="4617720"/>
            <a:ext cx="8229600" cy="274320"/>
          </a:xfrm>
          <a:prstGeom prst="rect">
            <a:avLst/>
          </a:prstGeom>
          <a:noFill/>
          <a:ln/>
        </p:spPr>
        <p:txBody>
          <a:bodyPr wrap="square" rtlCol="0" anchor="ctr"/>
          <a:lstStyle/>
          <a:p>
            <a:pPr indent="0" marL="0">
              <a:buNone/>
            </a:pPr>
            <a:r>
              <a:rPr lang="en-US" sz="1100" dirty="0">
                <a:solidFill>
                  <a:srgbClr val="AAAAAA"/>
                </a:solidFill>
              </a:rPr>
              <a:t>TavaOne Education  ·  Pinellas STEM Radio Lab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The Heaviest Module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8 exam questions — E7A through E7H — 16% of your Extra exam</a:t>
            </a:r>
            <a:endParaRPr lang="en-US" sz="1600" dirty="0"/>
          </a:p>
          <a:p>
            <a:pPr marL="190500" indent="-190500">
              <a:spcAft>
                <a:spcPts val="700"/>
              </a:spcAft>
              <a:buSzPct val="100000"/>
              <a:buChar char="•"/>
            </a:pPr>
            <a:r>
              <a:rPr lang="en-US" sz="1600" dirty="0">
                <a:solidFill>
                  <a:srgbClr val="1A1A1A"/>
                </a:solidFill>
              </a:rPr>
              <a:t>Tied with E9 as the heaviest subelement in the pool</a:t>
            </a:r>
            <a:endParaRPr lang="en-US" sz="1600" dirty="0"/>
          </a:p>
          <a:p>
            <a:pPr marL="190500" indent="-190500">
              <a:spcAft>
                <a:spcPts val="700"/>
              </a:spcAft>
              <a:buSzPct val="100000"/>
              <a:buChar char="•"/>
            </a:pPr>
            <a:r>
              <a:rPr lang="en-US" sz="1600" dirty="0">
                <a:solidFill>
                  <a:srgbClr val="1A1A1A"/>
                </a:solidFill>
              </a:rPr>
              <a:t>This is the hardest module — the content spans RF circuit design</a:t>
            </a:r>
            <a:endParaRPr lang="en-US" sz="1600" dirty="0"/>
          </a:p>
          <a:p>
            <a:pPr marL="190500" indent="-190500">
              <a:spcAft>
                <a:spcPts val="700"/>
              </a:spcAft>
              <a:buSzPct val="100000"/>
              <a:buChar char="•"/>
            </a:pPr>
            <a:r>
              <a:rPr lang="en-US" sz="1600" dirty="0">
                <a:solidFill>
                  <a:srgbClr val="1A1A1A"/>
                </a:solidFill>
              </a:rPr>
              <a:t>Hour 1:</a:t>
            </a:r>
            <a:endParaRPr lang="en-US" sz="1600" dirty="0"/>
          </a:p>
          <a:p>
            <a:pPr marL="190500" indent="-190500">
              <a:spcAft>
                <a:spcPts val="700"/>
              </a:spcAft>
              <a:buSzPct val="100000"/>
              <a:buChar char="•"/>
            </a:pPr>
            <a:r>
              <a:rPr lang="en-US" sz="1600" dirty="0">
                <a:solidFill>
                  <a:srgbClr val="1A1A1A"/>
                </a:solidFill>
              </a:rPr>
              <a:t>→ E7A: Digital circuits — flip-flops, counters, logic gates</a:t>
            </a:r>
            <a:endParaRPr lang="en-US" sz="1600" dirty="0"/>
          </a:p>
          <a:p>
            <a:pPr marL="190500" indent="-190500">
              <a:spcAft>
                <a:spcPts val="700"/>
              </a:spcAft>
              <a:buSzPct val="100000"/>
              <a:buChar char="•"/>
            </a:pPr>
            <a:r>
              <a:rPr lang="en-US" sz="1600" dirty="0">
                <a:solidFill>
                  <a:srgbClr val="1A1A1A"/>
                </a:solidFill>
              </a:rPr>
              <a:t>→ E7B: Amplifier classes (A, AB, B, C, D)</a:t>
            </a:r>
            <a:endParaRPr lang="en-US" sz="1600" dirty="0"/>
          </a:p>
          <a:p>
            <a:pPr marL="190500" indent="-190500">
              <a:spcAft>
                <a:spcPts val="700"/>
              </a:spcAft>
              <a:buSzPct val="100000"/>
              <a:buChar char="•"/>
            </a:pPr>
            <a:r>
              <a:rPr lang="en-US" sz="1600" dirty="0">
                <a:solidFill>
                  <a:srgbClr val="1A1A1A"/>
                </a:solidFill>
              </a:rPr>
              <a:t>→ E7C: Filter responses and matching networks</a:t>
            </a:r>
            <a:endParaRPr lang="en-US" sz="1600" dirty="0"/>
          </a:p>
          <a:p>
            <a:pPr marL="190500" indent="-190500">
              <a:spcAft>
                <a:spcPts val="700"/>
              </a:spcAft>
              <a:buSzPct val="100000"/>
              <a:buChar char="•"/>
            </a:pPr>
            <a:r>
              <a:rPr lang="en-US" sz="1600" dirty="0">
                <a:solidFill>
                  <a:srgbClr val="1A1A1A"/>
                </a:solidFill>
              </a:rPr>
              <a:t>Hour 2:</a:t>
            </a:r>
            <a:endParaRPr lang="en-US" sz="1600" dirty="0"/>
          </a:p>
          <a:p>
            <a:pPr marL="190500" indent="-190500">
              <a:spcAft>
                <a:spcPts val="700"/>
              </a:spcAft>
              <a:buSzPct val="100000"/>
              <a:buChar char="•"/>
            </a:pPr>
            <a:r>
              <a:rPr lang="en-US" sz="1600" dirty="0">
                <a:solidFill>
                  <a:srgbClr val="1A1A1A"/>
                </a:solidFill>
              </a:rPr>
              <a:t>→ E7D-E: Power supplies, modulation/demodulation</a:t>
            </a:r>
            <a:endParaRPr lang="en-US" sz="1600" dirty="0"/>
          </a:p>
          <a:p>
            <a:pPr marL="190500" indent="-190500">
              <a:spcAft>
                <a:spcPts val="700"/>
              </a:spcAft>
              <a:buSzPct val="100000"/>
              <a:buChar char="•"/>
            </a:pPr>
            <a:r>
              <a:rPr lang="en-US" sz="1600" dirty="0">
                <a:solidFill>
                  <a:srgbClr val="1A1A1A"/>
                </a:solidFill>
              </a:rPr>
              <a:t>→ E7F: Software Defined Radio and DSP</a:t>
            </a:r>
            <a:endParaRPr lang="en-US" sz="1600" dirty="0"/>
          </a:p>
          <a:p>
            <a:pPr marL="190500" indent="-190500">
              <a:spcAft>
                <a:spcPts val="700"/>
              </a:spcAft>
              <a:buSzPct val="100000"/>
              <a:buChar char="•"/>
            </a:pPr>
            <a:r>
              <a:rPr lang="en-US" sz="1600" dirty="0">
                <a:solidFill>
                  <a:srgbClr val="1A1A1A"/>
                </a:solidFill>
              </a:rPr>
              <a:t>→ E7G: Operational amplifiers and gain formulas</a:t>
            </a:r>
            <a:endParaRPr lang="en-US" sz="1600" dirty="0"/>
          </a:p>
          <a:p>
            <a:pPr marL="190500" indent="-190500">
              <a:spcAft>
                <a:spcPts val="700"/>
              </a:spcAft>
              <a:buSzPct val="100000"/>
              <a:buChar char="•"/>
            </a:pPr>
            <a:r>
              <a:rPr lang="en-US" sz="1600" dirty="0">
                <a:solidFill>
                  <a:srgbClr val="1A1A1A"/>
                </a:solidFill>
              </a:rPr>
              <a:t>→ E7H: Oscillators — Colpitts, Hartley, PLL, DDS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1: Digital Circuits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E7A — 1 exam question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Flip-Flops, Counters, Multivibrators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Flip-flop: bistable circuit — stays in state 0 or 1 until a clock edge triggers it</a:t>
            </a:r>
            <a:endParaRPr lang="en-US" sz="1600" dirty="0"/>
          </a:p>
          <a:p>
            <a:pPr marL="190500" indent="-190500">
              <a:spcAft>
                <a:spcPts val="700"/>
              </a:spcAft>
              <a:buSzPct val="100000"/>
              <a:buChar char="•"/>
            </a:pPr>
            <a:r>
              <a:rPr lang="en-US" sz="1600" dirty="0">
                <a:solidFill>
                  <a:srgbClr val="1A1A1A"/>
                </a:solidFill>
              </a:rPr>
              <a:t>→ Each flip-flop divides frequency by 2</a:t>
            </a:r>
            <a:endParaRPr lang="en-US" sz="1600" dirty="0"/>
          </a:p>
          <a:p>
            <a:pPr marL="190500" indent="-190500">
              <a:spcAft>
                <a:spcPts val="700"/>
              </a:spcAft>
              <a:buSzPct val="100000"/>
              <a:buChar char="•"/>
            </a:pPr>
            <a:r>
              <a:rPr lang="en-US" sz="1600" dirty="0">
                <a:solidFill>
                  <a:srgbClr val="1A1A1A"/>
                </a:solidFill>
              </a:rPr>
              <a:t>→ 4 flip-flops in series: divide by 2⁴ = 16</a:t>
            </a:r>
            <a:endParaRPr lang="en-US" sz="1600" dirty="0"/>
          </a:p>
          <a:p>
            <a:pPr marL="190500" indent="-190500">
              <a:spcAft>
                <a:spcPts val="700"/>
              </a:spcAft>
              <a:buSzPct val="100000"/>
              <a:buChar char="•"/>
            </a:pPr>
            <a:r>
              <a:rPr lang="en-US" sz="1600" dirty="0">
                <a:solidFill>
                  <a:srgbClr val="1A1A1A"/>
                </a:solidFill>
              </a:rPr>
              <a:t>Decade counter: produces one output pulse per 10 input pulses (÷10)</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Astable multivibrator:</a:t>
            </a:r>
            <a:endParaRPr lang="en-US" sz="1600" dirty="0"/>
          </a:p>
          <a:p>
            <a:pPr marL="190500" indent="-190500">
              <a:spcAft>
                <a:spcPts val="700"/>
              </a:spcAft>
              <a:buSzPct val="100000"/>
              <a:buChar char="•"/>
            </a:pPr>
            <a:r>
              <a:rPr lang="en-US" sz="1600" dirty="0">
                <a:solidFill>
                  <a:srgbClr val="1A1A1A"/>
                </a:solidFill>
              </a:rPr>
              <a:t>→ Continuously oscillates — no stable state</a:t>
            </a:r>
            <a:endParaRPr lang="en-US" sz="1600" dirty="0"/>
          </a:p>
          <a:p>
            <a:pPr marL="190500" indent="-190500">
              <a:spcAft>
                <a:spcPts val="700"/>
              </a:spcAft>
              <a:buSzPct val="100000"/>
              <a:buChar char="•"/>
            </a:pPr>
            <a:r>
              <a:rPr lang="en-US" sz="1600" dirty="0">
                <a:solidFill>
                  <a:srgbClr val="1A1A1A"/>
                </a:solidFill>
              </a:rPr>
              <a:t>→ Generates its own square wave — no external clock needed</a:t>
            </a:r>
            <a:endParaRPr lang="en-US" sz="1600" dirty="0"/>
          </a:p>
          <a:p>
            <a:pPr marL="190500" indent="-190500">
              <a:spcAft>
                <a:spcPts val="700"/>
              </a:spcAft>
              <a:buSzPct val="100000"/>
              <a:buChar char="•"/>
            </a:pPr>
            <a:r>
              <a:rPr lang="en-US" sz="1600" dirty="0">
                <a:solidFill>
                  <a:srgbClr val="1A1A1A"/>
                </a:solidFill>
              </a:rPr>
              <a:t>Monostable multivibrator (one-shot):</a:t>
            </a:r>
            <a:endParaRPr lang="en-US" sz="1600" dirty="0"/>
          </a:p>
          <a:p>
            <a:pPr marL="190500" indent="-190500">
              <a:spcAft>
                <a:spcPts val="700"/>
              </a:spcAft>
              <a:buSzPct val="100000"/>
              <a:buChar char="•"/>
            </a:pPr>
            <a:r>
              <a:rPr lang="en-US" sz="1600" dirty="0">
                <a:solidFill>
                  <a:srgbClr val="1A1A1A"/>
                </a:solidFill>
              </a:rPr>
              <a:t>→ Has ONE stable state</a:t>
            </a:r>
            <a:endParaRPr lang="en-US" sz="1600" dirty="0"/>
          </a:p>
          <a:p>
            <a:pPr marL="190500" indent="-190500">
              <a:spcAft>
                <a:spcPts val="700"/>
              </a:spcAft>
              <a:buSzPct val="100000"/>
              <a:buChar char="•"/>
            </a:pPr>
            <a:r>
              <a:rPr lang="en-US" sz="1600" dirty="0">
                <a:solidFill>
                  <a:srgbClr val="1A1A1A"/>
                </a:solidFill>
              </a:rPr>
              <a:t>→ Trigger pulse sends it to the other state for a fixed time, then returns</a:t>
            </a:r>
            <a:endParaRPr lang="en-US" sz="1600" dirty="0"/>
          </a:p>
          <a:p>
            <a:pPr marL="190500" indent="-190500">
              <a:spcAft>
                <a:spcPts val="700"/>
              </a:spcAft>
              <a:buSzPct val="100000"/>
              <a:buChar char="•"/>
            </a:pPr>
            <a:r>
              <a:rPr lang="en-US" sz="1600" dirty="0">
                <a:solidFill>
                  <a:srgbClr val="1A1A1A"/>
                </a:solidFill>
              </a:rPr>
              <a:t>Bistable (flip-flop): requires external trigger to change state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Positive logic: HIGH voltage = logic 1; LOW voltage = logic 0</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Logic Gate Truth Tables</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Gate Behavior</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NAND: output 0 ONLY when all inputs are 1</a:t>
            </a:r>
            <a:endParaRPr lang="en-US" sz="1500" dirty="0"/>
          </a:p>
          <a:p>
            <a:pPr marL="152400" indent="-152400">
              <a:spcAft>
                <a:spcPts val="600"/>
              </a:spcAft>
              <a:buSzPct val="100000"/>
              <a:buChar char="•"/>
            </a:pPr>
            <a:r>
              <a:rPr lang="en-US" sz="1500" dirty="0">
                <a:solidFill>
                  <a:srgbClr val="1A1A1A"/>
                </a:solidFill>
              </a:rPr>
              <a:t>NOR: output 1 ONLY when all inputs are 0</a:t>
            </a:r>
            <a:endParaRPr lang="en-US" sz="1500" dirty="0"/>
          </a:p>
          <a:p>
            <a:pPr marL="152400" indent="-152400">
              <a:spcAft>
                <a:spcPts val="600"/>
              </a:spcAft>
              <a:buSzPct val="100000"/>
              <a:buChar char="•"/>
            </a:pPr>
            <a:r>
              <a:rPr lang="en-US" sz="1500" dirty="0">
                <a:solidFill>
                  <a:srgbClr val="1A1A1A"/>
                </a:solidFill>
              </a:rPr>
              <a:t>OR: output 1 if ANY input is 1</a:t>
            </a:r>
            <a:endParaRPr lang="en-US" sz="1500" dirty="0"/>
          </a:p>
          <a:p>
            <a:pPr marL="152400" indent="-152400">
              <a:spcAft>
                <a:spcPts val="600"/>
              </a:spcAft>
              <a:buSzPct val="100000"/>
              <a:buChar char="•"/>
            </a:pPr>
            <a:r>
              <a:rPr lang="en-US" sz="1500" dirty="0">
                <a:solidFill>
                  <a:srgbClr val="1A1A1A"/>
                </a:solidFill>
              </a:rPr>
              <a:t>AND: output 1 ONLY when all inputs are 1</a:t>
            </a:r>
            <a:endParaRPr lang="en-US" sz="1500" dirty="0"/>
          </a:p>
          <a:p>
            <a:pPr marL="152400" indent="-152400">
              <a:spcAft>
                <a:spcPts val="600"/>
              </a:spcAft>
              <a:buSzPct val="100000"/>
              <a:buChar char="•"/>
            </a:pPr>
            <a:r>
              <a:rPr lang="en-US" sz="1500" dirty="0">
                <a:solidFill>
                  <a:srgbClr val="1A1A1A"/>
                </a:solidFill>
              </a:rPr>
              <a:t>XOR: output 1 when inputs DIFFER</a:t>
            </a:r>
            <a:endParaRPr lang="en-US" sz="1500" dirty="0"/>
          </a:p>
          <a:p>
            <a:pPr marL="152400" indent="-152400">
              <a:spcAft>
                <a:spcPts val="600"/>
              </a:spcAft>
              <a:buSzPct val="100000"/>
              <a:buChar char="•"/>
            </a:pPr>
            <a:r>
              <a:rPr lang="en-US" sz="1500" dirty="0">
                <a:solidFill>
                  <a:srgbClr val="1A1A1A"/>
                </a:solidFill>
              </a:rPr>
              <a:t>XNOR: output 0 when inputs differ</a:t>
            </a:r>
            <a:endParaRPr lang="en-US" sz="1500" dirty="0"/>
          </a:p>
          <a:p>
            <a:pPr marL="152400" indent="-152400">
              <a:spcAft>
                <a:spcPts val="600"/>
              </a:spcAft>
              <a:buSzPct val="100000"/>
              <a:buChar char="•"/>
            </a:pPr>
            <a:r>
              <a:rPr lang="en-US" sz="1500" dirty="0">
                <a:solidFill>
                  <a:srgbClr val="1A1A1A"/>
                </a:solidFill>
              </a:rPr>
              <a:t>NOT: output is opposite of input</a:t>
            </a:r>
            <a:endParaRPr lang="en-US" sz="1500" dirty="0"/>
          </a:p>
          <a:p>
            <a:pPr marL="152400" indent="-152400">
              <a:spcAft>
                <a:spcPts val="600"/>
              </a:spcAft>
              <a:buSzPct val="100000"/>
              <a:buChar char="•"/>
            </a:pPr>
            <a:r>
              <a:rPr lang="en-US" sz="1500" dirty="0">
                <a:solidFill>
                  <a:srgbClr val="1A1A1A"/>
                </a:solidFill>
              </a:rPr>
              <a:t>NAND = universal gate (can make any function)</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Truth Table: XOR</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Input A | Input B | Output</a:t>
            </a:r>
            <a:endParaRPr lang="en-US" sz="1500" dirty="0"/>
          </a:p>
          <a:p>
            <a:pPr marL="152400" indent="-152400">
              <a:spcAft>
                <a:spcPts val="600"/>
              </a:spcAft>
              <a:buSzPct val="100000"/>
              <a:buChar char="•"/>
            </a:pPr>
            <a:r>
              <a:rPr lang="en-US" sz="1500" dirty="0">
                <a:solidFill>
                  <a:srgbClr val="1A1A1A"/>
                </a:solidFill>
              </a:rPr>
              <a:t>   0    |    0    |   0</a:t>
            </a:r>
            <a:endParaRPr lang="en-US" sz="1500" dirty="0"/>
          </a:p>
          <a:p>
            <a:pPr marL="152400" indent="-152400">
              <a:spcAft>
                <a:spcPts val="600"/>
              </a:spcAft>
              <a:buSzPct val="100000"/>
              <a:buChar char="•"/>
            </a:pPr>
            <a:r>
              <a:rPr lang="en-US" sz="1500" dirty="0">
                <a:solidFill>
                  <a:srgbClr val="1A1A1A"/>
                </a:solidFill>
              </a:rPr>
              <a:t>   0    |    1    |   1</a:t>
            </a:r>
            <a:endParaRPr lang="en-US" sz="1500" dirty="0"/>
          </a:p>
          <a:p>
            <a:pPr marL="152400" indent="-152400">
              <a:spcAft>
                <a:spcPts val="600"/>
              </a:spcAft>
              <a:buSzPct val="100000"/>
              <a:buChar char="•"/>
            </a:pPr>
            <a:r>
              <a:rPr lang="en-US" sz="1500" dirty="0">
                <a:solidFill>
                  <a:srgbClr val="1A1A1A"/>
                </a:solidFill>
              </a:rPr>
              <a:t>   1    |    0    |   1</a:t>
            </a:r>
            <a:endParaRPr lang="en-US" sz="1500" dirty="0"/>
          </a:p>
          <a:p>
            <a:pPr marL="152400" indent="-152400">
              <a:spcAft>
                <a:spcPts val="600"/>
              </a:spcAft>
              <a:buSzPct val="100000"/>
              <a:buChar char="•"/>
            </a:pPr>
            <a:r>
              <a:rPr lang="en-US" sz="1500" dirty="0">
                <a:solidFill>
                  <a:srgbClr val="1A1A1A"/>
                </a:solidFill>
              </a:rPr>
              <a:t>   1    |    1    |   0</a:t>
            </a:r>
            <a:endParaRPr lang="en-US" sz="1500" dirty="0"/>
          </a:p>
          <a:p>
            <a:pPr marL="152400" indent="-152400">
              <a:spcAft>
                <a:spcPts val="600"/>
              </a:spcAft>
              <a:buSzPct val="100000"/>
              <a:buChar char="•"/>
            </a:pPr>
            <a:endParaRPr lang="en-US" sz="1500" dirty="0"/>
          </a:p>
          <a:p>
            <a:pPr marL="152400" indent="-152400">
              <a:spcAft>
                <a:spcPts val="600"/>
              </a:spcAft>
              <a:buSzPct val="100000"/>
              <a:buChar char="•"/>
            </a:pPr>
            <a:r>
              <a:rPr lang="en-US" sz="1500" dirty="0">
                <a:solidFill>
                  <a:srgbClr val="1A1A1A"/>
                </a:solidFill>
              </a:rPr>
              <a:t>NAND truth table (2 inputs):</a:t>
            </a:r>
            <a:endParaRPr lang="en-US" sz="1500" dirty="0"/>
          </a:p>
          <a:p>
            <a:pPr marL="152400" indent="-152400">
              <a:spcAft>
                <a:spcPts val="600"/>
              </a:spcAft>
              <a:buSzPct val="100000"/>
              <a:buChar char="•"/>
            </a:pPr>
            <a:r>
              <a:rPr lang="en-US" sz="1500" dirty="0">
                <a:solidFill>
                  <a:srgbClr val="1A1A1A"/>
                </a:solidFill>
              </a:rPr>
              <a:t>0,0 → 1  |  0,1 → 1</a:t>
            </a:r>
            <a:endParaRPr lang="en-US" sz="1500" dirty="0"/>
          </a:p>
          <a:p>
            <a:pPr marL="152400" indent="-152400">
              <a:spcAft>
                <a:spcPts val="600"/>
              </a:spcAft>
              <a:buSzPct val="100000"/>
              <a:buChar char="•"/>
            </a:pPr>
            <a:r>
              <a:rPr lang="en-US" sz="1500" dirty="0">
                <a:solidFill>
                  <a:srgbClr val="1A1A1A"/>
                </a:solidFill>
              </a:rPr>
              <a:t>1,0 → 1  |  1,1 → 0</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2: Amplifier Classes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E7B — 1 exam question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Amplifier Classes Comparison</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Class A: device biased halfway between saturation and cutoff</a:t>
            </a:r>
            <a:endParaRPr lang="en-US" sz="1600" dirty="0"/>
          </a:p>
          <a:p>
            <a:pPr marL="190500" indent="-190500">
              <a:spcAft>
                <a:spcPts val="700"/>
              </a:spcAft>
              <a:buSzPct val="100000"/>
              <a:buChar char="•"/>
            </a:pPr>
            <a:r>
              <a:rPr lang="en-US" sz="1600" dirty="0">
                <a:solidFill>
                  <a:srgbClr val="1A1A1A"/>
                </a:solidFill>
              </a:rPr>
              <a:t>→ Conducts for the full 360° of the input cycle</a:t>
            </a:r>
            <a:endParaRPr lang="en-US" sz="1600" dirty="0"/>
          </a:p>
          <a:p>
            <a:pPr marL="190500" indent="-190500">
              <a:spcAft>
                <a:spcPts val="700"/>
              </a:spcAft>
              <a:buSzPct val="100000"/>
              <a:buChar char="•"/>
            </a:pPr>
            <a:r>
              <a:rPr lang="en-US" sz="1600" dirty="0">
                <a:solidFill>
                  <a:srgbClr val="1A1A1A"/>
                </a:solidFill>
              </a:rPr>
              <a:t>→ Lowest distortion; can amplify any waveform including SSB</a:t>
            </a:r>
            <a:endParaRPr lang="en-US" sz="1600" dirty="0"/>
          </a:p>
          <a:p>
            <a:pPr marL="190500" indent="-190500">
              <a:spcAft>
                <a:spcPts val="700"/>
              </a:spcAft>
              <a:buSzPct val="100000"/>
              <a:buChar char="•"/>
            </a:pPr>
            <a:r>
              <a:rPr lang="en-US" sz="1600" dirty="0">
                <a:solidFill>
                  <a:srgbClr val="1A1A1A"/>
                </a:solidFill>
              </a:rPr>
              <a:t>→ Lowest efficiency (~25-30%); wastes power as heat</a:t>
            </a:r>
            <a:endParaRPr lang="en-US" sz="1600" dirty="0"/>
          </a:p>
          <a:p>
            <a:pPr marL="190500" indent="-190500">
              <a:spcAft>
                <a:spcPts val="700"/>
              </a:spcAft>
              <a:buSzPct val="100000"/>
              <a:buChar char="•"/>
            </a:pPr>
            <a:r>
              <a:rPr lang="en-US" sz="1600" dirty="0">
                <a:solidFill>
                  <a:srgbClr val="1A1A1A"/>
                </a:solidFill>
              </a:rPr>
              <a:t>Class AB: each device in a push-pull pair conducts &gt;180° but &lt;360°</a:t>
            </a:r>
            <a:endParaRPr lang="en-US" sz="1600" dirty="0"/>
          </a:p>
          <a:p>
            <a:pPr marL="190500" indent="-190500">
              <a:spcAft>
                <a:spcPts val="700"/>
              </a:spcAft>
              <a:buSzPct val="100000"/>
              <a:buChar char="•"/>
            </a:pPr>
            <a:r>
              <a:rPr lang="en-US" sz="1600" dirty="0">
                <a:solidFill>
                  <a:srgbClr val="1A1A1A"/>
                </a:solidFill>
              </a:rPr>
              <a:t>→ Good linearity; better efficiency than A (~50-70%)</a:t>
            </a:r>
            <a:endParaRPr lang="en-US" sz="1600" dirty="0"/>
          </a:p>
          <a:p>
            <a:pPr marL="190500" indent="-190500">
              <a:spcAft>
                <a:spcPts val="700"/>
              </a:spcAft>
              <a:buSzPct val="100000"/>
              <a:buChar char="•"/>
            </a:pPr>
            <a:r>
              <a:rPr lang="en-US" sz="1600" dirty="0">
                <a:solidFill>
                  <a:srgbClr val="1A1A1A"/>
                </a:solidFill>
              </a:rPr>
              <a:t>→ Standard for SSB linear amplifiers</a:t>
            </a:r>
            <a:endParaRPr lang="en-US" sz="1600" dirty="0"/>
          </a:p>
          <a:p>
            <a:pPr marL="190500" indent="-190500">
              <a:spcAft>
                <a:spcPts val="700"/>
              </a:spcAft>
              <a:buSzPct val="100000"/>
              <a:buChar char="•"/>
            </a:pPr>
            <a:r>
              <a:rPr lang="en-US" sz="1600" dirty="0">
                <a:solidFill>
                  <a:srgbClr val="1A1A1A"/>
                </a:solidFill>
              </a:rPr>
              <a:t>Class B: each device conducts exactly 180° (push-pull)</a:t>
            </a:r>
            <a:endParaRPr lang="en-US" sz="1600" dirty="0"/>
          </a:p>
          <a:p>
            <a:pPr marL="190500" indent="-190500">
              <a:spcAft>
                <a:spcPts val="700"/>
              </a:spcAft>
              <a:buSzPct val="100000"/>
              <a:buChar char="•"/>
            </a:pPr>
            <a:r>
              <a:rPr lang="en-US" sz="1600" dirty="0">
                <a:solidFill>
                  <a:srgbClr val="1A1A1A"/>
                </a:solidFill>
              </a:rPr>
              <a:t>→ ~60-70% efficiency; crossover distortion without bias</a:t>
            </a:r>
            <a:endParaRPr lang="en-US" sz="1600" dirty="0"/>
          </a:p>
          <a:p>
            <a:pPr marL="190500" indent="-190500">
              <a:spcAft>
                <a:spcPts val="700"/>
              </a:spcAft>
              <a:buSzPct val="100000"/>
              <a:buChar char="•"/>
            </a:pPr>
            <a:r>
              <a:rPr lang="en-US" sz="1600" dirty="0">
                <a:solidFill>
                  <a:srgbClr val="1A1A1A"/>
                </a:solidFill>
              </a:rPr>
              <a:t>Class C: conduction less than 180°</a:t>
            </a:r>
            <a:endParaRPr lang="en-US" sz="1600" dirty="0"/>
          </a:p>
          <a:p>
            <a:pPr marL="190500" indent="-190500">
              <a:spcAft>
                <a:spcPts val="700"/>
              </a:spcAft>
              <a:buSzPct val="100000"/>
              <a:buChar char="•"/>
            </a:pPr>
            <a:r>
              <a:rPr lang="en-US" sz="1600" dirty="0">
                <a:solidFill>
                  <a:srgbClr val="1A1A1A"/>
                </a:solidFill>
              </a:rPr>
              <a:t>→ Highest distortion — NOT suitable for SSB</a:t>
            </a:r>
            <a:endParaRPr lang="en-US" sz="1600" dirty="0"/>
          </a:p>
          <a:p>
            <a:pPr marL="190500" indent="-190500">
              <a:spcAft>
                <a:spcPts val="700"/>
              </a:spcAft>
              <a:buSzPct val="100000"/>
              <a:buChar char="•"/>
            </a:pPr>
            <a:r>
              <a:rPr lang="en-US" sz="1600" dirty="0">
                <a:solidFill>
                  <a:srgbClr val="1A1A1A"/>
                </a:solidFill>
              </a:rPr>
              <a:t>→ Works for CW and FM (constant envelope) with tuned output</a:t>
            </a:r>
            <a:endParaRPr lang="en-US" sz="1600" dirty="0"/>
          </a:p>
          <a:p>
            <a:pPr marL="190500" indent="-190500">
              <a:spcAft>
                <a:spcPts val="700"/>
              </a:spcAft>
              <a:buSzPct val="100000"/>
              <a:buChar char="•"/>
            </a:pPr>
            <a:r>
              <a:rPr lang="en-US" sz="1600" dirty="0">
                <a:solidFill>
                  <a:srgbClr val="1A1A1A"/>
                </a:solidFill>
              </a:rPr>
              <a:t>→ Efficiency &gt;80%</a:t>
            </a:r>
            <a:endParaRPr lang="en-US" sz="1600" dirty="0"/>
          </a:p>
          <a:p>
            <a:pPr marL="190500" indent="-190500">
              <a:spcAft>
                <a:spcPts val="700"/>
              </a:spcAft>
              <a:buSzPct val="100000"/>
              <a:buChar char="•"/>
            </a:pPr>
            <a:r>
              <a:rPr lang="en-US" sz="1600" dirty="0">
                <a:solidFill>
                  <a:srgbClr val="1A1A1A"/>
                </a:solidFill>
              </a:rPr>
              <a:t>Class D: switching amplifier; device is at saturation or cutoff</a:t>
            </a:r>
            <a:endParaRPr lang="en-US" sz="1600" dirty="0"/>
          </a:p>
          <a:p>
            <a:pPr marL="190500" indent="-190500">
              <a:spcAft>
                <a:spcPts val="700"/>
              </a:spcAft>
              <a:buSzPct val="100000"/>
              <a:buChar char="•"/>
            </a:pPr>
            <a:r>
              <a:rPr lang="en-US" sz="1600" dirty="0">
                <a:solidFill>
                  <a:srgbClr val="1A1A1A"/>
                </a:solidFill>
              </a:rPr>
              <a:t>→ Efficiency &gt;90%; must filter output to remove harmonics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Amplifier Configurations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Common emitter: most common; voltage gain with phase inversion</a:t>
            </a:r>
            <a:endParaRPr lang="en-US" sz="1600" dirty="0"/>
          </a:p>
          <a:p>
            <a:pPr marL="190500" indent="-190500">
              <a:spcAft>
                <a:spcPts val="700"/>
              </a:spcAft>
              <a:buSzPct val="100000"/>
              <a:buChar char="•"/>
            </a:pPr>
            <a:r>
              <a:rPr lang="en-US" sz="1600" dirty="0">
                <a:solidFill>
                  <a:srgbClr val="1A1A1A"/>
                </a:solidFill>
              </a:rPr>
              <a:t>→ Figure E7-1: R1/R2 = voltage divider bias network; R3 = emitter self-bias</a:t>
            </a:r>
            <a:endParaRPr lang="en-US" sz="1600" dirty="0"/>
          </a:p>
          <a:p>
            <a:pPr marL="190500" indent="-190500">
              <a:spcAft>
                <a:spcPts val="700"/>
              </a:spcAft>
              <a:buSzPct val="100000"/>
              <a:buChar char="•"/>
            </a:pPr>
            <a:r>
              <a:rPr lang="en-US" sz="1600" dirty="0">
                <a:solidFill>
                  <a:srgbClr val="1A1A1A"/>
                </a:solidFill>
              </a:rPr>
              <a:t>Common collector (emitter follower):</a:t>
            </a:r>
            <a:endParaRPr lang="en-US" sz="1600" dirty="0"/>
          </a:p>
          <a:p>
            <a:pPr marL="190500" indent="-190500">
              <a:spcAft>
                <a:spcPts val="700"/>
              </a:spcAft>
              <a:buSzPct val="100000"/>
              <a:buChar char="•"/>
            </a:pPr>
            <a:r>
              <a:rPr lang="en-US" sz="1600" dirty="0">
                <a:solidFill>
                  <a:srgbClr val="1A1A1A"/>
                </a:solidFill>
              </a:rPr>
              <a:t>→ Input and output in PHASE (no phase inversion)</a:t>
            </a:r>
            <a:endParaRPr lang="en-US" sz="1600" dirty="0"/>
          </a:p>
          <a:p>
            <a:pPr marL="190500" indent="-190500">
              <a:spcAft>
                <a:spcPts val="700"/>
              </a:spcAft>
              <a:buSzPct val="100000"/>
              <a:buChar char="•"/>
            </a:pPr>
            <a:r>
              <a:rPr lang="en-US" sz="1600" dirty="0">
                <a:solidFill>
                  <a:srgbClr val="1A1A1A"/>
                </a:solidFill>
              </a:rPr>
              <a:t>→ Voltage gain ~1; high input impedance, low output impedance</a:t>
            </a:r>
            <a:endParaRPr lang="en-US" sz="1600" dirty="0"/>
          </a:p>
          <a:p>
            <a:pPr marL="190500" indent="-190500">
              <a:spcAft>
                <a:spcPts val="700"/>
              </a:spcAft>
              <a:buSzPct val="100000"/>
              <a:buChar char="•"/>
            </a:pPr>
            <a:r>
              <a:rPr lang="en-US" sz="1600" dirty="0">
                <a:solidFill>
                  <a:srgbClr val="1A1A1A"/>
                </a:solidFill>
              </a:rPr>
              <a:t>→ Used as impedance buffer</a:t>
            </a:r>
            <a:endParaRPr lang="en-US" sz="1600" dirty="0"/>
          </a:p>
          <a:p>
            <a:pPr marL="190500" indent="-190500">
              <a:spcAft>
                <a:spcPts val="700"/>
              </a:spcAft>
              <a:buSzPct val="100000"/>
              <a:buChar char="•"/>
            </a:pPr>
            <a:r>
              <a:rPr lang="en-US" sz="1600" dirty="0">
                <a:solidFill>
                  <a:srgbClr val="1A1A1A"/>
                </a:solidFill>
              </a:rPr>
              <a:t>Grounded-grid amplifier (vacuum tube):</a:t>
            </a:r>
            <a:endParaRPr lang="en-US" sz="1600" dirty="0"/>
          </a:p>
          <a:p>
            <a:pPr marL="190500" indent="-190500">
              <a:spcAft>
                <a:spcPts val="700"/>
              </a:spcAft>
              <a:buSzPct val="100000"/>
              <a:buChar char="•"/>
            </a:pPr>
            <a:r>
              <a:rPr lang="en-US" sz="1600" dirty="0">
                <a:solidFill>
                  <a:srgbClr val="1A1A1A"/>
                </a:solidFill>
              </a:rPr>
              <a:t>→ Low input impedance</a:t>
            </a:r>
            <a:endParaRPr lang="en-US" sz="1600" dirty="0"/>
          </a:p>
          <a:p>
            <a:pPr marL="190500" indent="-190500">
              <a:spcAft>
                <a:spcPts val="700"/>
              </a:spcAft>
              <a:buSzPct val="100000"/>
              <a:buChar char="•"/>
            </a:pPr>
            <a:r>
              <a:rPr lang="en-US" sz="1600" dirty="0">
                <a:solidFill>
                  <a:srgbClr val="1A1A1A"/>
                </a:solidFill>
              </a:rPr>
              <a:t>→ Used in high-power HF amplifiers</a:t>
            </a:r>
            <a:endParaRPr lang="en-US" sz="1600" dirty="0"/>
          </a:p>
          <a:p>
            <a:pPr marL="190500" indent="-190500">
              <a:spcAft>
                <a:spcPts val="700"/>
              </a:spcAft>
              <a:buSzPct val="100000"/>
              <a:buChar char="•"/>
            </a:pPr>
            <a:r>
              <a:rPr lang="en-US" sz="1600" dirty="0">
                <a:solidFill>
                  <a:srgbClr val="1A1A1A"/>
                </a:solidFill>
              </a:rPr>
              <a:t>Parasitic oscillation:</a:t>
            </a:r>
            <a:endParaRPr lang="en-US" sz="1600" dirty="0"/>
          </a:p>
          <a:p>
            <a:pPr marL="190500" indent="-190500">
              <a:spcAft>
                <a:spcPts val="700"/>
              </a:spcAft>
              <a:buSzPct val="100000"/>
              <a:buChar char="•"/>
            </a:pPr>
            <a:r>
              <a:rPr lang="en-US" sz="1600" dirty="0">
                <a:solidFill>
                  <a:srgbClr val="1A1A1A"/>
                </a:solidFill>
              </a:rPr>
              <a:t>→ Unintended oscillation in an amplifier stage</a:t>
            </a:r>
            <a:endParaRPr lang="en-US" sz="1600" dirty="0"/>
          </a:p>
          <a:p>
            <a:pPr marL="190500" indent="-190500">
              <a:spcAft>
                <a:spcPts val="700"/>
              </a:spcAft>
              <a:buSzPct val="100000"/>
              <a:buChar char="•"/>
            </a:pPr>
            <a:r>
              <a:rPr lang="en-US" sz="1600" dirty="0">
                <a:solidFill>
                  <a:srgbClr val="1A1A1A"/>
                </a:solidFill>
              </a:rPr>
              <a:t>→ Fix: install parasitic suppressors (ferrite beads on leads) and/or neutralize the stage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3: Filters and Matching</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E7C — 1 exam question</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Filter Response Types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Butterworth: maximally flat passband — no ripple anywhere</a:t>
            </a:r>
            <a:endParaRPr lang="en-US" sz="1600" dirty="0"/>
          </a:p>
          <a:p>
            <a:pPr marL="190500" indent="-190500">
              <a:spcAft>
                <a:spcPts val="700"/>
              </a:spcAft>
              <a:buSzPct val="100000"/>
              <a:buChar char="•"/>
            </a:pPr>
            <a:r>
              <a:rPr lang="en-US" sz="1600" dirty="0">
                <a:solidFill>
                  <a:srgbClr val="1A1A1A"/>
                </a:solidFill>
              </a:rPr>
              <a:t>→ Smooth rolloff; moderate transition steepness</a:t>
            </a:r>
            <a:endParaRPr lang="en-US" sz="1600" dirty="0"/>
          </a:p>
          <a:p>
            <a:pPr marL="190500" indent="-190500">
              <a:spcAft>
                <a:spcPts val="700"/>
              </a:spcAft>
              <a:buSzPct val="100000"/>
              <a:buChar char="•"/>
            </a:pPr>
            <a:r>
              <a:rPr lang="en-US" sz="1600" dirty="0">
                <a:solidFill>
                  <a:srgbClr val="1A1A1A"/>
                </a:solidFill>
              </a:rPr>
              <a:t>→ Best when passband flatness is most important</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Chebyshev: ripple in the passband</a:t>
            </a:r>
            <a:endParaRPr lang="en-US" sz="1600" dirty="0"/>
          </a:p>
          <a:p>
            <a:pPr marL="190500" indent="-190500">
              <a:spcAft>
                <a:spcPts val="700"/>
              </a:spcAft>
              <a:buSzPct val="100000"/>
              <a:buChar char="•"/>
            </a:pPr>
            <a:r>
              <a:rPr lang="en-US" sz="1600" dirty="0">
                <a:solidFill>
                  <a:srgbClr val="1A1A1A"/>
                </a:solidFill>
              </a:rPr>
              <a:t>→ Sharper cutoff than Butterworth for same number of poles</a:t>
            </a:r>
            <a:endParaRPr lang="en-US" sz="1600" dirty="0"/>
          </a:p>
          <a:p>
            <a:pPr marL="190500" indent="-190500">
              <a:spcAft>
                <a:spcPts val="700"/>
              </a:spcAft>
              <a:buSzPct val="100000"/>
              <a:buChar char="•"/>
            </a:pPr>
            <a:r>
              <a:rPr lang="en-US" sz="1600" dirty="0">
                <a:solidFill>
                  <a:srgbClr val="1A1A1A"/>
                </a:solidFill>
              </a:rPr>
              <a:t>→ Trades passband ripple for steeper transition</a:t>
            </a:r>
            <a:endParaRPr lang="en-US" sz="1600" dirty="0"/>
          </a:p>
          <a:p>
            <a:pPr marL="190500" indent="-190500">
              <a:spcAft>
                <a:spcPts val="700"/>
              </a:spcAft>
              <a:buSzPct val="100000"/>
              <a:buChar char="•"/>
            </a:pPr>
            <a:r>
              <a:rPr lang="en-US" sz="1600" dirty="0">
                <a:solidFill>
                  <a:srgbClr val="1A1A1A"/>
                </a:solidFill>
              </a:rPr>
              <a:t>→ Used when stopband attenuation is important and passband ripple is acceptable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Elliptical (Cauer): ripple in BOTH passband and stopband</a:t>
            </a:r>
            <a:endParaRPr lang="en-US" sz="1600" dirty="0"/>
          </a:p>
          <a:p>
            <a:pPr marL="190500" indent="-190500">
              <a:spcAft>
                <a:spcPts val="700"/>
              </a:spcAft>
              <a:buSzPct val="100000"/>
              <a:buChar char="•"/>
            </a:pPr>
            <a:r>
              <a:rPr lang="en-US" sz="1600" dirty="0">
                <a:solidFill>
                  <a:srgbClr val="1A1A1A"/>
                </a:solidFill>
              </a:rPr>
              <a:t>→ Steepest transition of all for same number of poles</a:t>
            </a:r>
            <a:endParaRPr lang="en-US" sz="1600" dirty="0"/>
          </a:p>
          <a:p>
            <a:pPr marL="190500" indent="-190500">
              <a:spcAft>
                <a:spcPts val="700"/>
              </a:spcAft>
              <a:buSzPct val="100000"/>
              <a:buChar char="•"/>
            </a:pPr>
            <a:r>
              <a:rPr lang="en-US" sz="1600" dirty="0">
                <a:solidFill>
                  <a:srgbClr val="1A1A1A"/>
                </a:solidFill>
              </a:rPr>
              <a:t>→ Has transmission zeros (notches) in the stopband</a:t>
            </a:r>
            <a:endParaRPr lang="en-US" sz="1600" dirty="0"/>
          </a:p>
          <a:p>
            <a:pPr marL="190500" indent="-190500">
              <a:spcAft>
                <a:spcPts val="700"/>
              </a:spcAft>
              <a:buSzPct val="100000"/>
              <a:buChar char="•"/>
            </a:pPr>
            <a:r>
              <a:rPr lang="en-US" sz="1600" dirty="0">
                <a:solidFill>
                  <a:srgbClr val="1A1A1A"/>
                </a:solidFill>
              </a:rPr>
              <a:t>→ Used where sharp cutoff and stopband rejection are critical</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Bessel: maximally flat group delay (linear phase)</a:t>
            </a:r>
            <a:endParaRPr lang="en-US" sz="1600" dirty="0"/>
          </a:p>
          <a:p>
            <a:pPr marL="190500" indent="-190500">
              <a:spcAft>
                <a:spcPts val="700"/>
              </a:spcAft>
              <a:buSzPct val="100000"/>
              <a:buChar char="•"/>
            </a:pPr>
            <a:r>
              <a:rPr lang="en-US" sz="1600" dirty="0">
                <a:solidFill>
                  <a:srgbClr val="1A1A1A"/>
                </a:solidFill>
              </a:rPr>
              <a:t>→ Preserves waveform shape — best for digital/pulsed signals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Matching Networks and Stubs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Pi-network (low-pass):</a:t>
            </a:r>
            <a:endParaRPr lang="en-US" sz="1600" dirty="0"/>
          </a:p>
          <a:p>
            <a:pPr marL="190500" indent="-190500">
              <a:spcAft>
                <a:spcPts val="700"/>
              </a:spcAft>
              <a:buSzPct val="100000"/>
              <a:buChar char="•"/>
            </a:pPr>
            <a:r>
              <a:rPr lang="en-US" sz="1600" dirty="0">
                <a:solidFill>
                  <a:srgbClr val="1A1A1A"/>
                </a:solidFill>
              </a:rPr>
              <a:t>→ Shunt C to ground → series L → shunt C to ground</a:t>
            </a:r>
            <a:endParaRPr lang="en-US" sz="1600" dirty="0"/>
          </a:p>
          <a:p>
            <a:pPr marL="190500" indent="-190500">
              <a:spcAft>
                <a:spcPts val="700"/>
              </a:spcAft>
              <a:buSzPct val="100000"/>
              <a:buChar char="•"/>
            </a:pPr>
            <a:r>
              <a:rPr lang="en-US" sz="1600" dirty="0">
                <a:solidFill>
                  <a:srgbClr val="1A1A1A"/>
                </a:solidFill>
              </a:rPr>
              <a:t>→ Standard amplifier output matching; provides harmonic suppression</a:t>
            </a:r>
            <a:endParaRPr lang="en-US" sz="1600" dirty="0"/>
          </a:p>
          <a:p>
            <a:pPr marL="190500" indent="-190500">
              <a:spcAft>
                <a:spcPts val="700"/>
              </a:spcAft>
              <a:buSzPct val="100000"/>
              <a:buChar char="•"/>
            </a:pPr>
            <a:r>
              <a:rPr lang="en-US" sz="1600" dirty="0">
                <a:solidFill>
                  <a:srgbClr val="1A1A1A"/>
                </a:solidFill>
              </a:rPr>
              <a:t>T-network (high-pass):</a:t>
            </a:r>
            <a:endParaRPr lang="en-US" sz="1600" dirty="0"/>
          </a:p>
          <a:p>
            <a:pPr marL="190500" indent="-190500">
              <a:spcAft>
                <a:spcPts val="700"/>
              </a:spcAft>
              <a:buSzPct val="100000"/>
              <a:buChar char="•"/>
            </a:pPr>
            <a:r>
              <a:rPr lang="en-US" sz="1600" dirty="0">
                <a:solidFill>
                  <a:srgbClr val="1A1A1A"/>
                </a:solidFill>
              </a:rPr>
              <a:t>→ Series C → shunt L to ground → series C</a:t>
            </a:r>
            <a:endParaRPr lang="en-US" sz="1600" dirty="0"/>
          </a:p>
          <a:p>
            <a:pPr marL="190500" indent="-190500">
              <a:spcAft>
                <a:spcPts val="700"/>
              </a:spcAft>
              <a:buSzPct val="100000"/>
              <a:buChar char="•"/>
            </a:pPr>
            <a:r>
              <a:rPr lang="en-US" sz="1600" dirty="0">
                <a:solidFill>
                  <a:srgbClr val="1A1A1A"/>
                </a:solidFill>
              </a:rPr>
              <a:t>Pi-L network: Pi-network + additional series inductor</a:t>
            </a:r>
            <a:endParaRPr lang="en-US" sz="1600" dirty="0"/>
          </a:p>
          <a:p>
            <a:pPr marL="190500" indent="-190500">
              <a:spcAft>
                <a:spcPts val="700"/>
              </a:spcAft>
              <a:buSzPct val="100000"/>
              <a:buChar char="•"/>
            </a:pPr>
            <a:r>
              <a:rPr lang="en-US" sz="1600" dirty="0">
                <a:solidFill>
                  <a:srgbClr val="1A1A1A"/>
                </a:solidFill>
              </a:rPr>
              <a:t>→ Greater harmonic suppression than Pi alone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Band-pass filter: has two cutoff frequencies (upper and lower -3 dB points)</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Stub filter: short section of transmission line (open or shorted)</a:t>
            </a:r>
            <a:endParaRPr lang="en-US" sz="1600" dirty="0"/>
          </a:p>
          <a:p>
            <a:pPr marL="190500" indent="-190500">
              <a:spcAft>
                <a:spcPts val="700"/>
              </a:spcAft>
              <a:buSzPct val="100000"/>
              <a:buChar char="•"/>
            </a:pPr>
            <a:r>
              <a:rPr lang="en-US" sz="1600" dirty="0">
                <a:solidFill>
                  <a:srgbClr val="1A1A1A"/>
                </a:solidFill>
              </a:rPr>
              <a:t>→ Used at VHF/UHF/microwave for filtering</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Impedance matching goal:</a:t>
            </a:r>
            <a:endParaRPr lang="en-US" sz="1600" dirty="0"/>
          </a:p>
          <a:p>
            <a:pPr marL="190500" indent="-190500">
              <a:spcAft>
                <a:spcPts val="700"/>
              </a:spcAft>
              <a:buSzPct val="100000"/>
              <a:buChar char="•"/>
            </a:pPr>
            <a:r>
              <a:rPr lang="en-US" sz="1600" dirty="0">
                <a:solidFill>
                  <a:srgbClr val="1A1A1A"/>
                </a:solidFill>
              </a:rPr>
              <a:t>→ Cancel the reactive component (make it purely resistive)</a:t>
            </a:r>
            <a:endParaRPr lang="en-US" sz="1600" dirty="0"/>
          </a:p>
          <a:p>
            <a:pPr marL="190500" indent="-190500">
              <a:spcAft>
                <a:spcPts val="700"/>
              </a:spcAft>
              <a:buSzPct val="100000"/>
              <a:buChar char="•"/>
            </a:pPr>
            <a:r>
              <a:rPr lang="en-US" sz="1600" dirty="0">
                <a:solidFill>
                  <a:srgbClr val="1A1A1A"/>
                </a:solidFill>
              </a:rPr>
              <a:t>→ Transform the resistive component to the desired value</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4: Power Supplies and Modulation</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Subelements E7D-E — 1 exam question</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Modulation and Demodulation Circuits</a:t>
            </a:r>
            <a:endParaRPr lang="en-US" sz="2100" dirty="0"/>
          </a:p>
        </p:txBody>
      </p:sp>
      <p:sp>
        <p:nvSpPr>
          <p:cNvPr id="4" name="Shape 2"/>
          <p:cNvSpPr/>
          <p:nvPr/>
        </p:nvSpPr>
        <p:spPr>
          <a:xfrm>
            <a:off x="274320" y="914400"/>
            <a:ext cx="4114800" cy="347472"/>
          </a:xfrm>
          <a:prstGeom prst="rect">
            <a:avLst/>
          </a:prstGeom>
          <a:solidFill>
            <a:srgbClr val="2E7D52"/>
          </a:solidFill>
          <a:ln/>
        </p:spPr>
      </p:sp>
      <p:sp>
        <p:nvSpPr>
          <p:cNvPr id="5" name="Text 3"/>
          <p:cNvSpPr/>
          <p:nvPr/>
        </p:nvSpPr>
        <p:spPr>
          <a:xfrm>
            <a:off x="27432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Modulator Circuits</a:t>
            </a:r>
            <a:endParaRPr lang="en-US" sz="1300" dirty="0"/>
          </a:p>
        </p:txBody>
      </p:sp>
      <p:sp>
        <p:nvSpPr>
          <p:cNvPr id="6" name="Shape 4"/>
          <p:cNvSpPr/>
          <p:nvPr/>
        </p:nvSpPr>
        <p:spPr>
          <a:xfrm>
            <a:off x="274320" y="1261872"/>
            <a:ext cx="4114800" cy="3611880"/>
          </a:xfrm>
          <a:prstGeom prst="rect">
            <a:avLst/>
          </a:prstGeom>
          <a:solidFill>
            <a:srgbClr val="F0F4F8"/>
          </a:solidFill>
          <a:ln/>
        </p:spPr>
      </p:sp>
      <p:sp>
        <p:nvSpPr>
          <p:cNvPr id="7" name="Text 5"/>
          <p:cNvSpPr txBox="1"/>
          <p:nvPr/>
        </p:nvSpPr>
        <p:spPr>
          <a:xfrm>
            <a:off x="36576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Reactance modulator: varies oscillator frequency with audio → FM</a:t>
            </a:r>
            <a:endParaRPr lang="en-US" sz="1500" dirty="0"/>
          </a:p>
          <a:p>
            <a:pPr marL="152400" indent="-152400">
              <a:spcAft>
                <a:spcPts val="600"/>
              </a:spcAft>
              <a:buSzPct val="100000"/>
              <a:buChar char="•"/>
            </a:pPr>
            <a:r>
              <a:rPr lang="en-US" sz="1500" dirty="0">
                <a:solidFill>
                  <a:srgbClr val="1A1A1A"/>
                </a:solidFill>
              </a:rPr>
              <a:t>Phase modulator: varies phase → PM (phase modulation)</a:t>
            </a:r>
            <a:endParaRPr lang="en-US" sz="1500" dirty="0"/>
          </a:p>
          <a:p>
            <a:pPr marL="152400" indent="-152400">
              <a:spcAft>
                <a:spcPts val="600"/>
              </a:spcAft>
              <a:buSzPct val="100000"/>
              <a:buChar char="•"/>
            </a:pPr>
            <a:r>
              <a:rPr lang="en-US" sz="1500" dirty="0">
                <a:solidFill>
                  <a:srgbClr val="1A1A1A"/>
                </a:solidFill>
              </a:rPr>
              <a:t>Balanced modulator: multiplies carrier × audio</a:t>
            </a:r>
            <a:endParaRPr lang="en-US" sz="1500" dirty="0"/>
          </a:p>
          <a:p>
            <a:pPr marL="152400" indent="-152400">
              <a:spcAft>
                <a:spcPts val="600"/>
              </a:spcAft>
              <a:buSzPct val="100000"/>
              <a:buChar char="•"/>
            </a:pPr>
            <a:r>
              <a:rPr lang="en-US" sz="1500" dirty="0">
                <a:solidFill>
                  <a:srgbClr val="1A1A1A"/>
                </a:solidFill>
              </a:rPr>
              <a:t>→ Output: DSB with SUPPRESSED CARRIER</a:t>
            </a:r>
            <a:endParaRPr lang="en-US" sz="1500" dirty="0"/>
          </a:p>
          <a:p>
            <a:pPr marL="152400" indent="-152400">
              <a:spcAft>
                <a:spcPts val="600"/>
              </a:spcAft>
              <a:buSzPct val="100000"/>
              <a:buChar char="•"/>
            </a:pPr>
            <a:r>
              <a:rPr lang="en-US" sz="1500" dirty="0">
                <a:solidFill>
                  <a:srgbClr val="1A1A1A"/>
                </a:solidFill>
              </a:rPr>
              <a:t>→ Carrier is canceled; only sidebands remain</a:t>
            </a:r>
            <a:endParaRPr lang="en-US" sz="1500" dirty="0"/>
          </a:p>
          <a:p>
            <a:pPr marL="152400" indent="-152400">
              <a:spcAft>
                <a:spcPts val="600"/>
              </a:spcAft>
              <a:buSzPct val="100000"/>
              <a:buChar char="•"/>
            </a:pPr>
            <a:r>
              <a:rPr lang="en-US" sz="1500" dirty="0">
                <a:solidFill>
                  <a:srgbClr val="1A1A1A"/>
                </a:solidFill>
              </a:rPr>
              <a:t>SSB filter method:</a:t>
            </a:r>
            <a:endParaRPr lang="en-US" sz="1500" dirty="0"/>
          </a:p>
          <a:p>
            <a:pPr marL="152400" indent="-152400">
              <a:spcAft>
                <a:spcPts val="600"/>
              </a:spcAft>
              <a:buSzPct val="100000"/>
              <a:buChar char="•"/>
            </a:pPr>
            <a:r>
              <a:rPr lang="en-US" sz="1500" dirty="0">
                <a:solidFill>
                  <a:srgbClr val="1A1A1A"/>
                </a:solidFill>
              </a:rPr>
              <a:t>→ Balanced modulator + sideband filter = SSB</a:t>
            </a:r>
            <a:endParaRPr lang="en-US" sz="1500" dirty="0"/>
          </a:p>
          <a:p>
            <a:pPr marL="152400" indent="-152400">
              <a:spcAft>
                <a:spcPts val="600"/>
              </a:spcAft>
              <a:buSzPct val="100000"/>
              <a:buChar char="•"/>
            </a:pPr>
            <a:r>
              <a:rPr lang="en-US" sz="1500" dirty="0">
                <a:solidFill>
                  <a:srgbClr val="1A1A1A"/>
                </a:solidFill>
              </a:rPr>
              <a:t>Switching regulator: high efficiency; switches to transfer energy</a:t>
            </a:r>
            <a:endParaRPr lang="en-US" sz="1500" dirty="0"/>
          </a:p>
          <a:p>
            <a:pPr marL="152400" indent="-152400">
              <a:spcAft>
                <a:spcPts val="600"/>
              </a:spcAft>
              <a:buSzPct val="100000"/>
              <a:buChar char="•"/>
            </a:pPr>
            <a:r>
              <a:rPr lang="en-US" sz="1500" dirty="0">
                <a:solidFill>
                  <a:srgbClr val="1A1A1A"/>
                </a:solidFill>
              </a:rPr>
              <a:t>Linear regulator: simple but dissipates power as heat</a:t>
            </a:r>
            <a:endParaRPr lang="en-US" sz="1500" dirty="0"/>
          </a:p>
        </p:txBody>
      </p:sp>
      <p:sp>
        <p:nvSpPr>
          <p:cNvPr id="8" name="Shape 6"/>
          <p:cNvSpPr/>
          <p:nvPr/>
        </p:nvSpPr>
        <p:spPr>
          <a:xfrm>
            <a:off x="4754880" y="914400"/>
            <a:ext cx="4114800" cy="347472"/>
          </a:xfrm>
          <a:prstGeom prst="rect">
            <a:avLst/>
          </a:prstGeom>
          <a:solidFill>
            <a:srgbClr val="1B2A4A"/>
          </a:solidFill>
          <a:ln/>
        </p:spPr>
      </p:sp>
      <p:sp>
        <p:nvSpPr>
          <p:cNvPr id="9" name="Text 7"/>
          <p:cNvSpPr/>
          <p:nvPr/>
        </p:nvSpPr>
        <p:spPr>
          <a:xfrm>
            <a:off x="4754880" y="914400"/>
            <a:ext cx="4114800" cy="347472"/>
          </a:xfrm>
          <a:prstGeom prst="rect">
            <a:avLst/>
          </a:prstGeom>
          <a:noFill/>
          <a:ln/>
        </p:spPr>
        <p:txBody>
          <a:bodyPr wrap="square" lIns="0" tIns="76200" rIns="0" bIns="0" rtlCol="0" anchor="ctr"/>
          <a:lstStyle/>
          <a:p>
            <a:pPr indent="0" marL="0">
              <a:buNone/>
            </a:pPr>
            <a:r>
              <a:rPr lang="en-US" sz="1300" b="1" dirty="0">
                <a:solidFill>
                  <a:srgbClr val="FFFFFF"/>
                </a:solidFill>
              </a:rPr>
              <a:t>Demodulator Circuits</a:t>
            </a:r>
            <a:endParaRPr lang="en-US" sz="1300" dirty="0"/>
          </a:p>
        </p:txBody>
      </p:sp>
      <p:sp>
        <p:nvSpPr>
          <p:cNvPr id="10" name="Shape 8"/>
          <p:cNvSpPr/>
          <p:nvPr/>
        </p:nvSpPr>
        <p:spPr>
          <a:xfrm>
            <a:off x="4754880" y="1261872"/>
            <a:ext cx="4114800" cy="3611880"/>
          </a:xfrm>
          <a:prstGeom prst="rect">
            <a:avLst/>
          </a:prstGeom>
          <a:solidFill>
            <a:srgbClr val="E8EFF8"/>
          </a:solidFill>
          <a:ln/>
        </p:spPr>
      </p:sp>
      <p:sp>
        <p:nvSpPr>
          <p:cNvPr id="11" name="Text 9"/>
          <p:cNvSpPr txBox="1"/>
          <p:nvPr/>
        </p:nvSpPr>
        <p:spPr>
          <a:xfrm>
            <a:off x="4846320" y="1325880"/>
            <a:ext cx="3931920" cy="347472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1A1A1A"/>
                </a:solidFill>
              </a:rPr>
              <a:t>Product detector: multiplies SSB signal with BFO</a:t>
            </a:r>
            <a:endParaRPr lang="en-US" sz="1500" dirty="0"/>
          </a:p>
          <a:p>
            <a:pPr marL="152400" indent="-152400">
              <a:spcAft>
                <a:spcPts val="600"/>
              </a:spcAft>
              <a:buSzPct val="100000"/>
              <a:buChar char="•"/>
            </a:pPr>
            <a:r>
              <a:rPr lang="en-US" sz="1500" dirty="0">
                <a:solidFill>
                  <a:srgbClr val="1A1A1A"/>
                </a:solidFill>
              </a:rPr>
              <a:t>→ BFO reinserts the carrier; recovers audio</a:t>
            </a:r>
            <a:endParaRPr lang="en-US" sz="1500" dirty="0"/>
          </a:p>
          <a:p>
            <a:pPr marL="152400" indent="-152400">
              <a:spcAft>
                <a:spcPts val="600"/>
              </a:spcAft>
              <a:buSzPct val="100000"/>
              <a:buChar char="•"/>
            </a:pPr>
            <a:r>
              <a:rPr lang="en-US" sz="1500" dirty="0">
                <a:solidFill>
                  <a:srgbClr val="1A1A1A"/>
                </a:solidFill>
              </a:rPr>
              <a:t>→ Used to demodulate SSB and CW</a:t>
            </a:r>
            <a:endParaRPr lang="en-US" sz="1500" dirty="0"/>
          </a:p>
          <a:p>
            <a:pPr marL="152400" indent="-152400">
              <a:spcAft>
                <a:spcPts val="600"/>
              </a:spcAft>
              <a:buSzPct val="100000"/>
              <a:buChar char="•"/>
            </a:pPr>
            <a:r>
              <a:rPr lang="en-US" sz="1500" dirty="0">
                <a:solidFill>
                  <a:srgbClr val="1A1A1A"/>
                </a:solidFill>
              </a:rPr>
              <a:t>Mixer: multiplies two frequencies</a:t>
            </a:r>
            <a:endParaRPr lang="en-US" sz="1500" dirty="0"/>
          </a:p>
          <a:p>
            <a:pPr marL="152400" indent="-152400">
              <a:spcAft>
                <a:spcPts val="600"/>
              </a:spcAft>
              <a:buSzPct val="100000"/>
              <a:buChar char="•"/>
            </a:pPr>
            <a:r>
              <a:rPr lang="en-US" sz="1500" dirty="0">
                <a:solidFill>
                  <a:srgbClr val="1A1A1A"/>
                </a:solidFill>
              </a:rPr>
              <a:t>→ Output: sum (f1+f2) and difference (f1-f2)</a:t>
            </a:r>
            <a:endParaRPr lang="en-US" sz="1500" dirty="0"/>
          </a:p>
          <a:p>
            <a:pPr marL="152400" indent="-152400">
              <a:spcAft>
                <a:spcPts val="600"/>
              </a:spcAft>
              <a:buSzPct val="100000"/>
              <a:buChar char="•"/>
            </a:pPr>
            <a:r>
              <a:rPr lang="en-US" sz="1500" dirty="0">
                <a:solidFill>
                  <a:srgbClr val="1A1A1A"/>
                </a:solidFill>
              </a:rPr>
              <a:t>→ Used in superheterodyne receivers for frequency conversion</a:t>
            </a:r>
            <a:endParaRPr lang="en-US" sz="1500" dirty="0"/>
          </a:p>
          <a:p>
            <a:pPr marL="152400" indent="-152400">
              <a:spcAft>
                <a:spcPts val="600"/>
              </a:spcAft>
              <a:buSzPct val="100000"/>
              <a:buChar char="•"/>
            </a:pPr>
            <a:r>
              <a:rPr lang="en-US" sz="1500" dirty="0">
                <a:solidFill>
                  <a:srgbClr val="1A1A1A"/>
                </a:solidFill>
              </a:rPr>
              <a:t>Envelope detector: follows AM carrier amplitude</a:t>
            </a:r>
            <a:endParaRPr lang="en-US" sz="1500" dirty="0"/>
          </a:p>
          <a:p>
            <a:pPr marL="152400" indent="-152400">
              <a:spcAft>
                <a:spcPts val="600"/>
              </a:spcAft>
              <a:buSzPct val="100000"/>
              <a:buChar char="•"/>
            </a:pPr>
            <a:r>
              <a:rPr lang="en-US" sz="1500" dirty="0">
                <a:solidFill>
                  <a:srgbClr val="1A1A1A"/>
                </a:solidFill>
              </a:rPr>
              <a:t>→ Simple AM demodulator</a:t>
            </a:r>
            <a:endParaRPr lang="en-US" sz="1500" dirty="0"/>
          </a:p>
          <a:p>
            <a:pPr marL="152400" indent="-152400">
              <a:spcAft>
                <a:spcPts val="600"/>
              </a:spcAft>
              <a:buSzPct val="100000"/>
              <a:buChar char="•"/>
            </a:pPr>
            <a:r>
              <a:rPr lang="en-US" sz="1500" dirty="0">
                <a:solidFill>
                  <a:srgbClr val="1A1A1A"/>
                </a:solidFill>
              </a:rPr>
              <a:t>Solar array charge controller: manages voltage/current from solar panels to batteries</a:t>
            </a:r>
            <a:endParaRPr lang="en-US" sz="1500" dirty="0"/>
          </a:p>
        </p:txBody>
      </p:sp>
      <p:sp>
        <p:nvSpPr>
          <p:cNvPr id="12" name="Text 10"/>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13" name="Text 11"/>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5: SDR and DSP</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E7F — 1 exam question</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Software Defined Radio Architecture</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Traditional radio: analog filters and mixers do most of the work</a:t>
            </a:r>
            <a:endParaRPr lang="en-US" sz="1600" dirty="0"/>
          </a:p>
          <a:p>
            <a:pPr marL="190500" indent="-190500">
              <a:spcAft>
                <a:spcPts val="700"/>
              </a:spcAft>
              <a:buSzPct val="100000"/>
              <a:buChar char="•"/>
            </a:pPr>
            <a:r>
              <a:rPr lang="en-US" sz="1600" dirty="0">
                <a:solidFill>
                  <a:srgbClr val="1A1A1A"/>
                </a:solidFill>
              </a:rPr>
              <a:t>SDR: convert to digital as early as possible; do everything in software</a:t>
            </a:r>
            <a:endParaRPr lang="en-US" sz="1600" dirty="0"/>
          </a:p>
          <a:p>
            <a:pPr marL="190500" indent="-190500">
              <a:spcAft>
                <a:spcPts val="700"/>
              </a:spcAft>
              <a:buSzPct val="100000"/>
              <a:buChar char="•"/>
            </a:pPr>
            <a:r>
              <a:rPr lang="en-US" sz="1600" dirty="0">
                <a:solidFill>
                  <a:srgbClr val="1A1A1A"/>
                </a:solidFill>
              </a:rPr>
              <a:t>ADC (Analog-to-Digital Converter):</a:t>
            </a:r>
            <a:endParaRPr lang="en-US" sz="1600" dirty="0"/>
          </a:p>
          <a:p>
            <a:pPr marL="190500" indent="-190500">
              <a:spcAft>
                <a:spcPts val="700"/>
              </a:spcAft>
              <a:buSzPct val="100000"/>
              <a:buChar char="•"/>
            </a:pPr>
            <a:r>
              <a:rPr lang="en-US" sz="1600" dirty="0">
                <a:solidFill>
                  <a:srgbClr val="1A1A1A"/>
                </a:solidFill>
              </a:rPr>
              <a:t>→ Samples the analog signal at high rate</a:t>
            </a:r>
            <a:endParaRPr lang="en-US" sz="1600" dirty="0"/>
          </a:p>
          <a:p>
            <a:pPr marL="190500" indent="-190500">
              <a:spcAft>
                <a:spcPts val="700"/>
              </a:spcAft>
              <a:buSzPct val="100000"/>
              <a:buChar char="•"/>
            </a:pPr>
            <a:r>
              <a:rPr lang="en-US" sz="1600" dirty="0">
                <a:solidFill>
                  <a:srgbClr val="1A1A1A"/>
                </a:solidFill>
              </a:rPr>
              <a:t>→ Nyquist criterion: sample rate must be ≥ 2× highest signal frequency</a:t>
            </a:r>
            <a:endParaRPr lang="en-US" sz="1600" dirty="0"/>
          </a:p>
          <a:p>
            <a:pPr marL="190500" indent="-190500">
              <a:spcAft>
                <a:spcPts val="700"/>
              </a:spcAft>
              <a:buSzPct val="100000"/>
              <a:buChar char="•"/>
            </a:pPr>
            <a:r>
              <a:rPr lang="en-US" sz="1600" dirty="0">
                <a:solidFill>
                  <a:srgbClr val="1A1A1A"/>
                </a:solidFill>
              </a:rPr>
              <a:t>→ Quantization: rounds each sample to nearest digital step</a:t>
            </a:r>
            <a:endParaRPr lang="en-US" sz="1600" dirty="0"/>
          </a:p>
          <a:p>
            <a:pPr marL="190500" indent="-190500">
              <a:spcAft>
                <a:spcPts val="700"/>
              </a:spcAft>
              <a:buSzPct val="100000"/>
              <a:buChar char="•"/>
            </a:pPr>
            <a:r>
              <a:rPr lang="en-US" sz="1600" dirty="0">
                <a:solidFill>
                  <a:srgbClr val="1A1A1A"/>
                </a:solidFill>
              </a:rPr>
              <a:t>→ Dynamic range: ~6 dB per bit (16-bit = ~96 dB)</a:t>
            </a:r>
            <a:endParaRPr lang="en-US" sz="1600" dirty="0"/>
          </a:p>
          <a:p>
            <a:pPr marL="190500" indent="-190500">
              <a:spcAft>
                <a:spcPts val="700"/>
              </a:spcAft>
              <a:buSzPct val="100000"/>
              <a:buChar char="•"/>
            </a:pPr>
            <a:r>
              <a:rPr lang="en-US" sz="1600" dirty="0">
                <a:solidFill>
                  <a:srgbClr val="1A1A1A"/>
                </a:solidFill>
              </a:rPr>
              <a:t>SDR overload: input signal exceeds ADC reference voltage</a:t>
            </a:r>
            <a:endParaRPr lang="en-US" sz="1600" dirty="0"/>
          </a:p>
          <a:p>
            <a:pPr marL="190500" indent="-190500">
              <a:spcAft>
                <a:spcPts val="700"/>
              </a:spcAft>
              <a:buSzPct val="100000"/>
              <a:buChar char="•"/>
            </a:pPr>
            <a:r>
              <a:rPr lang="en-US" sz="1600" dirty="0">
                <a:solidFill>
                  <a:srgbClr val="1A1A1A"/>
                </a:solidFill>
              </a:rPr>
              <a:t>→ Fix: add attenuation before the ADC</a:t>
            </a:r>
            <a:endParaRPr lang="en-US" sz="1600" dirty="0"/>
          </a:p>
          <a:p>
            <a:pPr marL="190500" indent="-190500">
              <a:spcAft>
                <a:spcPts val="700"/>
              </a:spcAft>
              <a:buSzPct val="100000"/>
              <a:buChar char="•"/>
            </a:pPr>
            <a:r>
              <a:rPr lang="en-US" sz="1600" dirty="0">
                <a:solidFill>
                  <a:srgbClr val="1A1A1A"/>
                </a:solidFill>
              </a:rPr>
              <a:t>DSP filtering: performed AFTER analog-to-digital conversion (in software)</a:t>
            </a:r>
            <a:endParaRPr lang="en-US" sz="1600" dirty="0"/>
          </a:p>
          <a:p>
            <a:pPr marL="190500" indent="-190500">
              <a:spcAft>
                <a:spcPts val="700"/>
              </a:spcAft>
              <a:buSzPct val="100000"/>
              <a:buChar char="•"/>
            </a:pPr>
            <a:r>
              <a:rPr lang="en-US" sz="1600" dirty="0">
                <a:solidFill>
                  <a:srgbClr val="1A1A1A"/>
                </a:solidFill>
              </a:rPr>
              <a:t>→ FIR filter: finite impulse response; always stable; linear phase possible</a:t>
            </a:r>
            <a:endParaRPr lang="en-US" sz="1600" dirty="0"/>
          </a:p>
          <a:p>
            <a:pPr marL="190500" indent="-190500">
              <a:spcAft>
                <a:spcPts val="700"/>
              </a:spcAft>
              <a:buSzPct val="100000"/>
              <a:buChar char="•"/>
            </a:pPr>
            <a:r>
              <a:rPr lang="en-US" sz="1600" dirty="0">
                <a:solidFill>
                  <a:srgbClr val="1A1A1A"/>
                </a:solidFill>
              </a:rPr>
              <a:t>→ IIR filter: infinite impulse response; recursive; more efficient; can oscillate</a:t>
            </a:r>
            <a:endParaRPr lang="en-US" sz="1600" dirty="0"/>
          </a:p>
          <a:p>
            <a:pPr marL="190500" indent="-190500">
              <a:spcAft>
                <a:spcPts val="700"/>
              </a:spcAft>
              <a:buSzPct val="100000"/>
              <a:buChar char="•"/>
            </a:pPr>
            <a:r>
              <a:rPr lang="en-US" sz="1600" dirty="0">
                <a:solidFill>
                  <a:srgbClr val="1A1A1A"/>
                </a:solidFill>
              </a:rPr>
              <a:t>Advantages of DSP: flexible, reconfigurable, highly precise filter shapes</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6: Operational Amplifiers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E7G — 1 exam question</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Op-Amp Configurations and Gain</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Ideal op-amp: infinite input impedance, zero output impedance, infinite open-loop gain</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Inverting amplifier:</a:t>
            </a:r>
            <a:endParaRPr lang="en-US" sz="1600" dirty="0"/>
          </a:p>
          <a:p>
            <a:pPr marL="190500" indent="-190500">
              <a:spcAft>
                <a:spcPts val="700"/>
              </a:spcAft>
              <a:buSzPct val="100000"/>
              <a:buChar char="•"/>
            </a:pPr>
            <a:r>
              <a:rPr lang="en-US" sz="1600" dirty="0">
                <a:solidFill>
                  <a:srgbClr val="1A1A1A"/>
                </a:solidFill>
              </a:rPr>
              <a:t>→ Gain = -(Rf/Rin)  [negative = phase inversion]</a:t>
            </a:r>
            <a:endParaRPr lang="en-US" sz="1600" dirty="0"/>
          </a:p>
          <a:p>
            <a:pPr marL="190500" indent="-190500">
              <a:spcAft>
                <a:spcPts val="700"/>
              </a:spcAft>
              <a:buSzPct val="100000"/>
              <a:buChar char="•"/>
            </a:pPr>
            <a:r>
              <a:rPr lang="en-US" sz="1600" dirty="0">
                <a:solidFill>
                  <a:srgbClr val="1A1A1A"/>
                </a:solidFill>
              </a:rPr>
              <a:t>→ Virtual ground at inverting input</a:t>
            </a:r>
            <a:endParaRPr lang="en-US" sz="1600" dirty="0"/>
          </a:p>
          <a:p>
            <a:pPr marL="190500" indent="-190500">
              <a:spcAft>
                <a:spcPts val="700"/>
              </a:spcAft>
              <a:buSzPct val="100000"/>
              <a:buChar char="•"/>
            </a:pPr>
            <a:r>
              <a:rPr lang="en-US" sz="1600" dirty="0">
                <a:solidFill>
                  <a:srgbClr val="1A1A1A"/>
                </a:solidFill>
              </a:rPr>
              <a:t>→ Example: Rin=1kΩ, Rf=10kΩ → Gain = -10</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Non-inverting amplifier:</a:t>
            </a:r>
            <a:endParaRPr lang="en-US" sz="1600" dirty="0"/>
          </a:p>
          <a:p>
            <a:pPr marL="190500" indent="-190500">
              <a:spcAft>
                <a:spcPts val="700"/>
              </a:spcAft>
              <a:buSzPct val="100000"/>
              <a:buChar char="•"/>
            </a:pPr>
            <a:r>
              <a:rPr lang="en-US" sz="1600" dirty="0">
                <a:solidFill>
                  <a:srgbClr val="1A1A1A"/>
                </a:solidFill>
              </a:rPr>
              <a:t>→ Gain = 1 + (Rf/Rin)  [positive = in phase]</a:t>
            </a:r>
            <a:endParaRPr lang="en-US" sz="1600" dirty="0"/>
          </a:p>
          <a:p>
            <a:pPr marL="190500" indent="-190500">
              <a:spcAft>
                <a:spcPts val="700"/>
              </a:spcAft>
              <a:buSzPct val="100000"/>
              <a:buChar char="•"/>
            </a:pPr>
            <a:r>
              <a:rPr lang="en-US" sz="1600" dirty="0">
                <a:solidFill>
                  <a:srgbClr val="1A1A1A"/>
                </a:solidFill>
              </a:rPr>
              <a:t>→ Example: Rin=1kΩ, Rf=9kΩ → Gain = 1+9 = 10</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Voltage follower (unity gain buffer):</a:t>
            </a:r>
            <a:endParaRPr lang="en-US" sz="1600" dirty="0"/>
          </a:p>
          <a:p>
            <a:pPr marL="190500" indent="-190500">
              <a:spcAft>
                <a:spcPts val="700"/>
              </a:spcAft>
              <a:buSzPct val="100000"/>
              <a:buChar char="•"/>
            </a:pPr>
            <a:r>
              <a:rPr lang="en-US" sz="1600" dirty="0">
                <a:solidFill>
                  <a:srgbClr val="1A1A1A"/>
                </a:solidFill>
              </a:rPr>
              <a:t>→ Output connected directly to inverting input</a:t>
            </a:r>
            <a:endParaRPr lang="en-US" sz="1600" dirty="0"/>
          </a:p>
          <a:p>
            <a:pPr marL="190500" indent="-190500">
              <a:spcAft>
                <a:spcPts val="700"/>
              </a:spcAft>
              <a:buSzPct val="100000"/>
              <a:buChar char="•"/>
            </a:pPr>
            <a:r>
              <a:rPr lang="en-US" sz="1600" dirty="0">
                <a:solidFill>
                  <a:srgbClr val="1A1A1A"/>
                </a:solidFill>
              </a:rPr>
              <a:t>→ Gain = 1; high input impedance, low output impedance</a:t>
            </a:r>
            <a:endParaRPr lang="en-US" sz="1600" dirty="0"/>
          </a:p>
          <a:p>
            <a:pPr marL="190500" indent="-190500">
              <a:spcAft>
                <a:spcPts val="700"/>
              </a:spcAft>
              <a:buSzPct val="100000"/>
              <a:buChar char="•"/>
            </a:pPr>
            <a:endParaRPr lang="en-US" sz="1600" dirty="0"/>
          </a:p>
          <a:p>
            <a:pPr marL="190500" indent="-190500">
              <a:spcAft>
                <a:spcPts val="700"/>
              </a:spcAft>
              <a:buSzPct val="100000"/>
              <a:buChar char="•"/>
            </a:pPr>
            <a:r>
              <a:rPr lang="en-US" sz="1600" dirty="0">
                <a:solidFill>
                  <a:srgbClr val="1A1A1A"/>
                </a:solidFill>
              </a:rPr>
              <a:t>Summing amplifier: multiple inputs, each weighted by its Rf/Rin ratio</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137160" cy="5143500"/>
          </a:xfrm>
          <a:prstGeom prst="rect">
            <a:avLst/>
          </a:prstGeom>
          <a:solidFill>
            <a:srgbClr val="2E7D52"/>
          </a:solidFill>
          <a:ln/>
        </p:spPr>
      </p:sp>
      <p:sp>
        <p:nvSpPr>
          <p:cNvPr id="4" name="Text 2"/>
          <p:cNvSpPr/>
          <p:nvPr/>
        </p:nvSpPr>
        <p:spPr>
          <a:xfrm>
            <a:off x="457200" y="1463040"/>
            <a:ext cx="8229600" cy="1280160"/>
          </a:xfrm>
          <a:prstGeom prst="rect">
            <a:avLst/>
          </a:prstGeom>
          <a:noFill/>
          <a:ln/>
        </p:spPr>
        <p:txBody>
          <a:bodyPr wrap="square" rtlCol="0" anchor="ctr"/>
          <a:lstStyle/>
          <a:p>
            <a:pPr indent="0" marL="0">
              <a:buNone/>
            </a:pPr>
            <a:r>
              <a:rPr lang="en-US" sz="3400" b="1" dirty="0">
                <a:solidFill>
                  <a:srgbClr val="FFFFFF"/>
                </a:solidFill>
              </a:rPr>
              <a:t>Part 7: Oscillators</a:t>
            </a:r>
            <a:endParaRPr lang="en-US" sz="3400" dirty="0"/>
          </a:p>
        </p:txBody>
      </p:sp>
      <p:sp>
        <p:nvSpPr>
          <p:cNvPr id="5" name="Text 3"/>
          <p:cNvSpPr/>
          <p:nvPr/>
        </p:nvSpPr>
        <p:spPr>
          <a:xfrm>
            <a:off x="457200" y="2834640"/>
            <a:ext cx="8229600" cy="548640"/>
          </a:xfrm>
          <a:prstGeom prst="rect">
            <a:avLst/>
          </a:prstGeom>
          <a:noFill/>
          <a:ln/>
        </p:spPr>
        <p:txBody>
          <a:bodyPr wrap="square" rtlCol="0" anchor="ctr"/>
          <a:lstStyle/>
          <a:p>
            <a:pPr indent="0" marL="0">
              <a:buNone/>
            </a:pPr>
            <a:r>
              <a:rPr lang="en-US" sz="1700" dirty="0">
                <a:solidFill>
                  <a:srgbClr val="AACCBB"/>
                </a:solidFill>
              </a:rPr>
              <a:t>Subelement E7H — 1 exam question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Oscillator Types</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Colpitts: capacitive voltage divider provides the feedback</a:t>
            </a:r>
            <a:endParaRPr lang="en-US" sz="1600" dirty="0"/>
          </a:p>
          <a:p>
            <a:pPr marL="190500" indent="-190500">
              <a:spcAft>
                <a:spcPts val="700"/>
              </a:spcAft>
              <a:buSzPct val="100000"/>
              <a:buChar char="•"/>
            </a:pPr>
            <a:r>
              <a:rPr lang="en-US" sz="1600" dirty="0">
                <a:solidFill>
                  <a:srgbClr val="1A1A1A"/>
                </a:solidFill>
              </a:rPr>
              <a:t>→ Two capacitors in the tank circuit; the junction between them feeds back</a:t>
            </a:r>
            <a:endParaRPr lang="en-US" sz="1600" dirty="0"/>
          </a:p>
          <a:p>
            <a:pPr marL="190500" indent="-190500">
              <a:spcAft>
                <a:spcPts val="700"/>
              </a:spcAft>
              <a:buSzPct val="100000"/>
              <a:buChar char="•"/>
            </a:pPr>
            <a:r>
              <a:rPr lang="en-US" sz="1600" dirty="0">
                <a:solidFill>
                  <a:srgbClr val="1A1A1A"/>
                </a:solidFill>
              </a:rPr>
              <a:t>→ Common RF oscillator; stable; widely used</a:t>
            </a:r>
            <a:endParaRPr lang="en-US" sz="1600" dirty="0"/>
          </a:p>
          <a:p>
            <a:pPr marL="190500" indent="-190500">
              <a:spcAft>
                <a:spcPts val="700"/>
              </a:spcAft>
              <a:buSzPct val="100000"/>
              <a:buChar char="•"/>
            </a:pPr>
            <a:r>
              <a:rPr lang="en-US" sz="1600" dirty="0">
                <a:solidFill>
                  <a:srgbClr val="1A1A1A"/>
                </a:solidFill>
              </a:rPr>
              <a:t>Hartley: inductive voltage divider (tapped coil) provides feedback</a:t>
            </a:r>
            <a:endParaRPr lang="en-US" sz="1600" dirty="0"/>
          </a:p>
          <a:p>
            <a:pPr marL="190500" indent="-190500">
              <a:spcAft>
                <a:spcPts val="700"/>
              </a:spcAft>
              <a:buSzPct val="100000"/>
              <a:buChar char="•"/>
            </a:pPr>
            <a:r>
              <a:rPr lang="en-US" sz="1600" dirty="0">
                <a:solidFill>
                  <a:srgbClr val="1A1A1A"/>
                </a:solidFill>
              </a:rPr>
              <a:t>→ Tapped inductor in the tank; tap point feeds back</a:t>
            </a:r>
            <a:endParaRPr lang="en-US" sz="1600" dirty="0"/>
          </a:p>
          <a:p>
            <a:pPr marL="190500" indent="-190500">
              <a:spcAft>
                <a:spcPts val="700"/>
              </a:spcAft>
              <a:buSzPct val="100000"/>
              <a:buChar char="•"/>
            </a:pPr>
            <a:r>
              <a:rPr lang="en-US" sz="1600" dirty="0">
                <a:solidFill>
                  <a:srgbClr val="1A1A1A"/>
                </a:solidFill>
              </a:rPr>
              <a:t>→ Simple; good for VFOs</a:t>
            </a:r>
            <a:endParaRPr lang="en-US" sz="1600" dirty="0"/>
          </a:p>
          <a:p>
            <a:pPr marL="190500" indent="-190500">
              <a:spcAft>
                <a:spcPts val="700"/>
              </a:spcAft>
              <a:buSzPct val="100000"/>
              <a:buChar char="•"/>
            </a:pPr>
            <a:r>
              <a:rPr lang="en-US" sz="1600" dirty="0">
                <a:solidFill>
                  <a:srgbClr val="1A1A1A"/>
                </a:solidFill>
              </a:rPr>
              <a:t>Crystal oscillator: quartz crystal controls frequency via mechanical resonance</a:t>
            </a:r>
            <a:endParaRPr lang="en-US" sz="1600" dirty="0"/>
          </a:p>
          <a:p>
            <a:pPr marL="190500" indent="-190500">
              <a:spcAft>
                <a:spcPts val="700"/>
              </a:spcAft>
              <a:buSzPct val="100000"/>
              <a:buChar char="•"/>
            </a:pPr>
            <a:r>
              <a:rPr lang="en-US" sz="1600" dirty="0">
                <a:solidFill>
                  <a:srgbClr val="1A1A1A"/>
                </a:solidFill>
              </a:rPr>
              <a:t>→ Very stable; used as reference oscillator</a:t>
            </a:r>
            <a:endParaRPr lang="en-US" sz="1600" dirty="0"/>
          </a:p>
          <a:p>
            <a:pPr marL="190500" indent="-190500">
              <a:spcAft>
                <a:spcPts val="700"/>
              </a:spcAft>
              <a:buSzPct val="100000"/>
              <a:buChar char="•"/>
            </a:pPr>
            <a:r>
              <a:rPr lang="en-US" sz="1600" dirty="0">
                <a:solidFill>
                  <a:srgbClr val="1A1A1A"/>
                </a:solidFill>
              </a:rPr>
              <a:t>VCO (Voltage Controlled Oscillator): varactor tunes the tank circuit</a:t>
            </a:r>
            <a:endParaRPr lang="en-US" sz="1600" dirty="0"/>
          </a:p>
          <a:p>
            <a:pPr marL="190500" indent="-190500">
              <a:spcAft>
                <a:spcPts val="700"/>
              </a:spcAft>
              <a:buSzPct val="100000"/>
              <a:buChar char="•"/>
            </a:pPr>
            <a:r>
              <a:rPr lang="en-US" sz="1600" dirty="0">
                <a:solidFill>
                  <a:srgbClr val="1A1A1A"/>
                </a:solidFill>
              </a:rPr>
              <a:t>→ Voltage changes capacitance; frequency follows</a:t>
            </a:r>
            <a:endParaRPr lang="en-US" sz="1600" dirty="0"/>
          </a:p>
          <a:p>
            <a:pPr marL="190500" indent="-190500">
              <a:spcAft>
                <a:spcPts val="700"/>
              </a:spcAft>
              <a:buSzPct val="100000"/>
              <a:buChar char="•"/>
            </a:pPr>
            <a:r>
              <a:rPr lang="en-US" sz="1600" dirty="0">
                <a:solidFill>
                  <a:srgbClr val="1A1A1A"/>
                </a:solidFill>
              </a:rPr>
              <a:t>PLL (Phase-Locked Loop): VCO output compared to reference; error corrects VCO</a:t>
            </a:r>
            <a:endParaRPr lang="en-US" sz="1600" dirty="0"/>
          </a:p>
          <a:p>
            <a:pPr marL="190500" indent="-190500">
              <a:spcAft>
                <a:spcPts val="700"/>
              </a:spcAft>
              <a:buSzPct val="100000"/>
              <a:buChar char="•"/>
            </a:pPr>
            <a:r>
              <a:rPr lang="en-US" sz="1600" dirty="0">
                <a:solidFill>
                  <a:srgbClr val="1A1A1A"/>
                </a:solidFill>
              </a:rPr>
              <a:t>→ Locks VCO to crystal-stable reference at any synthesized frequency</a:t>
            </a:r>
            <a:endParaRPr lang="en-US" sz="1600" dirty="0"/>
          </a:p>
          <a:p>
            <a:pPr marL="190500" indent="-190500">
              <a:spcAft>
                <a:spcPts val="700"/>
              </a:spcAft>
              <a:buSzPct val="100000"/>
              <a:buChar char="•"/>
            </a:pPr>
            <a:r>
              <a:rPr lang="en-US" sz="1600" dirty="0">
                <a:solidFill>
                  <a:srgbClr val="1A1A1A"/>
                </a:solidFill>
              </a:rPr>
              <a:t>DDS (Direct Digital Synthesizer): digital lookup table + DAC</a:t>
            </a:r>
            <a:endParaRPr lang="en-US" sz="1600" dirty="0"/>
          </a:p>
          <a:p>
            <a:pPr marL="190500" indent="-190500">
              <a:spcAft>
                <a:spcPts val="700"/>
              </a:spcAft>
              <a:buSzPct val="100000"/>
              <a:buChar char="•"/>
            </a:pPr>
            <a:r>
              <a:rPr lang="en-US" sz="1600" dirty="0">
                <a:solidFill>
                  <a:srgbClr val="1A1A1A"/>
                </a:solidFill>
              </a:rPr>
              <a:t>→ Generates frequency from math; very fine resolution; fast switching</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Oscillator Quality and Stability</a:t>
            </a:r>
            <a:endParaRPr lang="en-US" sz="2100" dirty="0"/>
          </a:p>
        </p:txBody>
      </p:sp>
      <p:sp>
        <p:nvSpPr>
          <p:cNvPr id="4" name="Text 2"/>
          <p:cNvSpPr txBox="1"/>
          <p:nvPr/>
        </p:nvSpPr>
        <p:spPr>
          <a:xfrm>
            <a:off x="365760" y="914400"/>
            <a:ext cx="8412480" cy="397764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1A1A1A"/>
                </a:solidFill>
              </a:rPr>
              <a:t>TCXO (Temperature-Compensated Crystal Oscillator):</a:t>
            </a:r>
            <a:endParaRPr lang="en-US" sz="1600" dirty="0"/>
          </a:p>
          <a:p>
            <a:pPr marL="190500" indent="-190500">
              <a:spcAft>
                <a:spcPts val="700"/>
              </a:spcAft>
              <a:buSzPct val="100000"/>
              <a:buChar char="•"/>
            </a:pPr>
            <a:r>
              <a:rPr lang="en-US" sz="1600" dirty="0">
                <a:solidFill>
                  <a:srgbClr val="1A1A1A"/>
                </a:solidFill>
              </a:rPr>
              <a:t>→ Compensation circuit corrects for crystal frequency variation with temperature</a:t>
            </a:r>
            <a:endParaRPr lang="en-US" sz="1600" dirty="0"/>
          </a:p>
          <a:p>
            <a:pPr marL="190500" indent="-190500">
              <a:spcAft>
                <a:spcPts val="700"/>
              </a:spcAft>
              <a:buSzPct val="100000"/>
              <a:buChar char="•"/>
            </a:pPr>
            <a:r>
              <a:rPr lang="en-US" sz="1600" dirty="0">
                <a:solidFill>
                  <a:srgbClr val="1A1A1A"/>
                </a:solidFill>
              </a:rPr>
              <a:t>→ Used in GPS receivers, precision instruments</a:t>
            </a:r>
            <a:endParaRPr lang="en-US" sz="1600" dirty="0"/>
          </a:p>
          <a:p>
            <a:pPr marL="190500" indent="-190500">
              <a:spcAft>
                <a:spcPts val="700"/>
              </a:spcAft>
              <a:buSzPct val="100000"/>
              <a:buChar char="•"/>
            </a:pPr>
            <a:r>
              <a:rPr lang="en-US" sz="1600" dirty="0">
                <a:solidFill>
                  <a:srgbClr val="1A1A1A"/>
                </a:solidFill>
              </a:rPr>
              <a:t>OCXO (Oven-Controlled Crystal Oscillator):</a:t>
            </a:r>
            <a:endParaRPr lang="en-US" sz="1600" dirty="0"/>
          </a:p>
          <a:p>
            <a:pPr marL="190500" indent="-190500">
              <a:spcAft>
                <a:spcPts val="700"/>
              </a:spcAft>
              <a:buSzPct val="100000"/>
              <a:buChar char="•"/>
            </a:pPr>
            <a:r>
              <a:rPr lang="en-US" sz="1600" dirty="0">
                <a:solidFill>
                  <a:srgbClr val="1A1A1A"/>
                </a:solidFill>
              </a:rPr>
              <a:t>→ Crystal kept at constant elevated temperature in a small oven</a:t>
            </a:r>
            <a:endParaRPr lang="en-US" sz="1600" dirty="0"/>
          </a:p>
          <a:p>
            <a:pPr marL="190500" indent="-190500">
              <a:spcAft>
                <a:spcPts val="700"/>
              </a:spcAft>
              <a:buSzPct val="100000"/>
              <a:buChar char="•"/>
            </a:pPr>
            <a:r>
              <a:rPr lang="en-US" sz="1600" dirty="0">
                <a:solidFill>
                  <a:srgbClr val="1A1A1A"/>
                </a:solidFill>
              </a:rPr>
              <a:t>→ Highest practical frequency stability</a:t>
            </a:r>
            <a:endParaRPr lang="en-US" sz="1600" dirty="0"/>
          </a:p>
          <a:p>
            <a:pPr marL="190500" indent="-190500">
              <a:spcAft>
                <a:spcPts val="700"/>
              </a:spcAft>
              <a:buSzPct val="100000"/>
              <a:buChar char="•"/>
            </a:pPr>
            <a:r>
              <a:rPr lang="en-US" sz="1600" dirty="0">
                <a:solidFill>
                  <a:srgbClr val="1A1A1A"/>
                </a:solidFill>
              </a:rPr>
              <a:t>Phase noise:</a:t>
            </a:r>
            <a:endParaRPr lang="en-US" sz="1600" dirty="0"/>
          </a:p>
          <a:p>
            <a:pPr marL="190500" indent="-190500">
              <a:spcAft>
                <a:spcPts val="700"/>
              </a:spcAft>
              <a:buSzPct val="100000"/>
              <a:buChar char="•"/>
            </a:pPr>
            <a:r>
              <a:rPr lang="en-US" sz="1600" dirty="0">
                <a:solidFill>
                  <a:srgbClr val="1A1A1A"/>
                </a:solidFill>
              </a:rPr>
              <a:t>→ Close-in frequency instability — noise sidebands on either side of carrier</a:t>
            </a:r>
            <a:endParaRPr lang="en-US" sz="1600" dirty="0"/>
          </a:p>
          <a:p>
            <a:pPr marL="190500" indent="-190500">
              <a:spcAft>
                <a:spcPts val="700"/>
              </a:spcAft>
              <a:buSzPct val="100000"/>
              <a:buChar char="•"/>
            </a:pPr>
            <a:r>
              <a:rPr lang="en-US" sz="1600" dirty="0">
                <a:solidFill>
                  <a:srgbClr val="1A1A1A"/>
                </a:solidFill>
              </a:rPr>
              <a:t>→ Affects receiver performance: LO phase noise mixes with nearby strong signals</a:t>
            </a:r>
            <a:endParaRPr lang="en-US" sz="1600" dirty="0"/>
          </a:p>
          <a:p>
            <a:pPr marL="190500" indent="-190500">
              <a:spcAft>
                <a:spcPts val="700"/>
              </a:spcAft>
              <a:buSzPct val="100000"/>
              <a:buChar char="•"/>
            </a:pPr>
            <a:r>
              <a:rPr lang="en-US" sz="1600" dirty="0">
                <a:solidFill>
                  <a:srgbClr val="1A1A1A"/>
                </a:solidFill>
              </a:rPr>
              <a:t>→ Synthesizer phase noise degrades close-in signal quality</a:t>
            </a:r>
            <a:endParaRPr lang="en-US" sz="1600" dirty="0"/>
          </a:p>
          <a:p>
            <a:pPr marL="190500" indent="-190500">
              <a:spcAft>
                <a:spcPts val="700"/>
              </a:spcAft>
              <a:buSzPct val="100000"/>
              <a:buChar char="•"/>
            </a:pPr>
            <a:r>
              <a:rPr lang="en-US" sz="1600" dirty="0">
                <a:solidFill>
                  <a:srgbClr val="1A1A1A"/>
                </a:solidFill>
              </a:rPr>
              <a:t>Microphonics:</a:t>
            </a:r>
            <a:endParaRPr lang="en-US" sz="1600" dirty="0"/>
          </a:p>
          <a:p>
            <a:pPr marL="190500" indent="-190500">
              <a:spcAft>
                <a:spcPts val="700"/>
              </a:spcAft>
              <a:buSzPct val="100000"/>
              <a:buChar char="•"/>
            </a:pPr>
            <a:r>
              <a:rPr lang="en-US" sz="1600" dirty="0">
                <a:solidFill>
                  <a:srgbClr val="1A1A1A"/>
                </a:solidFill>
              </a:rPr>
              <a:t>→ Oscillator frequency varies with mechanical vibration</a:t>
            </a:r>
            <a:endParaRPr lang="en-US" sz="1600" dirty="0"/>
          </a:p>
          <a:p>
            <a:pPr marL="190500" indent="-190500">
              <a:spcAft>
                <a:spcPts val="700"/>
              </a:spcAft>
              <a:buSzPct val="100000"/>
              <a:buChar char="•"/>
            </a:pPr>
            <a:r>
              <a:rPr lang="en-US" sz="1600" dirty="0">
                <a:solidFill>
                  <a:srgbClr val="1A1A1A"/>
                </a:solidFill>
              </a:rPr>
              <a:t>→ Classic problem in VFOs — physical shock changes the LC values slightly</a:t>
            </a:r>
            <a:endParaRPr lang="en-US" sz="1600" dirty="0"/>
          </a:p>
        </p:txBody>
      </p:sp>
      <p:sp>
        <p:nvSpPr>
          <p:cNvPr id="5" name="Text 3"/>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4"/>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B2A4A"/>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100" b="1" dirty="0">
                <a:solidFill>
                  <a:srgbClr val="FFFFFF"/>
                </a:solidFill>
              </a:rPr>
              <a:t>Key Numbers — Module 5</a:t>
            </a:r>
            <a:endParaRPr lang="en-US" sz="2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8595360" cy="914400"/>
        </p:xfrm>
        <a:graphic>
          <a:graphicData uri="http://schemas.openxmlformats.org/drawingml/2006/table">
            <a:tbl>
              <a:tblPr/>
              <a:tblGrid>
                <a:gridCol w="3840480"/>
                <a:gridCol w="4754880"/>
              </a:tblGrid>
              <a:tr h="0">
                <a:tc>
                  <a:txBody>
                    <a:bodyPr/>
                    <a:lstStyle/>
                    <a:p>
                      <a:pPr indent="0" marL="0">
                        <a:buNone/>
                      </a:pPr>
                      <a:r>
                        <a:rPr lang="en-US" sz="1300" b="1" dirty="0">
                          <a:solidFill>
                            <a:srgbClr val="1B2A4A"/>
                          </a:solidFill>
                        </a:rPr>
                        <a:t>Class A conduction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360° (full cycle); lowest distortion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Class C for SSB</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NOT suitable — distorts the signal</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Class D</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Switching; &gt;90% efficiency; needs output filter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Flip-flop divides by</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2 (each stage); 4 stages = ÷16</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Astable multivibrator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Continuously oscillates; no external clock</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NAND output = 0 when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ALL inputs are 1</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XOR output = 1 when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Inputs DIFFER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Butterworth filter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Flat passband; no ripple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Chebyshev filter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Ripple in passband; sharper cutoff</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Elliptical filter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Ripple in both bands; steepest transition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Balanced modulator output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DSB suppressed carrier (no carrier)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Product detector function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Demodulates SSB</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Nyquist rate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Sample ≥ 2× highest signal frequency</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ADC dynamic range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~6 dB per bit</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Inverting op-amp gain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-(Rf/Rin)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Non-inverting op-amp gain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1 + (Rf/Rin)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Colpitts feedback</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Capacitive voltage divider</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r h="0">
                <a:tc>
                  <a:txBody>
                    <a:bodyPr/>
                    <a:lstStyle/>
                    <a:p>
                      <a:pPr indent="0" marL="0">
                        <a:buNone/>
                      </a:pPr>
                      <a:r>
                        <a:rPr lang="en-US" sz="1300" b="1" dirty="0">
                          <a:solidFill>
                            <a:srgbClr val="1B2A4A"/>
                          </a:solidFill>
                        </a:rPr>
                        <a:t>PLL function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300" dirty="0">
                          <a:solidFill>
                            <a:srgbClr val="1A1A1A"/>
                          </a:solidFill>
                        </a:rPr>
                        <a:t>VCO locked to crystal reference</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FFFFF"/>
                    </a:solidFill>
                  </a:tcPr>
                </a:tc>
              </a:tr>
              <a:tr h="0">
                <a:tc>
                  <a:txBody>
                    <a:bodyPr/>
                    <a:lstStyle/>
                    <a:p>
                      <a:pPr indent="0" marL="0">
                        <a:buNone/>
                      </a:pPr>
                      <a:r>
                        <a:rPr lang="en-US" sz="1300" b="1" dirty="0">
                          <a:solidFill>
                            <a:srgbClr val="1B2A4A"/>
                          </a:solidFill>
                        </a:rPr>
                        <a:t>DDS</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c>
                  <a:txBody>
                    <a:bodyPr/>
                    <a:lstStyle/>
                    <a:p>
                      <a:pPr indent="0" marL="0">
                        <a:buNone/>
                      </a:pPr>
                      <a:r>
                        <a:rPr lang="en-US" sz="1300" dirty="0">
                          <a:solidFill>
                            <a:srgbClr val="1A1A1A"/>
                          </a:solidFill>
                        </a:rPr>
                        <a:t>Digital lookup table + DAC; fine frequency resolution</a:t>
                      </a:r>
                      <a:endParaRPr lang="en-US" sz="1300" dirty="0"/>
                    </a:p>
                  </a:txBody>
                  <a:tcPr marL="88900" marR="88900" marT="38100" marB="38100">
                    <a:lnL w="0" cap="flat" cmpd="sng" algn="ctr">
                      <a:noFill/>
                    </a:lnL>
                    <a:lnR w="0" cap="flat" cmpd="sng" algn="ctr">
                      <a:noFill/>
                    </a:lnR>
                    <a:lnT w="0" cap="flat" cmpd="sng" algn="ctr">
                      <a:noFill/>
                    </a:lnT>
                    <a:lnB w="0" cap="flat" cmpd="sng" algn="ctr">
                      <a:noFill/>
                    </a:lnB>
                    <a:solidFill>
                      <a:srgbClr val="F0F4F8"/>
                    </a:solidFill>
                  </a:tcPr>
                </a:tc>
              </a:tr>
            </a:tbl>
          </a:graphicData>
        </a:graphic>
      </p:graphicFrame>
      <p:sp>
        <p:nvSpPr>
          <p:cNvPr id="5" name="Text 2"/>
          <p:cNvSpPr/>
          <p:nvPr/>
        </p:nvSpPr>
        <p:spPr>
          <a:xfrm>
            <a:off x="182880" y="4800600"/>
            <a:ext cx="4572000" cy="256032"/>
          </a:xfrm>
          <a:prstGeom prst="rect">
            <a:avLst/>
          </a:prstGeom>
          <a:noFill/>
          <a:ln/>
        </p:spPr>
        <p:txBody>
          <a:bodyPr wrap="square" rtlCol="0" anchor="ctr"/>
          <a:lstStyle/>
          <a:p>
            <a:pPr indent="0" marL="0">
              <a:buNone/>
            </a:pPr>
            <a:r>
              <a:rPr lang="en-US" sz="900" dirty="0">
                <a:solidFill>
                  <a:srgbClr val="AAAAAA"/>
                </a:solidFill>
              </a:rPr>
              <a:t>TavaOne Education — Amateur Extra</a:t>
            </a:r>
            <a:endParaRPr lang="en-US" sz="900" dirty="0"/>
          </a:p>
        </p:txBody>
      </p:sp>
      <p:sp>
        <p:nvSpPr>
          <p:cNvPr id="6" name="Text 3"/>
          <p:cNvSpPr/>
          <p:nvPr/>
        </p:nvSpPr>
        <p:spPr>
          <a:xfrm>
            <a:off x="4754880" y="4800600"/>
            <a:ext cx="4206240" cy="256032"/>
          </a:xfrm>
          <a:prstGeom prst="rect">
            <a:avLst/>
          </a:prstGeom>
          <a:noFill/>
          <a:ln/>
        </p:spPr>
        <p:txBody>
          <a:bodyPr wrap="square" rtlCol="0" anchor="ctr"/>
          <a:lstStyle/>
          <a:p>
            <a:pPr algn="r" indent="0" marL="0">
              <a:buNone/>
            </a:pPr>
            <a:r>
              <a:rPr lang="en-US" sz="900" dirty="0">
                <a:solidFill>
                  <a:srgbClr val="AAAAAA"/>
                </a:solidFill>
              </a:rPr>
              <a:t>E7 · Practical Circuits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How many flip-flops are needed to divide a frequency by 16?</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2</a:t>
            </a:r>
            <a:endParaRPr lang="en-US" sz="1600" dirty="0"/>
          </a:p>
          <a:p>
            <a:pPr>
              <a:spcAft>
                <a:spcPts val="1000"/>
              </a:spcAft>
            </a:pPr>
            <a:r>
              <a:rPr lang="en-US" sz="1600" dirty="0">
                <a:solidFill>
                  <a:srgbClr val="1A1A1A"/>
                </a:solidFill>
              </a:rPr>
              <a:t>B.  4</a:t>
            </a:r>
            <a:endParaRPr lang="en-US" sz="1600" dirty="0"/>
          </a:p>
          <a:p>
            <a:pPr>
              <a:spcAft>
                <a:spcPts val="1000"/>
              </a:spcAft>
            </a:pPr>
            <a:r>
              <a:rPr lang="en-US" sz="1600" dirty="0">
                <a:solidFill>
                  <a:srgbClr val="1A1A1A"/>
                </a:solidFill>
              </a:rPr>
              <a:t>C.  8</a:t>
            </a:r>
            <a:endParaRPr lang="en-US" sz="1600" dirty="0"/>
          </a:p>
          <a:p>
            <a:pPr>
              <a:spcAft>
                <a:spcPts val="1000"/>
              </a:spcAft>
            </a:pPr>
            <a:r>
              <a:rPr lang="en-US" sz="1600" dirty="0">
                <a:solidFill>
                  <a:srgbClr val="1A1A1A"/>
                </a:solidFill>
              </a:rPr>
              <a:t>D.  16</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Each flip-flop divides by 2; 2⁴=16; need 4 stages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2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Which amplifier class is NOT suitable for SSB?</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Class A</a:t>
            </a:r>
            <a:endParaRPr lang="en-US" sz="1600" dirty="0"/>
          </a:p>
          <a:p>
            <a:pPr>
              <a:spcAft>
                <a:spcPts val="1000"/>
              </a:spcAft>
            </a:pPr>
            <a:r>
              <a:rPr lang="en-US" sz="1600" dirty="0">
                <a:solidFill>
                  <a:srgbClr val="1A1A1A"/>
                </a:solidFill>
              </a:rPr>
              <a:t>B.  Class AB</a:t>
            </a:r>
            <a:endParaRPr lang="en-US" sz="1600" dirty="0"/>
          </a:p>
          <a:p>
            <a:pPr>
              <a:spcAft>
                <a:spcPts val="1000"/>
              </a:spcAft>
            </a:pPr>
            <a:r>
              <a:rPr lang="en-US" sz="1600" dirty="0">
                <a:solidFill>
                  <a:srgbClr val="1A1A1A"/>
                </a:solidFill>
              </a:rPr>
              <a:t>C.  Class C</a:t>
            </a:r>
            <a:endParaRPr lang="en-US" sz="1600" dirty="0"/>
          </a:p>
          <a:p>
            <a:pPr>
              <a:spcAft>
                <a:spcPts val="1000"/>
              </a:spcAft>
            </a:pPr>
            <a:r>
              <a:rPr lang="en-US" sz="1600" dirty="0">
                <a:solidFill>
                  <a:srgbClr val="1A1A1A"/>
                </a:solidFill>
              </a:rPr>
              <a:t>D.  Class B</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Class C conducts &lt;180°; distorts SSB (signal distortion and excessive bandwidth)</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3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type of filter has ripple in both passband and stopband?</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Butterworth</a:t>
            </a:r>
            <a:endParaRPr lang="en-US" sz="1600" dirty="0"/>
          </a:p>
          <a:p>
            <a:pPr>
              <a:spcAft>
                <a:spcPts val="1000"/>
              </a:spcAft>
            </a:pPr>
            <a:r>
              <a:rPr lang="en-US" sz="1600" dirty="0">
                <a:solidFill>
                  <a:srgbClr val="1A1A1A"/>
                </a:solidFill>
              </a:rPr>
              <a:t>B.  Bessel</a:t>
            </a:r>
            <a:endParaRPr lang="en-US" sz="1600" dirty="0"/>
          </a:p>
          <a:p>
            <a:pPr>
              <a:spcAft>
                <a:spcPts val="1000"/>
              </a:spcAft>
            </a:pPr>
            <a:r>
              <a:rPr lang="en-US" sz="1600" dirty="0">
                <a:solidFill>
                  <a:srgbClr val="1A1A1A"/>
                </a:solidFill>
              </a:rPr>
              <a:t>C.  Chebyshev</a:t>
            </a:r>
            <a:endParaRPr lang="en-US" sz="1600" dirty="0"/>
          </a:p>
          <a:p>
            <a:pPr>
              <a:spcAft>
                <a:spcPts val="1000"/>
              </a:spcAft>
            </a:pPr>
            <a:r>
              <a:rPr lang="en-US" sz="1600" dirty="0">
                <a:solidFill>
                  <a:srgbClr val="1A1A1A"/>
                </a:solidFill>
              </a:rPr>
              <a:t>D.  Elliptical</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D — Elliptical (Cauer): ripple in BOTH passband and stopband; steepest transition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4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does a balanced modulator produce?</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AM with full carrier</a:t>
            </a:r>
            <a:endParaRPr lang="en-US" sz="1600" dirty="0"/>
          </a:p>
          <a:p>
            <a:pPr>
              <a:spcAft>
                <a:spcPts val="1000"/>
              </a:spcAft>
            </a:pPr>
            <a:r>
              <a:rPr lang="en-US" sz="1600" dirty="0">
                <a:solidFill>
                  <a:srgbClr val="1A1A1A"/>
                </a:solidFill>
              </a:rPr>
              <a:t>B.  FM signal</a:t>
            </a:r>
            <a:endParaRPr lang="en-US" sz="1600" dirty="0"/>
          </a:p>
          <a:p>
            <a:pPr>
              <a:spcAft>
                <a:spcPts val="1000"/>
              </a:spcAft>
            </a:pPr>
            <a:r>
              <a:rPr lang="en-US" sz="1600" dirty="0">
                <a:solidFill>
                  <a:srgbClr val="1A1A1A"/>
                </a:solidFill>
              </a:rPr>
              <a:t>C.  DSB with suppressed carrier</a:t>
            </a:r>
            <a:endParaRPr lang="en-US" sz="1600" dirty="0"/>
          </a:p>
          <a:p>
            <a:pPr>
              <a:spcAft>
                <a:spcPts val="1000"/>
              </a:spcAft>
            </a:pPr>
            <a:r>
              <a:rPr lang="en-US" sz="1600" dirty="0">
                <a:solidFill>
                  <a:srgbClr val="1A1A1A"/>
                </a:solidFill>
              </a:rPr>
              <a:t>D.  SSB with pilot carrier</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Balanced modulator cancels the carrier; produces Double Sideband Suppressed Carrier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5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dynamic range per bit in an ADC?</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3 dB</a:t>
            </a:r>
            <a:endParaRPr lang="en-US" sz="1600" dirty="0"/>
          </a:p>
          <a:p>
            <a:pPr>
              <a:spcAft>
                <a:spcPts val="1000"/>
              </a:spcAft>
            </a:pPr>
            <a:r>
              <a:rPr lang="en-US" sz="1600" dirty="0">
                <a:solidFill>
                  <a:srgbClr val="1A1A1A"/>
                </a:solidFill>
              </a:rPr>
              <a:t>B.  6 dB</a:t>
            </a:r>
            <a:endParaRPr lang="en-US" sz="1600" dirty="0"/>
          </a:p>
          <a:p>
            <a:pPr>
              <a:spcAft>
                <a:spcPts val="1000"/>
              </a:spcAft>
            </a:pPr>
            <a:r>
              <a:rPr lang="en-US" sz="1600" dirty="0">
                <a:solidFill>
                  <a:srgbClr val="1A1A1A"/>
                </a:solidFill>
              </a:rPr>
              <a:t>C.  12 dB</a:t>
            </a:r>
            <a:endParaRPr lang="en-US" sz="1600" dirty="0"/>
          </a:p>
          <a:p>
            <a:pPr>
              <a:spcAft>
                <a:spcPts val="1000"/>
              </a:spcAft>
            </a:pPr>
            <a:r>
              <a:rPr lang="en-US" sz="1600" dirty="0">
                <a:solidFill>
                  <a:srgbClr val="1A1A1A"/>
                </a:solidFill>
              </a:rPr>
              <a:t>D.  20 dB</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Approximately 6 dB per bit (more precisely 6.02 dB)</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6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gain of an inverting op-amp with Rin=2.2kΩ and Rf=22kΩ?</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+10</a:t>
            </a:r>
            <a:endParaRPr lang="en-US" sz="1600" dirty="0"/>
          </a:p>
          <a:p>
            <a:pPr>
              <a:spcAft>
                <a:spcPts val="1000"/>
              </a:spcAft>
            </a:pPr>
            <a:r>
              <a:rPr lang="en-US" sz="1600" dirty="0">
                <a:solidFill>
                  <a:srgbClr val="1A1A1A"/>
                </a:solidFill>
              </a:rPr>
              <a:t>B.  -10</a:t>
            </a:r>
            <a:endParaRPr lang="en-US" sz="1600" dirty="0"/>
          </a:p>
          <a:p>
            <a:pPr>
              <a:spcAft>
                <a:spcPts val="1000"/>
              </a:spcAft>
            </a:pPr>
            <a:r>
              <a:rPr lang="en-US" sz="1600" dirty="0">
                <a:solidFill>
                  <a:srgbClr val="1A1A1A"/>
                </a:solidFill>
              </a:rPr>
              <a:t>C.  +11</a:t>
            </a:r>
            <a:endParaRPr lang="en-US" sz="1600" dirty="0"/>
          </a:p>
          <a:p>
            <a:pPr>
              <a:spcAft>
                <a:spcPts val="1000"/>
              </a:spcAft>
            </a:pPr>
            <a:r>
              <a:rPr lang="en-US" sz="1600" dirty="0">
                <a:solidFill>
                  <a:srgbClr val="1A1A1A"/>
                </a:solidFill>
              </a:rPr>
              <a:t>D.  -11</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Gain = -(Rf/Rin) = -(22k/2.2k) = -10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7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gain of a non-inverting op-amp with Rin=1kΩ and Rf=4.7kΩ?</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4.7</a:t>
            </a:r>
            <a:endParaRPr lang="en-US" sz="1600" dirty="0"/>
          </a:p>
          <a:p>
            <a:pPr>
              <a:spcAft>
                <a:spcPts val="1000"/>
              </a:spcAft>
            </a:pPr>
            <a:r>
              <a:rPr lang="en-US" sz="1600" dirty="0">
                <a:solidFill>
                  <a:srgbClr val="1A1A1A"/>
                </a:solidFill>
              </a:rPr>
              <a:t>B.  -4.7</a:t>
            </a:r>
            <a:endParaRPr lang="en-US" sz="1600" dirty="0"/>
          </a:p>
          <a:p>
            <a:pPr>
              <a:spcAft>
                <a:spcPts val="1000"/>
              </a:spcAft>
            </a:pPr>
            <a:r>
              <a:rPr lang="en-US" sz="1600" dirty="0">
                <a:solidFill>
                  <a:srgbClr val="1A1A1A"/>
                </a:solidFill>
              </a:rPr>
              <a:t>C.  5.7</a:t>
            </a:r>
            <a:endParaRPr lang="en-US" sz="1600" dirty="0"/>
          </a:p>
          <a:p>
            <a:pPr>
              <a:spcAft>
                <a:spcPts val="1000"/>
              </a:spcAft>
            </a:pPr>
            <a:r>
              <a:rPr lang="en-US" sz="1600" dirty="0">
                <a:solidFill>
                  <a:srgbClr val="1A1A1A"/>
                </a:solidFill>
              </a:rPr>
              <a:t>D.  -5.7</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Gain = 1 + (Rf/Rin) = 1 + (4.7k/1k) = 5.7</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8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A Colpitts oscillator uses which type of feedback network?</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Tapped inductor</a:t>
            </a:r>
            <a:endParaRPr lang="en-US" sz="1600" dirty="0"/>
          </a:p>
          <a:p>
            <a:pPr>
              <a:spcAft>
                <a:spcPts val="1000"/>
              </a:spcAft>
            </a:pPr>
            <a:r>
              <a:rPr lang="en-US" sz="1600" dirty="0">
                <a:solidFill>
                  <a:srgbClr val="1A1A1A"/>
                </a:solidFill>
              </a:rPr>
              <a:t>B.  Capacitive voltage divider</a:t>
            </a:r>
            <a:endParaRPr lang="en-US" sz="1600" dirty="0"/>
          </a:p>
          <a:p>
            <a:pPr>
              <a:spcAft>
                <a:spcPts val="1000"/>
              </a:spcAft>
            </a:pPr>
            <a:r>
              <a:rPr lang="en-US" sz="1600" dirty="0">
                <a:solidFill>
                  <a:srgbClr val="1A1A1A"/>
                </a:solidFill>
              </a:rPr>
              <a:t>C.  Crystal</a:t>
            </a:r>
            <a:endParaRPr lang="en-US" sz="1600" dirty="0"/>
          </a:p>
          <a:p>
            <a:pPr>
              <a:spcAft>
                <a:spcPts val="1000"/>
              </a:spcAft>
            </a:pPr>
            <a:r>
              <a:rPr lang="en-US" sz="1600" dirty="0">
                <a:solidFill>
                  <a:srgbClr val="1A1A1A"/>
                </a:solidFill>
              </a:rPr>
              <a:t>D.  Phase-shift network</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Colpitts: two capacitors form a voltage divider; the junction provides feedback</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9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What is the main advantage of a PLL synthesizer over a free-running VFO?</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Wider tuning range</a:t>
            </a:r>
            <a:endParaRPr lang="en-US" sz="1600" dirty="0"/>
          </a:p>
          <a:p>
            <a:pPr>
              <a:spcAft>
                <a:spcPts val="1000"/>
              </a:spcAft>
            </a:pPr>
            <a:r>
              <a:rPr lang="en-US" sz="1600" dirty="0">
                <a:solidFill>
                  <a:srgbClr val="1A1A1A"/>
                </a:solidFill>
              </a:rPr>
              <a:t>B.  Simpler circuit</a:t>
            </a:r>
            <a:endParaRPr lang="en-US" sz="1600" dirty="0"/>
          </a:p>
          <a:p>
            <a:pPr>
              <a:spcAft>
                <a:spcPts val="1000"/>
              </a:spcAft>
            </a:pPr>
            <a:r>
              <a:rPr lang="en-US" sz="1600" dirty="0">
                <a:solidFill>
                  <a:srgbClr val="1A1A1A"/>
                </a:solidFill>
              </a:rPr>
              <a:t>C.  Frequency stability referenced to a crystal</a:t>
            </a:r>
            <a:endParaRPr lang="en-US" sz="1600" dirty="0"/>
          </a:p>
          <a:p>
            <a:pPr>
              <a:spcAft>
                <a:spcPts val="1000"/>
              </a:spcAft>
            </a:pPr>
            <a:r>
              <a:rPr lang="en-US" sz="1600" dirty="0">
                <a:solidFill>
                  <a:srgbClr val="1A1A1A"/>
                </a:solidFill>
              </a:rPr>
              <a:t>D.  Lower phase noise</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C — PLL locks the VCO to a crystal reference; gives crystal stability across the tuning range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E7D52"/>
          </a:solidFill>
          <a:ln/>
        </p:spPr>
      </p:sp>
      <p:sp>
        <p:nvSpPr>
          <p:cNvPr id="3" name="Text 1"/>
          <p:cNvSpPr/>
          <p:nvPr/>
        </p:nvSpPr>
        <p:spPr>
          <a:xfrm>
            <a:off x="274320" y="73152"/>
            <a:ext cx="8595360" cy="685800"/>
          </a:xfrm>
          <a:prstGeom prst="rect">
            <a:avLst/>
          </a:prstGeom>
          <a:noFill/>
          <a:ln/>
        </p:spPr>
        <p:txBody>
          <a:bodyPr wrap="square" rtlCol="0" anchor="ctr"/>
          <a:lstStyle/>
          <a:p>
            <a:pPr indent="0" marL="0">
              <a:buNone/>
            </a:pPr>
            <a:r>
              <a:rPr lang="en-US" sz="2000" b="1" dirty="0">
                <a:solidFill>
                  <a:srgbClr val="FFFFFF"/>
                </a:solidFill>
              </a:rPr>
              <a:t>Checkpoint Quiz  10 / 10</a:t>
            </a:r>
            <a:endParaRPr lang="en-US" sz="2000" dirty="0"/>
          </a:p>
        </p:txBody>
      </p:sp>
      <p:sp>
        <p:nvSpPr>
          <p:cNvPr id="4" name="Text 2"/>
          <p:cNvSpPr txBox="1"/>
          <p:nvPr/>
        </p:nvSpPr>
        <p:spPr>
          <a:xfrm>
            <a:off x="365760" y="914400"/>
            <a:ext cx="8412480" cy="1005840"/>
          </a:xfrm>
          <a:prstGeom prst="rect">
            <a:avLst/>
          </a:prstGeom>
          <a:noFill/>
          <a:ln/>
        </p:spPr>
        <p:txBody>
          <a:bodyPr wrap="square" lIns="0" tIns="0" rIns="0" bIns="0" rtlCol="0" anchor="t"/>
          <a:lstStyle/>
          <a:p>
            <a:pPr indent="0" marL="0">
              <a:buNone/>
            </a:pPr>
            <a:r>
              <a:rPr lang="en-US" sz="1800" b="1" dirty="0">
                <a:solidFill>
                  <a:srgbClr val="1B2A4A"/>
                </a:solidFill>
              </a:rPr>
              <a:t>An astable multivibrator is best described as:</a:t>
            </a:r>
            <a:endParaRPr lang="en-US" sz="1800" dirty="0"/>
          </a:p>
        </p:txBody>
      </p:sp>
      <p:sp>
        <p:nvSpPr>
          <p:cNvPr id="5" name="Text 3"/>
          <p:cNvSpPr txBox="1"/>
          <p:nvPr/>
        </p:nvSpPr>
        <p:spPr>
          <a:xfrm>
            <a:off x="457200" y="2011680"/>
            <a:ext cx="8229600" cy="2194560"/>
          </a:xfrm>
          <a:prstGeom prst="rect">
            <a:avLst/>
          </a:prstGeom>
          <a:noFill/>
          <a:ln/>
        </p:spPr>
        <p:txBody>
          <a:bodyPr wrap="square" lIns="0" tIns="0" rIns="0" bIns="0" rtlCol="0" anchor="t"/>
          <a:lstStyle/>
          <a:p>
            <a:pPr>
              <a:spcAft>
                <a:spcPts val="1000"/>
              </a:spcAft>
            </a:pPr>
            <a:r>
              <a:rPr lang="en-US" sz="1600" dirty="0">
                <a:solidFill>
                  <a:srgbClr val="1A1A1A"/>
                </a:solidFill>
              </a:rPr>
              <a:t>A.  A circuit that toggles when triggered</a:t>
            </a:r>
            <a:endParaRPr lang="en-US" sz="1600" dirty="0"/>
          </a:p>
          <a:p>
            <a:pPr>
              <a:spcAft>
                <a:spcPts val="1000"/>
              </a:spcAft>
            </a:pPr>
            <a:r>
              <a:rPr lang="en-US" sz="1600" dirty="0">
                <a:solidFill>
                  <a:srgbClr val="1A1A1A"/>
                </a:solidFill>
              </a:rPr>
              <a:t>B.  A circuit that continuously alternates between two states without external triggering</a:t>
            </a:r>
            <a:endParaRPr lang="en-US" sz="1600" dirty="0"/>
          </a:p>
          <a:p>
            <a:pPr>
              <a:spcAft>
                <a:spcPts val="1000"/>
              </a:spcAft>
            </a:pPr>
            <a:r>
              <a:rPr lang="en-US" sz="1600" dirty="0">
                <a:solidFill>
                  <a:srgbClr val="1A1A1A"/>
                </a:solidFill>
              </a:rPr>
              <a:t>C.  A frequency divider</a:t>
            </a:r>
            <a:endParaRPr lang="en-US" sz="1600" dirty="0"/>
          </a:p>
          <a:p>
            <a:pPr>
              <a:spcAft>
                <a:spcPts val="1000"/>
              </a:spcAft>
            </a:pPr>
            <a:r>
              <a:rPr lang="en-US" sz="1600" dirty="0">
                <a:solidFill>
                  <a:srgbClr val="1A1A1A"/>
                </a:solidFill>
              </a:rPr>
              <a:t>D.  A bistable memory element</a:t>
            </a:r>
            <a:endParaRPr lang="en-US" sz="1600" dirty="0"/>
          </a:p>
        </p:txBody>
      </p:sp>
      <p:sp>
        <p:nvSpPr>
          <p:cNvPr id="6" name="Shape 4"/>
          <p:cNvSpPr/>
          <p:nvPr/>
        </p:nvSpPr>
        <p:spPr>
          <a:xfrm>
            <a:off x="0" y="4480560"/>
            <a:ext cx="9144000" cy="658368"/>
          </a:xfrm>
          <a:prstGeom prst="rect">
            <a:avLst/>
          </a:prstGeom>
          <a:solidFill>
            <a:srgbClr val="1B2A4A"/>
          </a:solidFill>
          <a:ln/>
        </p:spPr>
      </p:sp>
      <p:sp>
        <p:nvSpPr>
          <p:cNvPr id="7" name="Text 5"/>
          <p:cNvSpPr/>
          <p:nvPr/>
        </p:nvSpPr>
        <p:spPr>
          <a:xfrm>
            <a:off x="365760" y="4507992"/>
            <a:ext cx="8412480" cy="594360"/>
          </a:xfrm>
          <a:prstGeom prst="rect">
            <a:avLst/>
          </a:prstGeom>
          <a:noFill/>
          <a:ln/>
        </p:spPr>
        <p:txBody>
          <a:bodyPr wrap="square" rtlCol="0" anchor="ctr"/>
          <a:lstStyle/>
          <a:p>
            <a:pPr indent="0" marL="0">
              <a:buNone/>
            </a:pPr>
            <a:r>
              <a:rPr lang="en-US" sz="1400" b="1" dirty="0">
                <a:solidFill>
                  <a:srgbClr val="FFFFFF"/>
                </a:solidFill>
              </a:rPr>
              <a:t>Answer: B — Astable: no stable state; generates its own square wave continuously</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Text 1"/>
          <p:cNvSpPr/>
          <p:nvPr/>
        </p:nvSpPr>
        <p:spPr>
          <a:xfrm>
            <a:off x="457200" y="640080"/>
            <a:ext cx="8229600" cy="731520"/>
          </a:xfrm>
          <a:prstGeom prst="rect">
            <a:avLst/>
          </a:prstGeom>
          <a:noFill/>
          <a:ln/>
        </p:spPr>
        <p:txBody>
          <a:bodyPr wrap="square" rtlCol="0" anchor="ctr"/>
          <a:lstStyle/>
          <a:p>
            <a:pPr indent="0" marL="0">
              <a:buNone/>
            </a:pPr>
            <a:r>
              <a:rPr lang="en-US" sz="3000" b="1" dirty="0">
                <a:solidFill>
                  <a:srgbClr val="FFFFFF"/>
                </a:solidFill>
              </a:rPr>
              <a:t>Before Module 6</a:t>
            </a:r>
            <a:endParaRPr lang="en-US" sz="3000" dirty="0"/>
          </a:p>
        </p:txBody>
      </p:sp>
      <p:sp>
        <p:nvSpPr>
          <p:cNvPr id="4" name="Text 2"/>
          <p:cNvSpPr/>
          <p:nvPr/>
        </p:nvSpPr>
        <p:spPr>
          <a:xfrm>
            <a:off x="457200" y="1508760"/>
            <a:ext cx="8229600" cy="365760"/>
          </a:xfrm>
          <a:prstGeom prst="rect">
            <a:avLst/>
          </a:prstGeom>
          <a:noFill/>
          <a:ln/>
        </p:spPr>
        <p:txBody>
          <a:bodyPr wrap="square" rtlCol="0" anchor="ctr"/>
          <a:lstStyle/>
          <a:p>
            <a:pPr indent="0" marL="0">
              <a:buNone/>
            </a:pPr>
            <a:r>
              <a:rPr lang="en-US" sz="1700" b="1" dirty="0">
                <a:solidFill>
                  <a:srgbClr val="2E7D52"/>
                </a:solidFill>
              </a:rPr>
              <a:t>Your assignment:</a:t>
            </a:r>
            <a:endParaRPr lang="en-US" sz="1700" dirty="0"/>
          </a:p>
        </p:txBody>
      </p:sp>
      <p:sp>
        <p:nvSpPr>
          <p:cNvPr id="5" name="Text 3"/>
          <p:cNvSpPr txBox="1"/>
          <p:nvPr/>
        </p:nvSpPr>
        <p:spPr>
          <a:xfrm>
            <a:off x="457200" y="1920240"/>
            <a:ext cx="8229600" cy="1828800"/>
          </a:xfrm>
          <a:prstGeom prst="rect">
            <a:avLst/>
          </a:prstGeom>
          <a:noFill/>
          <a:ln/>
        </p:spPr>
        <p:txBody>
          <a:bodyPr wrap="square" lIns="0" tIns="0" rIns="0" bIns="0" rtlCol="0" anchor="t"/>
          <a:lstStyle/>
          <a:p>
            <a:pPr marL="190500" indent="-190500">
              <a:spcAft>
                <a:spcPts val="700"/>
              </a:spcAft>
              <a:buSzPct val="100000"/>
              <a:buChar char="•"/>
            </a:pPr>
            <a:r>
              <a:rPr lang="en-US" sz="1600" dirty="0">
                <a:solidFill>
                  <a:srgbClr val="FFFFFF"/>
                </a:solidFill>
              </a:rPr>
              <a:t>Drill HamStudy E7A-E7H to 80%+ confidence — this subelement takes the most time</a:t>
            </a:r>
            <a:endParaRPr lang="en-US" sz="1600" dirty="0"/>
          </a:p>
          <a:p>
            <a:pPr marL="190500" indent="-190500">
              <a:spcAft>
                <a:spcPts val="700"/>
              </a:spcAft>
              <a:buSzPct val="100000"/>
              <a:buChar char="•"/>
            </a:pPr>
            <a:r>
              <a:rPr lang="en-US" sz="1600" dirty="0">
                <a:solidFill>
                  <a:srgbClr val="FFFFFF"/>
                </a:solidFill>
              </a:rPr>
              <a:t>Practice the two op-amp gain formulas until they're automatic</a:t>
            </a:r>
            <a:endParaRPr lang="en-US" sz="1600" dirty="0"/>
          </a:p>
          <a:p>
            <a:pPr marL="190500" indent="-190500">
              <a:spcAft>
                <a:spcPts val="700"/>
              </a:spcAft>
              <a:buSzPct val="100000"/>
              <a:buChar char="•"/>
            </a:pPr>
            <a:r>
              <a:rPr lang="en-US" sz="1600" dirty="0">
                <a:solidFill>
                  <a:srgbClr val="FFFFFF"/>
                </a:solidFill>
              </a:rPr>
              <a:t>Know all three filter names and their passband/stopband ripple behavior</a:t>
            </a:r>
            <a:endParaRPr lang="en-US" sz="1600" dirty="0"/>
          </a:p>
        </p:txBody>
      </p:sp>
      <p:sp>
        <p:nvSpPr>
          <p:cNvPr id="6" name="Text 4"/>
          <p:cNvSpPr/>
          <p:nvPr/>
        </p:nvSpPr>
        <p:spPr>
          <a:xfrm>
            <a:off x="457200" y="3794760"/>
            <a:ext cx="8229600" cy="320040"/>
          </a:xfrm>
          <a:prstGeom prst="rect">
            <a:avLst/>
          </a:prstGeom>
          <a:noFill/>
          <a:ln/>
        </p:spPr>
        <p:txBody>
          <a:bodyPr wrap="square" rtlCol="0" anchor="ctr"/>
          <a:lstStyle/>
          <a:p>
            <a:pPr indent="0" marL="0">
              <a:buNone/>
            </a:pPr>
            <a:r>
              <a:rPr lang="en-US" sz="1500" b="1" dirty="0">
                <a:solidFill>
                  <a:srgbClr val="2E7D52"/>
                </a:solidFill>
              </a:rPr>
              <a:t>Coming up:</a:t>
            </a:r>
            <a:endParaRPr lang="en-US" sz="1500" dirty="0"/>
          </a:p>
        </p:txBody>
      </p:sp>
      <p:sp>
        <p:nvSpPr>
          <p:cNvPr id="7" name="Text 5"/>
          <p:cNvSpPr/>
          <p:nvPr/>
        </p:nvSpPr>
        <p:spPr>
          <a:xfrm>
            <a:off x="457200" y="4114800"/>
            <a:ext cx="8229600" cy="548640"/>
          </a:xfrm>
          <a:prstGeom prst="rect">
            <a:avLst/>
          </a:prstGeom>
          <a:noFill/>
          <a:ln/>
        </p:spPr>
        <p:txBody>
          <a:bodyPr wrap="square" rtlCol="0" anchor="ctr"/>
          <a:lstStyle/>
          <a:p>
            <a:pPr indent="0" marL="0">
              <a:buNone/>
            </a:pPr>
            <a:r>
              <a:rPr lang="en-US" sz="1400" dirty="0">
                <a:solidFill>
                  <a:srgbClr val="AACCBB"/>
                </a:solidFill>
              </a:rPr>
              <a:t>Module 6: Signals, Emissions &amp; Safety — only 5 questions but includes formulas (Carson's rule, RMS voltage, modulation index). Good recovery module after this 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2026-09-19T04:01:46Z</dcterms:created>
  <dcterms:modified xsi:type="dcterms:W3CDTF">2026-09-19T04:01:46Z</dcterms:modified>
</cp:coreProperties>
</file>