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opening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expectation: this is the math session. It's not the most fun, but it's the one that unlocks everything else. Students who skip this and wonder why the Smith chart makes no sense later — it's because they didn't do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Resonance is the single concept that underlies filters, tank circuits, and antenna tuners. Get this solid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the example on the board. Have students plug it in on their calculators. sqrt(10e-6 × 100e-12) = sqrt(1e-15) = 3.162e-8. Then 1/(2π × 3.162e-8) = 5.03 MHz. Make them get the same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Sketch the resonance curve on the board: a peak at resonance with the bandwidth measured between the two -3 dB points. High Q = tall narrow peak. Low Q = short wide peak. Same area under the curve.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constants are the key to understanding filters, amplifier coupling, and how fast circuits respond to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charging curve: starts at 0, climbs steeply, then flattens asymptotically toward full voltage. Mark the 63.2% point at one time constant. Students find the 63.2% number strange — explain it comes from (1-1/e).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work the first example on paper: tan(theta)=(100-60)/40 = 1.0, theta = arctan(1.0) = 45 degrees. The positive result means inductive (XL &gt; XC). This is a direct exam calculation.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Impedance notation shows up constantly in antenna and circuit work. Being fluent in rectangular and polar notation is essential for the Smith chart in Module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rectangular coordinate system: horizontal = R, vertical = jX. Inductive above the line, capacitive below. Every impedance is a point in this plane.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the 3-4-5 triangle: 30² + 40² = 900 + 1600 = 2500, sqrt = 50. Students who remember Pythagorean theorem will find this comfortable.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RF effects explain why components that work perfectly at 60 Hz cause problems at 100 MHz. These are practical concepts every Extra-class operator should understand.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simple demo: ask what's wrong with using a 100μF electrolytic as a bypass capacitor on a VHF transmitter. Answer: at 100 MHz its parasitic inductance makes it look like an inductor, not a capacitor.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explains why a loaded antenna with high SWR can still radiate effectively — the reactive power sloshes back and forth but the real power still goes out. A lossy tuner wastes real power in the coil resistance.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self-quiz: cover the right column, call out the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sqrt(4e-6 × 25e-12) = sqrt(1e-16) = 1e-8. Then 1/(2π×1e-8) = 15.92 MHz.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definition of resonance in a series circuit. Minimum impedance, maximum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division. 3.5M/70 = 50k. The half-power points are at ±25 kHz from the center.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units: 47k × 0.1μ = 47,000 × 0.0000001 = 0.0047 seconds = 4.7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 the ICEman: L → voltage leads current. C → current leads voltage.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resistance (0 on the real axis). Capacitive = negative imaginary. Inductive = 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tan(theta) = (XL-XC)/R = (80-30)/50 = 1.0. arctan(1.0) = 45 degrees. Positive = inductive.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aluminum foil windings create inductance. At RF frequencies this dominates and the capacitor is no longer capacitive.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winding is a tiny capacitor plate relative to the next winding. At high enough frequency this capacitance dominates.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 = V × I × cos(θ). The cosine factor accounts for the phase angle; only the in-phase component does real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and send students to HamStudy.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4114800"/>
            <a:ext cx="9144000" cy="182880"/>
          </a:xfrm>
          <a:prstGeom prst="rect">
            <a:avLst/>
          </a:prstGeom>
          <a:solidFill>
            <a:srgbClr val="2E7D52"/>
          </a:solidFill>
          <a:ln/>
        </p:spPr>
      </p:sp>
      <p:sp>
        <p:nvSpPr>
          <p:cNvPr id="4" name="Text 2"/>
          <p:cNvSpPr/>
          <p:nvPr/>
        </p:nvSpPr>
        <p:spPr>
          <a:xfrm>
            <a:off x="457200" y="914400"/>
            <a:ext cx="8229600" cy="1280160"/>
          </a:xfrm>
          <a:prstGeom prst="rect">
            <a:avLst/>
          </a:prstGeom>
          <a:noFill/>
          <a:ln/>
        </p:spPr>
        <p:txBody>
          <a:bodyPr wrap="square" rtlCol="0" anchor="ctr"/>
          <a:lstStyle/>
          <a:p>
            <a:pPr indent="0" marL="0">
              <a:buNone/>
            </a:pPr>
            <a:r>
              <a:rPr lang="en-US" sz="3800" b="1" dirty="0">
                <a:solidFill>
                  <a:srgbClr val="FFFFFF"/>
                </a:solidFill>
              </a:rPr>
              <a:t>Module 3: Electrical Principles</a:t>
            </a:r>
            <a:endParaRPr lang="en-US" sz="3800" dirty="0"/>
          </a:p>
        </p:txBody>
      </p:sp>
      <p:sp>
        <p:nvSpPr>
          <p:cNvPr id="5" name="Text 3"/>
          <p:cNvSpPr/>
          <p:nvPr/>
        </p:nvSpPr>
        <p:spPr>
          <a:xfrm>
            <a:off x="457200" y="2468880"/>
            <a:ext cx="8229600" cy="640080"/>
          </a:xfrm>
          <a:prstGeom prst="rect">
            <a:avLst/>
          </a:prstGeom>
          <a:noFill/>
          <a:ln/>
        </p:spPr>
        <p:txBody>
          <a:bodyPr wrap="square" rtlCol="0" anchor="ctr"/>
          <a:lstStyle/>
          <a:p>
            <a:pPr indent="0" marL="0">
              <a:buNone/>
            </a:pPr>
            <a:r>
              <a:rPr lang="en-US" sz="1700" dirty="0">
                <a:solidFill>
                  <a:srgbClr val="AACCBB"/>
                </a:solidFill>
              </a:rPr>
              <a:t>Resonance · Q · Time Constants · Phasors · RF Effects</a:t>
            </a:r>
            <a:endParaRPr lang="en-US" sz="1700" dirty="0"/>
          </a:p>
          <a:p>
            <a:pPr indent="0" marL="0">
              <a:buNone/>
            </a:pPr>
            <a:r>
              <a:rPr lang="en-US" sz="1700" dirty="0">
                <a:solidFill>
                  <a:srgbClr val="AACCBB"/>
                </a:solidFill>
              </a:rPr>
              <a:t>2024-2028 Amateur Extra Question Pool</a:t>
            </a:r>
            <a:endParaRPr lang="en-US" sz="1700" dirty="0"/>
          </a:p>
        </p:txBody>
      </p:sp>
      <p:sp>
        <p:nvSpPr>
          <p:cNvPr id="6" name="Text 4"/>
          <p:cNvSpPr/>
          <p:nvPr/>
        </p:nvSpPr>
        <p:spPr>
          <a:xfrm>
            <a:off x="457200" y="4617720"/>
            <a:ext cx="8229600" cy="274320"/>
          </a:xfrm>
          <a:prstGeom prst="rect">
            <a:avLst/>
          </a:prstGeom>
          <a:noFill/>
          <a:ln/>
        </p:spPr>
        <p:txBody>
          <a:bodyPr wrap="square" rtlCol="0" anchor="ctr"/>
          <a:lstStyle/>
          <a:p>
            <a:pPr indent="0" marL="0">
              <a:buNone/>
            </a:pPr>
            <a:r>
              <a:rPr lang="en-US" sz="1100" dirty="0">
                <a:solidFill>
                  <a:srgbClr val="AAAAAA"/>
                </a:solidFill>
              </a:rPr>
              <a:t>TavaOne Education  ·  Pinellas STEM Radio Lab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Why This Module Matters</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Only 4 exam questions from E5 — but don't let that fool you</a:t>
            </a:r>
            <a:endParaRPr lang="en-US" sz="1600" dirty="0"/>
          </a:p>
          <a:p>
            <a:pPr marL="190500" indent="-190500">
              <a:spcAft>
                <a:spcPts val="700"/>
              </a:spcAft>
              <a:buSzPct val="100000"/>
              <a:buChar char="•"/>
            </a:pPr>
            <a:r>
              <a:rPr lang="en-US" sz="1600" dirty="0">
                <a:solidFill>
                  <a:srgbClr val="1A1A1A"/>
                </a:solidFill>
              </a:rPr>
              <a:t>E5 is the math foundation for:</a:t>
            </a:r>
            <a:endParaRPr lang="en-US" sz="1600" dirty="0"/>
          </a:p>
          <a:p>
            <a:pPr marL="190500" indent="-190500">
              <a:spcAft>
                <a:spcPts val="700"/>
              </a:spcAft>
              <a:buSzPct val="100000"/>
              <a:buChar char="•"/>
            </a:pPr>
            <a:r>
              <a:rPr lang="en-US" sz="1600" dirty="0">
                <a:solidFill>
                  <a:srgbClr val="1A1A1A"/>
                </a:solidFill>
              </a:rPr>
              <a:t>→ Module 5 (E7): amplifier biasing, filter design, op-amp calculations</a:t>
            </a:r>
            <a:endParaRPr lang="en-US" sz="1600" dirty="0"/>
          </a:p>
          <a:p>
            <a:pPr marL="190500" indent="-190500">
              <a:spcAft>
                <a:spcPts val="700"/>
              </a:spcAft>
              <a:buSzPct val="100000"/>
              <a:buChar char="•"/>
            </a:pPr>
            <a:r>
              <a:rPr lang="en-US" sz="1600" dirty="0">
                <a:solidFill>
                  <a:srgbClr val="1A1A1A"/>
                </a:solidFill>
              </a:rPr>
              <a:t>→ Module 7 (E9): antenna impedance, transmission line matching, Smith chart</a:t>
            </a:r>
            <a:endParaRPr lang="en-US" sz="1600" dirty="0"/>
          </a:p>
          <a:p>
            <a:pPr marL="190500" indent="-190500">
              <a:spcAft>
                <a:spcPts val="700"/>
              </a:spcAft>
              <a:buSzPct val="100000"/>
              <a:buChar char="•"/>
            </a:pPr>
            <a:r>
              <a:rPr lang="en-US" sz="1600" dirty="0">
                <a:solidFill>
                  <a:srgbClr val="1A1A1A"/>
                </a:solidFill>
              </a:rPr>
              <a:t>If you skip this math, you miss questions in those heavier modules</a:t>
            </a:r>
            <a:endParaRPr lang="en-US" sz="1600" dirty="0"/>
          </a:p>
          <a:p>
            <a:pPr marL="190500" indent="-190500">
              <a:spcAft>
                <a:spcPts val="700"/>
              </a:spcAft>
              <a:buSzPct val="100000"/>
              <a:buChar char="•"/>
            </a:pPr>
            <a:r>
              <a:rPr lang="en-US" sz="1600" dirty="0">
                <a:solidFill>
                  <a:srgbClr val="1A1A1A"/>
                </a:solidFill>
              </a:rPr>
              <a:t>What we cover:</a:t>
            </a:r>
            <a:endParaRPr lang="en-US" sz="1600" dirty="0"/>
          </a:p>
          <a:p>
            <a:pPr marL="190500" indent="-190500">
              <a:spcAft>
                <a:spcPts val="700"/>
              </a:spcAft>
              <a:buSzPct val="100000"/>
              <a:buChar char="•"/>
            </a:pPr>
            <a:r>
              <a:rPr lang="en-US" sz="1600" dirty="0">
                <a:solidFill>
                  <a:srgbClr val="1A1A1A"/>
                </a:solidFill>
              </a:rPr>
              <a:t>→ RLC resonance (series and parallel) and Q factor</a:t>
            </a:r>
            <a:endParaRPr lang="en-US" sz="1600" dirty="0"/>
          </a:p>
          <a:p>
            <a:pPr marL="190500" indent="-190500">
              <a:spcAft>
                <a:spcPts val="700"/>
              </a:spcAft>
              <a:buSzPct val="100000"/>
              <a:buChar char="•"/>
            </a:pPr>
            <a:r>
              <a:rPr lang="en-US" sz="1600" dirty="0">
                <a:solidFill>
                  <a:srgbClr val="1A1A1A"/>
                </a:solidFill>
              </a:rPr>
              <a:t>→ RC and RL time constants</a:t>
            </a:r>
            <a:endParaRPr lang="en-US" sz="1600" dirty="0"/>
          </a:p>
          <a:p>
            <a:pPr marL="190500" indent="-190500">
              <a:spcAft>
                <a:spcPts val="700"/>
              </a:spcAft>
              <a:buSzPct val="100000"/>
              <a:buChar char="•"/>
            </a:pPr>
            <a:r>
              <a:rPr lang="en-US" sz="1600" dirty="0">
                <a:solidFill>
                  <a:srgbClr val="1A1A1A"/>
                </a:solidFill>
              </a:rPr>
              <a:t>→ Phase angles in RLC circuits</a:t>
            </a:r>
            <a:endParaRPr lang="en-US" sz="1600" dirty="0"/>
          </a:p>
          <a:p>
            <a:pPr marL="190500" indent="-190500">
              <a:spcAft>
                <a:spcPts val="700"/>
              </a:spcAft>
              <a:buSzPct val="100000"/>
              <a:buChar char="•"/>
            </a:pPr>
            <a:r>
              <a:rPr lang="en-US" sz="1600" dirty="0">
                <a:solidFill>
                  <a:srgbClr val="1A1A1A"/>
                </a:solidFill>
              </a:rPr>
              <a:t>→ Rectangular and polar impedance notation</a:t>
            </a:r>
            <a:endParaRPr lang="en-US" sz="1600" dirty="0"/>
          </a:p>
          <a:p>
            <a:pPr marL="190500" indent="-190500">
              <a:spcAft>
                <a:spcPts val="700"/>
              </a:spcAft>
              <a:buSzPct val="100000"/>
              <a:buChar char="•"/>
            </a:pPr>
            <a:r>
              <a:rPr lang="en-US" sz="1600" dirty="0">
                <a:solidFill>
                  <a:srgbClr val="1A1A1A"/>
                </a:solidFill>
              </a:rPr>
              <a:t>→ Skin effect and reactive power</a:t>
            </a:r>
            <a:endParaRPr lang="en-US" sz="1600" dirty="0"/>
          </a:p>
          <a:p>
            <a:pPr marL="190500" indent="-190500">
              <a:spcAft>
                <a:spcPts val="700"/>
              </a:spcAft>
              <a:buSzPct val="100000"/>
              <a:buChar char="•"/>
            </a:pPr>
            <a:r>
              <a:rPr lang="en-US" sz="1600" dirty="0">
                <a:solidFill>
                  <a:srgbClr val="1A1A1A"/>
                </a:solidFill>
              </a:rPr>
              <a:t>Bring a calculator — we will work practice problems</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E5 · Electrical Principles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137160" cy="5143500"/>
          </a:xfrm>
          <a:prstGeom prst="rect">
            <a:avLst/>
          </a:prstGeom>
          <a:solidFill>
            <a:srgbClr val="2E7D52"/>
          </a:solidFill>
          <a:ln/>
        </p:spPr>
      </p:sp>
      <p:sp>
        <p:nvSpPr>
          <p:cNvPr id="4" name="Text 2"/>
          <p:cNvSpPr/>
          <p:nvPr/>
        </p:nvSpPr>
        <p:spPr>
          <a:xfrm>
            <a:off x="457200" y="1463040"/>
            <a:ext cx="8229600" cy="1280160"/>
          </a:xfrm>
          <a:prstGeom prst="rect">
            <a:avLst/>
          </a:prstGeom>
          <a:noFill/>
          <a:ln/>
        </p:spPr>
        <p:txBody>
          <a:bodyPr wrap="square" rtlCol="0" anchor="ctr"/>
          <a:lstStyle/>
          <a:p>
            <a:pPr indent="0" marL="0">
              <a:buNone/>
            </a:pPr>
            <a:r>
              <a:rPr lang="en-US" sz="3400" b="1" dirty="0">
                <a:solidFill>
                  <a:srgbClr val="FFFFFF"/>
                </a:solidFill>
              </a:rPr>
              <a:t>Part 1: RLC Resonance and Q</a:t>
            </a:r>
            <a:endParaRPr lang="en-US" sz="3400" dirty="0"/>
          </a:p>
        </p:txBody>
      </p:sp>
      <p:sp>
        <p:nvSpPr>
          <p:cNvPr id="5" name="Text 3"/>
          <p:cNvSpPr/>
          <p:nvPr/>
        </p:nvSpPr>
        <p:spPr>
          <a:xfrm>
            <a:off x="457200" y="2834640"/>
            <a:ext cx="8229600" cy="548640"/>
          </a:xfrm>
          <a:prstGeom prst="rect">
            <a:avLst/>
          </a:prstGeom>
          <a:noFill/>
          <a:ln/>
        </p:spPr>
        <p:txBody>
          <a:bodyPr wrap="square" rtlCol="0" anchor="ctr"/>
          <a:lstStyle/>
          <a:p>
            <a:pPr indent="0" marL="0">
              <a:buNone/>
            </a:pPr>
            <a:r>
              <a:rPr lang="en-US" sz="1700" dirty="0">
                <a:solidFill>
                  <a:srgbClr val="AACCBB"/>
                </a:solidFill>
              </a:rPr>
              <a:t>Subelement E5A — 1 exam question</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Series RLC Resonance</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At resonance: XL = XC (inductive and capacitive reactances are equal)</a:t>
            </a:r>
            <a:endParaRPr lang="en-US" sz="1600" dirty="0"/>
          </a:p>
          <a:p>
            <a:pPr marL="190500" indent="-190500">
              <a:spcAft>
                <a:spcPts val="700"/>
              </a:spcAft>
              <a:buSzPct val="100000"/>
              <a:buChar char="•"/>
            </a:pPr>
            <a:r>
              <a:rPr lang="en-US" sz="1600" dirty="0">
                <a:solidFill>
                  <a:srgbClr val="1A1A1A"/>
                </a:solidFill>
              </a:rPr>
              <a:t>Series circuit behavior at resonance:</a:t>
            </a:r>
            <a:endParaRPr lang="en-US" sz="1600" dirty="0"/>
          </a:p>
          <a:p>
            <a:pPr marL="190500" indent="-190500">
              <a:spcAft>
                <a:spcPts val="700"/>
              </a:spcAft>
              <a:buSzPct val="100000"/>
              <a:buChar char="•"/>
            </a:pPr>
            <a:r>
              <a:rPr lang="en-US" sz="1600" dirty="0">
                <a:solidFill>
                  <a:srgbClr val="1A1A1A"/>
                </a:solidFill>
              </a:rPr>
              <a:t>→ Total impedance = resistance only (MINIMUM impedance — current is maximum)</a:t>
            </a:r>
            <a:endParaRPr lang="en-US" sz="1600" dirty="0"/>
          </a:p>
          <a:p>
            <a:pPr marL="190500" indent="-190500">
              <a:spcAft>
                <a:spcPts val="700"/>
              </a:spcAft>
              <a:buSzPct val="100000"/>
              <a:buChar char="•"/>
            </a:pPr>
            <a:r>
              <a:rPr lang="en-US" sz="1600" dirty="0">
                <a:solidFill>
                  <a:srgbClr val="1A1A1A"/>
                </a:solidFill>
              </a:rPr>
              <a:t>→ Voltage across L or C can EXCEED the applied voltage</a:t>
            </a:r>
            <a:endParaRPr lang="en-US" sz="1600" dirty="0"/>
          </a:p>
          <a:p>
            <a:pPr marL="190500" indent="-190500">
              <a:spcAft>
                <a:spcPts val="700"/>
              </a:spcAft>
              <a:buSzPct val="100000"/>
              <a:buChar char="•"/>
            </a:pPr>
            <a:r>
              <a:rPr lang="en-US" sz="1600" dirty="0">
                <a:solidFill>
                  <a:srgbClr val="1A1A1A"/>
                </a:solidFill>
              </a:rPr>
              <a:t>→ The Q ratio tells you how much: VL (or VC) = Q × Vapplied</a:t>
            </a:r>
            <a:endParaRPr lang="en-US" sz="1600" dirty="0"/>
          </a:p>
          <a:p>
            <a:pPr marL="190500" indent="-190500">
              <a:spcAft>
                <a:spcPts val="700"/>
              </a:spcAft>
              <a:buSzPct val="100000"/>
              <a:buChar char="•"/>
            </a:pPr>
            <a:r>
              <a:rPr lang="en-US" sz="1600" dirty="0">
                <a:solidFill>
                  <a:srgbClr val="1A1A1A"/>
                </a:solidFill>
              </a:rPr>
              <a:t>Resonant frequency formula:</a:t>
            </a:r>
            <a:endParaRPr lang="en-US" sz="1600" dirty="0"/>
          </a:p>
          <a:p>
            <a:pPr marL="190500" indent="-190500">
              <a:spcAft>
                <a:spcPts val="700"/>
              </a:spcAft>
              <a:buSzPct val="100000"/>
              <a:buChar char="•"/>
            </a:pPr>
            <a:r>
              <a:rPr lang="en-US" sz="1600" dirty="0">
                <a:solidFill>
                  <a:srgbClr val="1A1A1A"/>
                </a:solidFill>
              </a:rPr>
              <a:t>f = 1 / (2π × sqrt(L × C))</a:t>
            </a:r>
            <a:endParaRPr lang="en-US" sz="1600" dirty="0"/>
          </a:p>
          <a:p>
            <a:pPr marL="190500" indent="-190500">
              <a:spcAft>
                <a:spcPts val="700"/>
              </a:spcAft>
              <a:buSzPct val="100000"/>
              <a:buChar char="•"/>
            </a:pPr>
            <a:r>
              <a:rPr lang="en-US" sz="1600" dirty="0">
                <a:solidFill>
                  <a:srgbClr val="1A1A1A"/>
                </a:solidFill>
              </a:rPr>
              <a:t>→ f in Hz, L in henrys, C in farads</a:t>
            </a:r>
            <a:endParaRPr lang="en-US" sz="1600" dirty="0"/>
          </a:p>
          <a:p>
            <a:pPr marL="190500" indent="-190500">
              <a:spcAft>
                <a:spcPts val="700"/>
              </a:spcAft>
              <a:buSzPct val="100000"/>
              <a:buChar char="•"/>
            </a:pPr>
            <a:r>
              <a:rPr lang="en-US" sz="1600" dirty="0">
                <a:solidFill>
                  <a:srgbClr val="1A1A1A"/>
                </a:solidFill>
              </a:rPr>
              <a:t>→ Example: L = 10 uH, C = 100 pF → f = 1/(2π × sqrt(10e-6 × 100e-12)) = 5.03 MHz</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E5 · Electrical Principles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Parallel RLC Resonance and Q Factor</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Parallel circuit at resonance:</a:t>
            </a:r>
            <a:endParaRPr lang="en-US" sz="1600" dirty="0"/>
          </a:p>
          <a:p>
            <a:pPr marL="190500" indent="-190500">
              <a:spcAft>
                <a:spcPts val="700"/>
              </a:spcAft>
              <a:buSzPct val="100000"/>
              <a:buChar char="•"/>
            </a:pPr>
            <a:r>
              <a:rPr lang="en-US" sz="1600" dirty="0">
                <a:solidFill>
                  <a:srgbClr val="1A1A1A"/>
                </a:solidFill>
              </a:rPr>
              <a:t>→ Impedance is at MAXIMUM (approximately R × Q²)</a:t>
            </a:r>
            <a:endParaRPr lang="en-US" sz="1600" dirty="0"/>
          </a:p>
          <a:p>
            <a:pPr marL="190500" indent="-190500">
              <a:spcAft>
                <a:spcPts val="700"/>
              </a:spcAft>
              <a:buSzPct val="100000"/>
              <a:buChar char="•"/>
            </a:pPr>
            <a:r>
              <a:rPr lang="en-US" sz="1600" dirty="0">
                <a:solidFill>
                  <a:srgbClr val="1A1A1A"/>
                </a:solidFill>
              </a:rPr>
              <a:t>→ Source current is at MINIMUM</a:t>
            </a:r>
            <a:endParaRPr lang="en-US" sz="1600" dirty="0"/>
          </a:p>
          <a:p>
            <a:pPr marL="190500" indent="-190500">
              <a:spcAft>
                <a:spcPts val="700"/>
              </a:spcAft>
              <a:buSzPct val="100000"/>
              <a:buChar char="•"/>
            </a:pPr>
            <a:r>
              <a:rPr lang="en-US" sz="1600" dirty="0">
                <a:solidFill>
                  <a:srgbClr val="1A1A1A"/>
                </a:solidFill>
              </a:rPr>
              <a:t>→ Circulating current between L and C is at MAXIMUM</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Q Factor:</a:t>
            </a:r>
            <a:endParaRPr lang="en-US" sz="1600" dirty="0"/>
          </a:p>
          <a:p>
            <a:pPr marL="190500" indent="-190500">
              <a:spcAft>
                <a:spcPts val="700"/>
              </a:spcAft>
              <a:buSzPct val="100000"/>
              <a:buChar char="•"/>
            </a:pPr>
            <a:r>
              <a:rPr lang="en-US" sz="1600" dirty="0">
                <a:solidFill>
                  <a:srgbClr val="1A1A1A"/>
                </a:solidFill>
              </a:rPr>
              <a:t>→ Series circuit: Q = XL/R (reactance-to-resistance ratio)</a:t>
            </a:r>
            <a:endParaRPr lang="en-US" sz="1600" dirty="0"/>
          </a:p>
          <a:p>
            <a:pPr marL="190500" indent="-190500">
              <a:spcAft>
                <a:spcPts val="700"/>
              </a:spcAft>
              <a:buSzPct val="100000"/>
              <a:buChar char="•"/>
            </a:pPr>
            <a:r>
              <a:rPr lang="en-US" sz="1600" dirty="0">
                <a:solidFill>
                  <a:srgbClr val="1A1A1A"/>
                </a:solidFill>
              </a:rPr>
              <a:t>→ Parallel circuit: Q = R/XL</a:t>
            </a:r>
            <a:endParaRPr lang="en-US" sz="1600" dirty="0"/>
          </a:p>
          <a:p>
            <a:pPr marL="190500" indent="-190500">
              <a:spcAft>
                <a:spcPts val="700"/>
              </a:spcAft>
              <a:buSzPct val="100000"/>
              <a:buChar char="•"/>
            </a:pPr>
            <a:r>
              <a:rPr lang="en-US" sz="1600" dirty="0">
                <a:solidFill>
                  <a:srgbClr val="1A1A1A"/>
                </a:solidFill>
              </a:rPr>
              <a:t>→ Higher Q = narrower bandwidth, higher internal voltages/currents</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Half-power bandwidth: BW = f_resonant / Q</a:t>
            </a:r>
            <a:endParaRPr lang="en-US" sz="1600" dirty="0"/>
          </a:p>
          <a:p>
            <a:pPr marL="190500" indent="-190500">
              <a:spcAft>
                <a:spcPts val="700"/>
              </a:spcAft>
              <a:buSzPct val="100000"/>
              <a:buChar char="•"/>
            </a:pPr>
            <a:r>
              <a:rPr lang="en-US" sz="1600" dirty="0">
                <a:solidFill>
                  <a:srgbClr val="1A1A1A"/>
                </a:solidFill>
              </a:rPr>
              <a:t>→ Example: f = 7.2 MHz, Q = 80 → BW = 7,200,000/80 = 90 kHz</a:t>
            </a:r>
            <a:endParaRPr lang="en-US" sz="1600" dirty="0"/>
          </a:p>
          <a:p>
            <a:pPr marL="190500" indent="-190500">
              <a:spcAft>
                <a:spcPts val="700"/>
              </a:spcAft>
              <a:buSzPct val="100000"/>
              <a:buChar char="•"/>
            </a:pPr>
            <a:r>
              <a:rPr lang="en-US" sz="1600" dirty="0">
                <a:solidFill>
                  <a:srgbClr val="1A1A1A"/>
                </a:solidFill>
              </a:rPr>
              <a:t>→ The -3 dB points of the resonance curve are at ±45 kHz from center</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E5 · Electrical Principles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137160" cy="5143500"/>
          </a:xfrm>
          <a:prstGeom prst="rect">
            <a:avLst/>
          </a:prstGeom>
          <a:solidFill>
            <a:srgbClr val="2E7D52"/>
          </a:solidFill>
          <a:ln/>
        </p:spPr>
      </p:sp>
      <p:sp>
        <p:nvSpPr>
          <p:cNvPr id="4" name="Text 2"/>
          <p:cNvSpPr/>
          <p:nvPr/>
        </p:nvSpPr>
        <p:spPr>
          <a:xfrm>
            <a:off x="457200" y="1463040"/>
            <a:ext cx="8229600" cy="1280160"/>
          </a:xfrm>
          <a:prstGeom prst="rect">
            <a:avLst/>
          </a:prstGeom>
          <a:noFill/>
          <a:ln/>
        </p:spPr>
        <p:txBody>
          <a:bodyPr wrap="square" rtlCol="0" anchor="ctr"/>
          <a:lstStyle/>
          <a:p>
            <a:pPr indent="0" marL="0">
              <a:buNone/>
            </a:pPr>
            <a:r>
              <a:rPr lang="en-US" sz="3400" b="1" dirty="0">
                <a:solidFill>
                  <a:srgbClr val="FFFFFF"/>
                </a:solidFill>
              </a:rPr>
              <a:t>Part 2: Time Constants and Phase</a:t>
            </a:r>
            <a:endParaRPr lang="en-US" sz="3400" dirty="0"/>
          </a:p>
        </p:txBody>
      </p:sp>
      <p:sp>
        <p:nvSpPr>
          <p:cNvPr id="5" name="Text 3"/>
          <p:cNvSpPr/>
          <p:nvPr/>
        </p:nvSpPr>
        <p:spPr>
          <a:xfrm>
            <a:off x="457200" y="2834640"/>
            <a:ext cx="8229600" cy="548640"/>
          </a:xfrm>
          <a:prstGeom prst="rect">
            <a:avLst/>
          </a:prstGeom>
          <a:noFill/>
          <a:ln/>
        </p:spPr>
        <p:txBody>
          <a:bodyPr wrap="square" rtlCol="0" anchor="ctr"/>
          <a:lstStyle/>
          <a:p>
            <a:pPr indent="0" marL="0">
              <a:buNone/>
            </a:pPr>
            <a:r>
              <a:rPr lang="en-US" sz="1700" dirty="0">
                <a:solidFill>
                  <a:srgbClr val="AACCBB"/>
                </a:solidFill>
              </a:rPr>
              <a:t>Subelement E5B — 1 exam question</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RC and RL Time Constants</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RC time constant: τ = R × C</a:t>
            </a:r>
            <a:endParaRPr lang="en-US" sz="1600" dirty="0"/>
          </a:p>
          <a:p>
            <a:pPr marL="190500" indent="-190500">
              <a:spcAft>
                <a:spcPts val="700"/>
              </a:spcAft>
              <a:buSzPct val="100000"/>
              <a:buChar char="•"/>
            </a:pPr>
            <a:r>
              <a:rPr lang="en-US" sz="1600" dirty="0">
                <a:solidFill>
                  <a:srgbClr val="1A1A1A"/>
                </a:solidFill>
              </a:rPr>
              <a:t>→ After 1τ: 63.2% of final voltage charged (36.8% remaining)</a:t>
            </a:r>
            <a:endParaRPr lang="en-US" sz="1600" dirty="0"/>
          </a:p>
          <a:p>
            <a:pPr marL="190500" indent="-190500">
              <a:spcAft>
                <a:spcPts val="700"/>
              </a:spcAft>
              <a:buSzPct val="100000"/>
              <a:buChar char="•"/>
            </a:pPr>
            <a:r>
              <a:rPr lang="en-US" sz="1600" dirty="0">
                <a:solidFill>
                  <a:srgbClr val="1A1A1A"/>
                </a:solidFill>
              </a:rPr>
              <a:t>→ After 5τ: effectively fully charged</a:t>
            </a:r>
            <a:endParaRPr lang="en-US" sz="1600" dirty="0"/>
          </a:p>
          <a:p>
            <a:pPr marL="190500" indent="-190500">
              <a:spcAft>
                <a:spcPts val="700"/>
              </a:spcAft>
              <a:buSzPct val="100000"/>
              <a:buChar char="•"/>
            </a:pPr>
            <a:r>
              <a:rPr lang="en-US" sz="1600" dirty="0">
                <a:solidFill>
                  <a:srgbClr val="1A1A1A"/>
                </a:solidFill>
              </a:rPr>
              <a:t>→ Example: R = 10kΩ, C = 1μF → τ = 10,000 × 0.000001 = 0.01 s = 10 ms</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RL time constant: τ = L/R</a:t>
            </a:r>
            <a:endParaRPr lang="en-US" sz="1600" dirty="0"/>
          </a:p>
          <a:p>
            <a:pPr marL="190500" indent="-190500">
              <a:spcAft>
                <a:spcPts val="700"/>
              </a:spcAft>
              <a:buSzPct val="100000"/>
              <a:buChar char="•"/>
            </a:pPr>
            <a:r>
              <a:rPr lang="en-US" sz="1600" dirty="0">
                <a:solidFill>
                  <a:srgbClr val="1A1A1A"/>
                </a:solidFill>
              </a:rPr>
              <a:t>→ Same 63.2% rule applies to current rise</a:t>
            </a:r>
            <a:endParaRPr lang="en-US" sz="1600" dirty="0"/>
          </a:p>
          <a:p>
            <a:pPr marL="190500" indent="-190500">
              <a:spcAft>
                <a:spcPts val="700"/>
              </a:spcAft>
              <a:buSzPct val="100000"/>
              <a:buChar char="•"/>
            </a:pPr>
            <a:r>
              <a:rPr lang="en-US" sz="1600" dirty="0">
                <a:solidFill>
                  <a:srgbClr val="1A1A1A"/>
                </a:solidFill>
              </a:rPr>
              <a:t>→ Example: L = 10 mH, R = 100Ω → τ = 0.01/100 = 100 μs</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Phase relationships — ELI the ICEman:</a:t>
            </a:r>
            <a:endParaRPr lang="en-US" sz="1600" dirty="0"/>
          </a:p>
          <a:p>
            <a:pPr marL="190500" indent="-190500">
              <a:spcAft>
                <a:spcPts val="700"/>
              </a:spcAft>
              <a:buSzPct val="100000"/>
              <a:buChar char="•"/>
            </a:pPr>
            <a:r>
              <a:rPr lang="en-US" sz="1600" dirty="0">
                <a:solidFill>
                  <a:srgbClr val="1A1A1A"/>
                </a:solidFill>
              </a:rPr>
              <a:t>→ ELI: in an inductor (L), voltage (E) leads current (I)</a:t>
            </a:r>
            <a:endParaRPr lang="en-US" sz="1600" dirty="0"/>
          </a:p>
          <a:p>
            <a:pPr marL="190500" indent="-190500">
              <a:spcAft>
                <a:spcPts val="700"/>
              </a:spcAft>
              <a:buSzPct val="100000"/>
              <a:buChar char="•"/>
            </a:pPr>
            <a:r>
              <a:rPr lang="en-US" sz="1600" dirty="0">
                <a:solidFill>
                  <a:srgbClr val="1A1A1A"/>
                </a:solidFill>
              </a:rPr>
              <a:t>→ ICE: in a capacitor (C), current (I) leads voltage (E)</a:t>
            </a:r>
            <a:endParaRPr lang="en-US" sz="1600" dirty="0"/>
          </a:p>
          <a:p>
            <a:pPr marL="190500" indent="-190500">
              <a:spcAft>
                <a:spcPts val="700"/>
              </a:spcAft>
              <a:buSzPct val="100000"/>
              <a:buChar char="•"/>
            </a:pPr>
            <a:r>
              <a:rPr lang="en-US" sz="1600" dirty="0">
                <a:solidFill>
                  <a:srgbClr val="1A1A1A"/>
                </a:solidFill>
              </a:rPr>
              <a:t>→ Both by 90 degrees</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E5 · Electrical Principles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Phase Angle in Series RLC</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Phase angle formula:</a:t>
            </a:r>
            <a:endParaRPr lang="en-US" sz="1600" dirty="0"/>
          </a:p>
          <a:p>
            <a:pPr marL="190500" indent="-190500">
              <a:spcAft>
                <a:spcPts val="700"/>
              </a:spcAft>
              <a:buSzPct val="100000"/>
              <a:buChar char="•"/>
            </a:pPr>
            <a:r>
              <a:rPr lang="en-US" sz="1600" dirty="0">
                <a:solidFill>
                  <a:srgbClr val="1A1A1A"/>
                </a:solidFill>
              </a:rPr>
              <a:t>tan(θ) = (XL - XC) / R</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Examples:</a:t>
            </a:r>
            <a:endParaRPr lang="en-US" sz="1600" dirty="0"/>
          </a:p>
          <a:p>
            <a:pPr marL="190500" indent="-190500">
              <a:spcAft>
                <a:spcPts val="700"/>
              </a:spcAft>
              <a:buSzPct val="100000"/>
              <a:buChar char="•"/>
            </a:pPr>
            <a:r>
              <a:rPr lang="en-US" sz="1600" dirty="0">
                <a:solidFill>
                  <a:srgbClr val="1A1A1A"/>
                </a:solidFill>
              </a:rPr>
              <a:t>→ XL = 100, XC = 60, R = 40: tan(θ) = 40/40 = 1.0 → θ = 45° (inductive)</a:t>
            </a:r>
            <a:endParaRPr lang="en-US" sz="1600" dirty="0"/>
          </a:p>
          <a:p>
            <a:pPr marL="190500" indent="-190500">
              <a:spcAft>
                <a:spcPts val="700"/>
              </a:spcAft>
              <a:buSzPct val="100000"/>
              <a:buChar char="•"/>
            </a:pPr>
            <a:r>
              <a:rPr lang="en-US" sz="1600" dirty="0">
                <a:solidFill>
                  <a:srgbClr val="1A1A1A"/>
                </a:solidFill>
              </a:rPr>
              <a:t>→ XL = 30, XC = 80, R = 50: tan(θ) = -50/50 = -1.0 → θ = -45° (capacitive)</a:t>
            </a:r>
            <a:endParaRPr lang="en-US" sz="1600" dirty="0"/>
          </a:p>
          <a:p>
            <a:pPr marL="190500" indent="-190500">
              <a:spcAft>
                <a:spcPts val="700"/>
              </a:spcAft>
              <a:buSzPct val="100000"/>
              <a:buChar char="•"/>
            </a:pPr>
            <a:r>
              <a:rPr lang="en-US" sz="1600" dirty="0">
                <a:solidFill>
                  <a:srgbClr val="1A1A1A"/>
                </a:solidFill>
              </a:rPr>
              <a:t>→ At resonance: XL = XC → tan(θ) = 0 → θ = 0° (purely resistive)</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Admittance: Y = 1/Z (measured in siemens)</a:t>
            </a:r>
            <a:endParaRPr lang="en-US" sz="1600" dirty="0"/>
          </a:p>
          <a:p>
            <a:pPr marL="190500" indent="-190500">
              <a:spcAft>
                <a:spcPts val="700"/>
              </a:spcAft>
              <a:buSzPct val="100000"/>
              <a:buChar char="•"/>
            </a:pPr>
            <a:r>
              <a:rPr lang="en-US" sz="1600" dirty="0">
                <a:solidFill>
                  <a:srgbClr val="1A1A1A"/>
                </a:solidFill>
              </a:rPr>
              <a:t>Susceptance: B = 1/X (imaginary part of admittance)</a:t>
            </a:r>
            <a:endParaRPr lang="en-US" sz="1600" dirty="0"/>
          </a:p>
          <a:p>
            <a:pPr marL="190500" indent="-190500">
              <a:spcAft>
                <a:spcPts val="700"/>
              </a:spcAft>
              <a:buSzPct val="100000"/>
              <a:buChar char="•"/>
            </a:pPr>
            <a:r>
              <a:rPr lang="en-US" sz="1600" dirty="0">
                <a:solidFill>
                  <a:srgbClr val="1A1A1A"/>
                </a:solidFill>
              </a:rPr>
              <a:t>Conductance: G = 1/R (real part of admittance)</a:t>
            </a:r>
            <a:endParaRPr lang="en-US" sz="1600" dirty="0"/>
          </a:p>
          <a:p>
            <a:pPr marL="190500" indent="-190500">
              <a:spcAft>
                <a:spcPts val="700"/>
              </a:spcAft>
              <a:buSzPct val="100000"/>
              <a:buChar char="•"/>
            </a:pPr>
            <a:r>
              <a:rPr lang="en-US" sz="1600" dirty="0">
                <a:solidFill>
                  <a:srgbClr val="1A1A1A"/>
                </a:solidFill>
              </a:rPr>
              <a:t>Polar to admittance: reciprocal of magnitude, negate the angle</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E5 · Electrical Principles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137160" cy="5143500"/>
          </a:xfrm>
          <a:prstGeom prst="rect">
            <a:avLst/>
          </a:prstGeom>
          <a:solidFill>
            <a:srgbClr val="2E7D52"/>
          </a:solidFill>
          <a:ln/>
        </p:spPr>
      </p:sp>
      <p:sp>
        <p:nvSpPr>
          <p:cNvPr id="4" name="Text 2"/>
          <p:cNvSpPr/>
          <p:nvPr/>
        </p:nvSpPr>
        <p:spPr>
          <a:xfrm>
            <a:off x="457200" y="1463040"/>
            <a:ext cx="8229600" cy="1280160"/>
          </a:xfrm>
          <a:prstGeom prst="rect">
            <a:avLst/>
          </a:prstGeom>
          <a:noFill/>
          <a:ln/>
        </p:spPr>
        <p:txBody>
          <a:bodyPr wrap="square" rtlCol="0" anchor="ctr"/>
          <a:lstStyle/>
          <a:p>
            <a:pPr indent="0" marL="0">
              <a:buNone/>
            </a:pPr>
            <a:r>
              <a:rPr lang="en-US" sz="3400" b="1" dirty="0">
                <a:solidFill>
                  <a:srgbClr val="FFFFFF"/>
                </a:solidFill>
              </a:rPr>
              <a:t>Part 3: Rectangular and Polar Notation</a:t>
            </a:r>
            <a:endParaRPr lang="en-US" sz="3400" dirty="0"/>
          </a:p>
        </p:txBody>
      </p:sp>
      <p:sp>
        <p:nvSpPr>
          <p:cNvPr id="5" name="Text 3"/>
          <p:cNvSpPr/>
          <p:nvPr/>
        </p:nvSpPr>
        <p:spPr>
          <a:xfrm>
            <a:off x="457200" y="2834640"/>
            <a:ext cx="8229600" cy="548640"/>
          </a:xfrm>
          <a:prstGeom prst="rect">
            <a:avLst/>
          </a:prstGeom>
          <a:noFill/>
          <a:ln/>
        </p:spPr>
        <p:txBody>
          <a:bodyPr wrap="square" rtlCol="0" anchor="ctr"/>
          <a:lstStyle/>
          <a:p>
            <a:pPr indent="0" marL="0">
              <a:buNone/>
            </a:pPr>
            <a:r>
              <a:rPr lang="en-US" sz="1700" dirty="0">
                <a:solidFill>
                  <a:srgbClr val="AACCBB"/>
                </a:solidFill>
              </a:rPr>
              <a:t>Subelement E5C — 1 exam question</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Rectangular Notation: R + jX</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Rectangular form: R + jX</a:t>
            </a:r>
            <a:endParaRPr lang="en-US" sz="1600" dirty="0"/>
          </a:p>
          <a:p>
            <a:pPr marL="190500" indent="-190500">
              <a:spcAft>
                <a:spcPts val="700"/>
              </a:spcAft>
              <a:buSzPct val="100000"/>
              <a:buChar char="•"/>
            </a:pPr>
            <a:r>
              <a:rPr lang="en-US" sz="1600" dirty="0">
                <a:solidFill>
                  <a:srgbClr val="1A1A1A"/>
                </a:solidFill>
              </a:rPr>
              <a:t>→ R = resistance (real part) — plotted on horizontal axis</a:t>
            </a:r>
            <a:endParaRPr lang="en-US" sz="1600" dirty="0"/>
          </a:p>
          <a:p>
            <a:pPr marL="190500" indent="-190500">
              <a:spcAft>
                <a:spcPts val="700"/>
              </a:spcAft>
              <a:buSzPct val="100000"/>
              <a:buChar char="•"/>
            </a:pPr>
            <a:r>
              <a:rPr lang="en-US" sz="1600" dirty="0">
                <a:solidFill>
                  <a:srgbClr val="1A1A1A"/>
                </a:solidFill>
              </a:rPr>
              <a:t>→ jX = reactance (imaginary part) — plotted on vertical axis</a:t>
            </a:r>
            <a:endParaRPr lang="en-US" sz="1600" dirty="0"/>
          </a:p>
          <a:p>
            <a:pPr marL="190500" indent="-190500">
              <a:spcAft>
                <a:spcPts val="700"/>
              </a:spcAft>
              <a:buSzPct val="100000"/>
              <a:buChar char="•"/>
            </a:pPr>
            <a:r>
              <a:rPr lang="en-US" sz="1600" dirty="0">
                <a:solidFill>
                  <a:srgbClr val="1A1A1A"/>
                </a:solidFill>
              </a:rPr>
              <a:t>→ Positive jX = INDUCTIVE (above horizontal)</a:t>
            </a:r>
            <a:endParaRPr lang="en-US" sz="1600" dirty="0"/>
          </a:p>
          <a:p>
            <a:pPr marL="190500" indent="-190500">
              <a:spcAft>
                <a:spcPts val="700"/>
              </a:spcAft>
              <a:buSzPct val="100000"/>
              <a:buChar char="•"/>
            </a:pPr>
            <a:r>
              <a:rPr lang="en-US" sz="1600" dirty="0">
                <a:solidFill>
                  <a:srgbClr val="1A1A1A"/>
                </a:solidFill>
              </a:rPr>
              <a:t>→ Negative jX = CAPACITIVE (below horizontal)</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Examples:</a:t>
            </a:r>
            <a:endParaRPr lang="en-US" sz="1600" dirty="0"/>
          </a:p>
          <a:p>
            <a:pPr marL="190500" indent="-190500">
              <a:spcAft>
                <a:spcPts val="700"/>
              </a:spcAft>
              <a:buSzPct val="100000"/>
              <a:buChar char="•"/>
            </a:pPr>
            <a:r>
              <a:rPr lang="en-US" sz="1600" dirty="0">
                <a:solidFill>
                  <a:srgbClr val="1A1A1A"/>
                </a:solidFill>
              </a:rPr>
              <a:t>→ 50 + j0: purely resistive (50-ohm load, perfect match)</a:t>
            </a:r>
            <a:endParaRPr lang="en-US" sz="1600" dirty="0"/>
          </a:p>
          <a:p>
            <a:pPr marL="190500" indent="-190500">
              <a:spcAft>
                <a:spcPts val="700"/>
              </a:spcAft>
              <a:buSzPct val="100000"/>
              <a:buChar char="•"/>
            </a:pPr>
            <a:r>
              <a:rPr lang="en-US" sz="1600" dirty="0">
                <a:solidFill>
                  <a:srgbClr val="1A1A1A"/>
                </a:solidFill>
              </a:rPr>
              <a:t>→ 0 + j100: pure inductance 100Ω</a:t>
            </a:r>
            <a:endParaRPr lang="en-US" sz="1600" dirty="0"/>
          </a:p>
          <a:p>
            <a:pPr marL="190500" indent="-190500">
              <a:spcAft>
                <a:spcPts val="700"/>
              </a:spcAft>
              <a:buSzPct val="100000"/>
              <a:buChar char="•"/>
            </a:pPr>
            <a:r>
              <a:rPr lang="en-US" sz="1600" dirty="0">
                <a:solidFill>
                  <a:srgbClr val="1A1A1A"/>
                </a:solidFill>
              </a:rPr>
              <a:t>→ 0 - j100: pure capacitance 100Ω</a:t>
            </a:r>
            <a:endParaRPr lang="en-US" sz="1600" dirty="0"/>
          </a:p>
          <a:p>
            <a:pPr marL="190500" indent="-190500">
              <a:spcAft>
                <a:spcPts val="700"/>
              </a:spcAft>
              <a:buSzPct val="100000"/>
              <a:buChar char="•"/>
            </a:pPr>
            <a:r>
              <a:rPr lang="en-US" sz="1600" dirty="0">
                <a:solidFill>
                  <a:srgbClr val="1A1A1A"/>
                </a:solidFill>
              </a:rPr>
              <a:t>→ 50 + j75: resistive + inductive</a:t>
            </a:r>
            <a:endParaRPr lang="en-US" sz="1600" dirty="0"/>
          </a:p>
          <a:p>
            <a:pPr marL="190500" indent="-190500">
              <a:spcAft>
                <a:spcPts val="700"/>
              </a:spcAft>
              <a:buSzPct val="100000"/>
              <a:buChar char="•"/>
            </a:pPr>
            <a:r>
              <a:rPr lang="en-US" sz="1600" dirty="0">
                <a:solidFill>
                  <a:srgbClr val="1A1A1A"/>
                </a:solidFill>
              </a:rPr>
              <a:t>→ 50 - j25: resistive + capacitive</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E5 · Electrical Principles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Polar Notation and Conversion</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Polar form: magnitude ∠ angle</a:t>
            </a:r>
            <a:endParaRPr lang="en-US" sz="1600" dirty="0"/>
          </a:p>
          <a:p>
            <a:pPr marL="190500" indent="-190500">
              <a:spcAft>
                <a:spcPts val="700"/>
              </a:spcAft>
              <a:buSzPct val="100000"/>
              <a:buChar char="•"/>
            </a:pPr>
            <a:r>
              <a:rPr lang="en-US" sz="1600" dirty="0">
                <a:solidFill>
                  <a:srgbClr val="1A1A1A"/>
                </a:solidFill>
              </a:rPr>
              <a:t>→ Magnitude = sqrt(R² + X²)</a:t>
            </a:r>
            <a:endParaRPr lang="en-US" sz="1600" dirty="0"/>
          </a:p>
          <a:p>
            <a:pPr marL="190500" indent="-190500">
              <a:spcAft>
                <a:spcPts val="700"/>
              </a:spcAft>
              <a:buSzPct val="100000"/>
              <a:buChar char="•"/>
            </a:pPr>
            <a:r>
              <a:rPr lang="en-US" sz="1600" dirty="0">
                <a:solidFill>
                  <a:srgbClr val="1A1A1A"/>
                </a:solidFill>
              </a:rPr>
              <a:t>→ Angle = arctan(X/R)</a:t>
            </a:r>
            <a:endParaRPr lang="en-US" sz="1600" dirty="0"/>
          </a:p>
          <a:p>
            <a:pPr marL="190500" indent="-190500">
              <a:spcAft>
                <a:spcPts val="700"/>
              </a:spcAft>
              <a:buSzPct val="100000"/>
              <a:buChar char="•"/>
            </a:pPr>
            <a:r>
              <a:rPr lang="en-US" sz="1600" dirty="0">
                <a:solidFill>
                  <a:srgbClr val="1A1A1A"/>
                </a:solidFill>
              </a:rPr>
              <a:t>→ Pure inductance: +90° angle</a:t>
            </a:r>
            <a:endParaRPr lang="en-US" sz="1600" dirty="0"/>
          </a:p>
          <a:p>
            <a:pPr marL="190500" indent="-190500">
              <a:spcAft>
                <a:spcPts val="700"/>
              </a:spcAft>
              <a:buSzPct val="100000"/>
              <a:buChar char="•"/>
            </a:pPr>
            <a:r>
              <a:rPr lang="en-US" sz="1600" dirty="0">
                <a:solidFill>
                  <a:srgbClr val="1A1A1A"/>
                </a:solidFill>
              </a:rPr>
              <a:t>→ Pure capacitance: -90° angle</a:t>
            </a:r>
            <a:endParaRPr lang="en-US" sz="1600" dirty="0"/>
          </a:p>
          <a:p>
            <a:pPr marL="190500" indent="-190500">
              <a:spcAft>
                <a:spcPts val="700"/>
              </a:spcAft>
              <a:buSzPct val="100000"/>
              <a:buChar char="•"/>
            </a:pPr>
            <a:r>
              <a:rPr lang="en-US" sz="1600" dirty="0">
                <a:solidFill>
                  <a:srgbClr val="1A1A1A"/>
                </a:solidFill>
              </a:rPr>
              <a:t>→ Pure resistance: 0° angle</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Converting Z = 30 + j40:</a:t>
            </a:r>
            <a:endParaRPr lang="en-US" sz="1600" dirty="0"/>
          </a:p>
          <a:p>
            <a:pPr marL="190500" indent="-190500">
              <a:spcAft>
                <a:spcPts val="700"/>
              </a:spcAft>
              <a:buSzPct val="100000"/>
              <a:buChar char="•"/>
            </a:pPr>
            <a:r>
              <a:rPr lang="en-US" sz="1600" dirty="0">
                <a:solidFill>
                  <a:srgbClr val="1A1A1A"/>
                </a:solidFill>
              </a:rPr>
              <a:t>→ Magnitude = sqrt(30² + 40²) = sqrt(900+1600) = sqrt(2500) = 50Ω</a:t>
            </a:r>
            <a:endParaRPr lang="en-US" sz="1600" dirty="0"/>
          </a:p>
          <a:p>
            <a:pPr marL="190500" indent="-190500">
              <a:spcAft>
                <a:spcPts val="700"/>
              </a:spcAft>
              <a:buSzPct val="100000"/>
              <a:buChar char="•"/>
            </a:pPr>
            <a:r>
              <a:rPr lang="en-US" sz="1600" dirty="0">
                <a:solidFill>
                  <a:srgbClr val="1A1A1A"/>
                </a:solidFill>
              </a:rPr>
              <a:t>→ Angle = arctan(40/30) = arctan(1.33) = 53.1°</a:t>
            </a:r>
            <a:endParaRPr lang="en-US" sz="1600" dirty="0"/>
          </a:p>
          <a:p>
            <a:pPr marL="190500" indent="-190500">
              <a:spcAft>
                <a:spcPts val="700"/>
              </a:spcAft>
              <a:buSzPct val="100000"/>
              <a:buChar char="•"/>
            </a:pPr>
            <a:r>
              <a:rPr lang="en-US" sz="1600" dirty="0">
                <a:solidFill>
                  <a:srgbClr val="1A1A1A"/>
                </a:solidFill>
              </a:rPr>
              <a:t>→ Polar: 50∠53.1°</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Frequency response graphs: logarithmic Y-axis shows amplitude in dB</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E5 · Electrical Principles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137160" cy="5143500"/>
          </a:xfrm>
          <a:prstGeom prst="rect">
            <a:avLst/>
          </a:prstGeom>
          <a:solidFill>
            <a:srgbClr val="2E7D52"/>
          </a:solidFill>
          <a:ln/>
        </p:spPr>
      </p:sp>
      <p:sp>
        <p:nvSpPr>
          <p:cNvPr id="4" name="Text 2"/>
          <p:cNvSpPr/>
          <p:nvPr/>
        </p:nvSpPr>
        <p:spPr>
          <a:xfrm>
            <a:off x="457200" y="1463040"/>
            <a:ext cx="8229600" cy="1280160"/>
          </a:xfrm>
          <a:prstGeom prst="rect">
            <a:avLst/>
          </a:prstGeom>
          <a:noFill/>
          <a:ln/>
        </p:spPr>
        <p:txBody>
          <a:bodyPr wrap="square" rtlCol="0" anchor="ctr"/>
          <a:lstStyle/>
          <a:p>
            <a:pPr indent="0" marL="0">
              <a:buNone/>
            </a:pPr>
            <a:r>
              <a:rPr lang="en-US" sz="3400" b="1" dirty="0">
                <a:solidFill>
                  <a:srgbClr val="FFFFFF"/>
                </a:solidFill>
              </a:rPr>
              <a:t>Part 4: RF Effects</a:t>
            </a:r>
            <a:endParaRPr lang="en-US" sz="3400" dirty="0"/>
          </a:p>
        </p:txBody>
      </p:sp>
      <p:sp>
        <p:nvSpPr>
          <p:cNvPr id="5" name="Text 3"/>
          <p:cNvSpPr/>
          <p:nvPr/>
        </p:nvSpPr>
        <p:spPr>
          <a:xfrm>
            <a:off x="457200" y="2834640"/>
            <a:ext cx="8229600" cy="548640"/>
          </a:xfrm>
          <a:prstGeom prst="rect">
            <a:avLst/>
          </a:prstGeom>
          <a:noFill/>
          <a:ln/>
        </p:spPr>
        <p:txBody>
          <a:bodyPr wrap="square" rtlCol="0" anchor="ctr"/>
          <a:lstStyle/>
          <a:p>
            <a:pPr indent="0" marL="0">
              <a:buNone/>
            </a:pPr>
            <a:r>
              <a:rPr lang="en-US" sz="1700" dirty="0">
                <a:solidFill>
                  <a:srgbClr val="AACCBB"/>
                </a:solidFill>
              </a:rPr>
              <a:t>Subelement E5D — 1 exam question</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Skin Effect and RF Resistance</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Skin effect: at RF, current flows near the surface of the conductor — not through the full cross-section</a:t>
            </a:r>
            <a:endParaRPr lang="en-US" sz="1600" dirty="0"/>
          </a:p>
          <a:p>
            <a:pPr marL="190500" indent="-190500">
              <a:spcAft>
                <a:spcPts val="700"/>
              </a:spcAft>
              <a:buSzPct val="100000"/>
              <a:buChar char="•"/>
            </a:pPr>
            <a:r>
              <a:rPr lang="en-US" sz="1600" dirty="0">
                <a:solidFill>
                  <a:srgbClr val="1A1A1A"/>
                </a:solidFill>
              </a:rPr>
              <a:t>→ Effective resistance INCREASES with frequency</a:t>
            </a:r>
            <a:endParaRPr lang="en-US" sz="1600" dirty="0"/>
          </a:p>
          <a:p>
            <a:pPr marL="190500" indent="-190500">
              <a:spcAft>
                <a:spcPts val="700"/>
              </a:spcAft>
              <a:buSzPct val="100000"/>
              <a:buChar char="•"/>
            </a:pPr>
            <a:r>
              <a:rPr lang="en-US" sz="1600" dirty="0">
                <a:solidFill>
                  <a:srgbClr val="1A1A1A"/>
                </a:solidFill>
              </a:rPr>
              <a:t>→ Skin depth decreases as frequency increases</a:t>
            </a:r>
            <a:endParaRPr lang="en-US" sz="1600" dirty="0"/>
          </a:p>
          <a:p>
            <a:pPr marL="190500" indent="-190500">
              <a:spcAft>
                <a:spcPts val="700"/>
              </a:spcAft>
              <a:buSzPct val="100000"/>
              <a:buChar char="•"/>
            </a:pPr>
            <a:r>
              <a:rPr lang="en-US" sz="1600" dirty="0">
                <a:solidFill>
                  <a:srgbClr val="1A1A1A"/>
                </a:solidFill>
              </a:rPr>
              <a:t>→ At VHF/UHF: keep lead lengths short to minimize added inductive reactance</a:t>
            </a:r>
            <a:endParaRPr lang="en-US" sz="1600" dirty="0"/>
          </a:p>
          <a:p>
            <a:pPr marL="190500" indent="-190500">
              <a:spcAft>
                <a:spcPts val="700"/>
              </a:spcAft>
              <a:buSzPct val="100000"/>
              <a:buChar char="•"/>
            </a:pPr>
            <a:r>
              <a:rPr lang="en-US" sz="1600" dirty="0">
                <a:solidFill>
                  <a:srgbClr val="1A1A1A"/>
                </a:solidFill>
              </a:rPr>
              <a:t>→ At microwave: keep connections short to reduce phase shift</a:t>
            </a:r>
            <a:endParaRPr lang="en-US" sz="1600" dirty="0"/>
          </a:p>
          <a:p>
            <a:pPr marL="190500" indent="-190500">
              <a:spcAft>
                <a:spcPts val="700"/>
              </a:spcAft>
              <a:buSzPct val="100000"/>
              <a:buChar char="•"/>
            </a:pPr>
            <a:r>
              <a:rPr lang="en-US" sz="1600" dirty="0">
                <a:solidFill>
                  <a:srgbClr val="1A1A1A"/>
                </a:solidFill>
              </a:rPr>
              <a:t>→ Film capacitors at RF: skin effect in the foil causes loss</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Electrical length:</a:t>
            </a:r>
            <a:endParaRPr lang="en-US" sz="1600" dirty="0"/>
          </a:p>
          <a:p>
            <a:pPr marL="190500" indent="-190500">
              <a:spcAft>
                <a:spcPts val="700"/>
              </a:spcAft>
              <a:buSzPct val="100000"/>
              <a:buChar char="•"/>
            </a:pPr>
            <a:r>
              <a:rPr lang="en-US" sz="1600" dirty="0">
                <a:solidFill>
                  <a:srgbClr val="1A1A1A"/>
                </a:solidFill>
              </a:rPr>
              <a:t>→ Conductor diameter affects electrical length — larger diameter = slightly longer electrical length</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Component pitfalls at RF:</a:t>
            </a:r>
            <a:endParaRPr lang="en-US" sz="1600" dirty="0"/>
          </a:p>
          <a:p>
            <a:pPr marL="190500" indent="-190500">
              <a:spcAft>
                <a:spcPts val="700"/>
              </a:spcAft>
              <a:buSzPct val="100000"/>
              <a:buChar char="•"/>
            </a:pPr>
            <a:r>
              <a:rPr lang="en-US" sz="1600" dirty="0">
                <a:solidFill>
                  <a:srgbClr val="1A1A1A"/>
                </a:solidFill>
              </a:rPr>
              <a:t>→ Electrolytic capacitors: high parasitic inductance — don't use for RF bypass</a:t>
            </a:r>
            <a:endParaRPr lang="en-US" sz="1600" dirty="0"/>
          </a:p>
          <a:p>
            <a:pPr marL="190500" indent="-190500">
              <a:spcAft>
                <a:spcPts val="700"/>
              </a:spcAft>
              <a:buSzPct val="100000"/>
              <a:buChar char="•"/>
            </a:pPr>
            <a:r>
              <a:rPr lang="en-US" sz="1600" dirty="0">
                <a:solidFill>
                  <a:srgbClr val="1A1A1A"/>
                </a:solidFill>
              </a:rPr>
              <a:t>→ Inductor self-resonance: inter-turn capacitance creates parallel resonance above some frequency</a:t>
            </a:r>
            <a:endParaRPr lang="en-US" sz="1600" dirty="0"/>
          </a:p>
          <a:p>
            <a:pPr marL="190500" indent="-190500">
              <a:spcAft>
                <a:spcPts val="700"/>
              </a:spcAft>
              <a:buSzPct val="100000"/>
              <a:buChar char="•"/>
            </a:pPr>
            <a:r>
              <a:rPr lang="en-US" sz="1600" dirty="0">
                <a:solidFill>
                  <a:srgbClr val="1A1A1A"/>
                </a:solidFill>
              </a:rPr>
              <a:t>→ Long wire leads: significant inductive reactance at VHF/UHF</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E5 · Electrical Principles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Real vs. Reactive Power</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Real power (watts): converts electrical energy to heat (or work)</a:t>
            </a:r>
            <a:endParaRPr lang="en-US" sz="1600" dirty="0"/>
          </a:p>
          <a:p>
            <a:pPr marL="190500" indent="-190500">
              <a:spcAft>
                <a:spcPts val="700"/>
              </a:spcAft>
              <a:buSzPct val="100000"/>
              <a:buChar char="•"/>
            </a:pPr>
            <a:r>
              <a:rPr lang="en-US" sz="1600" dirty="0">
                <a:solidFill>
                  <a:srgbClr val="1A1A1A"/>
                </a:solidFill>
              </a:rPr>
              <a:t>→ P = I² × R — only the resistive component dissipates power</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Reactive power (VAR — volt-amperes reactive):</a:t>
            </a:r>
            <a:endParaRPr lang="en-US" sz="1600" dirty="0"/>
          </a:p>
          <a:p>
            <a:pPr marL="190500" indent="-190500">
              <a:spcAft>
                <a:spcPts val="700"/>
              </a:spcAft>
              <a:buSzPct val="100000"/>
              <a:buChar char="•"/>
            </a:pPr>
            <a:r>
              <a:rPr lang="en-US" sz="1600" dirty="0">
                <a:solidFill>
                  <a:srgbClr val="1A1A1A"/>
                </a:solidFill>
              </a:rPr>
              <a:t>→ Energy stored in electric field (capacitor) or magnetic field (inductor)</a:t>
            </a:r>
            <a:endParaRPr lang="en-US" sz="1600" dirty="0"/>
          </a:p>
          <a:p>
            <a:pPr marL="190500" indent="-190500">
              <a:spcAft>
                <a:spcPts val="700"/>
              </a:spcAft>
              <a:buSzPct val="100000"/>
              <a:buChar char="•"/>
            </a:pPr>
            <a:r>
              <a:rPr lang="en-US" sz="1600" dirty="0">
                <a:solidFill>
                  <a:srgbClr val="1A1A1A"/>
                </a:solidFill>
              </a:rPr>
              <a:t>→ Energy is returned to the circuit — not dissipated</a:t>
            </a:r>
            <a:endParaRPr lang="en-US" sz="1600" dirty="0"/>
          </a:p>
          <a:p>
            <a:pPr marL="190500" indent="-190500">
              <a:spcAft>
                <a:spcPts val="700"/>
              </a:spcAft>
              <a:buSzPct val="100000"/>
              <a:buChar char="•"/>
            </a:pPr>
            <a:r>
              <a:rPr lang="en-US" sz="1600" dirty="0">
                <a:solidFill>
                  <a:srgbClr val="1A1A1A"/>
                </a:solidFill>
              </a:rPr>
              <a:t>→ Reactive power is 90° out of phase with real power</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In a series R + jX circuit:</a:t>
            </a:r>
            <a:endParaRPr lang="en-US" sz="1600" dirty="0"/>
          </a:p>
          <a:p>
            <a:pPr marL="190500" indent="-190500">
              <a:spcAft>
                <a:spcPts val="700"/>
              </a:spcAft>
              <a:buSzPct val="100000"/>
              <a:buChar char="•"/>
            </a:pPr>
            <a:r>
              <a:rPr lang="en-US" sz="1600" dirty="0">
                <a:solidFill>
                  <a:srgbClr val="1A1A1A"/>
                </a:solidFill>
              </a:rPr>
              <a:t>→ Current is the same through all components</a:t>
            </a:r>
            <a:endParaRPr lang="en-US" sz="1600" dirty="0"/>
          </a:p>
          <a:p>
            <a:pPr marL="190500" indent="-190500">
              <a:spcAft>
                <a:spcPts val="700"/>
              </a:spcAft>
              <a:buSzPct val="100000"/>
              <a:buChar char="•"/>
            </a:pPr>
            <a:r>
              <a:rPr lang="en-US" sz="1600" dirty="0">
                <a:solidFill>
                  <a:srgbClr val="1A1A1A"/>
                </a:solidFill>
              </a:rPr>
              <a:t>→ Voltage across X is 90° out of phase with voltage across R</a:t>
            </a:r>
            <a:endParaRPr lang="en-US" sz="1600" dirty="0"/>
          </a:p>
          <a:p>
            <a:pPr marL="190500" indent="-190500">
              <a:spcAft>
                <a:spcPts val="700"/>
              </a:spcAft>
              <a:buSzPct val="100000"/>
              <a:buChar char="•"/>
            </a:pPr>
            <a:r>
              <a:rPr lang="en-US" sz="1600" dirty="0">
                <a:solidFill>
                  <a:srgbClr val="1A1A1A"/>
                </a:solidFill>
              </a:rPr>
              <a:t>→ P = I² × R (NOT I² × Z)</a:t>
            </a:r>
            <a:endParaRPr lang="en-US" sz="1600" dirty="0"/>
          </a:p>
          <a:p>
            <a:pPr marL="190500" indent="-190500">
              <a:spcAft>
                <a:spcPts val="700"/>
              </a:spcAft>
              <a:buSzPct val="100000"/>
              <a:buChar char="•"/>
            </a:pPr>
            <a:r>
              <a:rPr lang="en-US" sz="1600" dirty="0">
                <a:solidFill>
                  <a:srgbClr val="1A1A1A"/>
                </a:solidFill>
              </a:rPr>
              <a:t>→ The reactive component does not contribute to heat</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Practical example: a tuner with a lossless inductor dissipates zero power in the coil</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E5 · Electrical Principles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Key Numbers — Module 3</a:t>
            </a:r>
            <a:endParaRPr lang="en-US" sz="2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8595360" cy="914400"/>
        </p:xfrm>
        <a:graphic>
          <a:graphicData uri="http://schemas.openxmlformats.org/drawingml/2006/table">
            <a:tbl>
              <a:tblPr/>
              <a:tblGrid>
                <a:gridCol w="3840480"/>
                <a:gridCol w="4754880"/>
              </a:tblGrid>
              <a:tr h="0">
                <a:tc>
                  <a:txBody>
                    <a:bodyPr/>
                    <a:lstStyle/>
                    <a:p>
                      <a:pPr indent="0" marL="0">
                        <a:buNone/>
                      </a:pPr>
                      <a:r>
                        <a:rPr lang="en-US" sz="1300" b="1" dirty="0">
                          <a:solidFill>
                            <a:srgbClr val="1B2A4A"/>
                          </a:solidFill>
                        </a:rPr>
                        <a:t>Resonant frequency</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c>
                  <a:txBody>
                    <a:bodyPr/>
                    <a:lstStyle/>
                    <a:p>
                      <a:pPr indent="0" marL="0">
                        <a:buNone/>
                      </a:pPr>
                      <a:r>
                        <a:rPr lang="en-US" sz="1300" dirty="0">
                          <a:solidFill>
                            <a:srgbClr val="1A1A1A"/>
                          </a:solidFill>
                        </a:rPr>
                        <a:t>f = 1/(2π·sqrt(LC))</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r>
              <a:tr h="0">
                <a:tc>
                  <a:txBody>
                    <a:bodyPr/>
                    <a:lstStyle/>
                    <a:p>
                      <a:pPr indent="0" marL="0">
                        <a:buNone/>
                      </a:pPr>
                      <a:r>
                        <a:rPr lang="en-US" sz="1300" b="1" dirty="0">
                          <a:solidFill>
                            <a:srgbClr val="1B2A4A"/>
                          </a:solidFill>
                        </a:rPr>
                        <a:t>Series resonance</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A1A1A"/>
                          </a:solidFill>
                        </a:rPr>
                        <a:t>Minimum Z; XL=XC; max current</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300" b="1" dirty="0">
                          <a:solidFill>
                            <a:srgbClr val="1B2A4A"/>
                          </a:solidFill>
                        </a:rPr>
                        <a:t>Parallel resonance</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c>
                  <a:txBody>
                    <a:bodyPr/>
                    <a:lstStyle/>
                    <a:p>
                      <a:pPr indent="0" marL="0">
                        <a:buNone/>
                      </a:pPr>
                      <a:r>
                        <a:rPr lang="en-US" sz="1300" dirty="0">
                          <a:solidFill>
                            <a:srgbClr val="1A1A1A"/>
                          </a:solidFill>
                        </a:rPr>
                        <a:t>Maximum Z; min source current</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r>
              <a:tr h="0">
                <a:tc>
                  <a:txBody>
                    <a:bodyPr/>
                    <a:lstStyle/>
                    <a:p>
                      <a:pPr indent="0" marL="0">
                        <a:buNone/>
                      </a:pPr>
                      <a:r>
                        <a:rPr lang="en-US" sz="1300" b="1" dirty="0">
                          <a:solidFill>
                            <a:srgbClr val="1B2A4A"/>
                          </a:solidFill>
                        </a:rPr>
                        <a:t>Q (series)</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A1A1A"/>
                          </a:solidFill>
                        </a:rPr>
                        <a:t>XL/R at resonance</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300" b="1" dirty="0">
                          <a:solidFill>
                            <a:srgbClr val="1B2A4A"/>
                          </a:solidFill>
                        </a:rPr>
                        <a:t>Half-power BW</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c>
                  <a:txBody>
                    <a:bodyPr/>
                    <a:lstStyle/>
                    <a:p>
                      <a:pPr indent="0" marL="0">
                        <a:buNone/>
                      </a:pPr>
                      <a:r>
                        <a:rPr lang="en-US" sz="1300" dirty="0">
                          <a:solidFill>
                            <a:srgbClr val="1A1A1A"/>
                          </a:solidFill>
                        </a:rPr>
                        <a:t>f_r / Q</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r>
              <a:tr h="0">
                <a:tc>
                  <a:txBody>
                    <a:bodyPr/>
                    <a:lstStyle/>
                    <a:p>
                      <a:pPr indent="0" marL="0">
                        <a:buNone/>
                      </a:pPr>
                      <a:r>
                        <a:rPr lang="en-US" sz="1300" b="1" dirty="0">
                          <a:solidFill>
                            <a:srgbClr val="1B2A4A"/>
                          </a:solidFill>
                        </a:rPr>
                        <a:t>RC time constant</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A1A1A"/>
                          </a:solidFill>
                        </a:rPr>
                        <a:t>τ = RC</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300" b="1" dirty="0">
                          <a:solidFill>
                            <a:srgbClr val="1B2A4A"/>
                          </a:solidFill>
                        </a:rPr>
                        <a:t>RL time constant</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c>
                  <a:txBody>
                    <a:bodyPr/>
                    <a:lstStyle/>
                    <a:p>
                      <a:pPr indent="0" marL="0">
                        <a:buNone/>
                      </a:pPr>
                      <a:r>
                        <a:rPr lang="en-US" sz="1300" dirty="0">
                          <a:solidFill>
                            <a:srgbClr val="1A1A1A"/>
                          </a:solidFill>
                        </a:rPr>
                        <a:t>τ = L/R</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r>
              <a:tr h="0">
                <a:tc>
                  <a:txBody>
                    <a:bodyPr/>
                    <a:lstStyle/>
                    <a:p>
                      <a:pPr indent="0" marL="0">
                        <a:buNone/>
                      </a:pPr>
                      <a:r>
                        <a:rPr lang="en-US" sz="1300" b="1" dirty="0">
                          <a:solidFill>
                            <a:srgbClr val="1B2A4A"/>
                          </a:solidFill>
                        </a:rPr>
                        <a:t>1 time constant</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A1A1A"/>
                          </a:solidFill>
                        </a:rPr>
                        <a:t>63.2% of final value</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300" b="1" dirty="0">
                          <a:solidFill>
                            <a:srgbClr val="1B2A4A"/>
                          </a:solidFill>
                        </a:rPr>
                        <a:t>ELI the ICEman</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c>
                  <a:txBody>
                    <a:bodyPr/>
                    <a:lstStyle/>
                    <a:p>
                      <a:pPr indent="0" marL="0">
                        <a:buNone/>
                      </a:pPr>
                      <a:r>
                        <a:rPr lang="en-US" sz="1300" dirty="0">
                          <a:solidFill>
                            <a:srgbClr val="1A1A1A"/>
                          </a:solidFill>
                        </a:rPr>
                        <a:t>Inductor: V leads I; Capacitor: I leads V</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r>
              <a:tr h="0">
                <a:tc>
                  <a:txBody>
                    <a:bodyPr/>
                    <a:lstStyle/>
                    <a:p>
                      <a:pPr indent="0" marL="0">
                        <a:buNone/>
                      </a:pPr>
                      <a:r>
                        <a:rPr lang="en-US" sz="1300" b="1" dirty="0">
                          <a:solidFill>
                            <a:srgbClr val="1B2A4A"/>
                          </a:solidFill>
                        </a:rPr>
                        <a:t>Phase angle</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A1A1A"/>
                          </a:solidFill>
                        </a:rPr>
                        <a:t>tan(θ) = (XL - XC)/R</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300" b="1" dirty="0">
                          <a:solidFill>
                            <a:srgbClr val="1B2A4A"/>
                          </a:solidFill>
                        </a:rPr>
                        <a:t>Rectangular +jX</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c>
                  <a:txBody>
                    <a:bodyPr/>
                    <a:lstStyle/>
                    <a:p>
                      <a:pPr indent="0" marL="0">
                        <a:buNone/>
                      </a:pPr>
                      <a:r>
                        <a:rPr lang="en-US" sz="1300" dirty="0">
                          <a:solidFill>
                            <a:srgbClr val="1A1A1A"/>
                          </a:solidFill>
                        </a:rPr>
                        <a:t>Inductive</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r>
              <a:tr h="0">
                <a:tc>
                  <a:txBody>
                    <a:bodyPr/>
                    <a:lstStyle/>
                    <a:p>
                      <a:pPr indent="0" marL="0">
                        <a:buNone/>
                      </a:pPr>
                      <a:r>
                        <a:rPr lang="en-US" sz="1300" b="1" dirty="0">
                          <a:solidFill>
                            <a:srgbClr val="1B2A4A"/>
                          </a:solidFill>
                        </a:rPr>
                        <a:t>Rectangular -jX</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A1A1A"/>
                          </a:solidFill>
                        </a:rPr>
                        <a:t>Capacitive</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300" b="1" dirty="0">
                          <a:solidFill>
                            <a:srgbClr val="1B2A4A"/>
                          </a:solidFill>
                        </a:rPr>
                        <a:t>Polar magnitude</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c>
                  <a:txBody>
                    <a:bodyPr/>
                    <a:lstStyle/>
                    <a:p>
                      <a:pPr indent="0" marL="0">
                        <a:buNone/>
                      </a:pPr>
                      <a:r>
                        <a:rPr lang="en-US" sz="1300" dirty="0">
                          <a:solidFill>
                            <a:srgbClr val="1A1A1A"/>
                          </a:solidFill>
                        </a:rPr>
                        <a:t>sqrt(R² + X²)</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r>
              <a:tr h="0">
                <a:tc>
                  <a:txBody>
                    <a:bodyPr/>
                    <a:lstStyle/>
                    <a:p>
                      <a:pPr indent="0" marL="0">
                        <a:buNone/>
                      </a:pPr>
                      <a:r>
                        <a:rPr lang="en-US" sz="1300" b="1" dirty="0">
                          <a:solidFill>
                            <a:srgbClr val="1B2A4A"/>
                          </a:solidFill>
                        </a:rPr>
                        <a:t>Admittance</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A1A1A"/>
                          </a:solidFill>
                        </a:rPr>
                        <a:t>Y = 1/Z (siemens)</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300" b="1" dirty="0">
                          <a:solidFill>
                            <a:srgbClr val="1B2A4A"/>
                          </a:solidFill>
                        </a:rPr>
                        <a:t>Skin effect</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c>
                  <a:txBody>
                    <a:bodyPr/>
                    <a:lstStyle/>
                    <a:p>
                      <a:pPr indent="0" marL="0">
                        <a:buNone/>
                      </a:pPr>
                      <a:r>
                        <a:rPr lang="en-US" sz="1300" dirty="0">
                          <a:solidFill>
                            <a:srgbClr val="1A1A1A"/>
                          </a:solidFill>
                        </a:rPr>
                        <a:t>RF resistance increases with frequency</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r>
              <a:tr h="0">
                <a:tc>
                  <a:txBody>
                    <a:bodyPr/>
                    <a:lstStyle/>
                    <a:p>
                      <a:pPr indent="0" marL="0">
                        <a:buNone/>
                      </a:pPr>
                      <a:r>
                        <a:rPr lang="en-US" sz="1300" b="1" dirty="0">
                          <a:solidFill>
                            <a:srgbClr val="1B2A4A"/>
                          </a:solidFill>
                        </a:rPr>
                        <a:t>Real power formula</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A1A1A"/>
                          </a:solidFill>
                        </a:rPr>
                        <a:t>P = I²R (not I²Z)</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Text 2"/>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3"/>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E5 · Electrical Principles</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1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What is the resonant frequency of a circuit with L = 4 μH and C = 25 pF?</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31.8 MHz</a:t>
            </a:r>
            <a:endParaRPr lang="en-US" sz="1600" dirty="0"/>
          </a:p>
          <a:p>
            <a:pPr>
              <a:spcAft>
                <a:spcPts val="1000"/>
              </a:spcAft>
            </a:pPr>
            <a:r>
              <a:rPr lang="en-US" sz="1600" dirty="0">
                <a:solidFill>
                  <a:srgbClr val="1A1A1A"/>
                </a:solidFill>
              </a:rPr>
              <a:t>B.  15.9 MHz</a:t>
            </a:r>
            <a:endParaRPr lang="en-US" sz="1600" dirty="0"/>
          </a:p>
          <a:p>
            <a:pPr>
              <a:spcAft>
                <a:spcPts val="1000"/>
              </a:spcAft>
            </a:pPr>
            <a:r>
              <a:rPr lang="en-US" sz="1600" dirty="0">
                <a:solidFill>
                  <a:srgbClr val="1A1A1A"/>
                </a:solidFill>
              </a:rPr>
              <a:t>C.  7.96 MHz</a:t>
            </a:r>
            <a:endParaRPr lang="en-US" sz="1600" dirty="0"/>
          </a:p>
          <a:p>
            <a:pPr>
              <a:spcAft>
                <a:spcPts val="1000"/>
              </a:spcAft>
            </a:pPr>
            <a:r>
              <a:rPr lang="en-US" sz="1600" dirty="0">
                <a:solidFill>
                  <a:srgbClr val="1A1A1A"/>
                </a:solidFill>
              </a:rPr>
              <a:t>D.  3.98 MHz</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B — f = 1/(2π×sqrt(4e-6×25e-12)) = 1/(2π×1e-8) = 15.9 MHz</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2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In a series RLC circuit at resonance, what is the impedance?</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Zero</a:t>
            </a:r>
            <a:endParaRPr lang="en-US" sz="1600" dirty="0"/>
          </a:p>
          <a:p>
            <a:pPr>
              <a:spcAft>
                <a:spcPts val="1000"/>
              </a:spcAft>
            </a:pPr>
            <a:r>
              <a:rPr lang="en-US" sz="1600" dirty="0">
                <a:solidFill>
                  <a:srgbClr val="1A1A1A"/>
                </a:solidFill>
              </a:rPr>
              <a:t>B.  The inductive reactance</a:t>
            </a:r>
            <a:endParaRPr lang="en-US" sz="1600" dirty="0"/>
          </a:p>
          <a:p>
            <a:pPr>
              <a:spcAft>
                <a:spcPts val="1000"/>
              </a:spcAft>
            </a:pPr>
            <a:r>
              <a:rPr lang="en-US" sz="1600" dirty="0">
                <a:solidFill>
                  <a:srgbClr val="1A1A1A"/>
                </a:solidFill>
              </a:rPr>
              <a:t>C.  The resistance only</a:t>
            </a:r>
            <a:endParaRPr lang="en-US" sz="1600" dirty="0"/>
          </a:p>
          <a:p>
            <a:pPr>
              <a:spcAft>
                <a:spcPts val="1000"/>
              </a:spcAft>
            </a:pPr>
            <a:r>
              <a:rPr lang="en-US" sz="1600" dirty="0">
                <a:solidFill>
                  <a:srgbClr val="1A1A1A"/>
                </a:solidFill>
              </a:rPr>
              <a:t>D.  Sum of all reactances</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C — At resonance, XL = XC and cancel; impedance = resistance only</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3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What is the half-power bandwidth of a circuit where f = 3.5 MHz and Q = 70?</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245 kHz</a:t>
            </a:r>
            <a:endParaRPr lang="en-US" sz="1600" dirty="0"/>
          </a:p>
          <a:p>
            <a:pPr>
              <a:spcAft>
                <a:spcPts val="1000"/>
              </a:spcAft>
            </a:pPr>
            <a:r>
              <a:rPr lang="en-US" sz="1600" dirty="0">
                <a:solidFill>
                  <a:srgbClr val="1A1A1A"/>
                </a:solidFill>
              </a:rPr>
              <a:t>B.  100 kHz</a:t>
            </a:r>
            <a:endParaRPr lang="en-US" sz="1600" dirty="0"/>
          </a:p>
          <a:p>
            <a:pPr>
              <a:spcAft>
                <a:spcPts val="1000"/>
              </a:spcAft>
            </a:pPr>
            <a:r>
              <a:rPr lang="en-US" sz="1600" dirty="0">
                <a:solidFill>
                  <a:srgbClr val="1A1A1A"/>
                </a:solidFill>
              </a:rPr>
              <a:t>C.  50 kHz</a:t>
            </a:r>
            <a:endParaRPr lang="en-US" sz="1600" dirty="0"/>
          </a:p>
          <a:p>
            <a:pPr>
              <a:spcAft>
                <a:spcPts val="1000"/>
              </a:spcAft>
            </a:pPr>
            <a:r>
              <a:rPr lang="en-US" sz="1600" dirty="0">
                <a:solidFill>
                  <a:srgbClr val="1A1A1A"/>
                </a:solidFill>
              </a:rPr>
              <a:t>D.  25 kHz</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C — BW = f/Q = 3,500,000/70 = 50,000 Hz = 50 kHz</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4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What is the time constant of R = 47kΩ and C = 0.1 μF?</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4.7 ms</a:t>
            </a:r>
            <a:endParaRPr lang="en-US" sz="1600" dirty="0"/>
          </a:p>
          <a:p>
            <a:pPr>
              <a:spcAft>
                <a:spcPts val="1000"/>
              </a:spcAft>
            </a:pPr>
            <a:r>
              <a:rPr lang="en-US" sz="1600" dirty="0">
                <a:solidFill>
                  <a:srgbClr val="1A1A1A"/>
                </a:solidFill>
              </a:rPr>
              <a:t>B.  47 ms</a:t>
            </a:r>
            <a:endParaRPr lang="en-US" sz="1600" dirty="0"/>
          </a:p>
          <a:p>
            <a:pPr>
              <a:spcAft>
                <a:spcPts val="1000"/>
              </a:spcAft>
            </a:pPr>
            <a:r>
              <a:rPr lang="en-US" sz="1600" dirty="0">
                <a:solidFill>
                  <a:srgbClr val="1A1A1A"/>
                </a:solidFill>
              </a:rPr>
              <a:t>C.  0.47 ms</a:t>
            </a:r>
            <a:endParaRPr lang="en-US" sz="1600" dirty="0"/>
          </a:p>
          <a:p>
            <a:pPr>
              <a:spcAft>
                <a:spcPts val="1000"/>
              </a:spcAft>
            </a:pPr>
            <a:r>
              <a:rPr lang="en-US" sz="1600" dirty="0">
                <a:solidFill>
                  <a:srgbClr val="1A1A1A"/>
                </a:solidFill>
              </a:rPr>
              <a:t>D.  470 μs</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A — τ = R×C = 47,000 × 0.0000001 = 0.0047 s = 4.7 ms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5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In a capacitive circuit, current relates to voltage how?</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Current lags voltage 90°</a:t>
            </a:r>
            <a:endParaRPr lang="en-US" sz="1600" dirty="0"/>
          </a:p>
          <a:p>
            <a:pPr>
              <a:spcAft>
                <a:spcPts val="1000"/>
              </a:spcAft>
            </a:pPr>
            <a:r>
              <a:rPr lang="en-US" sz="1600" dirty="0">
                <a:solidFill>
                  <a:srgbClr val="1A1A1A"/>
                </a:solidFill>
              </a:rPr>
              <a:t>B.  Current leads voltage 90°</a:t>
            </a:r>
            <a:endParaRPr lang="en-US" sz="1600" dirty="0"/>
          </a:p>
          <a:p>
            <a:pPr>
              <a:spcAft>
                <a:spcPts val="1000"/>
              </a:spcAft>
            </a:pPr>
            <a:r>
              <a:rPr lang="en-US" sz="1600" dirty="0">
                <a:solidFill>
                  <a:srgbClr val="1A1A1A"/>
                </a:solidFill>
              </a:rPr>
              <a:t>C.  In phase</a:t>
            </a:r>
            <a:endParaRPr lang="en-US" sz="1600" dirty="0"/>
          </a:p>
          <a:p>
            <a:pPr>
              <a:spcAft>
                <a:spcPts val="1000"/>
              </a:spcAft>
            </a:pPr>
            <a:r>
              <a:rPr lang="en-US" sz="1600" dirty="0">
                <a:solidFill>
                  <a:srgbClr val="1A1A1A"/>
                </a:solidFill>
              </a:rPr>
              <a:t>D.  Current leads by 45°</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B — ICE: In a Capacitor, current (I) leads voltage (E) by 90°</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6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What is the rectangular form of a pure 100Ω capacitive reactance?</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100 + j0</a:t>
            </a:r>
            <a:endParaRPr lang="en-US" sz="1600" dirty="0"/>
          </a:p>
          <a:p>
            <a:pPr>
              <a:spcAft>
                <a:spcPts val="1000"/>
              </a:spcAft>
            </a:pPr>
            <a:r>
              <a:rPr lang="en-US" sz="1600" dirty="0">
                <a:solidFill>
                  <a:srgbClr val="1A1A1A"/>
                </a:solidFill>
              </a:rPr>
              <a:t>B.  0 + j100</a:t>
            </a:r>
            <a:endParaRPr lang="en-US" sz="1600" dirty="0"/>
          </a:p>
          <a:p>
            <a:pPr>
              <a:spcAft>
                <a:spcPts val="1000"/>
              </a:spcAft>
            </a:pPr>
            <a:r>
              <a:rPr lang="en-US" sz="1600" dirty="0">
                <a:solidFill>
                  <a:srgbClr val="1A1A1A"/>
                </a:solidFill>
              </a:rPr>
              <a:t>C.  0 - j100</a:t>
            </a:r>
            <a:endParaRPr lang="en-US" sz="1600" dirty="0"/>
          </a:p>
          <a:p>
            <a:pPr>
              <a:spcAft>
                <a:spcPts val="1000"/>
              </a:spcAft>
            </a:pPr>
            <a:r>
              <a:rPr lang="en-US" sz="1600" dirty="0">
                <a:solidFill>
                  <a:srgbClr val="1A1A1A"/>
                </a:solidFill>
              </a:rPr>
              <a:t>D.  j100</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C — Pure capacitive reactance: 0 - j100 (negative j indicates capacitive)</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7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Series circuit: XL=80, XC=30, R=50. Phase angle?</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22°</a:t>
            </a:r>
            <a:endParaRPr lang="en-US" sz="1600" dirty="0"/>
          </a:p>
          <a:p>
            <a:pPr>
              <a:spcAft>
                <a:spcPts val="1000"/>
              </a:spcAft>
            </a:pPr>
            <a:r>
              <a:rPr lang="en-US" sz="1600" dirty="0">
                <a:solidFill>
                  <a:srgbClr val="1A1A1A"/>
                </a:solidFill>
              </a:rPr>
              <a:t>B.  45°</a:t>
            </a:r>
            <a:endParaRPr lang="en-US" sz="1600" dirty="0"/>
          </a:p>
          <a:p>
            <a:pPr>
              <a:spcAft>
                <a:spcPts val="1000"/>
              </a:spcAft>
            </a:pPr>
            <a:r>
              <a:rPr lang="en-US" sz="1600" dirty="0">
                <a:solidFill>
                  <a:srgbClr val="1A1A1A"/>
                </a:solidFill>
              </a:rPr>
              <a:t>C.  90°</a:t>
            </a:r>
            <a:endParaRPr lang="en-US" sz="1600" dirty="0"/>
          </a:p>
          <a:p>
            <a:pPr>
              <a:spcAft>
                <a:spcPts val="1000"/>
              </a:spcAft>
            </a:pPr>
            <a:r>
              <a:rPr lang="en-US" sz="1600" dirty="0">
                <a:solidFill>
                  <a:srgbClr val="1A1A1A"/>
                </a:solidFill>
              </a:rPr>
              <a:t>D.  63°</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B — tan(θ)=(80-30)/50 = 50/50 = 1.0; arctan(1.0) = 45° inductive</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8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Why are electrolytic capacitors unsuitable for RF bypass?</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Too low capacitance</a:t>
            </a:r>
            <a:endParaRPr lang="en-US" sz="1600" dirty="0"/>
          </a:p>
          <a:p>
            <a:pPr>
              <a:spcAft>
                <a:spcPts val="1000"/>
              </a:spcAft>
            </a:pPr>
            <a:r>
              <a:rPr lang="en-US" sz="1600" dirty="0">
                <a:solidFill>
                  <a:srgbClr val="1A1A1A"/>
                </a:solidFill>
              </a:rPr>
              <a:t>B.  Excessive parasitic inductance</a:t>
            </a:r>
            <a:endParaRPr lang="en-US" sz="1600" dirty="0"/>
          </a:p>
          <a:p>
            <a:pPr>
              <a:spcAft>
                <a:spcPts val="1000"/>
              </a:spcAft>
            </a:pPr>
            <a:r>
              <a:rPr lang="en-US" sz="1600" dirty="0">
                <a:solidFill>
                  <a:srgbClr val="1A1A1A"/>
                </a:solidFill>
              </a:rPr>
              <a:t>C.  Too high voltage rating</a:t>
            </a:r>
            <a:endParaRPr lang="en-US" sz="1600" dirty="0"/>
          </a:p>
          <a:p>
            <a:pPr>
              <a:spcAft>
                <a:spcPts val="1000"/>
              </a:spcAft>
            </a:pPr>
            <a:r>
              <a:rPr lang="en-US" sz="1600" dirty="0">
                <a:solidFill>
                  <a:srgbClr val="1A1A1A"/>
                </a:solidFill>
              </a:rPr>
              <a:t>D.  Too low ESR</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B — Electrolytic capacitors have high parasitic lead inductance; they act as inductors at RF</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9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What causes an inductor to self-resonate?</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Skin effect</a:t>
            </a:r>
            <a:endParaRPr lang="en-US" sz="1600" dirty="0"/>
          </a:p>
          <a:p>
            <a:pPr>
              <a:spcAft>
                <a:spcPts val="1000"/>
              </a:spcAft>
            </a:pPr>
            <a:r>
              <a:rPr lang="en-US" sz="1600" dirty="0">
                <a:solidFill>
                  <a:srgbClr val="1A1A1A"/>
                </a:solidFill>
              </a:rPr>
              <a:t>B.  Inter-turn capacitance</a:t>
            </a:r>
            <a:endParaRPr lang="en-US" sz="1600" dirty="0"/>
          </a:p>
          <a:p>
            <a:pPr>
              <a:spcAft>
                <a:spcPts val="1000"/>
              </a:spcAft>
            </a:pPr>
            <a:r>
              <a:rPr lang="en-US" sz="1600" dirty="0">
                <a:solidFill>
                  <a:srgbClr val="1A1A1A"/>
                </a:solidFill>
              </a:rPr>
              <a:t>C.  Core saturation</a:t>
            </a:r>
            <a:endParaRPr lang="en-US" sz="1600" dirty="0"/>
          </a:p>
          <a:p>
            <a:pPr>
              <a:spcAft>
                <a:spcPts val="1000"/>
              </a:spcAft>
            </a:pPr>
            <a:r>
              <a:rPr lang="en-US" sz="1600" dirty="0">
                <a:solidFill>
                  <a:srgbClr val="1A1A1A"/>
                </a:solidFill>
              </a:rPr>
              <a:t>D.  Eddy currents</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B — Inter-turn capacitance between adjacent windings creates a parallel LC; above self-resonant frequency it appears capacitive</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10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Why is real power P = I²R rather than I²Z?</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Reactance cancels at resonance</a:t>
            </a:r>
            <a:endParaRPr lang="en-US" sz="1600" dirty="0"/>
          </a:p>
          <a:p>
            <a:pPr>
              <a:spcAft>
                <a:spcPts val="1000"/>
              </a:spcAft>
            </a:pPr>
            <a:r>
              <a:rPr lang="en-US" sz="1600" dirty="0">
                <a:solidFill>
                  <a:srgbClr val="1A1A1A"/>
                </a:solidFill>
              </a:rPr>
              <a:t>B.  Only resistance dissipates power; reactive elements return energy</a:t>
            </a:r>
            <a:endParaRPr lang="en-US" sz="1600" dirty="0"/>
          </a:p>
          <a:p>
            <a:pPr>
              <a:spcAft>
                <a:spcPts val="1000"/>
              </a:spcAft>
            </a:pPr>
            <a:r>
              <a:rPr lang="en-US" sz="1600" dirty="0">
                <a:solidFill>
                  <a:srgbClr val="1A1A1A"/>
                </a:solidFill>
              </a:rPr>
              <a:t>C.  Z always equals R at RF</a:t>
            </a:r>
            <a:endParaRPr lang="en-US" sz="1600" dirty="0"/>
          </a:p>
          <a:p>
            <a:pPr>
              <a:spcAft>
                <a:spcPts val="1000"/>
              </a:spcAft>
            </a:pPr>
            <a:r>
              <a:rPr lang="en-US" sz="1600" dirty="0">
                <a:solidFill>
                  <a:srgbClr val="1A1A1A"/>
                </a:solidFill>
              </a:rPr>
              <a:t>D.  Different current flows through X and R</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B — Reactive components store and return energy; only R converts energy to heat</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Text 1"/>
          <p:cNvSpPr/>
          <p:nvPr/>
        </p:nvSpPr>
        <p:spPr>
          <a:xfrm>
            <a:off x="457200" y="640080"/>
            <a:ext cx="8229600" cy="731520"/>
          </a:xfrm>
          <a:prstGeom prst="rect">
            <a:avLst/>
          </a:prstGeom>
          <a:noFill/>
          <a:ln/>
        </p:spPr>
        <p:txBody>
          <a:bodyPr wrap="square" rtlCol="0" anchor="ctr"/>
          <a:lstStyle/>
          <a:p>
            <a:pPr indent="0" marL="0">
              <a:buNone/>
            </a:pPr>
            <a:r>
              <a:rPr lang="en-US" sz="3000" b="1" dirty="0">
                <a:solidFill>
                  <a:srgbClr val="FFFFFF"/>
                </a:solidFill>
              </a:rPr>
              <a:t>Before Module 4</a:t>
            </a:r>
            <a:endParaRPr lang="en-US" sz="3000" dirty="0"/>
          </a:p>
        </p:txBody>
      </p:sp>
      <p:sp>
        <p:nvSpPr>
          <p:cNvPr id="4" name="Text 2"/>
          <p:cNvSpPr/>
          <p:nvPr/>
        </p:nvSpPr>
        <p:spPr>
          <a:xfrm>
            <a:off x="457200" y="1508760"/>
            <a:ext cx="8229600" cy="365760"/>
          </a:xfrm>
          <a:prstGeom prst="rect">
            <a:avLst/>
          </a:prstGeom>
          <a:noFill/>
          <a:ln/>
        </p:spPr>
        <p:txBody>
          <a:bodyPr wrap="square" rtlCol="0" anchor="ctr"/>
          <a:lstStyle/>
          <a:p>
            <a:pPr indent="0" marL="0">
              <a:buNone/>
            </a:pPr>
            <a:r>
              <a:rPr lang="en-US" sz="1700" b="1" dirty="0">
                <a:solidFill>
                  <a:srgbClr val="2E7D52"/>
                </a:solidFill>
              </a:rPr>
              <a:t>Your assignment:</a:t>
            </a:r>
            <a:endParaRPr lang="en-US" sz="1700" dirty="0"/>
          </a:p>
        </p:txBody>
      </p:sp>
      <p:sp>
        <p:nvSpPr>
          <p:cNvPr id="5" name="Text 3"/>
          <p:cNvSpPr txBox="1"/>
          <p:nvPr/>
        </p:nvSpPr>
        <p:spPr>
          <a:xfrm>
            <a:off x="457200" y="1920240"/>
            <a:ext cx="8229600" cy="182880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FFFFFF"/>
                </a:solidFill>
              </a:rPr>
              <a:t>Drill HamStudy E5A-E5D to 80%+ confidence</a:t>
            </a:r>
            <a:endParaRPr lang="en-US" sz="1600" dirty="0"/>
          </a:p>
          <a:p>
            <a:pPr marL="190500" indent="-190500">
              <a:spcAft>
                <a:spcPts val="700"/>
              </a:spcAft>
              <a:buSzPct val="100000"/>
              <a:buChar char="•"/>
            </a:pPr>
            <a:r>
              <a:rPr lang="en-US" sz="1600" dirty="0">
                <a:solidFill>
                  <a:srgbClr val="FFFFFF"/>
                </a:solidFill>
              </a:rPr>
              <a:t>Practice the resonance frequency calculation — it appears directly on the exam</a:t>
            </a:r>
            <a:endParaRPr lang="en-US" sz="1600" dirty="0"/>
          </a:p>
          <a:p>
            <a:pPr marL="190500" indent="-190500">
              <a:spcAft>
                <a:spcPts val="700"/>
              </a:spcAft>
              <a:buSzPct val="100000"/>
              <a:buChar char="•"/>
            </a:pPr>
            <a:r>
              <a:rPr lang="en-US" sz="1600" dirty="0">
                <a:solidFill>
                  <a:srgbClr val="FFFFFF"/>
                </a:solidFill>
              </a:rPr>
              <a:t>Know the phase angle formula: tan(θ) = (XL-XC)/R</a:t>
            </a:r>
            <a:endParaRPr lang="en-US" sz="1600" dirty="0"/>
          </a:p>
        </p:txBody>
      </p:sp>
      <p:sp>
        <p:nvSpPr>
          <p:cNvPr id="6" name="Text 4"/>
          <p:cNvSpPr/>
          <p:nvPr/>
        </p:nvSpPr>
        <p:spPr>
          <a:xfrm>
            <a:off x="457200" y="3794760"/>
            <a:ext cx="8229600" cy="320040"/>
          </a:xfrm>
          <a:prstGeom prst="rect">
            <a:avLst/>
          </a:prstGeom>
          <a:noFill/>
          <a:ln/>
        </p:spPr>
        <p:txBody>
          <a:bodyPr wrap="square" rtlCol="0" anchor="ctr"/>
          <a:lstStyle/>
          <a:p>
            <a:pPr indent="0" marL="0">
              <a:buNone/>
            </a:pPr>
            <a:r>
              <a:rPr lang="en-US" sz="1500" b="1" dirty="0">
                <a:solidFill>
                  <a:srgbClr val="2E7D52"/>
                </a:solidFill>
              </a:rPr>
              <a:t>Coming up:</a:t>
            </a:r>
            <a:endParaRPr lang="en-US" sz="1500" dirty="0"/>
          </a:p>
        </p:txBody>
      </p:sp>
      <p:sp>
        <p:nvSpPr>
          <p:cNvPr id="7" name="Text 5"/>
          <p:cNvSpPr/>
          <p:nvPr/>
        </p:nvSpPr>
        <p:spPr>
          <a:xfrm>
            <a:off x="457200" y="4114800"/>
            <a:ext cx="8229600" cy="548640"/>
          </a:xfrm>
          <a:prstGeom prst="rect">
            <a:avLst/>
          </a:prstGeom>
          <a:noFill/>
          <a:ln/>
        </p:spPr>
        <p:txBody>
          <a:bodyPr wrap="square" rtlCol="0" anchor="ctr"/>
          <a:lstStyle/>
          <a:p>
            <a:pPr indent="0" marL="0">
              <a:buNone/>
            </a:pPr>
            <a:r>
              <a:rPr lang="en-US" sz="1400" dirty="0">
                <a:solidFill>
                  <a:srgbClr val="AACCBB"/>
                </a:solidFill>
              </a:rPr>
              <a:t>Module 4: Circuit Components — semiconductors, diode types, digital ICs, inductors, optical devices. Heavier on memorization than math, but schematic symbol recognition is tested.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2026-09-19T03:58:04Z</dcterms:created>
  <dcterms:modified xsi:type="dcterms:W3CDTF">2026-09-19T03:58:04Z</dcterms:modified>
</cp:coreProperties>
</file>