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opening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HamStudy check-in: who hit 80% on E1 and E2? Collect any straggler questions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exotic propagation modes. Most students have heard of them but never understood the physics. Spend time on libration fading — it's a memorable exam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heard an EME recording? Play one if you have it — the libration fading is unmistakable and makes the concept stick. The Moon bounces signals but also moves, causing the wobble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MSK144 replaced WSJT-X modes like FSK441 for meteor scatter. Burst durations can be as short as 40ms — the entire QSO is compressed into those bursts and reassembled.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Auroral prop is seasonal — peak around equinoxes when geomagnetic storm likelihood is higher. Students in northern states are more likely to experience this. CW is best because the aurora scatters and smears SSB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basic but tested. The key image: three perpendicular things — the direction of travel, the E field, and the H field. They're all at right angles. Circular polarization is just those fields continuously rotating.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propagation modes that give long-distance VHF contacts. TEP in particular is fascinating — it enables 5,000-mile contacts on 2m without any ionospheric layer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 is one of those modes that sounds impossible — 5,000 miles on 2m with no Sporadic E? But it's real and documented. The key is both stations being equidistant from the geomagnetic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160m darkness requirement is a real operating consideration for DXers. EU-NA contacts require careful timing around the gray line (sunrise/sunset terminator). The path has to be dark all the way across.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Sporadic E is a favorite topic on 6m and 2m. When the band 'opens,' stations thousands of miles away suddenly appear out of nowhere, and then vanish. Encourage students to watch DX maps during summer for Es openings.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 weather drives HF propagation. Students who operate HF quickly learn to check the solar indices before calling CQ. This section is mostly memorization of what each index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typically asks about what a rising A-index means (worsening conditions), what a southward Bz means, or what the strongest solar flare class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more practical than theoretical. Most students have seen an oscilloscope or spectrum analyzer. Relate these to real amateur radio troubleshooting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Oscilloscope = time domain. Spectrum analyzer = frequency domain. Both are critical test tools. An oscilloscope shows you the waveform shape; a spectrum analyzer shows you all the frequency components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confuse what an antenna analyzer measures vs. an SWR meter. An SWR meter only reads SWR; an antenna analyzer also gives impedance (R and X) and can do cable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VNA calibration removes errors from the test fixture and cables. Without calibration, you're measuring the cable, not the device under test. The short-open-50-ohm cal kit is fundamental — have students memorize these three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Receiver performance is the densest section in this module. Dynamic range, noise figure, blocking — these concepts explain why some radios work better than others. Relate to students' own radios where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does switching from 500 Hz to 2700 Hz CW bandwidth on your radio increase noise? Because you're letting in more of the noise floor. Narrow filters are not just for selectivity — they reduce noise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roofing filter is why expensive radios sound better on crowded contest bands. A wide roofing filter lets strong adjacent signals interact with LO phase noise; a tight one doesn't. This directly explains the price difference between radios.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rusty bolt effect has caught many operators off guard — a piece of corroded galvanized pipe or an old tower section can generate spurious signals. The fix is to find and clean or replace the corroded junction.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the answer. Libration = Moon wobble. The word 'fluttery' in the pool options is a giveaway.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Q65 is for EME. FT8 is too slow for meteor bursts. MSK144 is the meteor scatter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SSB audio through the aurora sounds like white noise with a buzz. CW is just a tone, which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North = benign; South = trouble. Southward Bz is how solar wind energy gets into the magnetosphere.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Nyquist says sample at 2x the signal frequency. If you don't, the math wraps the frequency around and you see it at a phantom lower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 counts cycles over a time interval defined by its oscillator. If the oscillator drifts, every measurement drifts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S-parameter subscript convention: first digit = output port, second = input port. S21: out of port 2, in from port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Calculate it: 1000/50 = 20. log10(20) = 1.30. Times 10 = 13 dB. This number appears directly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corroded metal joint near your antenna can be the source — old gutters, towers, fence posts. The fix is finding and cleaning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roofing filter is what separates a $500 radio from a $5000 radio in contest conditions. It limits which strong signals can interact with LO phase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and send students to HamStudy.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4114800"/>
            <a:ext cx="9144000" cy="182880"/>
          </a:xfrm>
          <a:prstGeom prst="rect">
            <a:avLst/>
          </a:prstGeom>
          <a:solidFill>
            <a:srgbClr val="2E7D52"/>
          </a:solidFill>
          <a:ln/>
        </p:spPr>
      </p:sp>
      <p:sp>
        <p:nvSpPr>
          <p:cNvPr id="4" name="Text 2"/>
          <p:cNvSpPr/>
          <p:nvPr/>
        </p:nvSpPr>
        <p:spPr>
          <a:xfrm>
            <a:off x="457200" y="914400"/>
            <a:ext cx="8229600" cy="1280160"/>
          </a:xfrm>
          <a:prstGeom prst="rect">
            <a:avLst/>
          </a:prstGeom>
          <a:noFill/>
          <a:ln/>
        </p:spPr>
        <p:txBody>
          <a:bodyPr wrap="square" rtlCol="0" anchor="ctr"/>
          <a:lstStyle/>
          <a:p>
            <a:pPr indent="0" marL="0">
              <a:buNone/>
            </a:pPr>
            <a:r>
              <a:rPr lang="en-US" sz="3800" b="1" dirty="0">
                <a:solidFill>
                  <a:srgbClr val="FFFFFF"/>
                </a:solidFill>
              </a:rPr>
              <a:t>Module 2: Propagation &amp; Practices</a:t>
            </a:r>
            <a:endParaRPr lang="en-US" sz="3800" dirty="0"/>
          </a:p>
        </p:txBody>
      </p:sp>
      <p:sp>
        <p:nvSpPr>
          <p:cNvPr id="5" name="Text 3"/>
          <p:cNvSpPr/>
          <p:nvPr/>
        </p:nvSpPr>
        <p:spPr>
          <a:xfrm>
            <a:off x="457200" y="2468880"/>
            <a:ext cx="8229600" cy="640080"/>
          </a:xfrm>
          <a:prstGeom prst="rect">
            <a:avLst/>
          </a:prstGeom>
          <a:noFill/>
          <a:ln/>
        </p:spPr>
        <p:txBody>
          <a:bodyPr wrap="square" rtlCol="0" anchor="ctr"/>
          <a:lstStyle/>
          <a:p>
            <a:pPr indent="0" marL="0">
              <a:buNone/>
            </a:pPr>
            <a:r>
              <a:rPr lang="en-US" sz="1700" dirty="0">
                <a:solidFill>
                  <a:srgbClr val="AACCBB"/>
                </a:solidFill>
              </a:rPr>
              <a:t>Advanced Propagation Modes · Test Equipment · Receiver Performance</a:t>
            </a:r>
            <a:endParaRPr lang="en-US" sz="1700" dirty="0"/>
          </a:p>
          <a:p>
            <a:pPr indent="0" marL="0">
              <a:buNone/>
            </a:pPr>
            <a:r>
              <a:rPr lang="en-US" sz="1700" dirty="0">
                <a:solidFill>
                  <a:srgbClr val="AACCBB"/>
                </a:solidFill>
              </a:rPr>
              <a:t>2024-2028 Amateur Extra Question Pool</a:t>
            </a:r>
            <a:endParaRPr lang="en-US" sz="1700" dirty="0"/>
          </a:p>
        </p:txBody>
      </p:sp>
      <p:sp>
        <p:nvSpPr>
          <p:cNvPr id="6" name="Text 4"/>
          <p:cNvSpPr/>
          <p:nvPr/>
        </p:nvSpPr>
        <p:spPr>
          <a:xfrm>
            <a:off x="457200" y="4617720"/>
            <a:ext cx="8229600" cy="274320"/>
          </a:xfrm>
          <a:prstGeom prst="rect">
            <a:avLst/>
          </a:prstGeom>
          <a:noFill/>
          <a:ln/>
        </p:spPr>
        <p:txBody>
          <a:bodyPr wrap="square" rtlCol="0" anchor="ctr"/>
          <a:lstStyle/>
          <a:p>
            <a:pPr indent="0" marL="0">
              <a:buNone/>
            </a:pPr>
            <a:r>
              <a:rPr lang="en-US" sz="1100" dirty="0">
                <a:solidFill>
                  <a:srgbClr val="AAAAAA"/>
                </a:solidFill>
              </a:rPr>
              <a:t>TavaOne Education  ·  Pinellas STEM Radio 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What We're Covering Today</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8 exam questions — E3 (3 Qs) + E4 (5 Qs) = 16% of your Extra exam</a:t>
            </a:r>
            <a:endParaRPr lang="en-US" sz="1600" dirty="0"/>
          </a:p>
          <a:p>
            <a:pPr marL="190500" indent="-190500">
              <a:spcAft>
                <a:spcPts val="700"/>
              </a:spcAft>
              <a:buSzPct val="100000"/>
              <a:buChar char="•"/>
            </a:pPr>
            <a:r>
              <a:rPr lang="en-US" sz="1600" dirty="0">
                <a:solidFill>
                  <a:srgbClr val="1A1A1A"/>
                </a:solidFill>
              </a:rPr>
              <a:t>Hour 1: Advanced propagation — modes you won't see on General</a:t>
            </a:r>
            <a:endParaRPr lang="en-US" sz="1600" dirty="0"/>
          </a:p>
          <a:p>
            <a:pPr marL="190500" indent="-190500">
              <a:spcAft>
                <a:spcPts val="700"/>
              </a:spcAft>
              <a:buSzPct val="100000"/>
              <a:buChar char="•"/>
            </a:pPr>
            <a:r>
              <a:rPr lang="en-US" sz="1600" dirty="0">
                <a:solidFill>
                  <a:srgbClr val="1A1A1A"/>
                </a:solidFill>
              </a:rPr>
              <a:t>→ EME, meteor scatter, auroral, tropospheric ducting</a:t>
            </a:r>
            <a:endParaRPr lang="en-US" sz="1600" dirty="0"/>
          </a:p>
          <a:p>
            <a:pPr marL="190500" indent="-190500">
              <a:spcAft>
                <a:spcPts val="700"/>
              </a:spcAft>
              <a:buSzPct val="100000"/>
              <a:buChar char="•"/>
            </a:pPr>
            <a:r>
              <a:rPr lang="en-US" sz="1600" dirty="0">
                <a:solidFill>
                  <a:srgbClr val="1A1A1A"/>
                </a:solidFill>
              </a:rPr>
              <a:t>→ TEP, long-path, sporadic E, chordal hop</a:t>
            </a:r>
            <a:endParaRPr lang="en-US" sz="1600" dirty="0"/>
          </a:p>
          <a:p>
            <a:pPr marL="190500" indent="-190500">
              <a:spcAft>
                <a:spcPts val="700"/>
              </a:spcAft>
              <a:buSzPct val="100000"/>
              <a:buChar char="•"/>
            </a:pPr>
            <a:r>
              <a:rPr lang="en-US" sz="1600" dirty="0">
                <a:solidFill>
                  <a:srgbClr val="1A1A1A"/>
                </a:solidFill>
              </a:rPr>
              <a:t>→ Space weather: solar flux, A/K index, Bz, VOACAP</a:t>
            </a:r>
            <a:endParaRPr lang="en-US" sz="1600" dirty="0"/>
          </a:p>
          <a:p>
            <a:pPr marL="190500" indent="-190500">
              <a:spcAft>
                <a:spcPts val="700"/>
              </a:spcAft>
              <a:buSzPct val="100000"/>
              <a:buChar char="•"/>
            </a:pPr>
            <a:r>
              <a:rPr lang="en-US" sz="1600" dirty="0">
                <a:solidFill>
                  <a:srgbClr val="1A1A1A"/>
                </a:solidFill>
              </a:rPr>
              <a:t>Hour 2: Amateur practices</a:t>
            </a:r>
            <a:endParaRPr lang="en-US" sz="1600" dirty="0"/>
          </a:p>
          <a:p>
            <a:pPr marL="190500" indent="-190500">
              <a:spcAft>
                <a:spcPts val="700"/>
              </a:spcAft>
              <a:buSzPct val="100000"/>
              <a:buChar char="•"/>
            </a:pPr>
            <a:r>
              <a:rPr lang="en-US" sz="1600" dirty="0">
                <a:solidFill>
                  <a:srgbClr val="1A1A1A"/>
                </a:solidFill>
              </a:rPr>
              <a:t>→ Test equipment: oscilloscope, spectrum analyzer, antenna analyzer, VNA</a:t>
            </a:r>
            <a:endParaRPr lang="en-US" sz="1600" dirty="0"/>
          </a:p>
          <a:p>
            <a:pPr marL="190500" indent="-190500">
              <a:spcAft>
                <a:spcPts val="700"/>
              </a:spcAft>
              <a:buSzPct val="100000"/>
              <a:buChar char="•"/>
            </a:pPr>
            <a:r>
              <a:rPr lang="en-US" sz="1600" dirty="0">
                <a:solidFill>
                  <a:srgbClr val="1A1A1A"/>
                </a:solidFill>
              </a:rPr>
              <a:t>→ Measurement: S-parameters, directional wattmeter, Q measurement</a:t>
            </a:r>
            <a:endParaRPr lang="en-US" sz="1600" dirty="0"/>
          </a:p>
          <a:p>
            <a:pPr marL="190500" indent="-190500">
              <a:spcAft>
                <a:spcPts val="700"/>
              </a:spcAft>
              <a:buSzPct val="100000"/>
              <a:buChar char="•"/>
            </a:pPr>
            <a:r>
              <a:rPr lang="en-US" sz="1600" dirty="0">
                <a:solidFill>
                  <a:srgbClr val="1A1A1A"/>
                </a:solidFill>
              </a:rPr>
              <a:t>→ Receiver performance: noise, dynamic range, blocking, SDR overload</a:t>
            </a:r>
            <a:endParaRPr lang="en-US" sz="1600" dirty="0"/>
          </a:p>
          <a:p>
            <a:pPr marL="190500" indent="-190500">
              <a:spcAft>
                <a:spcPts val="700"/>
              </a:spcAft>
              <a:buSzPct val="100000"/>
              <a:buChar char="•"/>
            </a:pPr>
            <a:r>
              <a:rPr lang="en-US" sz="1600" dirty="0">
                <a:solidFill>
                  <a:srgbClr val="1A1A1A"/>
                </a:solidFill>
              </a:rPr>
              <a:t>→ Noise and interference sources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1: EME, Meteor Scatter &amp; Auroral</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E3A — 1 exam question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Earth-Moon-Earth (EME / Moon Bounce)</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The Moon reflects VHF/UHF signals — you can work stations on the other side of the world</a:t>
            </a:r>
            <a:endParaRPr lang="en-US" sz="1600" dirty="0"/>
          </a:p>
          <a:p>
            <a:pPr marL="190500" indent="-190500">
              <a:spcAft>
                <a:spcPts val="700"/>
              </a:spcAft>
              <a:buSzPct val="100000"/>
              <a:buChar char="•"/>
            </a:pPr>
            <a:r>
              <a:rPr lang="en-US" sz="1600" dirty="0">
                <a:solidFill>
                  <a:srgbClr val="1A1A1A"/>
                </a:solidFill>
              </a:rPr>
              <a:t>Maximum one-way path: ~12,000 miles (Earth to Moon and back = ~480,000 miles round trip)</a:t>
            </a:r>
            <a:endParaRPr lang="en-US" sz="1600" dirty="0"/>
          </a:p>
          <a:p>
            <a:pPr marL="190500" indent="-190500">
              <a:spcAft>
                <a:spcPts val="700"/>
              </a:spcAft>
              <a:buSzPct val="100000"/>
              <a:buChar char="•"/>
            </a:pPr>
            <a:r>
              <a:rPr lang="en-US" sz="1600" dirty="0">
                <a:solidFill>
                  <a:srgbClr val="1A1A1A"/>
                </a:solidFill>
              </a:rPr>
              <a:t>Perigee (Moon closest to Earth): minimum path loss, strongest signals</a:t>
            </a:r>
            <a:endParaRPr lang="en-US" sz="1600" dirty="0"/>
          </a:p>
          <a:p>
            <a:pPr marL="190500" indent="-190500">
              <a:spcAft>
                <a:spcPts val="700"/>
              </a:spcAft>
              <a:buSzPct val="100000"/>
              <a:buChar char="•"/>
            </a:pPr>
            <a:r>
              <a:rPr lang="en-US" sz="1600" dirty="0">
                <a:solidFill>
                  <a:srgbClr val="1A1A1A"/>
                </a:solidFill>
              </a:rPr>
              <a:t>Libration fading: Moon wobbles slightly (libration) — antenna orientation constantly shifts</a:t>
            </a:r>
            <a:endParaRPr lang="en-US" sz="1600" dirty="0"/>
          </a:p>
          <a:p>
            <a:pPr marL="190500" indent="-190500">
              <a:spcAft>
                <a:spcPts val="700"/>
              </a:spcAft>
              <a:buSzPct val="100000"/>
              <a:buChar char="•"/>
            </a:pPr>
            <a:r>
              <a:rPr lang="en-US" sz="1600" dirty="0">
                <a:solidFill>
                  <a:srgbClr val="1A1A1A"/>
                </a:solidFill>
              </a:rPr>
              <a:t>→ Causes rapid, irregular signal fluctuations — 'fluttery' audio</a:t>
            </a:r>
            <a:endParaRPr lang="en-US" sz="1600" dirty="0"/>
          </a:p>
          <a:p>
            <a:pPr marL="190500" indent="-190500">
              <a:spcAft>
                <a:spcPts val="700"/>
              </a:spcAft>
              <a:buSzPct val="100000"/>
              <a:buChar char="•"/>
            </a:pPr>
            <a:r>
              <a:rPr lang="en-US" sz="1600" dirty="0">
                <a:solidFill>
                  <a:srgbClr val="1A1A1A"/>
                </a:solidFill>
              </a:rPr>
              <a:t>Mode: Q65 — designed for severe Doppler shifting and libration fading</a:t>
            </a:r>
            <a:endParaRPr lang="en-US" sz="1600" dirty="0"/>
          </a:p>
          <a:p>
            <a:pPr marL="190500" indent="-190500">
              <a:spcAft>
                <a:spcPts val="700"/>
              </a:spcAft>
              <a:buSzPct val="100000"/>
              <a:buChar char="•"/>
            </a:pPr>
            <a:r>
              <a:rPr lang="en-US" sz="1600" dirty="0">
                <a:solidFill>
                  <a:srgbClr val="1A1A1A"/>
                </a:solidFill>
              </a:rPr>
              <a:t>Requires very high-gain antennas (big Yagi arrays) and usually maximum legal power</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Meteor Scatter</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Meteors burn up in the E region of the ionosphere (~80-120 km altitude)</a:t>
            </a:r>
            <a:endParaRPr lang="en-US" sz="1600" dirty="0"/>
          </a:p>
          <a:p>
            <a:pPr marL="190500" indent="-190500">
              <a:spcAft>
                <a:spcPts val="700"/>
              </a:spcAft>
              <a:buSzPct val="100000"/>
              <a:buChar char="•"/>
            </a:pPr>
            <a:r>
              <a:rPr lang="en-US" sz="1600" dirty="0">
                <a:solidFill>
                  <a:srgbClr val="1A1A1A"/>
                </a:solidFill>
              </a:rPr>
              <a:t>The ionized trail reflects VHF signals — for milliseconds to a few seconds</a:t>
            </a:r>
            <a:endParaRPr lang="en-US" sz="1600" dirty="0"/>
          </a:p>
          <a:p>
            <a:pPr marL="190500" indent="-190500">
              <a:spcAft>
                <a:spcPts val="700"/>
              </a:spcAft>
              <a:buSzPct val="100000"/>
              <a:buChar char="•"/>
            </a:pPr>
            <a:r>
              <a:rPr lang="en-US" sz="1600" dirty="0">
                <a:solidFill>
                  <a:srgbClr val="1A1A1A"/>
                </a:solidFill>
              </a:rPr>
              <a:t>Frequency range: 28-148 MHz (10m through 2m)</a:t>
            </a:r>
            <a:endParaRPr lang="en-US" sz="1600" dirty="0"/>
          </a:p>
          <a:p>
            <a:pPr marL="190500" indent="-190500">
              <a:spcAft>
                <a:spcPts val="700"/>
              </a:spcAft>
              <a:buSzPct val="100000"/>
              <a:buChar char="•"/>
            </a:pPr>
            <a:r>
              <a:rPr lang="en-US" sz="1600" dirty="0">
                <a:solidFill>
                  <a:srgbClr val="1A1A1A"/>
                </a:solidFill>
              </a:rPr>
              <a:t>Mode: MSK144 — designed for very short burst duration</a:t>
            </a:r>
            <a:endParaRPr lang="en-US" sz="1600" dirty="0"/>
          </a:p>
          <a:p>
            <a:pPr marL="190500" indent="-190500">
              <a:spcAft>
                <a:spcPts val="700"/>
              </a:spcAft>
              <a:buSzPct val="100000"/>
              <a:buChar char="•"/>
            </a:pPr>
            <a:r>
              <a:rPr lang="en-US" sz="1600" dirty="0">
                <a:solidFill>
                  <a:srgbClr val="1A1A1A"/>
                </a:solidFill>
              </a:rPr>
              <a:t>MSK144 encodes data quickly enough to fit a full exchange in a single burst</a:t>
            </a:r>
            <a:endParaRPr lang="en-US" sz="1600" dirty="0"/>
          </a:p>
          <a:p>
            <a:pPr marL="190500" indent="-190500">
              <a:spcAft>
                <a:spcPts val="700"/>
              </a:spcAft>
              <a:buSzPct val="100000"/>
              <a:buChar char="•"/>
            </a:pPr>
            <a:r>
              <a:rPr lang="en-US" sz="1600" dirty="0">
                <a:solidFill>
                  <a:srgbClr val="1A1A1A"/>
                </a:solidFill>
              </a:rPr>
              <a:t>Peak meteor scatter activity: major showers (Perseids in August, Leonids in November)</a:t>
            </a:r>
            <a:endParaRPr lang="en-US" sz="1600" dirty="0"/>
          </a:p>
          <a:p>
            <a:pPr marL="190500" indent="-190500">
              <a:spcAft>
                <a:spcPts val="700"/>
              </a:spcAft>
              <a:buSzPct val="100000"/>
              <a:buChar char="•"/>
            </a:pPr>
            <a:r>
              <a:rPr lang="en-US" sz="1600" dirty="0">
                <a:solidFill>
                  <a:srgbClr val="1A1A1A"/>
                </a:solidFill>
              </a:rPr>
              <a:t>Random (sporadic) meteors: year-round low-level activity</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Auroral and Tropospheric Ducting</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Auroral propagation: severe geomagnetic storms excite the auroral oval</a:t>
            </a:r>
            <a:endParaRPr lang="en-US" sz="1600" dirty="0"/>
          </a:p>
          <a:p>
            <a:pPr marL="190500" indent="-190500">
              <a:spcAft>
                <a:spcPts val="700"/>
              </a:spcAft>
              <a:buSzPct val="100000"/>
              <a:buChar char="•"/>
            </a:pPr>
            <a:r>
              <a:rPr lang="en-US" sz="1600" dirty="0">
                <a:solidFill>
                  <a:srgbClr val="1A1A1A"/>
                </a:solidFill>
              </a:rPr>
              <a:t>→ The aurora acts as a reflector for VHF signals</a:t>
            </a:r>
            <a:endParaRPr lang="en-US" sz="1600" dirty="0"/>
          </a:p>
          <a:p>
            <a:pPr marL="190500" indent="-190500">
              <a:spcAft>
                <a:spcPts val="700"/>
              </a:spcAft>
              <a:buSzPct val="100000"/>
              <a:buChar char="•"/>
            </a:pPr>
            <a:r>
              <a:rPr lang="en-US" sz="1600" dirty="0">
                <a:solidFill>
                  <a:srgbClr val="1A1A1A"/>
                </a:solidFill>
              </a:rPr>
              <a:t>→ CW is the only practical mode — auroral reflection distorts audio badly</a:t>
            </a:r>
            <a:endParaRPr lang="en-US" sz="1600" dirty="0"/>
          </a:p>
          <a:p>
            <a:pPr marL="190500" indent="-190500">
              <a:spcAft>
                <a:spcPts val="700"/>
              </a:spcAft>
              <a:buSzPct val="100000"/>
              <a:buChar char="•"/>
            </a:pPr>
            <a:r>
              <a:rPr lang="en-US" sz="1600" dirty="0">
                <a:solidFill>
                  <a:srgbClr val="1A1A1A"/>
                </a:solidFill>
              </a:rPr>
              <a:t>→ Signals have a characteristic 'buzz' or 'hiss' quality</a:t>
            </a:r>
            <a:endParaRPr lang="en-US" sz="1600" dirty="0"/>
          </a:p>
          <a:p>
            <a:pPr marL="190500" indent="-190500">
              <a:spcAft>
                <a:spcPts val="700"/>
              </a:spcAft>
              <a:buSzPct val="100000"/>
              <a:buChar char="•"/>
            </a:pPr>
            <a:r>
              <a:rPr lang="en-US" sz="1600" dirty="0">
                <a:solidFill>
                  <a:srgbClr val="1A1A1A"/>
                </a:solidFill>
              </a:rPr>
              <a:t>→ Works best when you point your antenna toward the aurora (northward in N. hemisphere)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Microwave tropospheric ducting:</a:t>
            </a:r>
            <a:endParaRPr lang="en-US" sz="1600" dirty="0"/>
          </a:p>
          <a:p>
            <a:pPr marL="190500" indent="-190500">
              <a:spcAft>
                <a:spcPts val="700"/>
              </a:spcAft>
              <a:buSzPct val="100000"/>
              <a:buChar char="•"/>
            </a:pPr>
            <a:r>
              <a:rPr lang="en-US" sz="1600" dirty="0">
                <a:solidFill>
                  <a:srgbClr val="1A1A1A"/>
                </a:solidFill>
              </a:rPr>
              <a:t>→ Temperature inversions over large bodies of water trap signals</a:t>
            </a:r>
            <a:endParaRPr lang="en-US" sz="1600" dirty="0"/>
          </a:p>
          <a:p>
            <a:pPr marL="190500" indent="-190500">
              <a:spcAft>
                <a:spcPts val="700"/>
              </a:spcAft>
              <a:buSzPct val="100000"/>
              <a:buChar char="•"/>
            </a:pPr>
            <a:r>
              <a:rPr lang="en-US" sz="1600" dirty="0">
                <a:solidFill>
                  <a:srgbClr val="1A1A1A"/>
                </a:solidFill>
              </a:rPr>
              <a:t>→ Typical range: 100-300 miles; sometimes much farther</a:t>
            </a:r>
            <a:endParaRPr lang="en-US" sz="1600" dirty="0"/>
          </a:p>
          <a:p>
            <a:pPr marL="190500" indent="-190500">
              <a:spcAft>
                <a:spcPts val="700"/>
              </a:spcAft>
              <a:buSzPct val="100000"/>
              <a:buChar char="•"/>
            </a:pPr>
            <a:r>
              <a:rPr lang="en-US" sz="1600" dirty="0">
                <a:solidFill>
                  <a:srgbClr val="1A1A1A"/>
                </a:solidFill>
              </a:rPr>
              <a:t>→ Most common on microwave bands (2.4 GHz and above)</a:t>
            </a:r>
            <a:endParaRPr lang="en-US" sz="1600" dirty="0"/>
          </a:p>
          <a:p>
            <a:pPr marL="190500" indent="-190500">
              <a:spcAft>
                <a:spcPts val="700"/>
              </a:spcAft>
              <a:buSzPct val="100000"/>
              <a:buChar char="•"/>
            </a:pPr>
            <a:r>
              <a:rPr lang="en-US" sz="1600" dirty="0">
                <a:solidFill>
                  <a:srgbClr val="1A1A1A"/>
                </a:solidFill>
              </a:rPr>
              <a:t>→ Florida to Cuba; California to Hawaii (rare but happens)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EM Wave Fundamentals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An EM wave has two fields at right angles to each other: E (electric) and H (magnetic)</a:t>
            </a:r>
            <a:endParaRPr lang="en-US" sz="1600" dirty="0"/>
          </a:p>
          <a:p>
            <a:pPr marL="190500" indent="-190500">
              <a:spcAft>
                <a:spcPts val="700"/>
              </a:spcAft>
              <a:buSzPct val="100000"/>
              <a:buChar char="•"/>
            </a:pPr>
            <a:r>
              <a:rPr lang="en-US" sz="1600" dirty="0">
                <a:solidFill>
                  <a:srgbClr val="1A1A1A"/>
                </a:solidFill>
              </a:rPr>
              <a:t>The wave travels at right angles to BOTH E and H fields</a:t>
            </a:r>
            <a:endParaRPr lang="en-US" sz="1600" dirty="0"/>
          </a:p>
          <a:p>
            <a:pPr marL="190500" indent="-190500">
              <a:spcAft>
                <a:spcPts val="700"/>
              </a:spcAft>
              <a:buSzPct val="100000"/>
              <a:buChar char="•"/>
            </a:pPr>
            <a:r>
              <a:rPr lang="en-US" sz="1600" dirty="0">
                <a:solidFill>
                  <a:srgbClr val="1A1A1A"/>
                </a:solidFill>
              </a:rPr>
              <a:t>Think of it as three perpendicular axes: travel direction, E field, H field</a:t>
            </a:r>
            <a:endParaRPr lang="en-US" sz="1600" dirty="0"/>
          </a:p>
          <a:p>
            <a:pPr marL="190500" indent="-190500">
              <a:spcAft>
                <a:spcPts val="700"/>
              </a:spcAft>
              <a:buSzPct val="100000"/>
              <a:buChar char="•"/>
            </a:pPr>
            <a:r>
              <a:rPr lang="en-US" sz="1600" dirty="0">
                <a:solidFill>
                  <a:srgbClr val="1A1A1A"/>
                </a:solidFill>
              </a:rPr>
              <a:t>Circular polarization: both E and H fields rotate as the wave propagates</a:t>
            </a:r>
            <a:endParaRPr lang="en-US" sz="1600" dirty="0"/>
          </a:p>
          <a:p>
            <a:pPr marL="190500" indent="-190500">
              <a:spcAft>
                <a:spcPts val="700"/>
              </a:spcAft>
              <a:buSzPct val="100000"/>
              <a:buChar char="•"/>
            </a:pPr>
            <a:r>
              <a:rPr lang="en-US" sz="1600" dirty="0">
                <a:solidFill>
                  <a:srgbClr val="1A1A1A"/>
                </a:solidFill>
              </a:rPr>
              <a:t>→ Reduces spin modulation on satellites (covered in Module 1)</a:t>
            </a:r>
            <a:endParaRPr lang="en-US" sz="1600" dirty="0"/>
          </a:p>
          <a:p>
            <a:pPr marL="190500" indent="-190500">
              <a:spcAft>
                <a:spcPts val="700"/>
              </a:spcAft>
              <a:buSzPct val="100000"/>
              <a:buChar char="•"/>
            </a:pPr>
            <a:r>
              <a:rPr lang="en-US" sz="1600" dirty="0">
                <a:solidFill>
                  <a:srgbClr val="1A1A1A"/>
                </a:solidFill>
              </a:rPr>
              <a:t>Speed through a medium: determined by the index of refraction</a:t>
            </a:r>
            <a:endParaRPr lang="en-US" sz="1600" dirty="0"/>
          </a:p>
          <a:p>
            <a:pPr marL="190500" indent="-190500">
              <a:spcAft>
                <a:spcPts val="700"/>
              </a:spcAft>
              <a:buSzPct val="100000"/>
              <a:buChar char="•"/>
            </a:pPr>
            <a:r>
              <a:rPr lang="en-US" sz="1600" dirty="0">
                <a:solidFill>
                  <a:srgbClr val="1A1A1A"/>
                </a:solidFill>
              </a:rPr>
              <a:t>→ Slower in denser media (glass, water, ionosphere) than in vacuum</a:t>
            </a:r>
            <a:endParaRPr lang="en-US" sz="1600" dirty="0"/>
          </a:p>
          <a:p>
            <a:pPr marL="190500" indent="-190500">
              <a:spcAft>
                <a:spcPts val="700"/>
              </a:spcAft>
              <a:buSzPct val="100000"/>
              <a:buChar char="•"/>
            </a:pPr>
            <a:r>
              <a:rPr lang="en-US" sz="1600" dirty="0">
                <a:solidFill>
                  <a:srgbClr val="1A1A1A"/>
                </a:solidFill>
              </a:rPr>
              <a:t>MUF at night: as ionosphere thins at darkness, MUF drops — switch to a lower HF band</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2: TEP, Long-Path, Sporadic E</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E3B — 1 exam question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Transequatorial Propagation (TEP)</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TEP enables 2,000-3,000 mile paths perpendicular to the geomagnetic equator</a:t>
            </a:r>
            <a:endParaRPr lang="en-US" sz="1600" dirty="0"/>
          </a:p>
          <a:p>
            <a:pPr marL="190500" indent="-190500">
              <a:spcAft>
                <a:spcPts val="700"/>
              </a:spcAft>
              <a:buSzPct val="100000"/>
              <a:buChar char="•"/>
            </a:pPr>
            <a:r>
              <a:rPr lang="en-US" sz="1600" dirty="0">
                <a:solidFill>
                  <a:srgbClr val="1A1A1A"/>
                </a:solidFill>
              </a:rPr>
              <a:t>Maximum range: approximately 5,000 miles</a:t>
            </a:r>
            <a:endParaRPr lang="en-US" sz="1600" dirty="0"/>
          </a:p>
          <a:p>
            <a:pPr marL="190500" indent="-190500">
              <a:spcAft>
                <a:spcPts val="700"/>
              </a:spcAft>
              <a:buSzPct val="100000"/>
              <a:buChar char="•"/>
            </a:pPr>
            <a:r>
              <a:rPr lang="en-US" sz="1600" dirty="0">
                <a:solidFill>
                  <a:srgbClr val="1A1A1A"/>
                </a:solidFill>
              </a:rPr>
              <a:t>Both stations must be roughly equidistant north and south of the geomagnetic equator</a:t>
            </a:r>
            <a:endParaRPr lang="en-US" sz="1600" dirty="0"/>
          </a:p>
          <a:p>
            <a:pPr marL="190500" indent="-190500">
              <a:spcAft>
                <a:spcPts val="700"/>
              </a:spcAft>
              <a:buSzPct val="100000"/>
              <a:buChar char="•"/>
            </a:pPr>
            <a:r>
              <a:rPr lang="en-US" sz="1600" dirty="0">
                <a:solidFill>
                  <a:srgbClr val="1A1A1A"/>
                </a:solidFill>
              </a:rPr>
              <a:t>Timing: typically afternoon to early evening</a:t>
            </a:r>
            <a:endParaRPr lang="en-US" sz="1600" dirty="0"/>
          </a:p>
          <a:p>
            <a:pPr marL="190500" indent="-190500">
              <a:spcAft>
                <a:spcPts val="700"/>
              </a:spcAft>
              <a:buSzPct val="100000"/>
              <a:buChar char="•"/>
            </a:pPr>
            <a:r>
              <a:rPr lang="en-US" sz="1600" dirty="0">
                <a:solidFill>
                  <a:srgbClr val="1A1A1A"/>
                </a:solidFill>
              </a:rPr>
              <a:t>This is a 2m DX mode — it enables contacts that are otherwise impossible</a:t>
            </a:r>
            <a:endParaRPr lang="en-US" sz="1600" dirty="0"/>
          </a:p>
          <a:p>
            <a:pPr marL="190500" indent="-190500">
              <a:spcAft>
                <a:spcPts val="700"/>
              </a:spcAft>
              <a:buSzPct val="100000"/>
              <a:buChar char="•"/>
            </a:pPr>
            <a:r>
              <a:rPr lang="en-US" sz="1600" dirty="0">
                <a:solidFill>
                  <a:srgbClr val="1A1A1A"/>
                </a:solidFill>
              </a:rPr>
              <a:t>Not the same as standard F-layer propagation — TEP uses field-aligned irregularities</a:t>
            </a:r>
            <a:endParaRPr lang="en-US" sz="1600" dirty="0"/>
          </a:p>
          <a:p>
            <a:pPr marL="190500" indent="-190500">
              <a:spcAft>
                <a:spcPts val="700"/>
              </a:spcAft>
              <a:buSzPct val="100000"/>
              <a:buChar char="•"/>
            </a:pPr>
            <a:r>
              <a:rPr lang="en-US" sz="1600" dirty="0">
                <a:solidFill>
                  <a:srgbClr val="1A1A1A"/>
                </a:solidFill>
              </a:rPr>
              <a:t>Example: Florida to southern South America on 144 MHz</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Long-Path, 160m, and Chordal Hop</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Long-path propagation: signals travel the 'long way' around Earth (&gt;180 degrees of arc)</a:t>
            </a:r>
            <a:endParaRPr lang="en-US" sz="1600" dirty="0"/>
          </a:p>
          <a:p>
            <a:pPr marL="190500" indent="-190500">
              <a:spcAft>
                <a:spcPts val="700"/>
              </a:spcAft>
              <a:buSzPct val="100000"/>
              <a:buChar char="•"/>
            </a:pPr>
            <a:r>
              <a:rPr lang="en-US" sz="1600" dirty="0">
                <a:solidFill>
                  <a:srgbClr val="1A1A1A"/>
                </a:solidFill>
              </a:rPr>
              <a:t>→ Most frequent on 40m and 20m</a:t>
            </a:r>
            <a:endParaRPr lang="en-US" sz="1600" dirty="0"/>
          </a:p>
          <a:p>
            <a:pPr marL="190500" indent="-190500">
              <a:spcAft>
                <a:spcPts val="700"/>
              </a:spcAft>
              <a:buSzPct val="100000"/>
              <a:buChar char="•"/>
            </a:pPr>
            <a:r>
              <a:rPr lang="en-US" sz="1600" dirty="0">
                <a:solidFill>
                  <a:srgbClr val="1A1A1A"/>
                </a:solidFill>
              </a:rPr>
              <a:t>→ Point antenna in the OPPOSITE direction from normal short-path</a:t>
            </a:r>
            <a:endParaRPr lang="en-US" sz="1600" dirty="0"/>
          </a:p>
          <a:p>
            <a:pPr marL="190500" indent="-190500">
              <a:spcAft>
                <a:spcPts val="700"/>
              </a:spcAft>
              <a:buSzPct val="100000"/>
              <a:buChar char="•"/>
            </a:pPr>
            <a:r>
              <a:rPr lang="en-US" sz="1600" dirty="0">
                <a:solidFill>
                  <a:srgbClr val="1A1A1A"/>
                </a:solidFill>
              </a:rPr>
              <a:t>→ When short-path is blocked or noisy, long-path sometimes gives a better signal</a:t>
            </a:r>
            <a:endParaRPr lang="en-US" sz="1600" dirty="0"/>
          </a:p>
          <a:p>
            <a:pPr marL="190500" indent="-190500">
              <a:spcAft>
                <a:spcPts val="700"/>
              </a:spcAft>
              <a:buSzPct val="100000"/>
              <a:buChar char="•"/>
            </a:pPr>
            <a:r>
              <a:rPr lang="en-US" sz="1600" dirty="0">
                <a:solidFill>
                  <a:srgbClr val="1A1A1A"/>
                </a:solidFill>
              </a:rPr>
              <a:t>160m (1.8 MHz) propagation:</a:t>
            </a:r>
            <a:endParaRPr lang="en-US" sz="1600" dirty="0"/>
          </a:p>
          <a:p>
            <a:pPr marL="190500" indent="-190500">
              <a:spcAft>
                <a:spcPts val="700"/>
              </a:spcAft>
              <a:buSzPct val="100000"/>
              <a:buChar char="•"/>
            </a:pPr>
            <a:r>
              <a:rPr lang="en-US" sz="1600" dirty="0">
                <a:solidFill>
                  <a:srgbClr val="1A1A1A"/>
                </a:solidFill>
              </a:rPr>
              <a:t>→ Path must be ENTIRELY in darkness — even a short illuminated segment causes absorption</a:t>
            </a:r>
            <a:endParaRPr lang="en-US" sz="1600" dirty="0"/>
          </a:p>
          <a:p>
            <a:pPr marL="190500" indent="-190500">
              <a:spcAft>
                <a:spcPts val="700"/>
              </a:spcAft>
              <a:buSzPct val="100000"/>
              <a:buChar char="•"/>
            </a:pPr>
            <a:r>
              <a:rPr lang="en-US" sz="1600" dirty="0">
                <a:solidFill>
                  <a:srgbClr val="1A1A1A"/>
                </a:solidFill>
              </a:rPr>
              <a:t>→ Best windows: around your local sunrise/sunset</a:t>
            </a:r>
            <a:endParaRPr lang="en-US" sz="1600" dirty="0"/>
          </a:p>
          <a:p>
            <a:pPr marL="190500" indent="-190500">
              <a:spcAft>
                <a:spcPts val="700"/>
              </a:spcAft>
              <a:buSzPct val="100000"/>
              <a:buChar char="•"/>
            </a:pPr>
            <a:r>
              <a:rPr lang="en-US" sz="1600" dirty="0">
                <a:solidFill>
                  <a:srgbClr val="1A1A1A"/>
                </a:solidFill>
              </a:rPr>
              <a:t>Chordal hop: successive ionospheric refractions without ground touching between hops</a:t>
            </a:r>
            <a:endParaRPr lang="en-US" sz="1600" dirty="0"/>
          </a:p>
          <a:p>
            <a:pPr marL="190500" indent="-190500">
              <a:spcAft>
                <a:spcPts val="700"/>
              </a:spcAft>
              <a:buSzPct val="100000"/>
              <a:buChar char="•"/>
            </a:pPr>
            <a:r>
              <a:rPr lang="en-US" sz="1600" dirty="0">
                <a:solidFill>
                  <a:srgbClr val="1A1A1A"/>
                </a:solidFill>
              </a:rPr>
              <a:t>→ Less loss than standard hops (no ground absorption)</a:t>
            </a:r>
            <a:endParaRPr lang="en-US" sz="1600" dirty="0"/>
          </a:p>
          <a:p>
            <a:pPr marL="190500" indent="-190500">
              <a:spcAft>
                <a:spcPts val="700"/>
              </a:spcAft>
              <a:buSzPct val="100000"/>
              <a:buChar char="•"/>
            </a:pPr>
            <a:r>
              <a:rPr lang="en-US" sz="1600" dirty="0">
                <a:solidFill>
                  <a:srgbClr val="1A1A1A"/>
                </a:solidFill>
              </a:rPr>
              <a:t>→ Lower elevation angle = longer individual hop distance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Sporadic E and Ground Wave</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Sporadic E (Es): random patches of intense ionization in the E layer</a:t>
            </a:r>
            <a:endParaRPr lang="en-US" sz="1600" dirty="0"/>
          </a:p>
          <a:p>
            <a:pPr marL="190500" indent="-190500">
              <a:spcAft>
                <a:spcPts val="700"/>
              </a:spcAft>
              <a:buSzPct val="100000"/>
              <a:buChar char="•"/>
            </a:pPr>
            <a:r>
              <a:rPr lang="en-US" sz="1600" dirty="0">
                <a:solidFill>
                  <a:srgbClr val="1A1A1A"/>
                </a:solidFill>
              </a:rPr>
              <a:t>→ Peak occurrence: around solstices, especially summer (June-July N. hemisphere)</a:t>
            </a:r>
            <a:endParaRPr lang="en-US" sz="1600" dirty="0"/>
          </a:p>
          <a:p>
            <a:pPr marL="190500" indent="-190500">
              <a:spcAft>
                <a:spcPts val="700"/>
              </a:spcAft>
              <a:buSzPct val="100000"/>
              <a:buChar char="•"/>
            </a:pPr>
            <a:r>
              <a:rPr lang="en-US" sz="1600" dirty="0">
                <a:solidFill>
                  <a:srgbClr val="1A1A1A"/>
                </a:solidFill>
              </a:rPr>
              <a:t>→ Occurs most often between sunrise and sunset</a:t>
            </a:r>
            <a:endParaRPr lang="en-US" sz="1600" dirty="0"/>
          </a:p>
          <a:p>
            <a:pPr marL="190500" indent="-190500">
              <a:spcAft>
                <a:spcPts val="700"/>
              </a:spcAft>
              <a:buSzPct val="100000"/>
              <a:buChar char="•"/>
            </a:pPr>
            <a:r>
              <a:rPr lang="en-US" sz="1600" dirty="0">
                <a:solidFill>
                  <a:srgbClr val="1A1A1A"/>
                </a:solidFill>
              </a:rPr>
              <a:t>→ Can enable DX on 6m, 2m, 10m without F-layer support</a:t>
            </a:r>
            <a:endParaRPr lang="en-US" sz="1600" dirty="0"/>
          </a:p>
          <a:p>
            <a:pPr marL="190500" indent="-190500">
              <a:spcAft>
                <a:spcPts val="700"/>
              </a:spcAft>
              <a:buSzPct val="100000"/>
              <a:buChar char="•"/>
            </a:pPr>
            <a:r>
              <a:rPr lang="en-US" sz="1600" dirty="0">
                <a:solidFill>
                  <a:srgbClr val="1A1A1A"/>
                </a:solidFill>
              </a:rPr>
              <a:t>→ Unpredictable — check DX clusters and spotting networks</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Ordinary and extraordinary waves:</a:t>
            </a:r>
            <a:endParaRPr lang="en-US" sz="1600" dirty="0"/>
          </a:p>
          <a:p>
            <a:pPr marL="190500" indent="-190500">
              <a:spcAft>
                <a:spcPts val="700"/>
              </a:spcAft>
              <a:buSzPct val="100000"/>
              <a:buChar char="•"/>
            </a:pPr>
            <a:r>
              <a:rPr lang="en-US" sz="1600" dirty="0">
                <a:solidFill>
                  <a:srgbClr val="1A1A1A"/>
                </a:solidFill>
              </a:rPr>
              <a:t>→ Two waves that propagate independently through the ionosphere</a:t>
            </a:r>
            <a:endParaRPr lang="en-US" sz="1600" dirty="0"/>
          </a:p>
          <a:p>
            <a:pPr marL="190500" indent="-190500">
              <a:spcAft>
                <a:spcPts val="700"/>
              </a:spcAft>
              <a:buSzPct val="100000"/>
              <a:buChar char="•"/>
            </a:pPr>
            <a:r>
              <a:rPr lang="en-US" sz="1600" dirty="0">
                <a:solidFill>
                  <a:srgbClr val="1A1A1A"/>
                </a:solidFill>
              </a:rPr>
              <a:t>→ Both are elliptically polarized</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Ground wave: travels along Earth's surface</a:t>
            </a:r>
            <a:endParaRPr lang="en-US" sz="1600" dirty="0"/>
          </a:p>
          <a:p>
            <a:pPr marL="190500" indent="-190500">
              <a:spcAft>
                <a:spcPts val="700"/>
              </a:spcAft>
              <a:buSzPct val="100000"/>
              <a:buChar char="•"/>
            </a:pPr>
            <a:r>
              <a:rPr lang="en-US" sz="1600" dirty="0">
                <a:solidFill>
                  <a:srgbClr val="1A1A1A"/>
                </a:solidFill>
              </a:rPr>
              <a:t>→ Uses vertical polarization</a:t>
            </a:r>
            <a:endParaRPr lang="en-US" sz="1600" dirty="0"/>
          </a:p>
          <a:p>
            <a:pPr marL="190500" indent="-190500">
              <a:spcAft>
                <a:spcPts val="700"/>
              </a:spcAft>
              <a:buSzPct val="100000"/>
              <a:buChar char="•"/>
            </a:pPr>
            <a:r>
              <a:rPr lang="en-US" sz="1600" dirty="0">
                <a:solidFill>
                  <a:srgbClr val="1A1A1A"/>
                </a:solidFill>
              </a:rPr>
              <a:t>→ Range decreases as frequency increases</a:t>
            </a:r>
            <a:endParaRPr lang="en-US" sz="1600" dirty="0"/>
          </a:p>
          <a:p>
            <a:pPr marL="190500" indent="-190500">
              <a:spcAft>
                <a:spcPts val="700"/>
              </a:spcAft>
              <a:buSzPct val="100000"/>
              <a:buChar char="•"/>
            </a:pPr>
            <a:r>
              <a:rPr lang="en-US" sz="1600" dirty="0">
                <a:solidFill>
                  <a:srgbClr val="1A1A1A"/>
                </a:solidFill>
              </a:rPr>
              <a:t>→ Very reliable for short distances on 160m and 80m</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3: Space Weather</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E3C — 1 exam question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Space Weather Indices</a:t>
            </a:r>
            <a:endParaRPr lang="en-US" sz="2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3840480"/>
                <a:gridCol w="4754880"/>
              </a:tblGrid>
              <a:tr h="0">
                <a:tc>
                  <a:txBody>
                    <a:bodyPr/>
                    <a:lstStyle/>
                    <a:p>
                      <a:pPr indent="0" marL="0">
                        <a:buNone/>
                      </a:pPr>
                      <a:r>
                        <a:rPr lang="en-US" sz="1300" b="1" dirty="0">
                          <a:solidFill>
                            <a:srgbClr val="1B2A4A"/>
                          </a:solidFill>
                        </a:rPr>
                        <a:t>Solar Flux Index (SFI)</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UV/EUV from Sun; higher = better HF propagation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A-index</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Daily geomagnetic average (0-400); rising = worse HF</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K-index</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3-hour geomagnetic reading (0-9); K&gt;4 = disrupted HF</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Bz (north-south IMF)</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Southward Bz = more geomagnetic disturbance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G-scale storms</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G1 (minor) through G5 (extreme)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Solar flare class X</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Most intense class; causes HF radio blackouts</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304A parameter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UV emissions; correlated with solar flux index</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VOACAP</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HF propagation prediction software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Auroral oval when A/K high</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High absorption on polar paths; auroral scatter on VHF</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Sudden HF noise increase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CME impact or solar flare in progress</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VHF radio horizon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~15% farther than geographic horizon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bl>
          </a:graphicData>
        </a:graphic>
      </p:graphicFrame>
      <p:sp>
        <p:nvSpPr>
          <p:cNvPr id="5" name="Text 2"/>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3"/>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4: Test Equipment</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E4A — 1 exam question</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Oscilloscope and Spectrum Analyzer</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Digital oscilloscope:</a:t>
            </a:r>
            <a:endParaRPr lang="en-US" sz="1600" dirty="0"/>
          </a:p>
          <a:p>
            <a:pPr marL="190500" indent="-190500">
              <a:spcAft>
                <a:spcPts val="700"/>
              </a:spcAft>
              <a:buSzPct val="100000"/>
              <a:buChar char="•"/>
            </a:pPr>
            <a:r>
              <a:rPr lang="en-US" sz="1600" dirty="0">
                <a:solidFill>
                  <a:srgbClr val="1A1A1A"/>
                </a:solidFill>
              </a:rPr>
              <a:t>→ Displays voltage vs. TIME</a:t>
            </a:r>
            <a:endParaRPr lang="en-US" sz="1600" dirty="0"/>
          </a:p>
          <a:p>
            <a:pPr marL="190500" indent="-190500">
              <a:spcAft>
                <a:spcPts val="700"/>
              </a:spcAft>
              <a:buSzPct val="100000"/>
              <a:buChar char="•"/>
            </a:pPr>
            <a:r>
              <a:rPr lang="en-US" sz="1600" dirty="0">
                <a:solidFill>
                  <a:srgbClr val="1A1A1A"/>
                </a:solidFill>
              </a:rPr>
              <a:t>→ Sampling rate limits the highest frequency that can be accurately displayed</a:t>
            </a:r>
            <a:endParaRPr lang="en-US" sz="1600" dirty="0"/>
          </a:p>
          <a:p>
            <a:pPr marL="190500" indent="-190500">
              <a:spcAft>
                <a:spcPts val="700"/>
              </a:spcAft>
              <a:buSzPct val="100000"/>
              <a:buChar char="•"/>
            </a:pPr>
            <a:r>
              <a:rPr lang="en-US" sz="1600" dirty="0">
                <a:solidFill>
                  <a:srgbClr val="1A1A1A"/>
                </a:solidFill>
              </a:rPr>
              <a:t>→ Aliasing: if signal frequency &gt; half the sampling rate, it appears at a false lower frequency</a:t>
            </a:r>
            <a:endParaRPr lang="en-US" sz="1600" dirty="0"/>
          </a:p>
          <a:p>
            <a:pPr marL="190500" indent="-190500">
              <a:spcAft>
                <a:spcPts val="700"/>
              </a:spcAft>
              <a:buSzPct val="100000"/>
              <a:buChar char="•"/>
            </a:pPr>
            <a:r>
              <a:rPr lang="en-US" sz="1600" dirty="0">
                <a:solidFill>
                  <a:srgbClr val="1A1A1A"/>
                </a:solidFill>
              </a:rPr>
              <a:t>→ Probe compensation: feed a square wave, adjust trimmer for flat top (no overshoot)</a:t>
            </a:r>
            <a:endParaRPr lang="en-US" sz="1600" dirty="0"/>
          </a:p>
          <a:p>
            <a:pPr marL="190500" indent="-190500">
              <a:spcAft>
                <a:spcPts val="700"/>
              </a:spcAft>
              <a:buSzPct val="100000"/>
              <a:buChar char="•"/>
            </a:pPr>
            <a:r>
              <a:rPr lang="en-US" sz="1600" dirty="0">
                <a:solidFill>
                  <a:srgbClr val="1A1A1A"/>
                </a:solidFill>
              </a:rPr>
              <a:t>→ Line trigger (AC power line sync): best mode for measuring power supply ripple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Spectrum analyzer:</a:t>
            </a:r>
            <a:endParaRPr lang="en-US" sz="1600" dirty="0"/>
          </a:p>
          <a:p>
            <a:pPr marL="190500" indent="-190500">
              <a:spcAft>
                <a:spcPts val="700"/>
              </a:spcAft>
              <a:buSzPct val="100000"/>
              <a:buChar char="•"/>
            </a:pPr>
            <a:r>
              <a:rPr lang="en-US" sz="1600" dirty="0">
                <a:solidFill>
                  <a:srgbClr val="1A1A1A"/>
                </a:solidFill>
              </a:rPr>
              <a:t>→ Displays AMPLITUDE vs. FREQUENCY</a:t>
            </a:r>
            <a:endParaRPr lang="en-US" sz="1600" dirty="0"/>
          </a:p>
          <a:p>
            <a:pPr marL="190500" indent="-190500">
              <a:spcAft>
                <a:spcPts val="700"/>
              </a:spcAft>
              <a:buSzPct val="100000"/>
              <a:buChar char="•"/>
            </a:pPr>
            <a:r>
              <a:rPr lang="en-US" sz="1600" dirty="0">
                <a:solidFill>
                  <a:srgbClr val="1A1A1A"/>
                </a:solidFill>
              </a:rPr>
              <a:t>→ Vertical axis = amplitude (usually in dBm)</a:t>
            </a:r>
            <a:endParaRPr lang="en-US" sz="1600" dirty="0"/>
          </a:p>
          <a:p>
            <a:pPr marL="190500" indent="-190500">
              <a:spcAft>
                <a:spcPts val="700"/>
              </a:spcAft>
              <a:buSzPct val="100000"/>
              <a:buChar char="•"/>
            </a:pPr>
            <a:r>
              <a:rPr lang="en-US" sz="1600" dirty="0">
                <a:solidFill>
                  <a:srgbClr val="1A1A1A"/>
                </a:solidFill>
              </a:rPr>
              <a:t>→ Horizontal axis = frequency</a:t>
            </a:r>
            <a:endParaRPr lang="en-US" sz="1600" dirty="0"/>
          </a:p>
          <a:p>
            <a:pPr marL="190500" indent="-190500">
              <a:spcAft>
                <a:spcPts val="700"/>
              </a:spcAft>
              <a:buSzPct val="100000"/>
              <a:buChar char="•"/>
            </a:pPr>
            <a:r>
              <a:rPr lang="en-US" sz="1600" dirty="0">
                <a:solidFill>
                  <a:srgbClr val="1A1A1A"/>
                </a:solidFill>
              </a:rPr>
              <a:t>→ Best tool for viewing spurious emissions, harmonics, and IMD products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Antenna Analyzer and Frequency Counter</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Antenna analyzer:</a:t>
            </a:r>
            <a:endParaRPr lang="en-US" sz="1600" dirty="0"/>
          </a:p>
          <a:p>
            <a:pPr marL="190500" indent="-190500">
              <a:spcAft>
                <a:spcPts val="700"/>
              </a:spcAft>
              <a:buSzPct val="100000"/>
              <a:buChar char="•"/>
            </a:pPr>
            <a:r>
              <a:rPr lang="en-US" sz="1600" dirty="0">
                <a:solidFill>
                  <a:srgbClr val="1A1A1A"/>
                </a:solidFill>
              </a:rPr>
              <a:t>→ Computes SWR and feed point impedance</a:t>
            </a:r>
            <a:endParaRPr lang="en-US" sz="1600" dirty="0"/>
          </a:p>
          <a:p>
            <a:pPr marL="190500" indent="-190500">
              <a:spcAft>
                <a:spcPts val="700"/>
              </a:spcAft>
              <a:buSzPct val="100000"/>
              <a:buChar char="•"/>
            </a:pPr>
            <a:r>
              <a:rPr lang="en-US" sz="1600" dirty="0">
                <a:solidFill>
                  <a:srgbClr val="1A1A1A"/>
                </a:solidFill>
              </a:rPr>
              <a:t>→ Can measure velocity factor of coax (from electrical length vs. physical length)</a:t>
            </a:r>
            <a:endParaRPr lang="en-US" sz="1600" dirty="0"/>
          </a:p>
          <a:p>
            <a:pPr marL="190500" indent="-190500">
              <a:spcAft>
                <a:spcPts val="700"/>
              </a:spcAft>
              <a:buSzPct val="100000"/>
              <a:buChar char="•"/>
            </a:pPr>
            <a:r>
              <a:rPr lang="en-US" sz="1600" dirty="0">
                <a:solidFill>
                  <a:srgbClr val="1A1A1A"/>
                </a:solidFill>
              </a:rPr>
              <a:t>→ Can find cable length by measuring resonant frequency of a shorted stub</a:t>
            </a:r>
            <a:endParaRPr lang="en-US" sz="1600" dirty="0"/>
          </a:p>
          <a:p>
            <a:pPr marL="190500" indent="-190500">
              <a:spcAft>
                <a:spcPts val="700"/>
              </a:spcAft>
              <a:buSzPct val="100000"/>
              <a:buChar char="•"/>
            </a:pPr>
            <a:r>
              <a:rPr lang="en-US" sz="1600" dirty="0">
                <a:solidFill>
                  <a:srgbClr val="1A1A1A"/>
                </a:solidFill>
              </a:rPr>
              <a:t>→ Can find resonant frequency of an antenna</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Frequency counter:</a:t>
            </a:r>
            <a:endParaRPr lang="en-US" sz="1600" dirty="0"/>
          </a:p>
          <a:p>
            <a:pPr marL="190500" indent="-190500">
              <a:spcAft>
                <a:spcPts val="700"/>
              </a:spcAft>
              <a:buSzPct val="100000"/>
              <a:buChar char="•"/>
            </a:pPr>
            <a:r>
              <a:rPr lang="en-US" sz="1600" dirty="0">
                <a:solidFill>
                  <a:srgbClr val="1A1A1A"/>
                </a:solidFill>
              </a:rPr>
              <a:t>→ Measures frequency by counting cycles over a precise time interval</a:t>
            </a:r>
            <a:endParaRPr lang="en-US" sz="1600" dirty="0"/>
          </a:p>
          <a:p>
            <a:pPr marL="190500" indent="-190500">
              <a:spcAft>
                <a:spcPts val="700"/>
              </a:spcAft>
              <a:buSzPct val="100000"/>
              <a:buChar char="•"/>
            </a:pPr>
            <a:r>
              <a:rPr lang="en-US" sz="1600" dirty="0">
                <a:solidFill>
                  <a:srgbClr val="1A1A1A"/>
                </a:solidFill>
              </a:rPr>
              <a:t>→ Accuracy is determined by the time base (reference oscillator) accuracy</a:t>
            </a:r>
            <a:endParaRPr lang="en-US" sz="1600" dirty="0"/>
          </a:p>
          <a:p>
            <a:pPr marL="190500" indent="-190500">
              <a:spcAft>
                <a:spcPts val="700"/>
              </a:spcAft>
              <a:buSzPct val="100000"/>
              <a:buChar char="•"/>
            </a:pPr>
            <a:r>
              <a:rPr lang="en-US" sz="1600" dirty="0">
                <a:solidFill>
                  <a:srgbClr val="1A1A1A"/>
                </a:solidFill>
              </a:rPr>
              <a:t>→ Better oscillator = more accurate counter</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Prescaler:</a:t>
            </a:r>
            <a:endParaRPr lang="en-US" sz="1600" dirty="0"/>
          </a:p>
          <a:p>
            <a:pPr marL="190500" indent="-190500">
              <a:spcAft>
                <a:spcPts val="700"/>
              </a:spcAft>
              <a:buSzPct val="100000"/>
              <a:buChar char="•"/>
            </a:pPr>
            <a:r>
              <a:rPr lang="en-US" sz="1600" dirty="0">
                <a:solidFill>
                  <a:srgbClr val="1A1A1A"/>
                </a:solidFill>
              </a:rPr>
              <a:t>→ Reduces a high-frequency signal to within the counter's operating range</a:t>
            </a:r>
            <a:endParaRPr lang="en-US" sz="1600" dirty="0"/>
          </a:p>
          <a:p>
            <a:pPr marL="190500" indent="-190500">
              <a:spcAft>
                <a:spcPts val="700"/>
              </a:spcAft>
              <a:buSzPct val="100000"/>
              <a:buChar char="•"/>
            </a:pPr>
            <a:r>
              <a:rPr lang="en-US" sz="1600" dirty="0">
                <a:solidFill>
                  <a:srgbClr val="1A1A1A"/>
                </a:solidFill>
              </a:rPr>
              <a:t>→ Divides frequency by a known factor (e.g., divide by 10 or 100)</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VNA and Measurement Techniques (E4B)</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VNA (Vector Network Analyzer): measures S-parameters of RF circuits</a:t>
            </a:r>
            <a:endParaRPr lang="en-US" sz="1600" dirty="0"/>
          </a:p>
          <a:p>
            <a:pPr marL="190500" indent="-190500">
              <a:spcAft>
                <a:spcPts val="700"/>
              </a:spcAft>
              <a:buSzPct val="100000"/>
              <a:buChar char="•"/>
            </a:pPr>
            <a:r>
              <a:rPr lang="en-US" sz="1600" dirty="0">
                <a:solidFill>
                  <a:srgbClr val="1A1A1A"/>
                </a:solidFill>
              </a:rPr>
              <a:t>→ Calibration: short circuit + open circuit + 50-ohm load — establishes reference planes</a:t>
            </a:r>
            <a:endParaRPr lang="en-US" sz="1600" dirty="0"/>
          </a:p>
          <a:p>
            <a:pPr marL="190500" indent="-190500">
              <a:spcAft>
                <a:spcPts val="700"/>
              </a:spcAft>
              <a:buSzPct val="100000"/>
              <a:buChar char="•"/>
            </a:pPr>
            <a:r>
              <a:rPr lang="en-US" sz="1600" dirty="0">
                <a:solidFill>
                  <a:srgbClr val="1A1A1A"/>
                </a:solidFill>
              </a:rPr>
              <a:t>→ Two-port VNA: measures filter frequency response</a:t>
            </a:r>
            <a:endParaRPr lang="en-US" sz="1600" dirty="0"/>
          </a:p>
          <a:p>
            <a:pPr marL="190500" indent="-190500">
              <a:spcAft>
                <a:spcPts val="700"/>
              </a:spcAft>
              <a:buSzPct val="100000"/>
              <a:buChar char="•"/>
            </a:pPr>
            <a:r>
              <a:rPr lang="en-US" sz="1600" dirty="0">
                <a:solidFill>
                  <a:srgbClr val="1A1A1A"/>
                </a:solidFill>
              </a:rPr>
              <a:t>S11 = input return loss / input VSWR (reflection at input port)</a:t>
            </a:r>
            <a:endParaRPr lang="en-US" sz="1600" dirty="0"/>
          </a:p>
          <a:p>
            <a:pPr marL="190500" indent="-190500">
              <a:spcAft>
                <a:spcPts val="700"/>
              </a:spcAft>
              <a:buSzPct val="100000"/>
              <a:buChar char="•"/>
            </a:pPr>
            <a:r>
              <a:rPr lang="en-US" sz="1600" dirty="0">
                <a:solidFill>
                  <a:srgbClr val="1A1A1A"/>
                </a:solidFill>
              </a:rPr>
              <a:t>S21 = forward gain (signal from port 1 to port 2)</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Directional wattmeter: measures forward and reflected power</a:t>
            </a:r>
            <a:endParaRPr lang="en-US" sz="1600" dirty="0"/>
          </a:p>
          <a:p>
            <a:pPr marL="190500" indent="-190500">
              <a:spcAft>
                <a:spcPts val="700"/>
              </a:spcAft>
              <a:buSzPct val="100000"/>
              <a:buChar char="•"/>
            </a:pPr>
            <a:r>
              <a:rPr lang="en-US" sz="1600" dirty="0">
                <a:solidFill>
                  <a:srgbClr val="1A1A1A"/>
                </a:solidFill>
              </a:rPr>
              <a:t>→ Power absorbed = forward power - reflected power</a:t>
            </a:r>
            <a:endParaRPr lang="en-US" sz="1600" dirty="0"/>
          </a:p>
          <a:p>
            <a:pPr marL="190500" indent="-190500">
              <a:spcAft>
                <a:spcPts val="700"/>
              </a:spcAft>
              <a:buSzPct val="100000"/>
              <a:buChar char="•"/>
            </a:pPr>
            <a:r>
              <a:rPr lang="en-US" sz="1600" dirty="0">
                <a:solidFill>
                  <a:srgbClr val="1A1A1A"/>
                </a:solidFill>
              </a:rPr>
              <a:t>→ Example: 100W forward, 25W reflected: 75W absorbed</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Q measurement: Q = resonant frequency / 3-dB bandwidth</a:t>
            </a:r>
            <a:endParaRPr lang="en-US" sz="1600" dirty="0"/>
          </a:p>
          <a:p>
            <a:pPr marL="190500" indent="-190500">
              <a:spcAft>
                <a:spcPts val="700"/>
              </a:spcAft>
              <a:buSzPct val="100000"/>
              <a:buChar char="•"/>
            </a:pPr>
            <a:r>
              <a:rPr lang="en-US" sz="1600" dirty="0">
                <a:solidFill>
                  <a:srgbClr val="1A1A1A"/>
                </a:solidFill>
              </a:rPr>
              <a:t>IMD measurement: inject two non-harmonically related tones; view IMD products on spectrum analyzer</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5: Receiver Performance</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Subelements E4C-D — 1 exam question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Noise and Sensitivity</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Thermal noise floor: -174 dBm in 1 Hz bandwidth at room temperature</a:t>
            </a:r>
            <a:endParaRPr lang="en-US" sz="1600" dirty="0"/>
          </a:p>
          <a:p>
            <a:pPr marL="190500" indent="-190500">
              <a:spcAft>
                <a:spcPts val="700"/>
              </a:spcAft>
              <a:buSzPct val="100000"/>
              <a:buChar char="•"/>
            </a:pPr>
            <a:r>
              <a:rPr lang="en-US" sz="1600" dirty="0">
                <a:solidFill>
                  <a:srgbClr val="1A1A1A"/>
                </a:solidFill>
              </a:rPr>
              <a:t>Noise figure (NF): how much the receiver adds above the thermal minimum</a:t>
            </a:r>
            <a:endParaRPr lang="en-US" sz="1600" dirty="0"/>
          </a:p>
          <a:p>
            <a:pPr marL="190500" indent="-190500">
              <a:spcAft>
                <a:spcPts val="700"/>
              </a:spcAft>
              <a:buSzPct val="100000"/>
              <a:buChar char="•"/>
            </a:pPr>
            <a:r>
              <a:rPr lang="en-US" sz="1600" dirty="0">
                <a:solidFill>
                  <a:srgbClr val="1A1A1A"/>
                </a:solidFill>
              </a:rPr>
              <a:t>MDS (Minimum Discernible Signal): weakest detectable signal in the receiver</a:t>
            </a:r>
            <a:endParaRPr lang="en-US" sz="1600" dirty="0"/>
          </a:p>
          <a:p>
            <a:pPr marL="190500" indent="-190500">
              <a:spcAft>
                <a:spcPts val="700"/>
              </a:spcAft>
              <a:buSzPct val="100000"/>
              <a:buChar char="•"/>
            </a:pPr>
            <a:r>
              <a:rPr lang="en-US" sz="1600" dirty="0">
                <a:solidFill>
                  <a:srgbClr val="1A1A1A"/>
                </a:solidFill>
              </a:rPr>
              <a:t>Bandwidth increases noise floor:</a:t>
            </a:r>
            <a:endParaRPr lang="en-US" sz="1600" dirty="0"/>
          </a:p>
          <a:p>
            <a:pPr marL="190500" indent="-190500">
              <a:spcAft>
                <a:spcPts val="700"/>
              </a:spcAft>
              <a:buSzPct val="100000"/>
              <a:buChar char="•"/>
            </a:pPr>
            <a:r>
              <a:rPr lang="en-US" sz="1600" dirty="0">
                <a:solidFill>
                  <a:srgbClr val="1A1A1A"/>
                </a:solidFill>
              </a:rPr>
              <a:t>→ 50 Hz to 1000 Hz: 10 x log10(1000/50) = +13 dB noise floor increase</a:t>
            </a:r>
            <a:endParaRPr lang="en-US" sz="1600" dirty="0"/>
          </a:p>
          <a:p>
            <a:pPr marL="190500" indent="-190500">
              <a:spcAft>
                <a:spcPts val="700"/>
              </a:spcAft>
              <a:buSzPct val="100000"/>
              <a:buChar char="•"/>
            </a:pPr>
            <a:r>
              <a:rPr lang="en-US" sz="1600" dirty="0">
                <a:solidFill>
                  <a:srgbClr val="1A1A1A"/>
                </a:solidFill>
              </a:rPr>
              <a:t>→ Narrower filter = lower noise floor = weaker signals detectable</a:t>
            </a:r>
            <a:endParaRPr lang="en-US" sz="1600" dirty="0"/>
          </a:p>
          <a:p>
            <a:pPr marL="190500" indent="-190500">
              <a:spcAft>
                <a:spcPts val="700"/>
              </a:spcAft>
              <a:buSzPct val="100000"/>
              <a:buChar char="•"/>
            </a:pPr>
            <a:r>
              <a:rPr lang="en-US" sz="1600" dirty="0">
                <a:solidFill>
                  <a:srgbClr val="1A1A1A"/>
                </a:solidFill>
              </a:rPr>
              <a:t>Phase noise in SDR master clock: LO phase noise mixes with nearby strong signals</a:t>
            </a:r>
            <a:endParaRPr lang="en-US" sz="1600" dirty="0"/>
          </a:p>
          <a:p>
            <a:pPr marL="190500" indent="-190500">
              <a:spcAft>
                <a:spcPts val="700"/>
              </a:spcAft>
              <a:buSzPct val="100000"/>
              <a:buChar char="•"/>
            </a:pPr>
            <a:r>
              <a:rPr lang="en-US" sz="1600" dirty="0">
                <a:solidFill>
                  <a:srgbClr val="1A1A1A"/>
                </a:solidFill>
              </a:rPr>
              <a:t>→ Creates in-band interference that looks like receiver noise</a:t>
            </a:r>
            <a:endParaRPr lang="en-US" sz="1600" dirty="0"/>
          </a:p>
          <a:p>
            <a:pPr marL="190500" indent="-190500">
              <a:spcAft>
                <a:spcPts val="700"/>
              </a:spcAft>
              <a:buSzPct val="100000"/>
              <a:buChar char="•"/>
            </a:pPr>
            <a:r>
              <a:rPr lang="en-US" sz="1600" dirty="0">
                <a:solidFill>
                  <a:srgbClr val="1A1A1A"/>
                </a:solidFill>
              </a:rPr>
              <a:t>Preselector/front-end filter: bandpass filter eliminating strong out-of-band signals before the LNA</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Dynamic Range and Blocking</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Blocking dynamic range: range from noise floor to signal level causing 1 dB gain compression</a:t>
            </a:r>
            <a:endParaRPr lang="en-US" sz="1600" dirty="0"/>
          </a:p>
          <a:p>
            <a:pPr marL="190500" indent="-190500">
              <a:spcAft>
                <a:spcPts val="700"/>
              </a:spcAft>
              <a:buSzPct val="100000"/>
              <a:buChar char="•"/>
            </a:pPr>
            <a:r>
              <a:rPr lang="en-US" sz="1600" dirty="0">
                <a:solidFill>
                  <a:srgbClr val="1A1A1A"/>
                </a:solidFill>
              </a:rPr>
              <a:t>→ A strong nearby signal compresses the front end — nearby signals get weaker</a:t>
            </a:r>
            <a:endParaRPr lang="en-US" sz="1600" dirty="0"/>
          </a:p>
          <a:p>
            <a:pPr marL="190500" indent="-190500">
              <a:spcAft>
                <a:spcPts val="700"/>
              </a:spcAft>
              <a:buSzPct val="100000"/>
              <a:buChar char="•"/>
            </a:pPr>
            <a:r>
              <a:rPr lang="en-US" sz="1600" dirty="0">
                <a:solidFill>
                  <a:srgbClr val="1A1A1A"/>
                </a:solidFill>
              </a:rPr>
              <a:t>Third-order intercept point (IP3):</a:t>
            </a:r>
            <a:endParaRPr lang="en-US" sz="1600" dirty="0"/>
          </a:p>
          <a:p>
            <a:pPr marL="190500" indent="-190500">
              <a:spcAft>
                <a:spcPts val="700"/>
              </a:spcAft>
              <a:buSzPct val="100000"/>
              <a:buChar char="•"/>
            </a:pPr>
            <a:r>
              <a:rPr lang="en-US" sz="1600" dirty="0">
                <a:solidFill>
                  <a:srgbClr val="1A1A1A"/>
                </a:solidFill>
              </a:rPr>
              <a:t>→ Theoretical signal level where IMD products equal the input signal</a:t>
            </a:r>
            <a:endParaRPr lang="en-US" sz="1600" dirty="0"/>
          </a:p>
          <a:p>
            <a:pPr marL="190500" indent="-190500">
              <a:spcAft>
                <a:spcPts val="700"/>
              </a:spcAft>
              <a:buSzPct val="100000"/>
              <a:buChar char="•"/>
            </a:pPr>
            <a:r>
              <a:rPr lang="en-US" sz="1600" dirty="0">
                <a:solidFill>
                  <a:srgbClr val="1A1A1A"/>
                </a:solidFill>
              </a:rPr>
              <a:t>→ Higher IP3 = better receiver in crowded band conditions</a:t>
            </a:r>
            <a:endParaRPr lang="en-US" sz="1600" dirty="0"/>
          </a:p>
          <a:p>
            <a:pPr marL="190500" indent="-190500">
              <a:spcAft>
                <a:spcPts val="700"/>
              </a:spcAft>
              <a:buSzPct val="100000"/>
              <a:buChar char="•"/>
            </a:pPr>
            <a:r>
              <a:rPr lang="en-US" sz="1600" dirty="0">
                <a:solidFill>
                  <a:srgbClr val="1A1A1A"/>
                </a:solidFill>
              </a:rPr>
              <a:t>Reciprocal mixing: LO phase noise mixes with adjacent strong signal → creates interference</a:t>
            </a:r>
            <a:endParaRPr lang="en-US" sz="1600" dirty="0"/>
          </a:p>
          <a:p>
            <a:pPr marL="190500" indent="-190500">
              <a:spcAft>
                <a:spcPts val="700"/>
              </a:spcAft>
              <a:buSzPct val="100000"/>
              <a:buChar char="•"/>
            </a:pPr>
            <a:r>
              <a:rPr lang="en-US" sz="1600" dirty="0">
                <a:solidFill>
                  <a:srgbClr val="1A1A1A"/>
                </a:solidFill>
              </a:rPr>
              <a:t>Roofing filter: wide crystal filter at first IF — reduces reciprocal mixing effects</a:t>
            </a:r>
            <a:endParaRPr lang="en-US" sz="1600" dirty="0"/>
          </a:p>
          <a:p>
            <a:pPr marL="190500" indent="-190500">
              <a:spcAft>
                <a:spcPts val="700"/>
              </a:spcAft>
              <a:buSzPct val="100000"/>
              <a:buChar char="•"/>
            </a:pPr>
            <a:r>
              <a:rPr lang="en-US" sz="1600" dirty="0">
                <a:solidFill>
                  <a:srgbClr val="1A1A1A"/>
                </a:solidFill>
              </a:rPr>
              <a:t>High IF frequency: image is farther away — easier to reject</a:t>
            </a:r>
            <a:endParaRPr lang="en-US" sz="1600" dirty="0"/>
          </a:p>
          <a:p>
            <a:pPr marL="190500" indent="-190500">
              <a:spcAft>
                <a:spcPts val="700"/>
              </a:spcAft>
              <a:buSzPct val="100000"/>
              <a:buChar char="•"/>
            </a:pPr>
            <a:r>
              <a:rPr lang="en-US" sz="1600" dirty="0">
                <a:solidFill>
                  <a:srgbClr val="1A1A1A"/>
                </a:solidFill>
              </a:rPr>
              <a:t>SDR overload: input signal exceeds ADC reference voltage → add attenuation</a:t>
            </a:r>
            <a:endParaRPr lang="en-US" sz="1600" dirty="0"/>
          </a:p>
          <a:p>
            <a:pPr marL="190500" indent="-190500">
              <a:spcAft>
                <a:spcPts val="700"/>
              </a:spcAft>
              <a:buSzPct val="100000"/>
              <a:buChar char="•"/>
            </a:pPr>
            <a:r>
              <a:rPr lang="en-US" sz="1600" dirty="0">
                <a:solidFill>
                  <a:srgbClr val="1A1A1A"/>
                </a:solidFill>
              </a:rPr>
              <a:t>Desensitization: strong nearby signal compresses front-end gain</a:t>
            </a:r>
            <a:endParaRPr lang="en-US" sz="1600" dirty="0"/>
          </a:p>
          <a:p>
            <a:pPr marL="190500" indent="-190500">
              <a:spcAft>
                <a:spcPts val="700"/>
              </a:spcAft>
              <a:buSzPct val="100000"/>
              <a:buChar char="•"/>
            </a:pPr>
            <a:r>
              <a:rPr lang="en-US" sz="1600" dirty="0">
                <a:solidFill>
                  <a:srgbClr val="1A1A1A"/>
                </a:solidFill>
              </a:rPr>
              <a:t>→ Fix: insert attenuation before the first RF stage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Noise and Interference Sources (E4E)</a:t>
            </a:r>
            <a:endParaRPr lang="en-US" sz="2100" dirty="0"/>
          </a:p>
        </p:txBody>
      </p:sp>
      <p:sp>
        <p:nvSpPr>
          <p:cNvPr id="4" name="Shape 2"/>
          <p:cNvSpPr/>
          <p:nvPr/>
        </p:nvSpPr>
        <p:spPr>
          <a:xfrm>
            <a:off x="274320" y="914400"/>
            <a:ext cx="4114800" cy="347472"/>
          </a:xfrm>
          <a:prstGeom prst="rect">
            <a:avLst/>
          </a:prstGeom>
          <a:solidFill>
            <a:srgbClr val="2E7D52"/>
          </a:solidFill>
          <a:ln/>
        </p:spPr>
      </p:sp>
      <p:sp>
        <p:nvSpPr>
          <p:cNvPr id="5" name="Text 3"/>
          <p:cNvSpPr/>
          <p:nvPr/>
        </p:nvSpPr>
        <p:spPr>
          <a:xfrm>
            <a:off x="27432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Noise Sources</a:t>
            </a:r>
            <a:endParaRPr lang="en-US" sz="1300" dirty="0"/>
          </a:p>
        </p:txBody>
      </p:sp>
      <p:sp>
        <p:nvSpPr>
          <p:cNvPr id="6" name="Shape 4"/>
          <p:cNvSpPr/>
          <p:nvPr/>
        </p:nvSpPr>
        <p:spPr>
          <a:xfrm>
            <a:off x="274320" y="1261872"/>
            <a:ext cx="4114800" cy="3611880"/>
          </a:xfrm>
          <a:prstGeom prst="rect">
            <a:avLst/>
          </a:prstGeom>
          <a:solidFill>
            <a:srgbClr val="F0F4F8"/>
          </a:solidFill>
          <a:ln/>
        </p:spPr>
      </p:sp>
      <p:sp>
        <p:nvSpPr>
          <p:cNvPr id="7" name="Text 5"/>
          <p:cNvSpPr txBox="1"/>
          <p:nvPr/>
        </p:nvSpPr>
        <p:spPr>
          <a:xfrm>
            <a:off x="36576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Switch-mode power supplies: broadband noise at regular frequency intervals across HF</a:t>
            </a:r>
            <a:endParaRPr lang="en-US" sz="1500" dirty="0"/>
          </a:p>
          <a:p>
            <a:pPr marL="152400" indent="-152400">
              <a:spcAft>
                <a:spcPts val="600"/>
              </a:spcAft>
              <a:buSzPct val="100000"/>
              <a:buChar char="•"/>
            </a:pPr>
            <a:r>
              <a:rPr lang="en-US" sz="1500" dirty="0">
                <a:solidFill>
                  <a:srgbClr val="1A1A1A"/>
                </a:solidFill>
              </a:rPr>
              <a:t>Power line noise: buzzing, worst on low HF</a:t>
            </a:r>
            <a:endParaRPr lang="en-US" sz="1500" dirty="0"/>
          </a:p>
          <a:p>
            <a:pPr marL="152400" indent="-152400">
              <a:spcAft>
                <a:spcPts val="600"/>
              </a:spcAft>
              <a:buSzPct val="100000"/>
              <a:buChar char="•"/>
            </a:pPr>
            <a:r>
              <a:rPr lang="en-US" sz="1500" dirty="0">
                <a:solidFill>
                  <a:srgbClr val="1A1A1A"/>
                </a:solidFill>
              </a:rPr>
              <a:t>Corroded metal: rusty bolt effect — mixes and reradiates broadcast signals</a:t>
            </a:r>
            <a:endParaRPr lang="en-US" sz="1500" dirty="0"/>
          </a:p>
          <a:p>
            <a:pPr marL="152400" indent="-152400">
              <a:spcAft>
                <a:spcPts val="600"/>
              </a:spcAft>
              <a:buSzPct val="100000"/>
              <a:buChar char="•"/>
            </a:pPr>
            <a:r>
              <a:rPr lang="en-US" sz="1500" dirty="0">
                <a:solidFill>
                  <a:srgbClr val="1A1A1A"/>
                </a:solidFill>
              </a:rPr>
              <a:t>Ignition noise: impulse noise from vehicles</a:t>
            </a:r>
            <a:endParaRPr lang="en-US" sz="1500" dirty="0"/>
          </a:p>
          <a:p>
            <a:pPr marL="152400" indent="-152400">
              <a:spcAft>
                <a:spcPts val="600"/>
              </a:spcAft>
              <a:buSzPct val="100000"/>
              <a:buChar char="•"/>
            </a:pPr>
            <a:r>
              <a:rPr lang="en-US" sz="1500" dirty="0">
                <a:solidFill>
                  <a:srgbClr val="1A1A1A"/>
                </a:solidFill>
              </a:rPr>
              <a:t>Common-mode current: flows equally on all conductors</a:t>
            </a:r>
            <a:endParaRPr lang="en-US" sz="1500" dirty="0"/>
          </a:p>
        </p:txBody>
      </p:sp>
      <p:sp>
        <p:nvSpPr>
          <p:cNvPr id="8" name="Shape 6"/>
          <p:cNvSpPr/>
          <p:nvPr/>
        </p:nvSpPr>
        <p:spPr>
          <a:xfrm>
            <a:off x="4754880" y="914400"/>
            <a:ext cx="4114800" cy="347472"/>
          </a:xfrm>
          <a:prstGeom prst="rect">
            <a:avLst/>
          </a:prstGeom>
          <a:solidFill>
            <a:srgbClr val="1B2A4A"/>
          </a:solidFill>
          <a:ln/>
        </p:spPr>
      </p:sp>
      <p:sp>
        <p:nvSpPr>
          <p:cNvPr id="9" name="Text 7"/>
          <p:cNvSpPr/>
          <p:nvPr/>
        </p:nvSpPr>
        <p:spPr>
          <a:xfrm>
            <a:off x="475488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Mitigations</a:t>
            </a:r>
            <a:endParaRPr lang="en-US" sz="1300" dirty="0"/>
          </a:p>
        </p:txBody>
      </p:sp>
      <p:sp>
        <p:nvSpPr>
          <p:cNvPr id="10" name="Shape 8"/>
          <p:cNvSpPr/>
          <p:nvPr/>
        </p:nvSpPr>
        <p:spPr>
          <a:xfrm>
            <a:off x="4754880" y="1261872"/>
            <a:ext cx="4114800" cy="3611880"/>
          </a:xfrm>
          <a:prstGeom prst="rect">
            <a:avLst/>
          </a:prstGeom>
          <a:solidFill>
            <a:srgbClr val="E8EFF8"/>
          </a:solidFill>
          <a:ln/>
        </p:spPr>
      </p:sp>
      <p:sp>
        <p:nvSpPr>
          <p:cNvPr id="11" name="Text 9"/>
          <p:cNvSpPr txBox="1"/>
          <p:nvPr/>
        </p:nvSpPr>
        <p:spPr>
          <a:xfrm>
            <a:off x="484632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ANF (Auto Notch Filter): removes carriers and CW — but also removes a desired CW signal</a:t>
            </a:r>
            <a:endParaRPr lang="en-US" sz="1500" dirty="0"/>
          </a:p>
          <a:p>
            <a:pPr marL="152400" indent="-152400">
              <a:spcAft>
                <a:spcPts val="600"/>
              </a:spcAft>
              <a:buSzPct val="100000"/>
              <a:buChar char="•"/>
            </a:pPr>
            <a:r>
              <a:rPr lang="en-US" sz="1500" dirty="0">
                <a:solidFill>
                  <a:srgbClr val="1A1A1A"/>
                </a:solidFill>
              </a:rPr>
              <a:t>Noise Blanker: impulse noise; can distort strong signals</a:t>
            </a:r>
            <a:endParaRPr lang="en-US" sz="1500" dirty="0"/>
          </a:p>
          <a:p>
            <a:pPr marL="152400" indent="-152400">
              <a:spcAft>
                <a:spcPts val="600"/>
              </a:spcAft>
              <a:buSzPct val="100000"/>
              <a:buChar char="•"/>
            </a:pPr>
            <a:r>
              <a:rPr lang="en-US" sz="1500" dirty="0">
                <a:solidFill>
                  <a:srgbClr val="1A1A1A"/>
                </a:solidFill>
              </a:rPr>
              <a:t>Digital NR: broadband and power line noise</a:t>
            </a:r>
            <a:endParaRPr lang="en-US" sz="1500" dirty="0"/>
          </a:p>
          <a:p>
            <a:pPr marL="152400" indent="-152400">
              <a:spcAft>
                <a:spcPts val="600"/>
              </a:spcAft>
              <a:buSzPct val="100000"/>
              <a:buChar char="•"/>
            </a:pPr>
            <a:r>
              <a:rPr lang="en-US" sz="1500" dirty="0">
                <a:solidFill>
                  <a:srgbClr val="1A1A1A"/>
                </a:solidFill>
              </a:rPr>
              <a:t>Ferrite choke on power cables: blocks common-mode</a:t>
            </a:r>
            <a:endParaRPr lang="en-US" sz="1500" dirty="0"/>
          </a:p>
          <a:p>
            <a:pPr marL="152400" indent="-152400">
              <a:spcAft>
                <a:spcPts val="600"/>
              </a:spcAft>
              <a:buSzPct val="100000"/>
              <a:buChar char="•"/>
            </a:pPr>
            <a:r>
              <a:rPr lang="en-US" sz="1500" dirty="0">
                <a:solidFill>
                  <a:srgbClr val="1A1A1A"/>
                </a:solidFill>
              </a:rPr>
              <a:t>Single point ground panel: all protectors activate simultaneously</a:t>
            </a:r>
            <a:endParaRPr lang="en-US" sz="1500" dirty="0"/>
          </a:p>
        </p:txBody>
      </p:sp>
      <p:sp>
        <p:nvSpPr>
          <p:cNvPr id="12" name="Text 10"/>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13" name="Text 11"/>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E3-E4 · Propagation &amp; Practices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type of fading is associated with EME propagation?</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Multipath fading</a:t>
            </a:r>
            <a:endParaRPr lang="en-US" sz="1600" dirty="0"/>
          </a:p>
          <a:p>
            <a:pPr>
              <a:spcAft>
                <a:spcPts val="1000"/>
              </a:spcAft>
            </a:pPr>
            <a:r>
              <a:rPr lang="en-US" sz="1600" dirty="0">
                <a:solidFill>
                  <a:srgbClr val="1A1A1A"/>
                </a:solidFill>
              </a:rPr>
              <a:t>B.  Libration fading</a:t>
            </a:r>
            <a:endParaRPr lang="en-US" sz="1600" dirty="0"/>
          </a:p>
          <a:p>
            <a:pPr>
              <a:spcAft>
                <a:spcPts val="1000"/>
              </a:spcAft>
            </a:pPr>
            <a:r>
              <a:rPr lang="en-US" sz="1600" dirty="0">
                <a:solidFill>
                  <a:srgbClr val="1A1A1A"/>
                </a:solidFill>
              </a:rPr>
              <a:t>C.  Rayleigh fading</a:t>
            </a:r>
            <a:endParaRPr lang="en-US" sz="1600" dirty="0"/>
          </a:p>
          <a:p>
            <a:pPr>
              <a:spcAft>
                <a:spcPts val="1000"/>
              </a:spcAft>
            </a:pPr>
            <a:r>
              <a:rPr lang="en-US" sz="1600" dirty="0">
                <a:solidFill>
                  <a:srgbClr val="1A1A1A"/>
                </a:solidFill>
              </a:rPr>
              <a:t>D.  Selective fading</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Libration fading: Moon's wobble causes rapid irregular signal variations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2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Which mode is best suited for meteor scatter propagation?</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FT8</a:t>
            </a:r>
            <a:endParaRPr lang="en-US" sz="1600" dirty="0"/>
          </a:p>
          <a:p>
            <a:pPr>
              <a:spcAft>
                <a:spcPts val="1000"/>
              </a:spcAft>
            </a:pPr>
            <a:r>
              <a:rPr lang="en-US" sz="1600" dirty="0">
                <a:solidFill>
                  <a:srgbClr val="1A1A1A"/>
                </a:solidFill>
              </a:rPr>
              <a:t>B.  Q65</a:t>
            </a:r>
            <a:endParaRPr lang="en-US" sz="1600" dirty="0"/>
          </a:p>
          <a:p>
            <a:pPr>
              <a:spcAft>
                <a:spcPts val="1000"/>
              </a:spcAft>
            </a:pPr>
            <a:r>
              <a:rPr lang="en-US" sz="1600" dirty="0">
                <a:solidFill>
                  <a:srgbClr val="1A1A1A"/>
                </a:solidFill>
              </a:rPr>
              <a:t>C.  MSK144</a:t>
            </a:r>
            <a:endParaRPr lang="en-US" sz="1600" dirty="0"/>
          </a:p>
          <a:p>
            <a:pPr>
              <a:spcAft>
                <a:spcPts val="1000"/>
              </a:spcAft>
            </a:pPr>
            <a:r>
              <a:rPr lang="en-US" sz="1600" dirty="0">
                <a:solidFill>
                  <a:srgbClr val="1A1A1A"/>
                </a:solidFill>
              </a:rPr>
              <a:t>D.  WSPR</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MSK144 is designed for the very short burst duration of meteor scatter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3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Why is CW preferred for auroral propagation?</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CW requires less power</a:t>
            </a:r>
            <a:endParaRPr lang="en-US" sz="1600" dirty="0"/>
          </a:p>
          <a:p>
            <a:pPr>
              <a:spcAft>
                <a:spcPts val="1000"/>
              </a:spcAft>
            </a:pPr>
            <a:r>
              <a:rPr lang="en-US" sz="1600" dirty="0">
                <a:solidFill>
                  <a:srgbClr val="1A1A1A"/>
                </a:solidFill>
              </a:rPr>
              <a:t>B.  Auroral reflection distorts audio — phone signals are unintelligible</a:t>
            </a:r>
            <a:endParaRPr lang="en-US" sz="1600" dirty="0"/>
          </a:p>
          <a:p>
            <a:pPr>
              <a:spcAft>
                <a:spcPts val="1000"/>
              </a:spcAft>
            </a:pPr>
            <a:r>
              <a:rPr lang="en-US" sz="1600" dirty="0">
                <a:solidFill>
                  <a:srgbClr val="1A1A1A"/>
                </a:solidFill>
              </a:rPr>
              <a:t>C.  The aurora only reflects CW frequencies</a:t>
            </a:r>
            <a:endParaRPr lang="en-US" sz="1600" dirty="0"/>
          </a:p>
          <a:p>
            <a:pPr>
              <a:spcAft>
                <a:spcPts val="1000"/>
              </a:spcAft>
            </a:pPr>
            <a:r>
              <a:rPr lang="en-US" sz="1600" dirty="0">
                <a:solidFill>
                  <a:srgbClr val="1A1A1A"/>
                </a:solidFill>
              </a:rPr>
              <a:t>D.  CW has a narrower beamwidth</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Auroral reflection distorts audio; CW tone is still copyable through the distortion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4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does a southward Bz indicate?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Improved HF propagation</a:t>
            </a:r>
            <a:endParaRPr lang="en-US" sz="1600" dirty="0"/>
          </a:p>
          <a:p>
            <a:pPr>
              <a:spcAft>
                <a:spcPts val="1000"/>
              </a:spcAft>
            </a:pPr>
            <a:r>
              <a:rPr lang="en-US" sz="1600" dirty="0">
                <a:solidFill>
                  <a:srgbClr val="1A1A1A"/>
                </a:solidFill>
              </a:rPr>
              <a:t>B.  Enhanced sporadic E</a:t>
            </a:r>
            <a:endParaRPr lang="en-US" sz="1600" dirty="0"/>
          </a:p>
          <a:p>
            <a:pPr>
              <a:spcAft>
                <a:spcPts val="1000"/>
              </a:spcAft>
            </a:pPr>
            <a:r>
              <a:rPr lang="en-US" sz="1600" dirty="0">
                <a:solidFill>
                  <a:srgbClr val="1A1A1A"/>
                </a:solidFill>
              </a:rPr>
              <a:t>C.  Increasing geomagnetic disturbance</a:t>
            </a:r>
            <a:endParaRPr lang="en-US" sz="1600" dirty="0"/>
          </a:p>
          <a:p>
            <a:pPr>
              <a:spcAft>
                <a:spcPts val="1000"/>
              </a:spcAft>
            </a:pPr>
            <a:r>
              <a:rPr lang="en-US" sz="1600" dirty="0">
                <a:solidFill>
                  <a:srgbClr val="1A1A1A"/>
                </a:solidFill>
              </a:rPr>
              <a:t>D.  Higher solar flux</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Southward Bz couples energy into the magnetosphere, increasing disturbance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5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does aliasing on a digital oscilloscope look like?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Overshoot on square wave edges</a:t>
            </a:r>
            <a:endParaRPr lang="en-US" sz="1600" dirty="0"/>
          </a:p>
          <a:p>
            <a:pPr>
              <a:spcAft>
                <a:spcPts val="1000"/>
              </a:spcAft>
            </a:pPr>
            <a:r>
              <a:rPr lang="en-US" sz="1600" dirty="0">
                <a:solidFill>
                  <a:srgbClr val="1A1A1A"/>
                </a:solidFill>
              </a:rPr>
              <a:t>B.  A signal appearing at a false lower frequency</a:t>
            </a:r>
            <a:endParaRPr lang="en-US" sz="1600" dirty="0"/>
          </a:p>
          <a:p>
            <a:pPr>
              <a:spcAft>
                <a:spcPts val="1000"/>
              </a:spcAft>
            </a:pPr>
            <a:r>
              <a:rPr lang="en-US" sz="1600" dirty="0">
                <a:solidFill>
                  <a:srgbClr val="1A1A1A"/>
                </a:solidFill>
              </a:rPr>
              <a:t>C.  Loss of vertical resolution</a:t>
            </a:r>
            <a:endParaRPr lang="en-US" sz="1600" dirty="0"/>
          </a:p>
          <a:p>
            <a:pPr>
              <a:spcAft>
                <a:spcPts val="1000"/>
              </a:spcAft>
            </a:pPr>
            <a:r>
              <a:rPr lang="en-US" sz="1600" dirty="0">
                <a:solidFill>
                  <a:srgbClr val="1A1A1A"/>
                </a:solidFill>
              </a:rPr>
              <a:t>D.  Baseline drift</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Aliasing: undersampled signal appears at a false (lower) frequency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6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primary factor determining frequency counter accuracy?</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Input impedance</a:t>
            </a:r>
            <a:endParaRPr lang="en-US" sz="1600" dirty="0"/>
          </a:p>
          <a:p>
            <a:pPr>
              <a:spcAft>
                <a:spcPts val="1000"/>
              </a:spcAft>
            </a:pPr>
            <a:r>
              <a:rPr lang="en-US" sz="1600" dirty="0">
                <a:solidFill>
                  <a:srgbClr val="1A1A1A"/>
                </a:solidFill>
              </a:rPr>
              <a:t>B.  Display resolution</a:t>
            </a:r>
            <a:endParaRPr lang="en-US" sz="1600" dirty="0"/>
          </a:p>
          <a:p>
            <a:pPr>
              <a:spcAft>
                <a:spcPts val="1000"/>
              </a:spcAft>
            </a:pPr>
            <a:r>
              <a:rPr lang="en-US" sz="1600" dirty="0">
                <a:solidFill>
                  <a:srgbClr val="1A1A1A"/>
                </a:solidFill>
              </a:rPr>
              <a:t>C.  Time base accuracy</a:t>
            </a:r>
            <a:endParaRPr lang="en-US" sz="1600" dirty="0"/>
          </a:p>
          <a:p>
            <a:pPr>
              <a:spcAft>
                <a:spcPts val="1000"/>
              </a:spcAft>
            </a:pPr>
            <a:r>
              <a:rPr lang="en-US" sz="1600" dirty="0">
                <a:solidFill>
                  <a:srgbClr val="1A1A1A"/>
                </a:solidFill>
              </a:rPr>
              <a:t>D.  Prescaler ratio</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Counter accuracy is determined by the accuracy of its time base (reference oscillator)</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7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In a VNA two-port measurement, what does S21 represent?</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Input return loss</a:t>
            </a:r>
            <a:endParaRPr lang="en-US" sz="1600" dirty="0"/>
          </a:p>
          <a:p>
            <a:pPr>
              <a:spcAft>
                <a:spcPts val="1000"/>
              </a:spcAft>
            </a:pPr>
            <a:r>
              <a:rPr lang="en-US" sz="1600" dirty="0">
                <a:solidFill>
                  <a:srgbClr val="1A1A1A"/>
                </a:solidFill>
              </a:rPr>
              <a:t>B.  Output return loss</a:t>
            </a:r>
            <a:endParaRPr lang="en-US" sz="1600" dirty="0"/>
          </a:p>
          <a:p>
            <a:pPr>
              <a:spcAft>
                <a:spcPts val="1000"/>
              </a:spcAft>
            </a:pPr>
            <a:r>
              <a:rPr lang="en-US" sz="1600" dirty="0">
                <a:solidFill>
                  <a:srgbClr val="1A1A1A"/>
                </a:solidFill>
              </a:rPr>
              <a:t>C.  Forward gain from port 1 to port 2</a:t>
            </a:r>
            <a:endParaRPr lang="en-US" sz="1600" dirty="0"/>
          </a:p>
          <a:p>
            <a:pPr>
              <a:spcAft>
                <a:spcPts val="1000"/>
              </a:spcAft>
            </a:pPr>
            <a:r>
              <a:rPr lang="en-US" sz="1600" dirty="0">
                <a:solidFill>
                  <a:srgbClr val="1A1A1A"/>
                </a:solidFill>
              </a:rPr>
              <a:t>D.  Reverse isolation</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S21: signal into port 1, measured at port 2 — forward gain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8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A receiver's noise floor increases by how many dB when bandwidth goes from 50 Hz to 1000 Hz?</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10 dB</a:t>
            </a:r>
            <a:endParaRPr lang="en-US" sz="1600" dirty="0"/>
          </a:p>
          <a:p>
            <a:pPr>
              <a:spcAft>
                <a:spcPts val="1000"/>
              </a:spcAft>
            </a:pPr>
            <a:r>
              <a:rPr lang="en-US" sz="1600" dirty="0">
                <a:solidFill>
                  <a:srgbClr val="1A1A1A"/>
                </a:solidFill>
              </a:rPr>
              <a:t>B.  3 dB</a:t>
            </a:r>
            <a:endParaRPr lang="en-US" sz="1600" dirty="0"/>
          </a:p>
          <a:p>
            <a:pPr>
              <a:spcAft>
                <a:spcPts val="1000"/>
              </a:spcAft>
            </a:pPr>
            <a:r>
              <a:rPr lang="en-US" sz="1600" dirty="0">
                <a:solidFill>
                  <a:srgbClr val="1A1A1A"/>
                </a:solidFill>
              </a:rPr>
              <a:t>C.  20 dB</a:t>
            </a:r>
            <a:endParaRPr lang="en-US" sz="1600" dirty="0"/>
          </a:p>
          <a:p>
            <a:pPr>
              <a:spcAft>
                <a:spcPts val="1000"/>
              </a:spcAft>
            </a:pPr>
            <a:r>
              <a:rPr lang="en-US" sz="1600" dirty="0">
                <a:solidFill>
                  <a:srgbClr val="1A1A1A"/>
                </a:solidFill>
              </a:rPr>
              <a:t>D.  13 dB</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D — 10 x log10(1000/50) = 10 x 1.301 = 13 dB</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9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rusty bolt effect?</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Coax connector corrosion increasing SWR</a:t>
            </a:r>
            <a:endParaRPr lang="en-US" sz="1600" dirty="0"/>
          </a:p>
          <a:p>
            <a:pPr>
              <a:spcAft>
                <a:spcPts val="1000"/>
              </a:spcAft>
            </a:pPr>
            <a:r>
              <a:rPr lang="en-US" sz="1600" dirty="0">
                <a:solidFill>
                  <a:srgbClr val="1A1A1A"/>
                </a:solidFill>
              </a:rPr>
              <a:t>B.  Corroded metal connections mixing and reradiating broadcast signals</a:t>
            </a:r>
            <a:endParaRPr lang="en-US" sz="1600" dirty="0"/>
          </a:p>
          <a:p>
            <a:pPr>
              <a:spcAft>
                <a:spcPts val="1000"/>
              </a:spcAft>
            </a:pPr>
            <a:r>
              <a:rPr lang="en-US" sz="1600" dirty="0">
                <a:solidFill>
                  <a:srgbClr val="1A1A1A"/>
                </a:solidFill>
              </a:rPr>
              <a:t>C.  Galvanic corrosion in antenna elements</a:t>
            </a:r>
            <a:endParaRPr lang="en-US" sz="1600" dirty="0"/>
          </a:p>
          <a:p>
            <a:pPr>
              <a:spcAft>
                <a:spcPts val="1000"/>
              </a:spcAft>
            </a:pPr>
            <a:r>
              <a:rPr lang="en-US" sz="1600" dirty="0">
                <a:solidFill>
                  <a:srgbClr val="1A1A1A"/>
                </a:solidFill>
              </a:rPr>
              <a:t>D.  Moisture in antenna insulators</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Corroded metal junctions act as passive mixers, generating spurious signals from nearby broadcast stations</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10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Which receiver filter improves blocking dynamic range?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Audio low-pass filter</a:t>
            </a:r>
            <a:endParaRPr lang="en-US" sz="1600" dirty="0"/>
          </a:p>
          <a:p>
            <a:pPr>
              <a:spcAft>
                <a:spcPts val="1000"/>
              </a:spcAft>
            </a:pPr>
            <a:r>
              <a:rPr lang="en-US" sz="1600" dirty="0">
                <a:solidFill>
                  <a:srgbClr val="1A1A1A"/>
                </a:solidFill>
              </a:rPr>
              <a:t>B.  ANF</a:t>
            </a:r>
            <a:endParaRPr lang="en-US" sz="1600" dirty="0"/>
          </a:p>
          <a:p>
            <a:pPr>
              <a:spcAft>
                <a:spcPts val="1000"/>
              </a:spcAft>
            </a:pPr>
            <a:r>
              <a:rPr lang="en-US" sz="1600" dirty="0">
                <a:solidFill>
                  <a:srgbClr val="1A1A1A"/>
                </a:solidFill>
              </a:rPr>
              <a:t>C.  Roofing filter</a:t>
            </a:r>
            <a:endParaRPr lang="en-US" sz="1600" dirty="0"/>
          </a:p>
          <a:p>
            <a:pPr>
              <a:spcAft>
                <a:spcPts val="1000"/>
              </a:spcAft>
            </a:pPr>
            <a:r>
              <a:rPr lang="en-US" sz="1600" dirty="0">
                <a:solidFill>
                  <a:srgbClr val="1A1A1A"/>
                </a:solidFill>
              </a:rPr>
              <a:t>D.  Noise blanker</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Roofing filter (crystal filter at first IF) reduces reciprocal mixing and improves blocking dynamic range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3000" b="1" dirty="0">
                <a:solidFill>
                  <a:srgbClr val="FFFFFF"/>
                </a:solidFill>
              </a:rPr>
              <a:t>Before Module 3</a:t>
            </a:r>
            <a:endParaRPr lang="en-US" sz="3000" dirty="0"/>
          </a:p>
        </p:txBody>
      </p:sp>
      <p:sp>
        <p:nvSpPr>
          <p:cNvPr id="4" name="Text 2"/>
          <p:cNvSpPr/>
          <p:nvPr/>
        </p:nvSpPr>
        <p:spPr>
          <a:xfrm>
            <a:off x="457200" y="1508760"/>
            <a:ext cx="8229600" cy="365760"/>
          </a:xfrm>
          <a:prstGeom prst="rect">
            <a:avLst/>
          </a:prstGeom>
          <a:noFill/>
          <a:ln/>
        </p:spPr>
        <p:txBody>
          <a:bodyPr wrap="square" rtlCol="0" anchor="ctr"/>
          <a:lstStyle/>
          <a:p>
            <a:pPr indent="0" marL="0">
              <a:buNone/>
            </a:pPr>
            <a:r>
              <a:rPr lang="en-US" sz="1700" b="1" dirty="0">
                <a:solidFill>
                  <a:srgbClr val="2E7D52"/>
                </a:solidFill>
              </a:rPr>
              <a:t>Your assignment:</a:t>
            </a:r>
            <a:endParaRPr lang="en-US" sz="1700" dirty="0"/>
          </a:p>
        </p:txBody>
      </p:sp>
      <p:sp>
        <p:nvSpPr>
          <p:cNvPr id="5" name="Text 3"/>
          <p:cNvSpPr txBox="1"/>
          <p:nvPr/>
        </p:nvSpPr>
        <p:spPr>
          <a:xfrm>
            <a:off x="457200" y="1920240"/>
            <a:ext cx="8229600" cy="182880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FFFFFF"/>
                </a:solidFill>
              </a:rPr>
              <a:t>Drill HamStudy E3A-E3C and E4A-E4E to 80%+ confidence</a:t>
            </a:r>
            <a:endParaRPr lang="en-US" sz="1600" dirty="0"/>
          </a:p>
          <a:p>
            <a:pPr marL="190500" indent="-190500">
              <a:spcAft>
                <a:spcPts val="700"/>
              </a:spcAft>
              <a:buSzPct val="100000"/>
              <a:buChar char="•"/>
            </a:pPr>
            <a:r>
              <a:rPr lang="en-US" sz="1600" dirty="0">
                <a:solidFill>
                  <a:srgbClr val="FFFFFF"/>
                </a:solidFill>
              </a:rPr>
              <a:t>Focus extra time on E4C-D (receiver performance) — most students find it the hardest</a:t>
            </a:r>
            <a:endParaRPr lang="en-US" sz="1600" dirty="0"/>
          </a:p>
          <a:p>
            <a:pPr marL="190500" indent="-190500">
              <a:spcAft>
                <a:spcPts val="700"/>
              </a:spcAft>
              <a:buSzPct val="100000"/>
              <a:buChar char="•"/>
            </a:pPr>
            <a:r>
              <a:rPr lang="en-US" sz="1600" dirty="0">
                <a:solidFill>
                  <a:srgbClr val="FFFFFF"/>
                </a:solidFill>
              </a:rPr>
              <a:t>E4B (S-parameters, directional wattmeter): get those formulas locked in</a:t>
            </a:r>
            <a:endParaRPr lang="en-US" sz="1600" dirty="0"/>
          </a:p>
        </p:txBody>
      </p:sp>
      <p:sp>
        <p:nvSpPr>
          <p:cNvPr id="6" name="Text 4"/>
          <p:cNvSpPr/>
          <p:nvPr/>
        </p:nvSpPr>
        <p:spPr>
          <a:xfrm>
            <a:off x="457200" y="3794760"/>
            <a:ext cx="8229600" cy="320040"/>
          </a:xfrm>
          <a:prstGeom prst="rect">
            <a:avLst/>
          </a:prstGeom>
          <a:noFill/>
          <a:ln/>
        </p:spPr>
        <p:txBody>
          <a:bodyPr wrap="square" rtlCol="0" anchor="ctr"/>
          <a:lstStyle/>
          <a:p>
            <a:pPr indent="0" marL="0">
              <a:buNone/>
            </a:pPr>
            <a:r>
              <a:rPr lang="en-US" sz="1500" b="1" dirty="0">
                <a:solidFill>
                  <a:srgbClr val="2E7D52"/>
                </a:solidFill>
              </a:rPr>
              <a:t>Coming up:</a:t>
            </a:r>
            <a:endParaRPr lang="en-US" sz="1500" dirty="0"/>
          </a:p>
        </p:txBody>
      </p:sp>
      <p:sp>
        <p:nvSpPr>
          <p:cNvPr id="7" name="Text 5"/>
          <p:cNvSpPr/>
          <p:nvPr/>
        </p:nvSpPr>
        <p:spPr>
          <a:xfrm>
            <a:off x="457200" y="4114800"/>
            <a:ext cx="8229600" cy="548640"/>
          </a:xfrm>
          <a:prstGeom prst="rect">
            <a:avLst/>
          </a:prstGeom>
          <a:noFill/>
          <a:ln/>
        </p:spPr>
        <p:txBody>
          <a:bodyPr wrap="square" rtlCol="0" anchor="ctr"/>
          <a:lstStyle/>
          <a:p>
            <a:pPr indent="0" marL="0">
              <a:buNone/>
            </a:pPr>
            <a:r>
              <a:rPr lang="en-US" sz="1400" dirty="0">
                <a:solidFill>
                  <a:srgbClr val="AACCBB"/>
                </a:solidFill>
              </a:rPr>
              <a:t>Module 3: Electrical Principles — resonance, Q, time constants, phasors. Only 4 exam questions but critical foundation for Modules 5 and 7. Come with a calculator.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2026-09-19T03:56:31Z</dcterms:created>
  <dcterms:modified xsi:type="dcterms:W3CDTF">2026-09-19T03:56:31Z</dcterms:modified>
</cp:coreProperties>
</file>