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Session 2 finishes the merit badge. Scouts complete Requirements 4, 5, 7, the on-air FT8 contact, and their career/hobby report-out. The counselor signs all completed requirements on the blue card at the end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every Scout brought: (1) their blue card, (2) their Session 1 student pack with completed spectrum chart and propagation sketch, (3) Req 9 research notes. Flag anyone who is missing materials early so they can complete them during non-presentation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5 minutes on review. Ask a Scout to name the three propagation modes, another to name 5 Q signals, another to spell their troop number phonetically. This reinforces Session 1 without repeating the full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teaching point: all modulation is about varying something about the wave to encode information. Ask Scouts: "If you vary the rate at which a carrier turns on and off faster and faster, at what point does it stop being Morse code and start being something else?" This leads naturally into digital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Wi-Fi router in the room or the Scouts' own phones as living examples. FT8 (which they'll use for the digital contact) is also a digital mode — each transmission is a carefully encoded 79-symbol sequence that decoders can extract 20 dB below the noise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FT8 is the perfect illustration of encoding efficiency. You can decode an FT8 signal that you literally cannot hear with your ears. Ask Scouts: "If a signal is below the noise floor, how does the software hear it?" Answer: correlation and pattern matching across many repetitions of the 15-second transmission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fundamental concept that comes up in the amateur license exam too. If any Scouts are going for Technician, reinforce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block diagram and a schematic of the same circuit in the room, show both side by side. The contrast makes the difference immediately obvious. The club radio's manual probably has both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draw this NOW. Walk the room and check their diagrams. The most common error is forgetting the feedline or putting the amplifier in the wrong place (it goes between TX output and feedline, not between feedline and antenna). Counselor checks this diagram as part of Req 5b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RFID, ask Scouts to take out their student ID, building access card, or credit card and look for the contactless symbol (the wave icon). That is an RFID/NFC chip. If you have a RFID reader and tag demo kit, now is the perfect time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is underappreciated. Weather radios without SAME programmed correctly generate many false alarms that make people turn them off — then they're useless. Make sure Scouts know this feature exists and how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distinction for emergency communications: cellular needs infrastructure; amateur radio doesn't. A ham with a battery-powered HF radio on a mountain can still talk to the world. This is why emergency managers value licensed amateur radio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Scouts will have heard "put your phone on Airplane Mode on the plane" without knowing why. This is a good moment to connect a familiar rule to the actual physics. Ask: "What does Airplane Mode have to do with what we learned in Session 1 about radio waves and interference?"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satellite SOS feature on iPhone 14+ is a great current-events hook. You can show a screenshot or video of it working in a simulated emergency. Connect wireless charging to the physics of electromagnetic induction they may have touched in school science — it's the same principle as an electric motor or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hits home in Florida. Ask Scouts if they or their families have experienced losing cell service after a hurricane. The follow-up question: "So what do emergency managers use instead?" → Amateur radio operators with battery-powered radios on elevated antenna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 Taylor (K1JT) is a Nobel Prize-winning physicist. He applied signal processing techniques from radio astronomy to amateur radio weak-signal communication. This is a great example of Req 1 for the Amateur Extra license — the "advancement of the radio art" that the FCC protects in Part 97. Point out that FT8 has been downloaded millions of times and completely changed HF operating.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on the actual computer before Scouts take a turn. Show the WSJT-X interface with the waterfall and decode pane running. Let Scouts see live FT8 activity before they click anything. The most common mistake is double-clicking a station that is already in a QSO — teach them to look for stations where the sequence just started with a CQ.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Scouts follow along on a printed copy of this sequence in their student pack. Ask: "What does 'R' mean at the start of R-08?" It means 'roger' — I received your previous message. Ask: "What does RR73 mean?" Roger-roger plus 73. These abbreviations pack maximum information into FT8's tiny 77-bit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each Scout aside for a 3–5 minute one-on-one discussion. If a Scout did not complete the research, they can still discuss what they know and complete the research at home before the counselor signs that specific requirement. The blue card for Req 9 can be signed after the discussion even if it happens by phone or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each Scout's blue card systematically. The counselor initials each requirement as it is confirmed. If anything is missing, note it and arrange for completion by phone, email, or a brief follow-up meeting before the final signature. The blue card cannot be submitted to the council advancement chair without ALL requirements initialed.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Congratulate every Scout who completes the badge. Hand out the blue cards. If any Scout is interested in getting licensed, point them to the TavaOne Education Technician course information. This is also a good moment to mention that the Gulf Coast Contest Club welcomes student members and can provide mentorship (Elmers) for new hams.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20040"/>
            <a:ext cx="8229600" cy="228600"/>
          </a:xfrm>
          <a:prstGeom prst="rect">
            <a:avLst/>
          </a:prstGeom>
          <a:noFill/>
          <a:ln/>
        </p:spPr>
        <p:txBody>
          <a:bodyPr wrap="square" rtlCol="0" anchor="ctr"/>
          <a:lstStyle/>
          <a:p>
            <a:pPr indent="0" marL="0">
              <a:buNone/>
            </a:pPr>
            <a:r>
              <a:rPr lang="en-US" sz="900" b="1" spc="200" kern="0" dirty="0">
                <a:solidFill>
                  <a:srgbClr val="6EE7B7"/>
                </a:solidFill>
              </a:rPr>
              <a:t>TAVAONE EDUCATION · PINELLAS STEM RADIO LAB</a:t>
            </a:r>
            <a:endParaRPr lang="en-US" sz="900" dirty="0"/>
          </a:p>
        </p:txBody>
      </p:sp>
      <p:sp>
        <p:nvSpPr>
          <p:cNvPr id="3" name="Text 1"/>
          <p:cNvSpPr/>
          <p:nvPr/>
        </p:nvSpPr>
        <p:spPr>
          <a:xfrm>
            <a:off x="457200" y="685800"/>
            <a:ext cx="8229600" cy="1371600"/>
          </a:xfrm>
          <a:prstGeom prst="rect">
            <a:avLst/>
          </a:prstGeom>
          <a:noFill/>
          <a:ln/>
        </p:spPr>
        <p:txBody>
          <a:bodyPr wrap="square" rtlCol="0" anchor="ctr"/>
          <a:lstStyle/>
          <a:p>
            <a:pPr indent="0" marL="0">
              <a:buNone/>
            </a:pPr>
            <a:r>
              <a:rPr lang="en-US" sz="3600" b="1" dirty="0">
                <a:solidFill>
                  <a:srgbClr val="FFFFFF"/>
                </a:solidFill>
              </a:rPr>
              <a:t>BSA Radio Merit Badge</a:t>
            </a:r>
            <a:endParaRPr lang="en-US" sz="3600" dirty="0"/>
          </a:p>
          <a:p>
            <a:pPr indent="0" marL="0">
              <a:buNone/>
            </a:pPr>
            <a:r>
              <a:rPr lang="en-US" sz="3600" b="1" dirty="0">
                <a:solidFill>
                  <a:srgbClr val="FFFFFF"/>
                </a:solidFill>
              </a:rPr>
              <a:t>Session 2 — Digital, Devices &amp; Badge Completion</a:t>
            </a:r>
            <a:endParaRPr lang="en-US" sz="3600" dirty="0"/>
          </a:p>
        </p:txBody>
      </p:sp>
      <p:sp>
        <p:nvSpPr>
          <p:cNvPr id="4" name="Text 2"/>
          <p:cNvSpPr/>
          <p:nvPr/>
        </p:nvSpPr>
        <p:spPr>
          <a:xfrm>
            <a:off x="457200" y="2148840"/>
            <a:ext cx="8229600" cy="457200"/>
          </a:xfrm>
          <a:prstGeom prst="rect">
            <a:avLst/>
          </a:prstGeom>
          <a:noFill/>
          <a:ln/>
        </p:spPr>
        <p:txBody>
          <a:bodyPr wrap="square" rtlCol="0" anchor="ctr"/>
          <a:lstStyle/>
          <a:p>
            <a:pPr indent="0" marL="0">
              <a:buNone/>
            </a:pPr>
            <a:r>
              <a:rPr lang="en-US" sz="1400" dirty="0">
                <a:solidFill>
                  <a:srgbClr val="6EE7B7"/>
                </a:solidFill>
              </a:rPr>
              <a:t>Information · Hardware · Cell Phones · FT8 Contact · Blue Card Sign-Off (Reqs 4, 5, 7, 8-A(6), 9)</a:t>
            </a:r>
            <a:endParaRPr lang="en-US" sz="1400" dirty="0"/>
          </a:p>
        </p:txBody>
      </p:sp>
      <p:sp>
        <p:nvSpPr>
          <p:cNvPr id="5" name="Shape 3"/>
          <p:cNvSpPr/>
          <p:nvPr/>
        </p:nvSpPr>
        <p:spPr>
          <a:xfrm>
            <a:off x="457200" y="2834640"/>
            <a:ext cx="8229600" cy="36576"/>
          </a:xfrm>
          <a:prstGeom prst="rect">
            <a:avLst/>
          </a:prstGeom>
          <a:solidFill>
            <a:srgbClr val="10B981"/>
          </a:solidFill>
          <a:ln/>
        </p:spPr>
      </p:sp>
      <p:sp>
        <p:nvSpPr>
          <p:cNvPr id="6" name="Text 4"/>
          <p:cNvSpPr/>
          <p:nvPr/>
        </p:nvSpPr>
        <p:spPr>
          <a:xfrm>
            <a:off x="457200" y="3017520"/>
            <a:ext cx="8229600" cy="274320"/>
          </a:xfrm>
          <a:prstGeom prst="rect">
            <a:avLst/>
          </a:prstGeom>
          <a:noFill/>
          <a:ln/>
        </p:spPr>
        <p:txBody>
          <a:bodyPr wrap="square" rtlCol="0" anchor="ctr"/>
          <a:lstStyle/>
          <a:p>
            <a:pPr indent="0" marL="0">
              <a:buNone/>
            </a:pPr>
            <a:r>
              <a:rPr lang="en-US" sz="900" dirty="0">
                <a:solidFill>
                  <a:srgbClr val="94A3B8"/>
                </a:solidFill>
              </a:rPr>
              <a:t>TavaOne Education · Pinellas STEM Radio Lab · Gulf Coast Contest Club</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Session 2 Agenda</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Quick review of Session 1 material</a:t>
            </a:r>
            <a:endParaRPr lang="en-US" sz="1500" dirty="0"/>
          </a:p>
          <a:p>
            <a:pPr marL="190500" indent="-190500">
              <a:buSzPct val="100000"/>
              <a:buChar char="•"/>
            </a:pPr>
            <a:r>
              <a:rPr lang="en-US" sz="1500" dirty="0">
                <a:solidFill>
                  <a:srgbClr val="334155"/>
                </a:solidFill>
              </a:rPr>
              <a:t>Req 4 — Information by Radio (modulation, digital standards, range)</a:t>
            </a:r>
            <a:endParaRPr lang="en-US" sz="1500" dirty="0"/>
          </a:p>
          <a:p>
            <a:pPr marL="190500" indent="-190500">
              <a:buSzPct val="100000"/>
              <a:buChar char="•"/>
            </a:pPr>
            <a:r>
              <a:rPr lang="en-US" sz="1500" dirty="0">
                <a:solidFill>
                  <a:srgbClr val="334155"/>
                </a:solidFill>
              </a:rPr>
              <a:t>Req 5 — Radio Hardware and Services (block diagram, consumer devices, RFID)</a:t>
            </a:r>
            <a:endParaRPr lang="en-US" sz="1500" dirty="0"/>
          </a:p>
          <a:p>
            <a:pPr marL="190500" indent="-190500">
              <a:buSzPct val="100000"/>
              <a:buChar char="•"/>
            </a:pPr>
            <a:r>
              <a:rPr lang="en-US" sz="1500" dirty="0">
                <a:solidFill>
                  <a:srgbClr val="334155"/>
                </a:solidFill>
              </a:rPr>
              <a:t>Req 7 — Cell Phones (cellular, Airplane Mode, GPS, emergencies, wireless charging)</a:t>
            </a:r>
            <a:endParaRPr lang="en-US" sz="1500" dirty="0"/>
          </a:p>
          <a:p>
            <a:pPr marL="190500" indent="-190500">
              <a:buSzPct val="100000"/>
              <a:buChar char="•"/>
            </a:pPr>
            <a:r>
              <a:rPr lang="en-US" sz="1500" dirty="0">
                <a:solidFill>
                  <a:srgbClr val="334155"/>
                </a:solidFill>
              </a:rPr>
              <a:t>Req 8-A(6) — FT8 digital contact at the club station</a:t>
            </a:r>
            <a:endParaRPr lang="en-US" sz="1500" dirty="0"/>
          </a:p>
          <a:p>
            <a:pPr marL="190500" indent="-190500">
              <a:buSzPct val="100000"/>
              <a:buChar char="•"/>
            </a:pPr>
            <a:r>
              <a:rPr lang="en-US" sz="1500" dirty="0">
                <a:solidFill>
                  <a:srgbClr val="334155"/>
                </a:solidFill>
              </a:rPr>
              <a:t>Req 9 — Career/hobby discussion with counselor</a:t>
            </a:r>
            <a:endParaRPr lang="en-US" sz="1500" dirty="0"/>
          </a:p>
          <a:p>
            <a:pPr marL="190500" indent="-190500">
              <a:buSzPct val="100000"/>
              <a:buChar char="•"/>
            </a:pPr>
            <a:r>
              <a:rPr lang="en-US" sz="1500" dirty="0">
                <a:solidFill>
                  <a:srgbClr val="334155"/>
                </a:solidFill>
              </a:rPr>
              <a:t>Blue card review and counselor sign-off</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Session 1 Quick Review — 60 Seconds</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Req 1: Three safety topics: grounding, electrical burns, Li-ion battery fires</a:t>
            </a:r>
            <a:endParaRPr lang="en-US" sz="1500" dirty="0"/>
          </a:p>
          <a:p>
            <a:pPr marL="190500" indent="-190500">
              <a:buSzPct val="100000"/>
              <a:buChar char="•"/>
            </a:pPr>
            <a:r>
              <a:rPr lang="en-US" sz="1500" dirty="0">
                <a:solidFill>
                  <a:srgbClr val="334155"/>
                </a:solidFill>
              </a:rPr>
              <a:t>Req 2: EM spectrum from 300 kHz to 3 GHz — MF/HF/VHF/UHF/microwave</a:t>
            </a:r>
            <a:endParaRPr lang="en-US" sz="1500" dirty="0"/>
          </a:p>
          <a:p>
            <a:pPr marL="190500" indent="-190500">
              <a:buSzPct val="100000"/>
              <a:buChar char="•"/>
            </a:pPr>
            <a:r>
              <a:rPr lang="en-US" sz="1500" dirty="0">
                <a:solidFill>
                  <a:srgbClr val="334155"/>
                </a:solidFill>
              </a:rPr>
              <a:t>Req 3: Three propagation modes — ground wave, sky wave, line-of-sight</a:t>
            </a:r>
            <a:endParaRPr lang="en-US" sz="1500" dirty="0"/>
          </a:p>
          <a:p>
            <a:pPr marL="190500" indent="-190500">
              <a:buSzPct val="100000"/>
              <a:buChar char="•"/>
            </a:pPr>
            <a:r>
              <a:rPr lang="en-US" sz="1500" dirty="0">
                <a:solidFill>
                  <a:srgbClr val="334155"/>
                </a:solidFill>
              </a:rPr>
              <a:t>Req 6: FCC (US enforcement) vs. ITU (global rules); call signs; NATO phonetic alphabet</a:t>
            </a:r>
            <a:endParaRPr lang="en-US" sz="1500" dirty="0"/>
          </a:p>
          <a:p>
            <a:pPr marL="190500" indent="-190500">
              <a:buSzPct val="100000"/>
              <a:buChar char="•"/>
            </a:pPr>
            <a:r>
              <a:rPr lang="en-US" sz="1500" dirty="0">
                <a:solidFill>
                  <a:srgbClr val="334155"/>
                </a:solidFill>
              </a:rPr>
              <a:t>Req 8-A (1–5): FCC amateur service; license classes; Q signals; emergency calls; HT/mobile/base/repeaters</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Any questions from Session 1 before we continue?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4</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Information by Radio — Modulation, Digital Standards &amp; Data Rates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4a — Five Ways Radio Carries Information</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CW (Morse Code): carrier keyed on/off → extremely narrow bandwidth → cuts through noise → still used for DX and weak-signal work</a:t>
            </a:r>
            <a:endParaRPr lang="en-US" sz="1500" dirty="0"/>
          </a:p>
          <a:p>
            <a:pPr marL="190500" indent="-190500">
              <a:buSzPct val="100000"/>
              <a:buChar char="•"/>
            </a:pPr>
            <a:r>
              <a:rPr lang="en-US" sz="1500" dirty="0">
                <a:solidFill>
                  <a:srgbClr val="334155"/>
                </a:solidFill>
              </a:rPr>
              <a:t>AM (Amplitude Modulation): varies carrier strength → simple to receive → used for broadcast and aircraft voice → takes double the bandwidth of SSB</a:t>
            </a:r>
            <a:endParaRPr lang="en-US" sz="1500" dirty="0"/>
          </a:p>
          <a:p>
            <a:pPr marL="190500" indent="-190500">
              <a:buSzPct val="100000"/>
              <a:buChar char="•"/>
            </a:pPr>
            <a:r>
              <a:rPr lang="en-US" sz="1500" dirty="0">
                <a:solidFill>
                  <a:srgbClr val="334155"/>
                </a:solidFill>
              </a:rPr>
              <a:t>FM (Frequency Modulation): varies carrier frequency → excellent audio quality → rejects interference well → used for VHF/UHF voice and FM broadcast</a:t>
            </a:r>
            <a:endParaRPr lang="en-US" sz="1500" dirty="0"/>
          </a:p>
          <a:p>
            <a:pPr marL="190500" indent="-190500">
              <a:buSzPct val="100000"/>
              <a:buChar char="•"/>
            </a:pPr>
            <a:r>
              <a:rPr lang="en-US" sz="1500" dirty="0">
                <a:solidFill>
                  <a:srgbClr val="334155"/>
                </a:solidFill>
              </a:rPr>
              <a:t>SSB (Single Sideband): AM with carrier and one sideband removed → all power in useful signal → ~4× range of AM → standard HF voice mode</a:t>
            </a:r>
            <a:endParaRPr lang="en-US" sz="1500" dirty="0"/>
          </a:p>
          <a:p>
            <a:pPr marL="190500" indent="-190500">
              <a:buSzPct val="100000"/>
              <a:buChar char="•"/>
            </a:pPr>
            <a:r>
              <a:rPr lang="en-US" sz="1500" dirty="0">
                <a:solidFill>
                  <a:srgbClr val="334155"/>
                </a:solidFill>
              </a:rPr>
              <a:t>Frequency Hopping: carrier jumps rapidly between many frequencies → impossible to intercept or jam → used in Bluetooth, military comms, and spread-spectrum Wi-Fi</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4b — Digital Radio Standards</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Bluetooth &amp; Wi-Fi</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Bluetooth: frequency-hopping at 2.4 GHz, hops 1,600×/second across 79 channels, short range (10–30 m), designed for low-power personal devices</a:t>
            </a:r>
            <a:endParaRPr lang="en-US" sz="1300" dirty="0"/>
          </a:p>
          <a:p>
            <a:pPr marL="190500" indent="-190500">
              <a:buSzPct val="100000"/>
              <a:buChar char="•"/>
            </a:pPr>
            <a:r>
              <a:rPr lang="en-US" sz="1300" dirty="0">
                <a:solidFill>
                  <a:srgbClr val="334155"/>
                </a:solidFill>
              </a:rPr>
              <a:t>Wi-Fi 802.11: 2.4 GHz and 5 GHz, OFDM splits channel into hundreds of parallel subcarriers, 30–100 m indoor range, shared among all users</a:t>
            </a:r>
            <a:endParaRPr lang="en-US" sz="1300" dirty="0"/>
          </a:p>
          <a:p>
            <a:pPr marL="190500" indent="-190500">
              <a:buSzPct val="100000"/>
              <a:buChar char="•"/>
            </a:pPr>
            <a:r>
              <a:rPr lang="en-US" sz="1300" dirty="0">
                <a:solidFill>
                  <a:srgbClr val="334155"/>
                </a:solidFill>
              </a:rPr>
              <a:t>Both are digital: information encoded as ones and zeros BEFORE transmission → allows error correction and encryption</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5G and Why Digital Wins</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5G: three tiers — sub-6 GHz for coverage, mmWave (24–100 GHz) for extreme speed in dense areas</a:t>
            </a:r>
            <a:endParaRPr lang="en-US" sz="1300" dirty="0"/>
          </a:p>
          <a:p>
            <a:pPr marL="190500" indent="-190500">
              <a:buSzPct val="100000"/>
              <a:buChar char="•"/>
            </a:pPr>
            <a:r>
              <a:rPr lang="en-US" sz="1300" dirty="0">
                <a:solidFill>
                  <a:srgbClr val="334155"/>
                </a:solidFill>
              </a:rPr>
              <a:t>5G uses massive MIMO + beamforming: aimed beams instead of broadcast</a:t>
            </a:r>
            <a:endParaRPr lang="en-US" sz="1300" dirty="0"/>
          </a:p>
          <a:p>
            <a:pPr marL="190500" indent="-190500">
              <a:buSzPct val="100000"/>
              <a:buChar char="•"/>
            </a:pPr>
            <a:r>
              <a:rPr lang="en-US" sz="1300" dirty="0">
                <a:solidFill>
                  <a:srgbClr val="334155"/>
                </a:solidFill>
              </a:rPr>
              <a:t>Digital advantages over analog: error correction (FEC), encryption, more data per Hz, multiple channels multiplexed on one carrier (OFDM)</a:t>
            </a:r>
            <a:endParaRPr lang="en-US" sz="1300" dirty="0"/>
          </a:p>
          <a:p>
            <a:pPr marL="190500" indent="-190500">
              <a:buSzPct val="100000"/>
              <a:buChar char="•"/>
            </a:pPr>
            <a:r>
              <a:rPr lang="en-US" sz="1300" dirty="0">
                <a:solidFill>
                  <a:srgbClr val="334155"/>
                </a:solidFill>
              </a:rPr>
              <a:t>Real-world 5G: average speeds far below peak; mmWave barely penetrates walls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4c &amp; 4d — Range vs. Encoding; Wi-Fi vs. Fiber</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Range vs. Encoding Method</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More data rate = more bandwidth = needs stronger signal = shorter range</a:t>
            </a:r>
            <a:endParaRPr lang="en-US" sz="1300" dirty="0"/>
          </a:p>
          <a:p>
            <a:pPr marL="190500" indent="-190500">
              <a:buSzPct val="100000"/>
              <a:buChar char="•"/>
            </a:pPr>
            <a:r>
              <a:rPr lang="en-US" sz="1300" dirty="0">
                <a:solidFill>
                  <a:srgbClr val="334155"/>
                </a:solidFill>
              </a:rPr>
              <a:t>CW/SSB/FT8: narrow bandwidth, most efficient → longest range per watt</a:t>
            </a:r>
            <a:endParaRPr lang="en-US" sz="1300" dirty="0"/>
          </a:p>
          <a:p>
            <a:pPr marL="190500" indent="-190500">
              <a:buSzPct val="100000"/>
              <a:buChar char="•"/>
            </a:pPr>
            <a:r>
              <a:rPr lang="en-US" sz="1300" dirty="0">
                <a:solidFill>
                  <a:srgbClr val="334155"/>
                </a:solidFill>
              </a:rPr>
              <a:t>FT8 can decode signals 20 dB below the noise floor — contacts possible with 5 W across oceans</a:t>
            </a:r>
            <a:endParaRPr lang="en-US" sz="1300" dirty="0"/>
          </a:p>
          <a:p>
            <a:pPr marL="190500" indent="-190500">
              <a:buSzPct val="100000"/>
              <a:buChar char="•"/>
            </a:pPr>
            <a:r>
              <a:rPr lang="en-US" sz="1300" dirty="0">
                <a:solidFill>
                  <a:srgbClr val="334155"/>
                </a:solidFill>
              </a:rPr>
              <a:t>High-speed Wi-Fi: wide bandwidth demands strong SNR → range shrinks rapidly with distance or walls</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Wi-Fi vs. Wired/Fiber Data Rates</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Wi-Fi 6 peak: ~9.6 Gbps theoretical; real-world: 500 Mbps to 2 Gbps (close, clear)</a:t>
            </a:r>
            <a:endParaRPr lang="en-US" sz="1300" dirty="0"/>
          </a:p>
          <a:p>
            <a:pPr marL="190500" indent="-190500">
              <a:buSzPct val="100000"/>
              <a:buChar char="•"/>
            </a:pPr>
            <a:r>
              <a:rPr lang="en-US" sz="1300" dirty="0">
                <a:solidFill>
                  <a:srgbClr val="334155"/>
                </a:solidFill>
              </a:rPr>
              <a:t>Fiber peak: 400+ terabits/sec on one strand using WDM; home service: 1–10 Gbps</a:t>
            </a:r>
            <a:endParaRPr lang="en-US" sz="1300" dirty="0"/>
          </a:p>
          <a:p>
            <a:pPr marL="190500" indent="-190500">
              <a:buSzPct val="100000"/>
              <a:buChar char="•"/>
            </a:pPr>
            <a:r>
              <a:rPr lang="en-US" sz="1300" dirty="0">
                <a:solidFill>
                  <a:srgbClr val="334155"/>
                </a:solidFill>
              </a:rPr>
              <a:t>Why fiber wins: dedicated glass tube, no shared spectrum, no atmospheric noise, deterministic latency</a:t>
            </a:r>
            <a:endParaRPr lang="en-US" sz="1300" dirty="0"/>
          </a:p>
          <a:p>
            <a:pPr marL="190500" indent="-190500">
              <a:buSzPct val="100000"/>
              <a:buChar char="•"/>
            </a:pPr>
            <a:r>
              <a:rPr lang="en-US" sz="1300" dirty="0">
                <a:solidFill>
                  <a:srgbClr val="334155"/>
                </a:solidFill>
              </a:rPr>
              <a:t>Wi-Fi latency varies under load; fiber latency is stable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indent="0" marL="0">
              <a:buNone/>
            </a:pPr>
            <a:r>
              <a:rPr lang="en-US" sz="1100" b="1" spc="200" kern="0" dirty="0">
                <a:solidFill>
                  <a:srgbClr val="6EE7B7"/>
                </a:solidFill>
              </a:rPr>
              <a:t>Quick Check</a:t>
            </a:r>
            <a:endParaRPr lang="en-US" sz="1100" dirty="0"/>
          </a:p>
        </p:txBody>
      </p:sp>
      <p:sp>
        <p:nvSpPr>
          <p:cNvPr id="3" name="Text 1"/>
          <p:cNvSpPr/>
          <p:nvPr/>
        </p:nvSpPr>
        <p:spPr>
          <a:xfrm>
            <a:off x="457200" y="640080"/>
            <a:ext cx="8229600" cy="731520"/>
          </a:xfrm>
          <a:prstGeom prst="rect">
            <a:avLst/>
          </a:prstGeom>
          <a:noFill/>
          <a:ln/>
        </p:spPr>
        <p:txBody>
          <a:bodyPr wrap="square" rtlCol="0" anchor="ctr"/>
          <a:lstStyle/>
          <a:p>
            <a:pPr indent="0" marL="0">
              <a:buNone/>
            </a:pPr>
            <a:r>
              <a:rPr lang="en-US" sz="2000" b="1" dirty="0">
                <a:solidFill>
                  <a:srgbClr val="FFFFFF"/>
                </a:solidFill>
              </a:rPr>
              <a:t>SSB has roughly 4× the range of AM for the same power. Why?</a:t>
            </a:r>
            <a:endParaRPr lang="en-US" sz="2000" dirty="0"/>
          </a:p>
        </p:txBody>
      </p:sp>
      <p:sp>
        <p:nvSpPr>
          <p:cNvPr id="4" name="Shape 2"/>
          <p:cNvSpPr/>
          <p:nvPr/>
        </p:nvSpPr>
        <p:spPr>
          <a:xfrm>
            <a:off x="457200" y="1554480"/>
            <a:ext cx="8229600" cy="502920"/>
          </a:xfrm>
          <a:prstGeom prst="rect">
            <a:avLst/>
          </a:prstGeom>
          <a:solidFill>
            <a:srgbClr val="0F172A"/>
          </a:solidFill>
          <a:ln w="12700">
            <a:solidFill>
              <a:srgbClr val="10B981"/>
            </a:solidFill>
            <a:prstDash val="solid"/>
          </a:ln>
        </p:spPr>
      </p:sp>
      <p:sp>
        <p:nvSpPr>
          <p:cNvPr id="5" name="Text 3"/>
          <p:cNvSpPr/>
          <p:nvPr/>
        </p:nvSpPr>
        <p:spPr>
          <a:xfrm>
            <a:off x="640080" y="1600200"/>
            <a:ext cx="7863840" cy="411480"/>
          </a:xfrm>
          <a:prstGeom prst="rect">
            <a:avLst/>
          </a:prstGeom>
          <a:noFill/>
          <a:ln/>
        </p:spPr>
        <p:txBody>
          <a:bodyPr wrap="square" rtlCol="0" anchor="ctr"/>
          <a:lstStyle/>
          <a:p>
            <a:pPr indent="0" marL="0">
              <a:buNone/>
            </a:pPr>
            <a:r>
              <a:rPr lang="en-US" sz="1400" dirty="0">
                <a:solidFill>
                  <a:srgbClr val="FFFFFF"/>
                </a:solidFill>
              </a:rPr>
              <a:t>A) SSB uses a higher frequency, which propagates better</a:t>
            </a:r>
            <a:endParaRPr lang="en-US" sz="1400" dirty="0"/>
          </a:p>
        </p:txBody>
      </p:sp>
      <p:sp>
        <p:nvSpPr>
          <p:cNvPr id="6" name="Shape 4"/>
          <p:cNvSpPr/>
          <p:nvPr/>
        </p:nvSpPr>
        <p:spPr>
          <a:xfrm>
            <a:off x="457200" y="2148840"/>
            <a:ext cx="8229600" cy="502920"/>
          </a:xfrm>
          <a:prstGeom prst="rect">
            <a:avLst/>
          </a:prstGeom>
          <a:solidFill>
            <a:srgbClr val="0F172A"/>
          </a:solidFill>
          <a:ln w="12700">
            <a:solidFill>
              <a:srgbClr val="10B981"/>
            </a:solidFill>
            <a:prstDash val="solid"/>
          </a:ln>
        </p:spPr>
      </p:sp>
      <p:sp>
        <p:nvSpPr>
          <p:cNvPr id="7" name="Text 5"/>
          <p:cNvSpPr/>
          <p:nvPr/>
        </p:nvSpPr>
        <p:spPr>
          <a:xfrm>
            <a:off x="640080" y="2194560"/>
            <a:ext cx="7863840" cy="411480"/>
          </a:xfrm>
          <a:prstGeom prst="rect">
            <a:avLst/>
          </a:prstGeom>
          <a:noFill/>
          <a:ln/>
        </p:spPr>
        <p:txBody>
          <a:bodyPr wrap="square" rtlCol="0" anchor="ctr"/>
          <a:lstStyle/>
          <a:p>
            <a:pPr indent="0" marL="0">
              <a:buNone/>
            </a:pPr>
            <a:r>
              <a:rPr lang="en-US" sz="1400" dirty="0">
                <a:solidFill>
                  <a:srgbClr val="FFFFFF"/>
                </a:solidFill>
              </a:rPr>
              <a:t>B) SSB removes the carrier and one sideband, putting all power into the useful signal</a:t>
            </a:r>
            <a:endParaRPr lang="en-US" sz="1400" dirty="0"/>
          </a:p>
        </p:txBody>
      </p:sp>
      <p:sp>
        <p:nvSpPr>
          <p:cNvPr id="8" name="Shape 6"/>
          <p:cNvSpPr/>
          <p:nvPr/>
        </p:nvSpPr>
        <p:spPr>
          <a:xfrm>
            <a:off x="457200" y="2743200"/>
            <a:ext cx="8229600" cy="502920"/>
          </a:xfrm>
          <a:prstGeom prst="rect">
            <a:avLst/>
          </a:prstGeom>
          <a:solidFill>
            <a:srgbClr val="0F172A"/>
          </a:solidFill>
          <a:ln w="12700">
            <a:solidFill>
              <a:srgbClr val="10B981"/>
            </a:solidFill>
            <a:prstDash val="solid"/>
          </a:ln>
        </p:spPr>
      </p:sp>
      <p:sp>
        <p:nvSpPr>
          <p:cNvPr id="9" name="Text 7"/>
          <p:cNvSpPr/>
          <p:nvPr/>
        </p:nvSpPr>
        <p:spPr>
          <a:xfrm>
            <a:off x="640080" y="2788920"/>
            <a:ext cx="7863840" cy="411480"/>
          </a:xfrm>
          <a:prstGeom prst="rect">
            <a:avLst/>
          </a:prstGeom>
          <a:noFill/>
          <a:ln/>
        </p:spPr>
        <p:txBody>
          <a:bodyPr wrap="square" rtlCol="0" anchor="ctr"/>
          <a:lstStyle/>
          <a:p>
            <a:pPr indent="0" marL="0">
              <a:buNone/>
            </a:pPr>
            <a:r>
              <a:rPr lang="en-US" sz="1400" dirty="0">
                <a:solidFill>
                  <a:srgbClr val="FFFFFF"/>
                </a:solidFill>
              </a:rPr>
              <a:t>C) SSB uses frequency hopping to avoid interference</a:t>
            </a:r>
            <a:endParaRPr lang="en-US" sz="1400" dirty="0"/>
          </a:p>
        </p:txBody>
      </p:sp>
      <p:sp>
        <p:nvSpPr>
          <p:cNvPr id="10" name="Shape 8"/>
          <p:cNvSpPr/>
          <p:nvPr/>
        </p:nvSpPr>
        <p:spPr>
          <a:xfrm>
            <a:off x="457200" y="3337560"/>
            <a:ext cx="8229600" cy="502920"/>
          </a:xfrm>
          <a:prstGeom prst="rect">
            <a:avLst/>
          </a:prstGeom>
          <a:solidFill>
            <a:srgbClr val="0F172A"/>
          </a:solidFill>
          <a:ln w="12700">
            <a:solidFill>
              <a:srgbClr val="10B981"/>
            </a:solidFill>
            <a:prstDash val="solid"/>
          </a:ln>
        </p:spPr>
      </p:sp>
      <p:sp>
        <p:nvSpPr>
          <p:cNvPr id="11" name="Text 9"/>
          <p:cNvSpPr/>
          <p:nvPr/>
        </p:nvSpPr>
        <p:spPr>
          <a:xfrm>
            <a:off x="640080" y="3383280"/>
            <a:ext cx="7863840" cy="411480"/>
          </a:xfrm>
          <a:prstGeom prst="rect">
            <a:avLst/>
          </a:prstGeom>
          <a:noFill/>
          <a:ln/>
        </p:spPr>
        <p:txBody>
          <a:bodyPr wrap="square" rtlCol="0" anchor="ctr"/>
          <a:lstStyle/>
          <a:p>
            <a:pPr indent="0" marL="0">
              <a:buNone/>
            </a:pPr>
            <a:r>
              <a:rPr lang="en-US" sz="1400" dirty="0">
                <a:solidFill>
                  <a:srgbClr val="FFFFFF"/>
                </a:solidFill>
              </a:rPr>
              <a:t>D) SSB antennas are more efficient than AM antennas</a:t>
            </a:r>
            <a:endParaRPr lang="en-US" sz="1400" dirty="0"/>
          </a:p>
        </p:txBody>
      </p:sp>
      <p:sp>
        <p:nvSpPr>
          <p:cNvPr id="12" name="Text 10"/>
          <p:cNvSpPr/>
          <p:nvPr/>
        </p:nvSpPr>
        <p:spPr>
          <a:xfrm>
            <a:off x="457200" y="4069080"/>
            <a:ext cx="8229600" cy="320040"/>
          </a:xfrm>
          <a:prstGeom prst="rect">
            <a:avLst/>
          </a:prstGeom>
          <a:noFill/>
          <a:ln/>
        </p:spPr>
        <p:txBody>
          <a:bodyPr wrap="square" rtlCol="0" anchor="ctr"/>
          <a:lstStyle/>
          <a:p>
            <a:pPr indent="0" marL="0">
              <a:buNone/>
            </a:pPr>
            <a:r>
              <a:rPr lang="en-US" sz="1100" i="1" dirty="0">
                <a:solidFill>
                  <a:srgbClr val="6EE7B7"/>
                </a:solidFill>
              </a:rPr>
              <a:t>Answer: B — SSB eliminates the carrier (which carries no information) and one of the two duplicate sidebands, concentrating all transmit power into a single usable sideband. Same information, less power wasted.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5</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Radio Hardware and Services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5a — Block Diagram vs. Schematic Diagram</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Block Diagram</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Shows major functional sections as labeled boxes</a:t>
            </a:r>
            <a:endParaRPr lang="en-US" sz="1300" dirty="0"/>
          </a:p>
          <a:p>
            <a:pPr marL="190500" indent="-190500">
              <a:buSzPct val="100000"/>
              <a:buChar char="•"/>
            </a:pPr>
            <a:r>
              <a:rPr lang="en-US" sz="1300" dirty="0">
                <a:solidFill>
                  <a:srgbClr val="334155"/>
                </a:solidFill>
              </a:rPr>
              <a:t>Arrows indicate signal flow between sections</a:t>
            </a:r>
            <a:endParaRPr lang="en-US" sz="1300" dirty="0"/>
          </a:p>
          <a:p>
            <a:pPr marL="190500" indent="-190500">
              <a:buSzPct val="100000"/>
              <a:buChar char="•"/>
            </a:pPr>
            <a:r>
              <a:rPr lang="en-US" sz="1300" dirty="0">
                <a:solidFill>
                  <a:srgbClr val="334155"/>
                </a:solidFill>
              </a:rPr>
              <a:t>No component-level detail (no resistors, capacitors)</a:t>
            </a:r>
            <a:endParaRPr lang="en-US" sz="1300" dirty="0"/>
          </a:p>
          <a:p>
            <a:pPr marL="190500" indent="-190500">
              <a:buSzPct val="100000"/>
              <a:buChar char="•"/>
            </a:pPr>
            <a:r>
              <a:rPr lang="en-US" sz="1300" dirty="0">
                <a:solidFill>
                  <a:srgbClr val="334155"/>
                </a:solidFill>
              </a:rPr>
              <a:t>Used to: understand system organization, troubleshoot at system level, explain to non-engineers</a:t>
            </a:r>
            <a:endParaRPr lang="en-US" sz="1300" dirty="0"/>
          </a:p>
          <a:p>
            <a:pPr marL="190500" indent="-190500">
              <a:buSzPct val="100000"/>
              <a:buChar char="•"/>
            </a:pPr>
            <a:r>
              <a:rPr lang="en-US" sz="1300" dirty="0">
                <a:solidFill>
                  <a:srgbClr val="334155"/>
                </a:solidFill>
              </a:rPr>
              <a:t>You can draw one without electronics knowledge</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Schematic Diagram</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Shows every component using standardized electrical symbols</a:t>
            </a:r>
            <a:endParaRPr lang="en-US" sz="1300" dirty="0"/>
          </a:p>
          <a:p>
            <a:pPr marL="190500" indent="-190500">
              <a:buSzPct val="100000"/>
              <a:buChar char="•"/>
            </a:pPr>
            <a:r>
              <a:rPr lang="en-US" sz="1300" dirty="0">
                <a:solidFill>
                  <a:srgbClr val="334155"/>
                </a:solidFill>
              </a:rPr>
              <a:t>Connections drawn as lines; you can trace every wire</a:t>
            </a:r>
            <a:endParaRPr lang="en-US" sz="1300" dirty="0"/>
          </a:p>
          <a:p>
            <a:pPr marL="190500" indent="-190500">
              <a:buSzPct val="100000"/>
              <a:buChar char="•"/>
            </a:pPr>
            <a:r>
              <a:rPr lang="en-US" sz="1300" dirty="0">
                <a:solidFill>
                  <a:srgbClr val="334155"/>
                </a:solidFill>
              </a:rPr>
              <a:t>Used to: build circuits, calculate voltages/currents, repair equipment</a:t>
            </a:r>
            <a:endParaRPr lang="en-US" sz="1300" dirty="0"/>
          </a:p>
          <a:p>
            <a:pPr marL="190500" indent="-190500">
              <a:buSzPct val="100000"/>
              <a:buChar char="•"/>
            </a:pPr>
            <a:r>
              <a:rPr lang="en-US" sz="1300" dirty="0">
                <a:solidFill>
                  <a:srgbClr val="334155"/>
                </a:solidFill>
              </a:rPr>
              <a:t>Requires training to read fluently</a:t>
            </a:r>
            <a:endParaRPr lang="en-US" sz="1300" dirty="0"/>
          </a:p>
          <a:p>
            <a:pPr marL="190500" indent="-190500">
              <a:buSzPct val="100000"/>
              <a:buChar char="•"/>
            </a:pPr>
            <a:r>
              <a:rPr lang="en-US" sz="1300" dirty="0">
                <a:solidFill>
                  <a:srgbClr val="334155"/>
                </a:solidFill>
              </a:rPr>
              <a:t>A modern transceiver may have hundreds of schematic pages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5b — Draw a Radio Station Block Diagram</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ACTIVITY: Draw your block diagram in your student pack now</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Microphone → Transmitter → [Power Amplifier] → Feedline → Antenna</a:t>
            </a:r>
            <a:endParaRPr lang="en-US" sz="1500" dirty="0"/>
          </a:p>
          <a:p>
            <a:pPr marL="190500" indent="-190500">
              <a:buSzPct val="100000"/>
              <a:buChar char="•"/>
            </a:pPr>
            <a:r>
              <a:rPr lang="en-US" sz="1500" dirty="0">
                <a:solidFill>
                  <a:srgbClr val="334155"/>
                </a:solidFill>
              </a:rPr>
              <a:t>Antenna → Feedline → Receiver → Speaker</a:t>
            </a:r>
            <a:endParaRPr lang="en-US" sz="1500" dirty="0"/>
          </a:p>
          <a:p>
            <a:pPr marL="190500" indent="-190500">
              <a:buSzPct val="100000"/>
              <a:buChar char="•"/>
            </a:pPr>
            <a:r>
              <a:rPr lang="en-US" sz="1500" dirty="0">
                <a:solidFill>
                  <a:srgbClr val="334155"/>
                </a:solidFill>
              </a:rPr>
              <a:t>(Transceiver = Transmitter + Receiver combined in one box)</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Key component functions:</a:t>
            </a:r>
            <a:endParaRPr lang="en-US" sz="1500" dirty="0"/>
          </a:p>
          <a:p>
            <a:pPr marL="190500" indent="-190500">
              <a:buSzPct val="100000"/>
              <a:buChar char="•"/>
            </a:pPr>
            <a:r>
              <a:rPr lang="en-US" sz="1500" dirty="0">
                <a:solidFill>
                  <a:srgbClr val="334155"/>
                </a:solidFill>
              </a:rPr>
              <a:t>  Microphone: sound → electrical audio signal</a:t>
            </a:r>
            <a:endParaRPr lang="en-US" sz="1500" dirty="0"/>
          </a:p>
          <a:p>
            <a:pPr marL="190500" indent="-190500">
              <a:buSzPct val="100000"/>
              <a:buChar char="•"/>
            </a:pPr>
            <a:r>
              <a:rPr lang="en-US" sz="1500" dirty="0">
                <a:solidFill>
                  <a:srgbClr val="334155"/>
                </a:solidFill>
              </a:rPr>
              <a:t>  Transmitter: audio → RF carrier with modulation</a:t>
            </a:r>
            <a:endParaRPr lang="en-US" sz="1500" dirty="0"/>
          </a:p>
          <a:p>
            <a:pPr marL="190500" indent="-190500">
              <a:buSzPct val="100000"/>
              <a:buChar char="•"/>
            </a:pPr>
            <a:r>
              <a:rPr lang="en-US" sz="1500" dirty="0">
                <a:solidFill>
                  <a:srgbClr val="334155"/>
                </a:solidFill>
              </a:rPr>
              <a:t>  Amplifier (PA): increases RF power before antenna</a:t>
            </a:r>
            <a:endParaRPr lang="en-US" sz="1500" dirty="0"/>
          </a:p>
          <a:p>
            <a:pPr marL="190500" indent="-190500">
              <a:buSzPct val="100000"/>
              <a:buChar char="•"/>
            </a:pPr>
            <a:r>
              <a:rPr lang="en-US" sz="1500" dirty="0">
                <a:solidFill>
                  <a:srgbClr val="334155"/>
                </a:solidFill>
              </a:rPr>
              <a:t>  Feedline: carries RF between radio and antenna (coax)</a:t>
            </a:r>
            <a:endParaRPr lang="en-US" sz="1500" dirty="0"/>
          </a:p>
          <a:p>
            <a:pPr marL="190500" indent="-190500">
              <a:buSzPct val="100000"/>
              <a:buChar char="•"/>
            </a:pPr>
            <a:r>
              <a:rPr lang="en-US" sz="1500" dirty="0">
                <a:solidFill>
                  <a:srgbClr val="334155"/>
                </a:solidFill>
              </a:rPr>
              <a:t>  Antenna: electrical energy ↔ electromagnetic waves</a:t>
            </a:r>
            <a:endParaRPr lang="en-US" sz="1500" dirty="0"/>
          </a:p>
          <a:p>
            <a:pPr marL="190500" indent="-190500">
              <a:buSzPct val="100000"/>
              <a:buChar char="•"/>
            </a:pPr>
            <a:r>
              <a:rPr lang="en-US" sz="1500" dirty="0">
                <a:solidFill>
                  <a:srgbClr val="334155"/>
                </a:solidFill>
              </a:rPr>
              <a:t>  Receiver: captures incoming RF → audio signal</a:t>
            </a:r>
            <a:endParaRPr lang="en-US" sz="1500" dirty="0"/>
          </a:p>
          <a:p>
            <a:pPr marL="190500" indent="-190500">
              <a:buSzPct val="100000"/>
              <a:buChar char="•"/>
            </a:pPr>
            <a:r>
              <a:rPr lang="en-US" sz="1500" dirty="0">
                <a:solidFill>
                  <a:srgbClr val="334155"/>
                </a:solidFill>
              </a:rPr>
              <a:t>  Speaker: electrical audio → sound waves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5c, 5d, 5e — Consumer Devices, Weather Radio &amp; RFID</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Consumer devices using radio (5c): cell phone (4G/5G), car radio (AM/FM/satellite), Wi-Fi router (2.4/5 GHz), wireless earbuds (Bluetooth), GPS navigator (1.575 GHz), smart home devices (Zigbee/Wi-Fi), TV remote (IR or RF), contactless credit card (NFC at 13.56 MHz)</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NOAA Weather Radio (5d): 162.400–162.550 MHz, 7 channels, continuous NWS broadcasts, SAME coding = your county only alerts YOUR radio, covers 97% of US population, no license needed to receive</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RFID (5e): reader emits RF field → passive tag harvests energy from field → transmits its unique ID back. Active tags have their own battery. Uses: store anti-theft, library books, building access badges, pet microchips, passport chips, toll collection (E-ZPass/SunPass), supply chain tracking, tap-to-pay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indent="0" marL="0">
              <a:buNone/>
            </a:pPr>
            <a:r>
              <a:rPr lang="en-US" sz="1100" b="1" spc="200" kern="0" dirty="0">
                <a:solidFill>
                  <a:srgbClr val="6EE7B7"/>
                </a:solidFill>
              </a:rPr>
              <a:t>Quick Check</a:t>
            </a:r>
            <a:endParaRPr lang="en-US" sz="1100" dirty="0"/>
          </a:p>
        </p:txBody>
      </p:sp>
      <p:sp>
        <p:nvSpPr>
          <p:cNvPr id="3" name="Text 1"/>
          <p:cNvSpPr/>
          <p:nvPr/>
        </p:nvSpPr>
        <p:spPr>
          <a:xfrm>
            <a:off x="457200" y="640080"/>
            <a:ext cx="8229600" cy="731520"/>
          </a:xfrm>
          <a:prstGeom prst="rect">
            <a:avLst/>
          </a:prstGeom>
          <a:noFill/>
          <a:ln/>
        </p:spPr>
        <p:txBody>
          <a:bodyPr wrap="square" rtlCol="0" anchor="ctr"/>
          <a:lstStyle/>
          <a:p>
            <a:pPr indent="0" marL="0">
              <a:buNone/>
            </a:pPr>
            <a:r>
              <a:rPr lang="en-US" sz="2000" b="1" dirty="0">
                <a:solidFill>
                  <a:srgbClr val="FFFFFF"/>
                </a:solidFill>
              </a:rPr>
              <a:t>A weather radio with SAME can be programmed to alert only for ___</a:t>
            </a:r>
            <a:endParaRPr lang="en-US" sz="2000" dirty="0"/>
          </a:p>
        </p:txBody>
      </p:sp>
      <p:sp>
        <p:nvSpPr>
          <p:cNvPr id="4" name="Shape 2"/>
          <p:cNvSpPr/>
          <p:nvPr/>
        </p:nvSpPr>
        <p:spPr>
          <a:xfrm>
            <a:off x="457200" y="1554480"/>
            <a:ext cx="8229600" cy="502920"/>
          </a:xfrm>
          <a:prstGeom prst="rect">
            <a:avLst/>
          </a:prstGeom>
          <a:solidFill>
            <a:srgbClr val="0F172A"/>
          </a:solidFill>
          <a:ln w="12700">
            <a:solidFill>
              <a:srgbClr val="10B981"/>
            </a:solidFill>
            <a:prstDash val="solid"/>
          </a:ln>
        </p:spPr>
      </p:sp>
      <p:sp>
        <p:nvSpPr>
          <p:cNvPr id="5" name="Text 3"/>
          <p:cNvSpPr/>
          <p:nvPr/>
        </p:nvSpPr>
        <p:spPr>
          <a:xfrm>
            <a:off x="640080" y="1600200"/>
            <a:ext cx="7863840" cy="411480"/>
          </a:xfrm>
          <a:prstGeom prst="rect">
            <a:avLst/>
          </a:prstGeom>
          <a:noFill/>
          <a:ln/>
        </p:spPr>
        <p:txBody>
          <a:bodyPr wrap="square" rtlCol="0" anchor="ctr"/>
          <a:lstStyle/>
          <a:p>
            <a:pPr indent="0" marL="0">
              <a:buNone/>
            </a:pPr>
            <a:r>
              <a:rPr lang="en-US" sz="1400" dirty="0">
                <a:solidFill>
                  <a:srgbClr val="FFFFFF"/>
                </a:solidFill>
              </a:rPr>
              <a:t>A) Any severe weather in the entire state</a:t>
            </a:r>
            <a:endParaRPr lang="en-US" sz="1400" dirty="0"/>
          </a:p>
        </p:txBody>
      </p:sp>
      <p:sp>
        <p:nvSpPr>
          <p:cNvPr id="6" name="Shape 4"/>
          <p:cNvSpPr/>
          <p:nvPr/>
        </p:nvSpPr>
        <p:spPr>
          <a:xfrm>
            <a:off x="457200" y="2148840"/>
            <a:ext cx="8229600" cy="502920"/>
          </a:xfrm>
          <a:prstGeom prst="rect">
            <a:avLst/>
          </a:prstGeom>
          <a:solidFill>
            <a:srgbClr val="0F172A"/>
          </a:solidFill>
          <a:ln w="12700">
            <a:solidFill>
              <a:srgbClr val="10B981"/>
            </a:solidFill>
            <a:prstDash val="solid"/>
          </a:ln>
        </p:spPr>
      </p:sp>
      <p:sp>
        <p:nvSpPr>
          <p:cNvPr id="7" name="Text 5"/>
          <p:cNvSpPr/>
          <p:nvPr/>
        </p:nvSpPr>
        <p:spPr>
          <a:xfrm>
            <a:off x="640080" y="2194560"/>
            <a:ext cx="7863840" cy="411480"/>
          </a:xfrm>
          <a:prstGeom prst="rect">
            <a:avLst/>
          </a:prstGeom>
          <a:noFill/>
          <a:ln/>
        </p:spPr>
        <p:txBody>
          <a:bodyPr wrap="square" rtlCol="0" anchor="ctr"/>
          <a:lstStyle/>
          <a:p>
            <a:pPr indent="0" marL="0">
              <a:buNone/>
            </a:pPr>
            <a:r>
              <a:rPr lang="en-US" sz="1400" dirty="0">
                <a:solidFill>
                  <a:srgbClr val="FFFFFF"/>
                </a:solidFill>
              </a:rPr>
              <a:t>B) Only the weather station's primary broadcast area</a:t>
            </a:r>
            <a:endParaRPr lang="en-US" sz="1400" dirty="0"/>
          </a:p>
        </p:txBody>
      </p:sp>
      <p:sp>
        <p:nvSpPr>
          <p:cNvPr id="8" name="Shape 6"/>
          <p:cNvSpPr/>
          <p:nvPr/>
        </p:nvSpPr>
        <p:spPr>
          <a:xfrm>
            <a:off x="457200" y="2743200"/>
            <a:ext cx="8229600" cy="502920"/>
          </a:xfrm>
          <a:prstGeom prst="rect">
            <a:avLst/>
          </a:prstGeom>
          <a:solidFill>
            <a:srgbClr val="0F172A"/>
          </a:solidFill>
          <a:ln w="12700">
            <a:solidFill>
              <a:srgbClr val="10B981"/>
            </a:solidFill>
            <a:prstDash val="solid"/>
          </a:ln>
        </p:spPr>
      </p:sp>
      <p:sp>
        <p:nvSpPr>
          <p:cNvPr id="9" name="Text 7"/>
          <p:cNvSpPr/>
          <p:nvPr/>
        </p:nvSpPr>
        <p:spPr>
          <a:xfrm>
            <a:off x="640080" y="2788920"/>
            <a:ext cx="7863840" cy="411480"/>
          </a:xfrm>
          <a:prstGeom prst="rect">
            <a:avLst/>
          </a:prstGeom>
          <a:noFill/>
          <a:ln/>
        </p:spPr>
        <p:txBody>
          <a:bodyPr wrap="square" rtlCol="0" anchor="ctr"/>
          <a:lstStyle/>
          <a:p>
            <a:pPr indent="0" marL="0">
              <a:buNone/>
            </a:pPr>
            <a:r>
              <a:rPr lang="en-US" sz="1400" dirty="0">
                <a:solidFill>
                  <a:srgbClr val="FFFFFF"/>
                </a:solidFill>
              </a:rPr>
              <a:t>C) Your specific county or FIPS region</a:t>
            </a:r>
            <a:endParaRPr lang="en-US" sz="1400" dirty="0"/>
          </a:p>
        </p:txBody>
      </p:sp>
      <p:sp>
        <p:nvSpPr>
          <p:cNvPr id="10" name="Shape 8"/>
          <p:cNvSpPr/>
          <p:nvPr/>
        </p:nvSpPr>
        <p:spPr>
          <a:xfrm>
            <a:off x="457200" y="3337560"/>
            <a:ext cx="8229600" cy="502920"/>
          </a:xfrm>
          <a:prstGeom prst="rect">
            <a:avLst/>
          </a:prstGeom>
          <a:solidFill>
            <a:srgbClr val="0F172A"/>
          </a:solidFill>
          <a:ln w="12700">
            <a:solidFill>
              <a:srgbClr val="10B981"/>
            </a:solidFill>
            <a:prstDash val="solid"/>
          </a:ln>
        </p:spPr>
      </p:sp>
      <p:sp>
        <p:nvSpPr>
          <p:cNvPr id="11" name="Text 9"/>
          <p:cNvSpPr/>
          <p:nvPr/>
        </p:nvSpPr>
        <p:spPr>
          <a:xfrm>
            <a:off x="640080" y="3383280"/>
            <a:ext cx="7863840" cy="411480"/>
          </a:xfrm>
          <a:prstGeom prst="rect">
            <a:avLst/>
          </a:prstGeom>
          <a:noFill/>
          <a:ln/>
        </p:spPr>
        <p:txBody>
          <a:bodyPr wrap="square" rtlCol="0" anchor="ctr"/>
          <a:lstStyle/>
          <a:p>
            <a:pPr indent="0" marL="0">
              <a:buNone/>
            </a:pPr>
            <a:r>
              <a:rPr lang="en-US" sz="1400" dirty="0">
                <a:solidFill>
                  <a:srgbClr val="FFFFFF"/>
                </a:solidFill>
              </a:rPr>
              <a:t>D) Any National Weather Service office within 200 miles</a:t>
            </a:r>
            <a:endParaRPr lang="en-US" sz="1400" dirty="0"/>
          </a:p>
        </p:txBody>
      </p:sp>
      <p:sp>
        <p:nvSpPr>
          <p:cNvPr id="12" name="Text 10"/>
          <p:cNvSpPr/>
          <p:nvPr/>
        </p:nvSpPr>
        <p:spPr>
          <a:xfrm>
            <a:off x="457200" y="4069080"/>
            <a:ext cx="8229600" cy="320040"/>
          </a:xfrm>
          <a:prstGeom prst="rect">
            <a:avLst/>
          </a:prstGeom>
          <a:noFill/>
          <a:ln/>
        </p:spPr>
        <p:txBody>
          <a:bodyPr wrap="square" rtlCol="0" anchor="ctr"/>
          <a:lstStyle/>
          <a:p>
            <a:pPr indent="0" marL="0">
              <a:buNone/>
            </a:pPr>
            <a:r>
              <a:rPr lang="en-US" sz="1100" i="1" dirty="0">
                <a:solidFill>
                  <a:srgbClr val="6EE7B7"/>
                </a:solidFill>
              </a:rPr>
              <a:t>Answer: C — SAME (Specific Area Message Encoding) lets you program the radio to respond only to alerts for your FIPS county code. This prevents middle-of-the-night alerts for counties far away from you.</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7</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Cell Phones — Cellular, Airplane Mode, GPS, Emergencies &amp; Wireless Charging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7a — Cellular vs. Broadcast vs. Amateur Radio</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Cellular</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Two-way, digital, private</a:t>
            </a:r>
            <a:endParaRPr lang="en-US" sz="1300" dirty="0"/>
          </a:p>
          <a:p>
            <a:pPr marL="190500" indent="-190500">
              <a:buSzPct val="100000"/>
              <a:buChar char="•"/>
            </a:pPr>
            <a:r>
              <a:rPr lang="en-US" sz="1300" dirty="0">
                <a:solidFill>
                  <a:srgbClr val="334155"/>
                </a:solidFill>
              </a:rPr>
              <a:t>User needs NO license (carrier is licensed)</a:t>
            </a:r>
            <a:endParaRPr lang="en-US" sz="1300" dirty="0"/>
          </a:p>
          <a:p>
            <a:pPr marL="190500" indent="-190500">
              <a:buSzPct val="100000"/>
              <a:buChar char="•"/>
            </a:pPr>
            <a:r>
              <a:rPr lang="en-US" sz="1300" dirty="0">
                <a:solidFill>
                  <a:srgbClr val="334155"/>
                </a:solidFill>
              </a:rPr>
              <a:t>Requires towers, backhaul, billing — fails without infrastructure</a:t>
            </a:r>
            <a:endParaRPr lang="en-US" sz="1300" dirty="0"/>
          </a:p>
          <a:p>
            <a:pPr marL="190500" indent="-190500">
              <a:buSzPct val="100000"/>
              <a:buChar char="•"/>
            </a:pPr>
            <a:r>
              <a:rPr lang="en-US" sz="1300" dirty="0">
                <a:solidFill>
                  <a:srgbClr val="334155"/>
                </a:solidFill>
              </a:rPr>
              <a:t>Coverage depends on tower proximity</a:t>
            </a:r>
            <a:endParaRPr lang="en-US" sz="1300" dirty="0"/>
          </a:p>
          <a:p>
            <a:pPr marL="190500" indent="-190500">
              <a:buSzPct val="100000"/>
              <a:buChar char="•"/>
            </a:pPr>
            <a:r>
              <a:rPr lang="en-US" sz="1300" dirty="0">
                <a:solidFill>
                  <a:srgbClr val="334155"/>
                </a:solidFill>
              </a:rPr>
              <a:t>Monthly subscription cost</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Broadcast vs. Amateur</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Broadcast: one-way only, licensed transmitters, free to receive, entertainment/news</a:t>
            </a:r>
            <a:endParaRPr lang="en-US" sz="1300" dirty="0"/>
          </a:p>
          <a:p>
            <a:pPr marL="190500" indent="-190500">
              <a:buSzPct val="100000"/>
              <a:buChar char="•"/>
            </a:pPr>
            <a:r>
              <a:rPr lang="en-US" sz="1300" dirty="0">
                <a:solidFill>
                  <a:srgbClr val="334155"/>
                </a:solidFill>
              </a:rPr>
              <a:t>Amateur: two-way, requires FCC license to transmit, non-commercial, self-funded</a:t>
            </a:r>
            <a:endParaRPr lang="en-US" sz="1300" dirty="0"/>
          </a:p>
          <a:p>
            <a:pPr marL="190500" indent="-190500">
              <a:buSzPct val="100000"/>
              <a:buChar char="•"/>
            </a:pPr>
            <a:r>
              <a:rPr lang="en-US" sz="1300" dirty="0">
                <a:solidFill>
                  <a:srgbClr val="334155"/>
                </a:solidFill>
              </a:rPr>
              <a:t>Amateur can operate with NO infrastructure — simplex, global HF</a:t>
            </a:r>
            <a:endParaRPr lang="en-US" sz="1300" dirty="0"/>
          </a:p>
          <a:p>
            <a:pPr marL="190500" indent="-190500">
              <a:buSzPct val="100000"/>
              <a:buChar char="•"/>
            </a:pPr>
            <a:r>
              <a:rPr lang="en-US" sz="1300" dirty="0">
                <a:solidFill>
                  <a:srgbClr val="334155"/>
                </a:solidFill>
              </a:rPr>
              <a:t>Amateur: experimentation, emergency comms, worldwide contacts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7b &amp; 7c — Airplane Mode and Time/Location</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4114800" cy="320040"/>
          </a:xfrm>
          <a:prstGeom prst="rect">
            <a:avLst/>
          </a:prstGeom>
          <a:noFill/>
          <a:ln/>
        </p:spPr>
        <p:txBody>
          <a:bodyPr wrap="square" rtlCol="0" anchor="ctr"/>
          <a:lstStyle/>
          <a:p>
            <a:pPr indent="0" marL="0">
              <a:buNone/>
            </a:pPr>
            <a:r>
              <a:rPr lang="en-US" sz="1300" b="1" dirty="0">
                <a:solidFill>
                  <a:srgbClr val="065F46"/>
                </a:solidFill>
              </a:rPr>
              <a:t>Airplane Mode — What It Does and Why</a:t>
            </a:r>
            <a:endParaRPr lang="en-US" sz="1300" dirty="0"/>
          </a:p>
        </p:txBody>
      </p:sp>
      <p:sp>
        <p:nvSpPr>
          <p:cNvPr id="5" name="Text 3"/>
          <p:cNvSpPr/>
          <p:nvPr/>
        </p:nvSpPr>
        <p:spPr>
          <a:xfrm>
            <a:off x="411480"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Disables ALL wireless transmitters: cellular, Wi-Fi, Bluetooth, NFC</a:t>
            </a:r>
            <a:endParaRPr lang="en-US" sz="1300" dirty="0"/>
          </a:p>
          <a:p>
            <a:pPr marL="190500" indent="-190500">
              <a:buSzPct val="100000"/>
              <a:buChar char="•"/>
            </a:pPr>
            <a:r>
              <a:rPr lang="en-US" sz="1300" dirty="0">
                <a:solidFill>
                  <a:srgbClr val="334155"/>
                </a:solidFill>
              </a:rPr>
              <a:t>Can selectively re-enable Wi-Fi or BT after enabling Airplane Mode</a:t>
            </a:r>
            <a:endParaRPr lang="en-US" sz="1300" dirty="0"/>
          </a:p>
          <a:p>
            <a:pPr marL="190500" indent="-190500">
              <a:buSzPct val="100000"/>
              <a:buChar char="•"/>
            </a:pPr>
            <a:r>
              <a:rPr lang="en-US" sz="1300" dirty="0">
                <a:solidFill>
                  <a:srgbClr val="334155"/>
                </a:solidFill>
              </a:rPr>
              <a:t>Why: avionics use sensitive RF receivers — cell phone TX bursts could cause interference, especially on older aircraft</a:t>
            </a:r>
            <a:endParaRPr lang="en-US" sz="1300" dirty="0"/>
          </a:p>
          <a:p>
            <a:pPr marL="190500" indent="-190500">
              <a:buSzPct val="100000"/>
              <a:buChar char="•"/>
            </a:pPr>
            <a:r>
              <a:rPr lang="en-US" sz="1300" dirty="0">
                <a:solidFill>
                  <a:srgbClr val="334155"/>
                </a:solidFill>
              </a:rPr>
              <a:t>Cell phone in weak signal → increases TX power → more RF emissions</a:t>
            </a:r>
            <a:endParaRPr lang="en-US" sz="1300" dirty="0"/>
          </a:p>
          <a:p>
            <a:pPr marL="190500" indent="-190500">
              <a:buSzPct val="100000"/>
              <a:buChar char="•"/>
            </a:pPr>
            <a:r>
              <a:rPr lang="en-US" sz="1300" dirty="0">
                <a:solidFill>
                  <a:srgbClr val="334155"/>
                </a:solidFill>
              </a:rPr>
              <a:t>FAA allows Wi-Fi at cruise altitude; cellular calling still restricted on US flights</a:t>
            </a:r>
            <a:endParaRPr lang="en-US" sz="1300" dirty="0"/>
          </a:p>
          <a:p>
            <a:pPr marL="190500" indent="-190500">
              <a:buSzPct val="100000"/>
              <a:buChar char="•"/>
            </a:pPr>
            <a:r>
              <a:rPr lang="en-US" sz="1300" dirty="0">
                <a:solidFill>
                  <a:srgbClr val="334155"/>
                </a:solidFill>
              </a:rPr>
              <a:t>Also useful: save battery, reduce distractions, avoid roaming charges abroad</a:t>
            </a:r>
            <a:endParaRPr lang="en-US" sz="1300" dirty="0"/>
          </a:p>
        </p:txBody>
      </p:sp>
      <p:sp>
        <p:nvSpPr>
          <p:cNvPr id="6" name="Shape 4"/>
          <p:cNvSpPr/>
          <p:nvPr/>
        </p:nvSpPr>
        <p:spPr>
          <a:xfrm>
            <a:off x="4526280" y="960120"/>
            <a:ext cx="27432" cy="3291840"/>
          </a:xfrm>
          <a:prstGeom prst="rect">
            <a:avLst/>
          </a:prstGeom>
          <a:solidFill>
            <a:srgbClr val="E2E8F0"/>
          </a:solidFill>
          <a:ln/>
        </p:spPr>
      </p:sp>
      <p:sp>
        <p:nvSpPr>
          <p:cNvPr id="7" name="Text 5"/>
          <p:cNvSpPr/>
          <p:nvPr/>
        </p:nvSpPr>
        <p:spPr>
          <a:xfrm>
            <a:off x="4645152" y="960120"/>
            <a:ext cx="4114800" cy="320040"/>
          </a:xfrm>
          <a:prstGeom prst="rect">
            <a:avLst/>
          </a:prstGeom>
          <a:noFill/>
          <a:ln/>
        </p:spPr>
        <p:txBody>
          <a:bodyPr wrap="square" rtlCol="0" anchor="ctr"/>
          <a:lstStyle/>
          <a:p>
            <a:pPr indent="0" marL="0">
              <a:buNone/>
            </a:pPr>
            <a:r>
              <a:rPr lang="en-US" sz="1300" b="1" dirty="0">
                <a:solidFill>
                  <a:srgbClr val="065F46"/>
                </a:solidFill>
              </a:rPr>
              <a:t>Time and Location via GPS</a:t>
            </a:r>
            <a:endParaRPr lang="en-US" sz="1300" dirty="0"/>
          </a:p>
        </p:txBody>
      </p:sp>
      <p:sp>
        <p:nvSpPr>
          <p:cNvPr id="8" name="Text 6"/>
          <p:cNvSpPr/>
          <p:nvPr/>
        </p:nvSpPr>
        <p:spPr>
          <a:xfrm>
            <a:off x="4645152" y="1325880"/>
            <a:ext cx="4023360" cy="2926080"/>
          </a:xfrm>
          <a:prstGeom prst="rect">
            <a:avLst/>
          </a:prstGeom>
          <a:noFill/>
          <a:ln/>
        </p:spPr>
        <p:txBody>
          <a:bodyPr wrap="square" rtlCol="0" anchor="t"/>
          <a:lstStyle/>
          <a:p>
            <a:pPr marL="190500" indent="-190500">
              <a:buSzPct val="100000"/>
              <a:buChar char="•"/>
            </a:pPr>
            <a:r>
              <a:rPr lang="en-US" sz="1300" dirty="0">
                <a:solidFill>
                  <a:srgbClr val="334155"/>
                </a:solidFill>
              </a:rPr>
              <a:t>Time sync: phone receives precise time from cellular network (NTP → GPS atomic clocks) — accurate to microseconds</a:t>
            </a:r>
            <a:endParaRPr lang="en-US" sz="1300" dirty="0"/>
          </a:p>
          <a:p>
            <a:pPr marL="190500" indent="-190500">
              <a:buSzPct val="100000"/>
              <a:buChar char="•"/>
            </a:pPr>
            <a:r>
              <a:rPr lang="en-US" sz="1300" dirty="0">
                <a:solidFill>
                  <a:srgbClr val="334155"/>
                </a:solidFill>
              </a:rPr>
              <a:t>GPS location: signals from 24+ satellites at 20,200 km altitude</a:t>
            </a:r>
            <a:endParaRPr lang="en-US" sz="1300" dirty="0"/>
          </a:p>
          <a:p>
            <a:pPr marL="190500" indent="-190500">
              <a:buSzPct val="100000"/>
              <a:buChar char="•"/>
            </a:pPr>
            <a:r>
              <a:rPr lang="en-US" sz="1300" dirty="0">
                <a:solidFill>
                  <a:srgbClr val="334155"/>
                </a:solidFill>
              </a:rPr>
              <a:t>Each satellite broadcasts its position and exact time; phone measures travel time from each</a:t>
            </a:r>
            <a:endParaRPr lang="en-US" sz="1300" dirty="0"/>
          </a:p>
          <a:p>
            <a:pPr marL="190500" indent="-190500">
              <a:buSzPct val="100000"/>
              <a:buChar char="•"/>
            </a:pPr>
            <a:r>
              <a:rPr lang="en-US" sz="1300" dirty="0">
                <a:solidFill>
                  <a:srgbClr val="334155"/>
                </a:solidFill>
              </a:rPr>
              <a:t>Need signals from 4+ satellites for 3D position (lat, lon, elevation)</a:t>
            </a:r>
            <a:endParaRPr lang="en-US" sz="1300" dirty="0"/>
          </a:p>
          <a:p>
            <a:pPr marL="190500" indent="-190500">
              <a:buSzPct val="100000"/>
              <a:buChar char="•"/>
            </a:pPr>
            <a:r>
              <a:rPr lang="en-US" sz="1300" dirty="0">
                <a:solidFill>
                  <a:srgbClr val="334155"/>
                </a:solidFill>
              </a:rPr>
              <a:t>Elevation accuracy: typically ±30 ft, less accurate than horizontal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7d &amp; 7e — Cell Phones in Emergencies &amp; Wireless Charging</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EMERGENCY BENEFITS: widespread coverage in populated areas · call 911 with any phone, even without a SIM · texts get through when voice calls fail · iPhone 14+ and some Android: satellite SOS with no cell coverage · WEA (Wireless Emergency Alerts) push to all phones in a cell area</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EMERGENCY LIMITATIONS: towers need power → batteries last 8–24 hrs → towers overload in disasters → no coverage in rural/remote areas. This is why ARES/RACES amateur radio operators staff EOCs.</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WIRELESS CHARGING (Req 7e): Inductive coupling — the charging pad coil carries AC → creates changing magnetic field → phone coil captures energy → converts back to DC. Standard: Qi (Wireless Power Consortium). MagSafe adds magnets for precise coil alignment at higher rates. Efficiency: ~80–85% vs. ~95% for wired.</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indent="0" marL="0">
              <a:buNone/>
            </a:pPr>
            <a:r>
              <a:rPr lang="en-US" sz="1100" b="1" spc="200" kern="0" dirty="0">
                <a:solidFill>
                  <a:srgbClr val="6EE7B7"/>
                </a:solidFill>
              </a:rPr>
              <a:t>Quick Check</a:t>
            </a:r>
            <a:endParaRPr lang="en-US" sz="1100" dirty="0"/>
          </a:p>
        </p:txBody>
      </p:sp>
      <p:sp>
        <p:nvSpPr>
          <p:cNvPr id="3" name="Text 1"/>
          <p:cNvSpPr/>
          <p:nvPr/>
        </p:nvSpPr>
        <p:spPr>
          <a:xfrm>
            <a:off x="457200" y="640080"/>
            <a:ext cx="8229600" cy="731520"/>
          </a:xfrm>
          <a:prstGeom prst="rect">
            <a:avLst/>
          </a:prstGeom>
          <a:noFill/>
          <a:ln/>
        </p:spPr>
        <p:txBody>
          <a:bodyPr wrap="square" rtlCol="0" anchor="ctr"/>
          <a:lstStyle/>
          <a:p>
            <a:pPr indent="0" marL="0">
              <a:buNone/>
            </a:pPr>
            <a:r>
              <a:rPr lang="en-US" sz="2000" b="1" dirty="0">
                <a:solidFill>
                  <a:srgbClr val="FFFFFF"/>
                </a:solidFill>
              </a:rPr>
              <a:t>Why do cell phone towers often fail after a major hurricane?</a:t>
            </a:r>
            <a:endParaRPr lang="en-US" sz="2000" dirty="0"/>
          </a:p>
        </p:txBody>
      </p:sp>
      <p:sp>
        <p:nvSpPr>
          <p:cNvPr id="4" name="Shape 2"/>
          <p:cNvSpPr/>
          <p:nvPr/>
        </p:nvSpPr>
        <p:spPr>
          <a:xfrm>
            <a:off x="457200" y="1554480"/>
            <a:ext cx="8229600" cy="502920"/>
          </a:xfrm>
          <a:prstGeom prst="rect">
            <a:avLst/>
          </a:prstGeom>
          <a:solidFill>
            <a:srgbClr val="0F172A"/>
          </a:solidFill>
          <a:ln w="12700">
            <a:solidFill>
              <a:srgbClr val="10B981"/>
            </a:solidFill>
            <a:prstDash val="solid"/>
          </a:ln>
        </p:spPr>
      </p:sp>
      <p:sp>
        <p:nvSpPr>
          <p:cNvPr id="5" name="Text 3"/>
          <p:cNvSpPr/>
          <p:nvPr/>
        </p:nvSpPr>
        <p:spPr>
          <a:xfrm>
            <a:off x="640080" y="1600200"/>
            <a:ext cx="7863840" cy="411480"/>
          </a:xfrm>
          <a:prstGeom prst="rect">
            <a:avLst/>
          </a:prstGeom>
          <a:noFill/>
          <a:ln/>
        </p:spPr>
        <p:txBody>
          <a:bodyPr wrap="square" rtlCol="0" anchor="ctr"/>
          <a:lstStyle/>
          <a:p>
            <a:pPr indent="0" marL="0">
              <a:buNone/>
            </a:pPr>
            <a:r>
              <a:rPr lang="en-US" sz="1400" dirty="0">
                <a:solidFill>
                  <a:srgbClr val="FFFFFF"/>
                </a:solidFill>
              </a:rPr>
              <a:t>A) Hurricanes only damage broadcast towers, not cellular towers</a:t>
            </a:r>
            <a:endParaRPr lang="en-US" sz="1400" dirty="0"/>
          </a:p>
        </p:txBody>
      </p:sp>
      <p:sp>
        <p:nvSpPr>
          <p:cNvPr id="6" name="Shape 4"/>
          <p:cNvSpPr/>
          <p:nvPr/>
        </p:nvSpPr>
        <p:spPr>
          <a:xfrm>
            <a:off x="457200" y="2148840"/>
            <a:ext cx="8229600" cy="502920"/>
          </a:xfrm>
          <a:prstGeom prst="rect">
            <a:avLst/>
          </a:prstGeom>
          <a:solidFill>
            <a:srgbClr val="0F172A"/>
          </a:solidFill>
          <a:ln w="12700">
            <a:solidFill>
              <a:srgbClr val="10B981"/>
            </a:solidFill>
            <a:prstDash val="solid"/>
          </a:ln>
        </p:spPr>
      </p:sp>
      <p:sp>
        <p:nvSpPr>
          <p:cNvPr id="7" name="Text 5"/>
          <p:cNvSpPr/>
          <p:nvPr/>
        </p:nvSpPr>
        <p:spPr>
          <a:xfrm>
            <a:off x="640080" y="2194560"/>
            <a:ext cx="7863840" cy="411480"/>
          </a:xfrm>
          <a:prstGeom prst="rect">
            <a:avLst/>
          </a:prstGeom>
          <a:noFill/>
          <a:ln/>
        </p:spPr>
        <p:txBody>
          <a:bodyPr wrap="square" rtlCol="0" anchor="ctr"/>
          <a:lstStyle/>
          <a:p>
            <a:pPr indent="0" marL="0">
              <a:buNone/>
            </a:pPr>
            <a:r>
              <a:rPr lang="en-US" sz="1400" dirty="0">
                <a:solidFill>
                  <a:srgbClr val="FFFFFF"/>
                </a:solidFill>
              </a:rPr>
              <a:t>B) Cell towers are small and easy to knock over with wind</a:t>
            </a:r>
            <a:endParaRPr lang="en-US" sz="1400" dirty="0"/>
          </a:p>
        </p:txBody>
      </p:sp>
      <p:sp>
        <p:nvSpPr>
          <p:cNvPr id="8" name="Shape 6"/>
          <p:cNvSpPr/>
          <p:nvPr/>
        </p:nvSpPr>
        <p:spPr>
          <a:xfrm>
            <a:off x="457200" y="2743200"/>
            <a:ext cx="8229600" cy="502920"/>
          </a:xfrm>
          <a:prstGeom prst="rect">
            <a:avLst/>
          </a:prstGeom>
          <a:solidFill>
            <a:srgbClr val="0F172A"/>
          </a:solidFill>
          <a:ln w="12700">
            <a:solidFill>
              <a:srgbClr val="10B981"/>
            </a:solidFill>
            <a:prstDash val="solid"/>
          </a:ln>
        </p:spPr>
      </p:sp>
      <p:sp>
        <p:nvSpPr>
          <p:cNvPr id="9" name="Text 7"/>
          <p:cNvSpPr/>
          <p:nvPr/>
        </p:nvSpPr>
        <p:spPr>
          <a:xfrm>
            <a:off x="640080" y="2788920"/>
            <a:ext cx="7863840" cy="411480"/>
          </a:xfrm>
          <a:prstGeom prst="rect">
            <a:avLst/>
          </a:prstGeom>
          <a:noFill/>
          <a:ln/>
        </p:spPr>
        <p:txBody>
          <a:bodyPr wrap="square" rtlCol="0" anchor="ctr"/>
          <a:lstStyle/>
          <a:p>
            <a:pPr indent="0" marL="0">
              <a:buNone/>
            </a:pPr>
            <a:r>
              <a:rPr lang="en-US" sz="1400" dirty="0">
                <a:solidFill>
                  <a:srgbClr val="FFFFFF"/>
                </a:solidFill>
              </a:rPr>
              <a:t>C) Towers need grid power; when the grid fails, backup batteries last only 8–24 hours</a:t>
            </a:r>
            <a:endParaRPr lang="en-US" sz="1400" dirty="0"/>
          </a:p>
        </p:txBody>
      </p:sp>
      <p:sp>
        <p:nvSpPr>
          <p:cNvPr id="10" name="Shape 8"/>
          <p:cNvSpPr/>
          <p:nvPr/>
        </p:nvSpPr>
        <p:spPr>
          <a:xfrm>
            <a:off x="457200" y="3337560"/>
            <a:ext cx="8229600" cy="502920"/>
          </a:xfrm>
          <a:prstGeom prst="rect">
            <a:avLst/>
          </a:prstGeom>
          <a:solidFill>
            <a:srgbClr val="0F172A"/>
          </a:solidFill>
          <a:ln w="12700">
            <a:solidFill>
              <a:srgbClr val="10B981"/>
            </a:solidFill>
            <a:prstDash val="solid"/>
          </a:ln>
        </p:spPr>
      </p:sp>
      <p:sp>
        <p:nvSpPr>
          <p:cNvPr id="11" name="Text 9"/>
          <p:cNvSpPr/>
          <p:nvPr/>
        </p:nvSpPr>
        <p:spPr>
          <a:xfrm>
            <a:off x="640080" y="3383280"/>
            <a:ext cx="7863840" cy="411480"/>
          </a:xfrm>
          <a:prstGeom prst="rect">
            <a:avLst/>
          </a:prstGeom>
          <a:noFill/>
          <a:ln/>
        </p:spPr>
        <p:txBody>
          <a:bodyPr wrap="square" rtlCol="0" anchor="ctr"/>
          <a:lstStyle/>
          <a:p>
            <a:pPr indent="0" marL="0">
              <a:buNone/>
            </a:pPr>
            <a:r>
              <a:rPr lang="en-US" sz="1400" dirty="0">
                <a:solidFill>
                  <a:srgbClr val="FFFFFF"/>
                </a:solidFill>
              </a:rPr>
              <a:t>D) The FCC shuts down towers during hurricanes to prevent interference</a:t>
            </a:r>
            <a:endParaRPr lang="en-US" sz="1400" dirty="0"/>
          </a:p>
        </p:txBody>
      </p:sp>
      <p:sp>
        <p:nvSpPr>
          <p:cNvPr id="12" name="Text 10"/>
          <p:cNvSpPr/>
          <p:nvPr/>
        </p:nvSpPr>
        <p:spPr>
          <a:xfrm>
            <a:off x="457200" y="4069080"/>
            <a:ext cx="8229600" cy="320040"/>
          </a:xfrm>
          <a:prstGeom prst="rect">
            <a:avLst/>
          </a:prstGeom>
          <a:noFill/>
          <a:ln/>
        </p:spPr>
        <p:txBody>
          <a:bodyPr wrap="square" rtlCol="0" anchor="ctr"/>
          <a:lstStyle/>
          <a:p>
            <a:pPr indent="0" marL="0">
              <a:buNone/>
            </a:pPr>
            <a:r>
              <a:rPr lang="en-US" sz="1100" i="1" dirty="0">
                <a:solidFill>
                  <a:srgbClr val="6EE7B7"/>
                </a:solidFill>
              </a:rPr>
              <a:t>Answer: C — Cell towers run on backup batteries or generators when grid power fails. Most batteries only last 8–24 hours. When fuel runs out or generators fail, the towers go dark — exactly when people need communications most.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8-A(6)</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On-Air Digital Contact — FT8</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About FT8 — The Most Popular Digital Mode</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Created by Joe Taylor (K1JT) and Steve Franke (K9AN) in 2017</a:t>
            </a:r>
            <a:endParaRPr lang="en-US" sz="1500" dirty="0"/>
          </a:p>
          <a:p>
            <a:pPr marL="190500" indent="-190500">
              <a:buSzPct val="100000"/>
              <a:buChar char="•"/>
            </a:pPr>
            <a:r>
              <a:rPr lang="en-US" sz="1500" dirty="0">
                <a:solidFill>
                  <a:srgbClr val="334155"/>
                </a:solidFill>
              </a:rPr>
              <a:t>Each transmission is EXACTLY 15 seconds — synchronized to GPS/internet time</a:t>
            </a:r>
            <a:endParaRPr lang="en-US" sz="1500" dirty="0"/>
          </a:p>
          <a:p>
            <a:pPr marL="190500" indent="-190500">
              <a:buSzPct val="100000"/>
              <a:buChar char="•"/>
            </a:pPr>
            <a:r>
              <a:rPr lang="en-US" sz="1500" dirty="0">
                <a:solidFill>
                  <a:srgbClr val="334155"/>
                </a:solidFill>
              </a:rPr>
              <a:t>Each message is 77 bits encoded as a 79-symbol sequence using Gaussian FSK</a:t>
            </a:r>
            <a:endParaRPr lang="en-US" sz="1500" dirty="0"/>
          </a:p>
          <a:p>
            <a:pPr marL="190500" indent="-190500">
              <a:buSzPct val="100000"/>
              <a:buChar char="•"/>
            </a:pPr>
            <a:r>
              <a:rPr lang="en-US" sz="1500" dirty="0">
                <a:solidFill>
                  <a:srgbClr val="334155"/>
                </a:solidFill>
              </a:rPr>
              <a:t>Software (WSJT-X) decodes signals 20 dB below the noise floor — below what human ears can hear</a:t>
            </a:r>
            <a:endParaRPr lang="en-US" sz="1500" dirty="0"/>
          </a:p>
          <a:p>
            <a:pPr marL="190500" indent="-190500">
              <a:buSzPct val="100000"/>
              <a:buChar char="•"/>
            </a:pPr>
            <a:r>
              <a:rPr lang="en-US" sz="1500" dirty="0">
                <a:solidFill>
                  <a:srgbClr val="334155"/>
                </a:solidFill>
              </a:rPr>
              <a:t>5 W of power can make contacts across oceans — impossible with voice at the same power level</a:t>
            </a:r>
            <a:endParaRPr lang="en-US" sz="1500" dirty="0"/>
          </a:p>
          <a:p>
            <a:pPr marL="190500" indent="-190500">
              <a:buSzPct val="100000"/>
              <a:buChar char="•"/>
            </a:pPr>
            <a:r>
              <a:rPr lang="en-US" sz="1500" dirty="0">
                <a:solidFill>
                  <a:srgbClr val="334155"/>
                </a:solidFill>
              </a:rPr>
              <a:t>Most popular HF digital mode; on 20m (14.074 MHz) there are hundreds of stations on at any given moment</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The tradeoff: FT8 is automated and very brief — you can't have a conversation. It proves a contact was made, but it's not a conversation mode like voice or CW.</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FT8 Contact Procedure at the Club Station</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1. Open WSJT-X — confirm your callsign, grid square (EL87), and radio connection</a:t>
            </a:r>
            <a:endParaRPr lang="en-US" sz="1500" dirty="0"/>
          </a:p>
          <a:p>
            <a:pPr marL="190500" indent="-190500">
              <a:buSzPct val="100000"/>
              <a:buChar char="•"/>
            </a:pPr>
            <a:r>
              <a:rPr lang="en-US" sz="1500" dirty="0">
                <a:solidFill>
                  <a:srgbClr val="334155"/>
                </a:solidFill>
              </a:rPr>
              <a:t>2. Set to 20m FT8 frequency: 14.074 MHz USB</a:t>
            </a:r>
            <a:endParaRPr lang="en-US" sz="1500" dirty="0"/>
          </a:p>
          <a:p>
            <a:pPr marL="190500" indent="-190500">
              <a:buSzPct val="100000"/>
              <a:buChar char="•"/>
            </a:pPr>
            <a:r>
              <a:rPr lang="en-US" sz="1500" dirty="0">
                <a:solidFill>
                  <a:srgbClr val="334155"/>
                </a:solidFill>
              </a:rPr>
              <a:t>3. Watch the DECODE pane — you will see many stations decoded in each 15-second window</a:t>
            </a:r>
            <a:endParaRPr lang="en-US" sz="1500" dirty="0"/>
          </a:p>
          <a:p>
            <a:pPr marL="190500" indent="-190500">
              <a:buSzPct val="100000"/>
              <a:buChar char="•"/>
            </a:pPr>
            <a:r>
              <a:rPr lang="en-US" sz="1500" dirty="0">
                <a:solidFill>
                  <a:srgbClr val="334155"/>
                </a:solidFill>
              </a:rPr>
              <a:t>4. Find a station calling CQ — double-click their line to begin the exchange</a:t>
            </a:r>
            <a:endParaRPr lang="en-US" sz="1500" dirty="0"/>
          </a:p>
          <a:p>
            <a:pPr marL="190500" indent="-190500">
              <a:buSzPct val="100000"/>
              <a:buChar char="•"/>
            </a:pPr>
            <a:r>
              <a:rPr lang="en-US" sz="1500" dirty="0">
                <a:solidFill>
                  <a:srgbClr val="334155"/>
                </a:solidFill>
              </a:rPr>
              <a:t>5. WSJT-X sends your response automatically in the next TX slot</a:t>
            </a:r>
            <a:endParaRPr lang="en-US" sz="1500" dirty="0"/>
          </a:p>
          <a:p>
            <a:pPr marL="190500" indent="-190500">
              <a:buSzPct val="100000"/>
              <a:buChar char="•"/>
            </a:pPr>
            <a:r>
              <a:rPr lang="en-US" sz="1500" dirty="0">
                <a:solidFill>
                  <a:srgbClr val="334155"/>
                </a:solidFill>
              </a:rPr>
              <a:t>6. The exchange takes 4–6 transmissions (1–2 minutes) — watch each message appear</a:t>
            </a:r>
            <a:endParaRPr lang="en-US" sz="1500" dirty="0"/>
          </a:p>
          <a:p>
            <a:pPr marL="190500" indent="-190500">
              <a:buSzPct val="100000"/>
              <a:buChar char="•"/>
            </a:pPr>
            <a:r>
              <a:rPr lang="en-US" sz="1500" dirty="0">
                <a:solidFill>
                  <a:srgbClr val="334155"/>
                </a:solidFill>
              </a:rPr>
              <a:t>7. When you see "73" confirmed, the contact is complete — WSJT-X logs it automatically</a:t>
            </a:r>
            <a:endParaRPr lang="en-US" sz="1500" dirty="0"/>
          </a:p>
          <a:p>
            <a:pPr marL="190500" indent="-190500">
              <a:buSzPct val="100000"/>
              <a:buChar char="•"/>
            </a:pPr>
            <a:r>
              <a:rPr lang="en-US" sz="1500" dirty="0">
                <a:solidFill>
                  <a:srgbClr val="334155"/>
                </a:solidFill>
              </a:rPr>
              <a:t>8. Copy the log entry into your student pack contact log</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FT8 Message Sequence — What Each Line Means</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CQ W4GGJ EL87          → "Anyone listening? I'm W4GGJ in grid EL87."</a:t>
            </a:r>
            <a:endParaRPr lang="en-US" sz="1500" dirty="0"/>
          </a:p>
          <a:p>
            <a:pPr marL="190500" indent="-190500">
              <a:buSzPct val="100000"/>
              <a:buChar char="•"/>
            </a:pPr>
            <a:r>
              <a:rPr lang="en-US" sz="1500" dirty="0">
                <a:solidFill>
                  <a:srgbClr val="334155"/>
                </a:solidFill>
              </a:rPr>
              <a:t>W4GGJ KD9XYZ EM72      → "W4GGJ, I hear you. I'm KD9XYZ in grid EM72."</a:t>
            </a:r>
            <a:endParaRPr lang="en-US" sz="1500" dirty="0"/>
          </a:p>
          <a:p>
            <a:pPr marL="190500" indent="-190500">
              <a:buSzPct val="100000"/>
              <a:buChar char="•"/>
            </a:pPr>
            <a:r>
              <a:rPr lang="en-US" sz="1500" dirty="0">
                <a:solidFill>
                  <a:srgbClr val="334155"/>
                </a:solidFill>
              </a:rPr>
              <a:t>KD9XYZ W4GGJ -12       → "KD9XYZ, you're −12 dB. Here's my signal report."</a:t>
            </a:r>
            <a:endParaRPr lang="en-US" sz="1500" dirty="0"/>
          </a:p>
          <a:p>
            <a:pPr marL="190500" indent="-190500">
              <a:buSzPct val="100000"/>
              <a:buChar char="•"/>
            </a:pPr>
            <a:r>
              <a:rPr lang="en-US" sz="1500" dirty="0">
                <a:solidFill>
                  <a:srgbClr val="334155"/>
                </a:solidFill>
              </a:rPr>
              <a:t>W4GGJ KD9XYZ R-08      → "Roger — your report is −8 dB. Contact confirmed."</a:t>
            </a:r>
            <a:endParaRPr lang="en-US" sz="1500" dirty="0"/>
          </a:p>
          <a:p>
            <a:pPr marL="190500" indent="-190500">
              <a:buSzPct val="100000"/>
              <a:buChar char="•"/>
            </a:pPr>
            <a:r>
              <a:rPr lang="en-US" sz="1500" dirty="0">
                <a:solidFill>
                  <a:srgbClr val="334155"/>
                </a:solidFill>
              </a:rPr>
              <a:t>KD9XYZ W4GGJ RR73      → "Roger-roger, 73 — contact complete, goodbye."</a:t>
            </a:r>
            <a:endParaRPr lang="en-US" sz="1500" dirty="0"/>
          </a:p>
          <a:p>
            <a:pPr marL="190500" indent="-190500">
              <a:buSzPct val="100000"/>
              <a:buChar char="•"/>
            </a:pPr>
            <a:r>
              <a:rPr lang="en-US" sz="1500" dirty="0">
                <a:solidFill>
                  <a:srgbClr val="334155"/>
                </a:solidFill>
              </a:rPr>
              <a:t>W4GGJ KD9XYZ 73        → "73 — confirmed, done."</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The dB numbers are the SNR (signal-to-noise ratio): −12 means 12 dB below the noise floor. Perfectly normal for FT8. Voice would be impossible at this level.</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Requirement 9</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Career / Hobby Report-Out — Counselor Discussion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Req 9 — Your Discussion with the Counselor</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This is a CONVERSATION — not a paper, not a memorized report</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Option 9a — Career Research:</a:t>
            </a:r>
            <a:endParaRPr lang="en-US" sz="1500" dirty="0"/>
          </a:p>
          <a:p>
            <a:pPr marL="190500" indent="-190500">
              <a:buSzPct val="100000"/>
              <a:buChar char="•"/>
            </a:pPr>
            <a:r>
              <a:rPr lang="en-US" sz="1500" dirty="0">
                <a:solidFill>
                  <a:srgbClr val="334155"/>
                </a:solidFill>
              </a:rPr>
              <a:t>  Which career did you choose? What does the job involve day to day?</a:t>
            </a:r>
            <a:endParaRPr lang="en-US" sz="1500" dirty="0"/>
          </a:p>
          <a:p>
            <a:pPr marL="190500" indent="-190500">
              <a:buSzPct val="100000"/>
              <a:buChar char="•"/>
            </a:pPr>
            <a:r>
              <a:rPr lang="en-US" sz="1500" dirty="0">
                <a:solidFill>
                  <a:srgbClr val="334155"/>
                </a:solidFill>
              </a:rPr>
              <a:t>  What training and education are required? What are the costs?</a:t>
            </a:r>
            <a:endParaRPr lang="en-US" sz="1500" dirty="0"/>
          </a:p>
          <a:p>
            <a:pPr marL="190500" indent="-190500">
              <a:buSzPct val="100000"/>
              <a:buChar char="•"/>
            </a:pPr>
            <a:r>
              <a:rPr lang="en-US" sz="1500" dirty="0">
                <a:solidFill>
                  <a:srgbClr val="334155"/>
                </a:solidFill>
              </a:rPr>
              <a:t>  What are job prospects and salary ranges? Did this interest you?</a:t>
            </a:r>
            <a:endParaRPr lang="en-US" sz="1500" dirty="0"/>
          </a:p>
          <a:p>
            <a:pPr marL="190500" indent="-190500">
              <a:buSzPct val="100000"/>
              <a:buChar char="•"/>
            </a:pPr>
            <a:endParaRPr lang="en-US" sz="1500" dirty="0"/>
          </a:p>
          <a:p>
            <a:pPr marL="190500" indent="-190500">
              <a:buSzPct val="100000"/>
              <a:buChar char="•"/>
            </a:pPr>
            <a:r>
              <a:rPr lang="en-US" sz="1500" dirty="0">
                <a:solidFill>
                  <a:srgbClr val="334155"/>
                </a:solidFill>
              </a:rPr>
              <a:t>Option 9b — Ham Radio Hobby / Volunteer Path:</a:t>
            </a:r>
            <a:endParaRPr lang="en-US" sz="1500" dirty="0"/>
          </a:p>
          <a:p>
            <a:pPr marL="190500" indent="-190500">
              <a:buSzPct val="100000"/>
              <a:buChar char="•"/>
            </a:pPr>
            <a:r>
              <a:rPr lang="en-US" sz="1500" dirty="0">
                <a:solidFill>
                  <a:srgbClr val="334155"/>
                </a:solidFill>
              </a:rPr>
              <a:t>  What hobby or volunteer role did you research? (ARES? RACES? POTA? Contesting?)</a:t>
            </a:r>
            <a:endParaRPr lang="en-US" sz="1500" dirty="0"/>
          </a:p>
          <a:p>
            <a:pPr marL="190500" indent="-190500">
              <a:buSzPct val="100000"/>
              <a:buChar char="•"/>
            </a:pPr>
            <a:r>
              <a:rPr lang="en-US" sz="1500" dirty="0">
                <a:solidFill>
                  <a:srgbClr val="334155"/>
                </a:solidFill>
              </a:rPr>
              <a:t>  What license and training would you need?</a:t>
            </a:r>
            <a:endParaRPr lang="en-US" sz="1500" dirty="0"/>
          </a:p>
          <a:p>
            <a:pPr marL="190500" indent="-190500">
              <a:buSzPct val="100000"/>
              <a:buChar char="•"/>
            </a:pPr>
            <a:r>
              <a:rPr lang="en-US" sz="1500" dirty="0">
                <a:solidFill>
                  <a:srgbClr val="334155"/>
                </a:solidFill>
              </a:rPr>
              <a:t>  What are startup costs? What organizations support this?</a:t>
            </a:r>
            <a:endParaRPr lang="en-US" sz="1500" dirty="0"/>
          </a:p>
          <a:p>
            <a:pPr marL="190500" indent="-190500">
              <a:buSzPct val="100000"/>
              <a:buChar char="•"/>
            </a:pPr>
            <a:r>
              <a:rPr lang="en-US" sz="1500" dirty="0">
                <a:solidFill>
                  <a:srgbClr val="334155"/>
                </a:solidFill>
              </a:rPr>
              <a:t>  What are your short-term and long-term goals if you pursued it?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1920240"/>
            <a:ext cx="109728" cy="1371600"/>
          </a:xfrm>
          <a:prstGeom prst="rect">
            <a:avLst/>
          </a:prstGeom>
          <a:solidFill>
            <a:srgbClr val="10B981"/>
          </a:solidFill>
          <a:ln/>
        </p:spPr>
      </p:sp>
      <p:sp>
        <p:nvSpPr>
          <p:cNvPr id="3" name="Text 1"/>
          <p:cNvSpPr/>
          <p:nvPr/>
        </p:nvSpPr>
        <p:spPr>
          <a:xfrm>
            <a:off x="320040" y="1965960"/>
            <a:ext cx="8503920" cy="731520"/>
          </a:xfrm>
          <a:prstGeom prst="rect">
            <a:avLst/>
          </a:prstGeom>
          <a:noFill/>
          <a:ln/>
        </p:spPr>
        <p:txBody>
          <a:bodyPr wrap="square" rtlCol="0" anchor="ctr"/>
          <a:lstStyle/>
          <a:p>
            <a:pPr indent="0" marL="0">
              <a:buNone/>
            </a:pPr>
            <a:r>
              <a:rPr lang="en-US" sz="3000" b="1" dirty="0">
                <a:solidFill>
                  <a:srgbClr val="FFFFFF"/>
                </a:solidFill>
              </a:rPr>
              <a:t>Blue Card Sign-Off</a:t>
            </a:r>
            <a:endParaRPr lang="en-US" sz="3000" dirty="0"/>
          </a:p>
        </p:txBody>
      </p:sp>
      <p:sp>
        <p:nvSpPr>
          <p:cNvPr id="4" name="Text 2"/>
          <p:cNvSpPr/>
          <p:nvPr/>
        </p:nvSpPr>
        <p:spPr>
          <a:xfrm>
            <a:off x="320040" y="2743200"/>
            <a:ext cx="8503920" cy="457200"/>
          </a:xfrm>
          <a:prstGeom prst="rect">
            <a:avLst/>
          </a:prstGeom>
          <a:noFill/>
          <a:ln/>
        </p:spPr>
        <p:txBody>
          <a:bodyPr wrap="square" rtlCol="0" anchor="ctr"/>
          <a:lstStyle/>
          <a:p>
            <a:pPr indent="0" marL="0">
              <a:buNone/>
            </a:pPr>
            <a:r>
              <a:rPr lang="en-US" sz="1400" dirty="0">
                <a:solidFill>
                  <a:srgbClr val="6EE7B7"/>
                </a:solidFill>
              </a:rPr>
              <a:t>Final Review — All Nine Requirements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74320"/>
            <a:ext cx="8321040" cy="502920"/>
          </a:xfrm>
          <a:prstGeom prst="rect">
            <a:avLst/>
          </a:prstGeom>
          <a:noFill/>
          <a:ln/>
        </p:spPr>
        <p:txBody>
          <a:bodyPr wrap="square" rtlCol="0" anchor="ctr"/>
          <a:lstStyle/>
          <a:p>
            <a:pPr indent="0" marL="0">
              <a:buNone/>
            </a:pPr>
            <a:r>
              <a:rPr lang="en-US" sz="2200" b="1" dirty="0">
                <a:solidFill>
                  <a:srgbClr val="0F172A"/>
                </a:solidFill>
              </a:rPr>
              <a:t>Blue Card Checklist — Every Requirement</a:t>
            </a:r>
            <a:endParaRPr lang="en-US" sz="2200" dirty="0"/>
          </a:p>
        </p:txBody>
      </p:sp>
      <p:sp>
        <p:nvSpPr>
          <p:cNvPr id="3" name="Shape 1"/>
          <p:cNvSpPr/>
          <p:nvPr/>
        </p:nvSpPr>
        <p:spPr>
          <a:xfrm>
            <a:off x="411480" y="804672"/>
            <a:ext cx="8321040" cy="36576"/>
          </a:xfrm>
          <a:prstGeom prst="rect">
            <a:avLst/>
          </a:prstGeom>
          <a:solidFill>
            <a:srgbClr val="10B981"/>
          </a:solidFill>
          <a:ln/>
        </p:spPr>
      </p:sp>
      <p:sp>
        <p:nvSpPr>
          <p:cNvPr id="4" name="Text 2"/>
          <p:cNvSpPr/>
          <p:nvPr/>
        </p:nvSpPr>
        <p:spPr>
          <a:xfrm>
            <a:off x="411480" y="960120"/>
            <a:ext cx="8321040" cy="3429000"/>
          </a:xfrm>
          <a:prstGeom prst="rect">
            <a:avLst/>
          </a:prstGeom>
          <a:noFill/>
          <a:ln/>
        </p:spPr>
        <p:txBody>
          <a:bodyPr wrap="square" rtlCol="0" anchor="t"/>
          <a:lstStyle/>
          <a:p>
            <a:pPr marL="190500" indent="-190500">
              <a:buSzPct val="100000"/>
              <a:buChar char="•"/>
            </a:pPr>
            <a:r>
              <a:rPr lang="en-US" sz="1500" dirty="0">
                <a:solidFill>
                  <a:srgbClr val="334155"/>
                </a:solidFill>
              </a:rPr>
              <a:t>✓ Req 1: Grounding (DC/AC/antenna/lightning), electrical burns, Li-ion battery fires</a:t>
            </a:r>
            <a:endParaRPr lang="en-US" sz="1500" dirty="0"/>
          </a:p>
          <a:p>
            <a:pPr marL="190500" indent="-190500">
              <a:buSzPct val="100000"/>
              <a:buChar char="•"/>
            </a:pPr>
            <a:r>
              <a:rPr lang="en-US" sz="1500" dirty="0">
                <a:solidFill>
                  <a:srgbClr val="334155"/>
                </a:solidFill>
              </a:rPr>
              <a:t>✓ Req 2a: EM spectrum chart drawn; 5 bands labeled; 8 services located</a:t>
            </a:r>
            <a:endParaRPr lang="en-US" sz="1500" dirty="0"/>
          </a:p>
          <a:p>
            <a:pPr marL="190500" indent="-190500">
              <a:buSzPct val="100000"/>
              <a:buChar char="•"/>
            </a:pPr>
            <a:r>
              <a:rPr lang="en-US" sz="1500" dirty="0">
                <a:solidFill>
                  <a:srgbClr val="334155"/>
                </a:solidFill>
              </a:rPr>
              <a:t>✓ Req 2b: Definition of radio; broadcast vs. 2-way; commercial vs. hobby discussed</a:t>
            </a:r>
            <a:endParaRPr lang="en-US" sz="1500" dirty="0"/>
          </a:p>
          <a:p>
            <a:pPr marL="190500" indent="-190500">
              <a:buSzPct val="100000"/>
              <a:buChar char="•"/>
            </a:pPr>
            <a:r>
              <a:rPr lang="en-US" sz="1500" dirty="0">
                <a:solidFill>
                  <a:srgbClr val="334155"/>
                </a:solidFill>
              </a:rPr>
              <a:t>✓ Req 3a: Propagation sketch (ground wave, sky wave, line-of-sight)</a:t>
            </a:r>
            <a:endParaRPr lang="en-US" sz="1500" dirty="0"/>
          </a:p>
          <a:p>
            <a:pPr marL="190500" indent="-190500">
              <a:buSzPct val="100000"/>
              <a:buChar char="•"/>
            </a:pPr>
            <a:r>
              <a:rPr lang="en-US" sz="1500" dirty="0">
                <a:solidFill>
                  <a:srgbClr val="334155"/>
                </a:solidFill>
              </a:rPr>
              <a:t>✓ Req 3b: WWV/WWVH band condition use explained</a:t>
            </a:r>
            <a:endParaRPr lang="en-US" sz="1500" dirty="0"/>
          </a:p>
          <a:p>
            <a:pPr marL="190500" indent="-190500">
              <a:buSzPct val="100000"/>
              <a:buChar char="•"/>
            </a:pPr>
            <a:r>
              <a:rPr lang="en-US" sz="1500" dirty="0">
                <a:solidFill>
                  <a:srgbClr val="334155"/>
                </a:solidFill>
              </a:rPr>
              <a:t>✓ Req 3c: DX vs. local explained</a:t>
            </a:r>
            <a:endParaRPr lang="en-US" sz="1500" dirty="0"/>
          </a:p>
          <a:p>
            <a:pPr marL="190500" indent="-190500">
              <a:buSzPct val="100000"/>
              <a:buChar char="•"/>
            </a:pPr>
            <a:r>
              <a:rPr lang="en-US" sz="1500" dirty="0">
                <a:solidFill>
                  <a:srgbClr val="334155"/>
                </a:solidFill>
              </a:rPr>
              <a:t>✓ Req 4: CW/AM/FM/SSB/freq-hopping; digital standards; range; Wi-Fi vs. fiber</a:t>
            </a:r>
            <a:endParaRPr lang="en-US" sz="1500" dirty="0"/>
          </a:p>
          <a:p>
            <a:pPr marL="190500" indent="-190500">
              <a:buSzPct val="100000"/>
              <a:buChar char="•"/>
            </a:pPr>
            <a:r>
              <a:rPr lang="en-US" sz="1500" dirty="0">
                <a:solidFill>
                  <a:srgbClr val="334155"/>
                </a:solidFill>
              </a:rPr>
              <a:t>✓ Req 5a–e: Block vs. schematic; block diagram drawn; consumer devices; weather radio; RFID</a:t>
            </a:r>
            <a:endParaRPr lang="en-US" sz="1500" dirty="0"/>
          </a:p>
          <a:p>
            <a:pPr marL="190500" indent="-190500">
              <a:buSzPct val="100000"/>
              <a:buChar char="•"/>
            </a:pPr>
            <a:r>
              <a:rPr lang="en-US" sz="1500" dirty="0">
                <a:solidFill>
                  <a:srgbClr val="334155"/>
                </a:solidFill>
              </a:rPr>
              <a:t>✓ Req 6: FCC vs. ITU; call signs; phonetic alphabet</a:t>
            </a:r>
            <a:endParaRPr lang="en-US" sz="1500" dirty="0"/>
          </a:p>
          <a:p>
            <a:pPr marL="190500" indent="-190500">
              <a:buSzPct val="100000"/>
              <a:buChar char="•"/>
            </a:pPr>
            <a:r>
              <a:rPr lang="en-US" sz="1500" dirty="0">
                <a:solidFill>
                  <a:srgbClr val="334155"/>
                </a:solidFill>
              </a:rPr>
              <a:t>✓ Req 7a–e: Cellular; Airplane Mode; GPS time/location; emergencies; wireless charging</a:t>
            </a:r>
            <a:endParaRPr lang="en-US" sz="1500" dirty="0"/>
          </a:p>
          <a:p>
            <a:pPr marL="190500" indent="-190500">
              <a:buSzPct val="100000"/>
              <a:buChar char="•"/>
            </a:pPr>
            <a:r>
              <a:rPr lang="en-US" sz="1500" dirty="0">
                <a:solidFill>
                  <a:srgbClr val="334155"/>
                </a:solidFill>
              </a:rPr>
              <a:t>✓ Req 8-A(1–5): FCC amateur service; licenses &amp; VEs; Q signals; emergency calls; equipment</a:t>
            </a:r>
            <a:endParaRPr lang="en-US" sz="1500" dirty="0"/>
          </a:p>
          <a:p>
            <a:pPr marL="190500" indent="-190500">
              <a:buSzPct val="100000"/>
              <a:buChar char="•"/>
            </a:pPr>
            <a:r>
              <a:rPr lang="en-US" sz="1500" dirty="0">
                <a:solidFill>
                  <a:srgbClr val="334155"/>
                </a:solidFill>
              </a:rPr>
              <a:t>✓ Req 8-A(6): On-air contact logged with RST report</a:t>
            </a:r>
            <a:endParaRPr lang="en-US" sz="1500" dirty="0"/>
          </a:p>
          <a:p>
            <a:pPr marL="190500" indent="-190500">
              <a:buSzPct val="100000"/>
              <a:buChar char="•"/>
            </a:pPr>
            <a:r>
              <a:rPr lang="en-US" sz="1500" dirty="0">
                <a:solidFill>
                  <a:srgbClr val="334155"/>
                </a:solidFill>
              </a:rPr>
              <a:t>✓ Req 9: Career or hobby research discussed with counselor</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548640"/>
            <a:ext cx="8229600" cy="640080"/>
          </a:xfrm>
          <a:prstGeom prst="rect">
            <a:avLst/>
          </a:prstGeom>
          <a:noFill/>
          <a:ln/>
        </p:spPr>
        <p:txBody>
          <a:bodyPr wrap="square" rtlCol="0" anchor="ctr"/>
          <a:lstStyle/>
          <a:p>
            <a:pPr indent="0" marL="0">
              <a:buNone/>
            </a:pPr>
            <a:r>
              <a:rPr lang="en-US" sz="3000" b="1" dirty="0">
                <a:solidFill>
                  <a:srgbClr val="FFFFFF"/>
                </a:solidFill>
              </a:rPr>
              <a:t>Badge Complete! 🎉</a:t>
            </a:r>
            <a:endParaRPr lang="en-US" sz="3000" dirty="0"/>
          </a:p>
        </p:txBody>
      </p:sp>
      <p:sp>
        <p:nvSpPr>
          <p:cNvPr id="3" name="Text 1"/>
          <p:cNvSpPr/>
          <p:nvPr/>
        </p:nvSpPr>
        <p:spPr>
          <a:xfrm>
            <a:off x="457200" y="1280160"/>
            <a:ext cx="8229600" cy="411480"/>
          </a:xfrm>
          <a:prstGeom prst="rect">
            <a:avLst/>
          </a:prstGeom>
          <a:noFill/>
          <a:ln/>
        </p:spPr>
        <p:txBody>
          <a:bodyPr wrap="square" rtlCol="0" anchor="ctr"/>
          <a:lstStyle/>
          <a:p>
            <a:pPr indent="0" marL="0">
              <a:buNone/>
            </a:pPr>
            <a:r>
              <a:rPr lang="en-US" sz="1600" dirty="0">
                <a:solidFill>
                  <a:srgbClr val="6EE7B7"/>
                </a:solidFill>
              </a:rPr>
              <a:t>Congratulations — you earned your Radio Merit Badge</a:t>
            </a:r>
            <a:endParaRPr lang="en-US" sz="1600" dirty="0"/>
          </a:p>
        </p:txBody>
      </p:sp>
      <p:sp>
        <p:nvSpPr>
          <p:cNvPr id="4" name="Shape 2"/>
          <p:cNvSpPr/>
          <p:nvPr/>
        </p:nvSpPr>
        <p:spPr>
          <a:xfrm>
            <a:off x="457200" y="1783080"/>
            <a:ext cx="8229600" cy="36576"/>
          </a:xfrm>
          <a:prstGeom prst="rect">
            <a:avLst/>
          </a:prstGeom>
          <a:solidFill>
            <a:srgbClr val="10B981"/>
          </a:solidFill>
          <a:ln/>
        </p:spPr>
      </p:sp>
      <p:sp>
        <p:nvSpPr>
          <p:cNvPr id="5" name="Text 3"/>
          <p:cNvSpPr/>
          <p:nvPr/>
        </p:nvSpPr>
        <p:spPr>
          <a:xfrm>
            <a:off x="457200" y="1920240"/>
            <a:ext cx="8229600" cy="365760"/>
          </a:xfrm>
          <a:prstGeom prst="rect">
            <a:avLst/>
          </a:prstGeom>
          <a:noFill/>
          <a:ln/>
        </p:spPr>
        <p:txBody>
          <a:bodyPr wrap="square" rtlCol="0" anchor="ctr"/>
          <a:lstStyle/>
          <a:p>
            <a:pPr indent="0" marL="0">
              <a:buNone/>
            </a:pPr>
            <a:r>
              <a:rPr lang="en-US" sz="1400" b="1" dirty="0">
                <a:solidFill>
                  <a:srgbClr val="6EE7B7"/>
                </a:solidFill>
              </a:rPr>
              <a:t>What's Next?</a:t>
            </a:r>
            <a:endParaRPr lang="en-US" sz="1400" dirty="0"/>
          </a:p>
        </p:txBody>
      </p:sp>
      <p:sp>
        <p:nvSpPr>
          <p:cNvPr id="6" name="Text 4"/>
          <p:cNvSpPr/>
          <p:nvPr/>
        </p:nvSpPr>
        <p:spPr>
          <a:xfrm>
            <a:off x="457200" y="2331720"/>
            <a:ext cx="8229600" cy="1920240"/>
          </a:xfrm>
          <a:prstGeom prst="rect">
            <a:avLst/>
          </a:prstGeom>
          <a:noFill/>
          <a:ln/>
        </p:spPr>
        <p:txBody>
          <a:bodyPr wrap="square" rtlCol="0" anchor="ctr"/>
          <a:lstStyle/>
          <a:p>
            <a:pPr marL="190500" indent="-190500">
              <a:buSzPct val="100000"/>
              <a:buChar char="•"/>
            </a:pPr>
            <a:r>
              <a:rPr lang="en-US" sz="1400" dirty="0">
                <a:solidFill>
                  <a:srgbClr val="FFFFFF"/>
                </a:solidFill>
              </a:rPr>
              <a:t>Interested in getting licensed? TavaOne Education runs Technician license courses on-site</a:t>
            </a:r>
            <a:endParaRPr lang="en-US" sz="1400" dirty="0"/>
          </a:p>
          <a:p>
            <a:pPr marL="190500" indent="-190500">
              <a:buSzPct val="100000"/>
              <a:buChar char="•"/>
            </a:pPr>
            <a:r>
              <a:rPr lang="en-US" sz="1400" dirty="0">
                <a:solidFill>
                  <a:srgbClr val="FFFFFF"/>
                </a:solidFill>
              </a:rPr>
              <a:t>VE exam sessions held at Pinellas STEM Radio Lab — pass to get your own callsign</a:t>
            </a:r>
            <a:endParaRPr lang="en-US" sz="1400" dirty="0"/>
          </a:p>
          <a:p>
            <a:pPr marL="190500" indent="-190500">
              <a:buSzPct val="100000"/>
              <a:buChar char="•"/>
            </a:pPr>
            <a:r>
              <a:rPr lang="en-US" sz="1400" dirty="0">
                <a:solidFill>
                  <a:srgbClr val="FFFFFF"/>
                </a:solidFill>
              </a:rPr>
              <a:t>Join the Gulf Coast Contest Club — club station access, mentorship, on-air events</a:t>
            </a:r>
            <a:endParaRPr lang="en-US" sz="1400" dirty="0"/>
          </a:p>
          <a:p>
            <a:pPr marL="190500" indent="-190500">
              <a:buSzPct val="100000"/>
              <a:buChar char="•"/>
            </a:pPr>
            <a:r>
              <a:rPr lang="en-US" sz="1400" dirty="0">
                <a:solidFill>
                  <a:srgbClr val="FFFFFF"/>
                </a:solidFill>
              </a:rPr>
              <a:t>ARES / RACES — serve your community as an emergency communicator</a:t>
            </a:r>
            <a:endParaRPr lang="en-US" sz="1400" dirty="0"/>
          </a:p>
          <a:p>
            <a:pPr marL="190500" indent="-190500">
              <a:buSzPct val="100000"/>
              <a:buChar char="•"/>
            </a:pPr>
            <a:r>
              <a:rPr lang="en-US" sz="1400" dirty="0">
                <a:solidFill>
                  <a:srgbClr val="FFFFFF"/>
                </a:solidFill>
              </a:rPr>
              <a:t>POTA (Parks on the Air) — take radio into the field and make contacts from national parks</a:t>
            </a:r>
            <a:endParaRPr lang="en-US" sz="1400" dirty="0"/>
          </a:p>
        </p:txBody>
      </p:sp>
      <p:sp>
        <p:nvSpPr>
          <p:cNvPr id="7" name="Shape 5"/>
          <p:cNvSpPr/>
          <p:nvPr/>
        </p:nvSpPr>
        <p:spPr>
          <a:xfrm>
            <a:off x="457200" y="4297680"/>
            <a:ext cx="8229600" cy="36576"/>
          </a:xfrm>
          <a:prstGeom prst="rect">
            <a:avLst/>
          </a:prstGeom>
          <a:solidFill>
            <a:srgbClr val="10B981"/>
          </a:solidFill>
          <a:ln/>
        </p:spPr>
      </p:sp>
      <p:sp>
        <p:nvSpPr>
          <p:cNvPr id="8" name="Text 6"/>
          <p:cNvSpPr/>
          <p:nvPr/>
        </p:nvSpPr>
        <p:spPr>
          <a:xfrm>
            <a:off x="457200" y="4389120"/>
            <a:ext cx="8229600" cy="320040"/>
          </a:xfrm>
          <a:prstGeom prst="rect">
            <a:avLst/>
          </a:prstGeom>
          <a:noFill/>
          <a:ln/>
        </p:spPr>
        <p:txBody>
          <a:bodyPr wrap="square" rtlCol="0" anchor="ctr"/>
          <a:lstStyle/>
          <a:p>
            <a:pPr indent="0" marL="0">
              <a:buNone/>
            </a:pPr>
            <a:r>
              <a:rPr lang="en-US" sz="1000" dirty="0">
                <a:solidFill>
                  <a:srgbClr val="94A3B8"/>
                </a:solidFill>
              </a:rPr>
              <a:t>tavaoneeducation.org · W4GGJ · EL87PT · TavaOne Education Inc., EIN 42-3444601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2026-09-19T12:35:38Z</dcterms:created>
  <dcterms:modified xsi:type="dcterms:W3CDTF">2026-09-19T12:35:38Z</dcterms:modified>
</cp:coreProperties>
</file>