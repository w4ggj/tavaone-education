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Session 1 of the POTA Activator Course. Introduce yourself — share your own first activation story. Ask: has anyone already heard of POTA? Done any listening on a frequency while someone was activating?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agenda. Note the hands-on activity at the end — everyone will need their phone with pota.app open. Remind students this is a practical course, not an exam course. We're here to activate parks, not memorize regulations.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What is POTA?. Program history, roles, and the community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POTA started small and grew because it hits a sweet spot: you can do a solo activation in a couple of hours, the community is welcoming, and the award system gives you something to chase without it feeling like a job. Share how many parks are within 30 miles of this room — usually surprises students.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activator/hunter relationship is symbiotic. Activators need hunters to make contacts; hunters need activators to get new park credits. When you spot yourself on pota.app, within minutes hunters are tuned to your frequency. It feels like magic the first time. Park-to-Park (P2P): when both you and the person you're working are simultaneously activating parks. Both get P2P credit.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P2P is exciting once you start doing it. You're both in a park, both portable, both making radio work. Share a P2P story from a personal activation if you have one. Mention the pota.app leaderboards for P2P — some operators specialize in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Park References &amp; pota.app. Finding parks, reading park pages, using the database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K-number goes in every QSO record in your ADIF log. If you forget to look it up and log "somewhere in Pinellas County" you will have a problem at upload time. Make finding the reference step 1 of your activation prep.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a real park page live on screen. K-2119 (Honeymoon Island) is a great example — lots of past activations, easy to reach, gorgeous park. Show how to scroll down to see the hunter log. Point out the leaderboard — challenge students to get on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Your pota.app Account. Setup, the activator dashboard, and HamAlert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students through registration live. Have them on their phones. If someone already has an account, have them help a neighbor. The callsign matching thing is important — mention that if you use a club callsign for an activation, the log should be uploaded under the club's pota.app account, not yours.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your own dashboard live if you can. Your activation count is a good conversation starter. Mention that the badge system is motivating — even 1 activation gets you a badge. HamAlert is optional for activators but great for hunters who miss spots because they weren't watching the screen.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Valid Activation Rules. What counts, what doesn't, and the UTC clock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"upload anyway" rule. New operators feel embarrassed if they don't hit 10 and don't upload. But hunters need that credit. Tell the story of someone who works an activator, doesn't get logged, and wonders why the park never showed up on their account. Always upload.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new operators mess up. Draw a timeline on the whiteboard. 8:00 PM EDT in September is midnight UTC — if you start at 7:30 and run to 8:30, you have QSOs on two different UTC dates and need 10 contacts on the SAME UTC date for a valid activation. Best practice: start before dark.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is simple: if RF goes the whole way, it counts. If the internet is a link in the chain, it doesn't. FT8 is valid and very popular — we cover setup and technique in Session 3. For now just know it counts and produces a lot of contacts quickly on marginal band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Park Logistics &amp; Leave No Trace. Research before you go, etiquette,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single most common "failed activation" story: operator drove to the park, found it closed, turned around and went home. Spend 10 minutes on research the night before. Florida State Parks website has hours and fees. For NPS parks, call the visitor center — most rangers are POTA-aware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Share the ranger interaction tip from experience — rangers are generally curious and supportive once they understand what's happening. "I'm operating an amateur radio station as part of a national parks program" goes a long way. Most have seen POTA operators before. Being visible and friendly builds goodwill for the next operator who comes through.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important. Florida has more lightning strikes than any other state. A 53-foot wire in the air during a storm is extremely dangerous. Develop a personal rule: when you hear thunder, you start tearing down regardless of how many QSOs you have. The park will be there next weekend.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 10 QSOs
Quick check before the activity. If anyone says A, that's SOTA (5 QSOs). Fun distinction to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B — Upload the log anyway
Always upload. Hunters earned their credit. You don't get activator credit for fewer than 10, but you're not penalized either. Partial activations are a normal part of the hobby.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 C — No, Echolink is internet-linked
The rule is clean: RF end-to-end, all the way. Echolink is RF at the user's end but routes over the internet in the middle. Not valid.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them 10 minutes to find parks, then 5 minutes for sharing. Walk around and help anyone who has trouble with the map. If someone finds an unactivated park near them, make a big deal of it — that's a great first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Remind students to bring their radio to Session 2 if they have one. Also ask them to think about what antenna they own or are willing to build — next session we'll cover builds. If anyone wants to build an EFHW before Session 2, point them to the SOTAbeams or EFHW-8010 kit as a starting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4389120"/>
            <a:ext cx="9144000" cy="54864"/>
          </a:xfrm>
          <a:prstGeom prst="rect">
            <a:avLst/>
          </a:prstGeom>
          <a:solidFill>
            <a:srgbClr val="10B981"/>
          </a:solidFill>
          <a:ln/>
        </p:spPr>
      </p:sp>
      <p:sp>
        <p:nvSpPr>
          <p:cNvPr id="3" name="Text 1"/>
          <p:cNvSpPr/>
          <p:nvPr/>
        </p:nvSpPr>
        <p:spPr>
          <a:xfrm>
            <a:off x="457200" y="822960"/>
            <a:ext cx="8229600" cy="2011680"/>
          </a:xfrm>
          <a:prstGeom prst="rect">
            <a:avLst/>
          </a:prstGeom>
          <a:noFill/>
          <a:ln/>
        </p:spPr>
        <p:txBody>
          <a:bodyPr wrap="square" rtlCol="0" anchor="ctr"/>
          <a:lstStyle/>
          <a:p>
            <a:pPr indent="0" marL="0">
              <a:buNone/>
            </a:pPr>
            <a:r>
              <a:rPr lang="en-US" sz="4000" b="1" dirty="0">
                <a:solidFill>
                  <a:srgbClr val="FFFFFF"/>
                </a:solidFill>
                <a:latin typeface="Plus Jakarta Sans" pitchFamily="34" charset="0"/>
                <a:ea typeface="Plus Jakarta Sans" pitchFamily="34" charset="-122"/>
                <a:cs typeface="Plus Jakarta Sans" pitchFamily="34" charset="-120"/>
              </a:rPr>
              <a:t>Parks on the Air</a:t>
            </a:r>
            <a:endParaRPr lang="en-US" sz="4000" dirty="0"/>
          </a:p>
          <a:p>
            <a:pPr indent="0" marL="0">
              <a:buNone/>
            </a:pPr>
            <a:r>
              <a:rPr lang="en-US" sz="4000" b="1" dirty="0">
                <a:solidFill>
                  <a:srgbClr val="FFFFFF"/>
                </a:solidFill>
                <a:latin typeface="Plus Jakarta Sans" pitchFamily="34" charset="0"/>
                <a:ea typeface="Plus Jakarta Sans" pitchFamily="34" charset="-122"/>
                <a:cs typeface="Plus Jakarta Sans" pitchFamily="34" charset="-120"/>
              </a:rPr>
              <a:t>Activator Course</a:t>
            </a:r>
            <a:endParaRPr lang="en-US" sz="4000" dirty="0"/>
          </a:p>
        </p:txBody>
      </p:sp>
      <p:sp>
        <p:nvSpPr>
          <p:cNvPr id="4" name="Text 2"/>
          <p:cNvSpPr/>
          <p:nvPr/>
        </p:nvSpPr>
        <p:spPr>
          <a:xfrm>
            <a:off x="457200" y="2743200"/>
            <a:ext cx="8229600" cy="640080"/>
          </a:xfrm>
          <a:prstGeom prst="rect">
            <a:avLst/>
          </a:prstGeom>
          <a:noFill/>
          <a:ln/>
        </p:spPr>
        <p:txBody>
          <a:bodyPr wrap="square" rtlCol="0" anchor="ctr"/>
          <a:lstStyle/>
          <a:p>
            <a:pPr indent="0" marL="0">
              <a:buNone/>
            </a:pPr>
            <a:r>
              <a:rPr lang="en-US" sz="1800" dirty="0">
                <a:solidFill>
                  <a:srgbClr val="6EE7B7"/>
                </a:solidFill>
                <a:latin typeface="Plus Jakarta Sans" pitchFamily="34" charset="0"/>
                <a:ea typeface="Plus Jakarta Sans" pitchFamily="34" charset="-122"/>
                <a:cs typeface="Plus Jakarta Sans" pitchFamily="34" charset="-120"/>
              </a:rPr>
              <a:t>Session 1 — The POTA Universe</a:t>
            </a:r>
            <a:endParaRPr lang="en-US" sz="1800" dirty="0"/>
          </a:p>
        </p:txBody>
      </p:sp>
      <p:sp>
        <p:nvSpPr>
          <p:cNvPr id="5" name="Text 3"/>
          <p:cNvSpPr/>
          <p:nvPr/>
        </p:nvSpPr>
        <p:spPr>
          <a:xfrm>
            <a:off x="457200" y="3474720"/>
            <a:ext cx="8229600" cy="457200"/>
          </a:xfrm>
          <a:prstGeom prst="rect">
            <a:avLst/>
          </a:prstGeom>
          <a:noFill/>
          <a:ln/>
        </p:spPr>
        <p:txBody>
          <a:bodyPr wrap="square" rtlCol="0" anchor="ctr"/>
          <a:lstStyle/>
          <a:p>
            <a:pPr indent="0" marL="0">
              <a:buNone/>
            </a:pPr>
            <a:r>
              <a:rPr lang="en-US" sz="1300" dirty="0">
                <a:solidFill>
                  <a:srgbClr val="94A3B8"/>
                </a:solidFill>
                <a:latin typeface="Plus Jakarta Sans" pitchFamily="34" charset="0"/>
                <a:ea typeface="Plus Jakarta Sans" pitchFamily="34" charset="-122"/>
                <a:cs typeface="Plus Jakarta Sans" pitchFamily="34" charset="-120"/>
              </a:rPr>
              <a:t>TavaOne Education · Pinellas STEM Radio Lab · W4GGJ</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960120"/>
            <a:ext cx="8229600" cy="45720"/>
          </a:xfrm>
          <a:prstGeom prst="rect">
            <a:avLst/>
          </a:prstGeom>
          <a:solidFill>
            <a:srgbClr val="10B981"/>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2200" b="1" dirty="0">
                <a:solidFill>
                  <a:srgbClr val="0F172A"/>
                </a:solidFill>
                <a:latin typeface="Plus Jakarta Sans" pitchFamily="34" charset="0"/>
                <a:ea typeface="Plus Jakarta Sans" pitchFamily="34" charset="-122"/>
                <a:cs typeface="Plus Jakarta Sans" pitchFamily="34" charset="-120"/>
              </a:rPr>
              <a:t>Today's Session</a:t>
            </a:r>
            <a:endParaRPr lang="en-US" sz="2200" dirty="0"/>
          </a:p>
        </p:txBody>
      </p:sp>
      <p:sp>
        <p:nvSpPr>
          <p:cNvPr id="4" name="Text 2"/>
          <p:cNvSpPr/>
          <p:nvPr/>
        </p:nvSpPr>
        <p:spPr>
          <a:xfrm>
            <a:off x="457200" y="1097280"/>
            <a:ext cx="8229600" cy="5029200"/>
          </a:xfrm>
          <a:prstGeom prst="rect">
            <a:avLst/>
          </a:prstGeom>
          <a:noFill/>
          <a:ln/>
        </p:spPr>
        <p:txBody>
          <a:bodyPr wrap="square" rtlCol="0" anchor="t"/>
          <a:lstStyle/>
          <a:p>
            <a:pPr marL="342900" indent="-342900">
              <a:spcBef>
                <a:spcPts val="8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What is POTA — history, roles, the community</a:t>
            </a:r>
            <a:endParaRPr lang="en-US" sz="1600" dirty="0"/>
          </a:p>
          <a:p>
            <a:pPr marL="342900" indent="-342900">
              <a:spcBef>
                <a:spcPts val="8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Park references and pota.app database</a:t>
            </a:r>
            <a:endParaRPr lang="en-US" sz="1600" dirty="0"/>
          </a:p>
          <a:p>
            <a:pPr marL="342900" indent="-342900">
              <a:spcBef>
                <a:spcPts val="8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Setting up your pota.app account</a:t>
            </a:r>
            <a:endParaRPr lang="en-US" sz="1600" dirty="0"/>
          </a:p>
          <a:p>
            <a:pPr marL="342900" indent="-342900">
              <a:spcBef>
                <a:spcPts val="8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What makes a valid activation</a:t>
            </a:r>
            <a:endParaRPr lang="en-US" sz="1600" dirty="0"/>
          </a:p>
          <a:p>
            <a:pPr marL="342900" indent="-342900">
              <a:spcBef>
                <a:spcPts val="8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Park logistics and Leave No Trace</a:t>
            </a:r>
            <a:endParaRPr lang="en-US" sz="1600" dirty="0"/>
          </a:p>
          <a:p>
            <a:pPr marL="342900" indent="-342900">
              <a:spcBef>
                <a:spcPts val="800"/>
              </a:spcBef>
              <a:buSzPct val="100000"/>
              <a:buChar char="•"/>
            </a:pPr>
            <a:r>
              <a:rPr lang="en-US" sz="1600" b="1" dirty="0">
                <a:solidFill>
                  <a:srgbClr val="6EE7B7"/>
                </a:solidFill>
                <a:latin typeface="Plus Jakarta Sans" pitchFamily="34" charset="0"/>
                <a:ea typeface="Plus Jakarta Sans" pitchFamily="34" charset="-122"/>
                <a:cs typeface="Plus Jakarta Sans" pitchFamily="34" charset="-120"/>
              </a:rPr>
              <a:t>Activity: Find your first 3 parks</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10B981"/>
          </a:solidFill>
          <a:ln/>
        </p:spPr>
      </p:sp>
      <p:sp>
        <p:nvSpPr>
          <p:cNvPr id="3" name="Text 1"/>
          <p:cNvSpPr/>
          <p:nvPr/>
        </p:nvSpPr>
        <p:spPr>
          <a:xfrm>
            <a:off x="365760" y="1371600"/>
            <a:ext cx="8412480" cy="1828800"/>
          </a:xfrm>
          <a:prstGeom prst="rect">
            <a:avLst/>
          </a:prstGeom>
          <a:noFill/>
          <a:ln/>
        </p:spPr>
        <p:txBody>
          <a:bodyPr wrap="square" rtlCol="0" anchor="ctr"/>
          <a:lstStyle/>
          <a:p>
            <a:pPr indent="0" marL="0">
              <a:buNone/>
            </a:pPr>
            <a:r>
              <a:rPr lang="en-US" sz="3200" b="1" dirty="0">
                <a:solidFill>
                  <a:srgbClr val="FFFFFF"/>
                </a:solidFill>
                <a:latin typeface="Plus Jakarta Sans" pitchFamily="34" charset="0"/>
                <a:ea typeface="Plus Jakarta Sans" pitchFamily="34" charset="-122"/>
                <a:cs typeface="Plus Jakarta Sans" pitchFamily="34" charset="-120"/>
              </a:rPr>
              <a:t>What is POTA?</a:t>
            </a:r>
            <a:endParaRPr lang="en-US" sz="3200" dirty="0"/>
          </a:p>
        </p:txBody>
      </p:sp>
      <p:sp>
        <p:nvSpPr>
          <p:cNvPr id="4" name="Text 2"/>
          <p:cNvSpPr/>
          <p:nvPr/>
        </p:nvSpPr>
        <p:spPr>
          <a:xfrm>
            <a:off x="365760" y="3200400"/>
            <a:ext cx="8229600" cy="731520"/>
          </a:xfrm>
          <a:prstGeom prst="rect">
            <a:avLst/>
          </a:prstGeom>
          <a:noFill/>
          <a:ln/>
        </p:spPr>
        <p:txBody>
          <a:bodyPr wrap="square" rtlCol="0" anchor="ctr"/>
          <a:lstStyle/>
          <a:p>
            <a:pPr indent="0" marL="0">
              <a:buNone/>
            </a:pPr>
            <a:r>
              <a:rPr lang="en-US" sz="1600" dirty="0">
                <a:solidFill>
                  <a:srgbClr val="6EE7B7"/>
                </a:solidFill>
                <a:latin typeface="Plus Jakarta Sans" pitchFamily="34" charset="0"/>
                <a:ea typeface="Plus Jakarta Sans" pitchFamily="34" charset="-122"/>
                <a:cs typeface="Plus Jakarta Sans" pitchFamily="34" charset="-120"/>
              </a:rPr>
              <a:t>Program history, roles, and the community</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960120"/>
            <a:ext cx="8229600" cy="45720"/>
          </a:xfrm>
          <a:prstGeom prst="rect">
            <a:avLst/>
          </a:prstGeom>
          <a:solidFill>
            <a:srgbClr val="10B981"/>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2200" b="1" dirty="0">
                <a:solidFill>
                  <a:srgbClr val="0F172A"/>
                </a:solidFill>
                <a:latin typeface="Plus Jakarta Sans" pitchFamily="34" charset="0"/>
                <a:ea typeface="Plus Jakarta Sans" pitchFamily="34" charset="-122"/>
                <a:cs typeface="Plus Jakarta Sans" pitchFamily="34" charset="-120"/>
              </a:rPr>
              <a:t>Parks on the Air — Overview</a:t>
            </a:r>
            <a:endParaRPr lang="en-US" sz="2200" dirty="0"/>
          </a:p>
        </p:txBody>
      </p:sp>
      <p:sp>
        <p:nvSpPr>
          <p:cNvPr id="4" name="Text 2"/>
          <p:cNvSpPr/>
          <p:nvPr/>
        </p:nvSpPr>
        <p:spPr>
          <a:xfrm>
            <a:off x="457200" y="1097280"/>
            <a:ext cx="8229600" cy="5029200"/>
          </a:xfrm>
          <a:prstGeom prst="rect">
            <a:avLst/>
          </a:prstGeom>
          <a:noFill/>
          <a:ln/>
        </p:spPr>
        <p:txBody>
          <a:bodyPr wrap="square" rtlCol="0" anchor="t"/>
          <a:lstStyle/>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Started as World Wide Flora &amp; Fauna (WWFF), a global program</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US-specific POTA program launched 2017 as K-POTA</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Became fully independent in 2020 — now largest portable ops program worldwide</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Over 50,000 parks in 100+ entities</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Completely FREE — no membership fees, no pay walls</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US park types:</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National Parks, Monuments, Recreation Areas</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National Forests and Grasslands</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National Wildlife Refuges, Army Corps sites</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State Parks, State Forests, State Recreation Areas</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Many county parks (check the database)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960120"/>
            <a:ext cx="8229600" cy="45720"/>
          </a:xfrm>
          <a:prstGeom prst="rect">
            <a:avLst/>
          </a:prstGeom>
          <a:solidFill>
            <a:srgbClr val="10B981"/>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2200" b="1" dirty="0">
                <a:solidFill>
                  <a:srgbClr val="0F172A"/>
                </a:solidFill>
                <a:latin typeface="Plus Jakarta Sans" pitchFamily="34" charset="0"/>
                <a:ea typeface="Plus Jakarta Sans" pitchFamily="34" charset="-122"/>
                <a:cs typeface="Plus Jakarta Sans" pitchFamily="34" charset="-120"/>
              </a:rPr>
              <a:t>Activator vs. Hunter</a:t>
            </a:r>
            <a:endParaRPr lang="en-US" sz="2200" dirty="0"/>
          </a:p>
        </p:txBody>
      </p:sp>
      <p:sp>
        <p:nvSpPr>
          <p:cNvPr id="4" name="Shape 2"/>
          <p:cNvSpPr/>
          <p:nvPr/>
        </p:nvSpPr>
        <p:spPr>
          <a:xfrm>
            <a:off x="457200" y="1097280"/>
            <a:ext cx="3840480" cy="5029200"/>
          </a:xfrm>
          <a:prstGeom prst="rect">
            <a:avLst/>
          </a:prstGeom>
          <a:solidFill>
            <a:srgbClr val="F8FAFC"/>
          </a:solidFill>
          <a:ln w="12700">
            <a:solidFill>
              <a:srgbClr val="E2E8F0"/>
            </a:solidFill>
            <a:prstDash val="solid"/>
          </a:ln>
        </p:spPr>
      </p:sp>
      <p:sp>
        <p:nvSpPr>
          <p:cNvPr id="5" name="Shape 3"/>
          <p:cNvSpPr/>
          <p:nvPr/>
        </p:nvSpPr>
        <p:spPr>
          <a:xfrm>
            <a:off x="4846320" y="1097280"/>
            <a:ext cx="3840480" cy="5029200"/>
          </a:xfrm>
          <a:prstGeom prst="rect">
            <a:avLst/>
          </a:prstGeom>
          <a:solidFill>
            <a:srgbClr val="F8FAFC"/>
          </a:solidFill>
          <a:ln w="12700">
            <a:solidFill>
              <a:srgbClr val="E2E8F0"/>
            </a:solidFill>
            <a:prstDash val="solid"/>
          </a:ln>
        </p:spPr>
      </p:sp>
      <p:sp>
        <p:nvSpPr>
          <p:cNvPr id="6" name="Text 4"/>
          <p:cNvSpPr/>
          <p:nvPr/>
        </p:nvSpPr>
        <p:spPr>
          <a:xfrm>
            <a:off x="548640" y="1188720"/>
            <a:ext cx="3657600" cy="365760"/>
          </a:xfrm>
          <a:prstGeom prst="rect">
            <a:avLst/>
          </a:prstGeom>
          <a:noFill/>
          <a:ln/>
        </p:spPr>
        <p:txBody>
          <a:bodyPr wrap="square" rtlCol="0" anchor="ctr"/>
          <a:lstStyle/>
          <a:p>
            <a:pPr indent="0" marL="0">
              <a:buNone/>
            </a:pPr>
            <a:r>
              <a:rPr lang="en-US" sz="1300" b="1" dirty="0">
                <a:solidFill>
                  <a:srgbClr val="065F46"/>
                </a:solidFill>
                <a:latin typeface="Plus Jakarta Sans" pitchFamily="34" charset="0"/>
                <a:ea typeface="Plus Jakarta Sans" pitchFamily="34" charset="-122"/>
                <a:cs typeface="Plus Jakarta Sans" pitchFamily="34" charset="-120"/>
              </a:rPr>
              <a:t>🎙️ Activator</a:t>
            </a:r>
            <a:endParaRPr lang="en-US" sz="1300" dirty="0"/>
          </a:p>
        </p:txBody>
      </p:sp>
      <p:sp>
        <p:nvSpPr>
          <p:cNvPr id="7" name="Text 5"/>
          <p:cNvSpPr/>
          <p:nvPr/>
        </p:nvSpPr>
        <p:spPr>
          <a:xfrm>
            <a:off x="548640" y="1600200"/>
            <a:ext cx="3657600" cy="4389120"/>
          </a:xfrm>
          <a:prstGeom prst="rect">
            <a:avLst/>
          </a:prstGeom>
          <a:noFill/>
          <a:ln/>
        </p:spPr>
        <p:txBody>
          <a:bodyPr wrap="square" rtlCol="0" anchor="t"/>
          <a:lstStyle/>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Goes to a POTA park</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Sets up a portable station</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Calls CQ POTA on the air</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Needs 10 QSOs for a valid activation</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Uploads log to pota.app</a:t>
            </a:r>
            <a:endParaRPr lang="en-US" sz="1300" dirty="0"/>
          </a:p>
        </p:txBody>
      </p:sp>
      <p:sp>
        <p:nvSpPr>
          <p:cNvPr id="8" name="Text 6"/>
          <p:cNvSpPr/>
          <p:nvPr/>
        </p:nvSpPr>
        <p:spPr>
          <a:xfrm>
            <a:off x="4937760" y="1188720"/>
            <a:ext cx="3657600" cy="365760"/>
          </a:xfrm>
          <a:prstGeom prst="rect">
            <a:avLst/>
          </a:prstGeom>
          <a:noFill/>
          <a:ln/>
        </p:spPr>
        <p:txBody>
          <a:bodyPr wrap="square" rtlCol="0" anchor="ctr"/>
          <a:lstStyle/>
          <a:p>
            <a:pPr indent="0" marL="0">
              <a:buNone/>
            </a:pPr>
            <a:r>
              <a:rPr lang="en-US" sz="1300" b="1" dirty="0">
                <a:solidFill>
                  <a:srgbClr val="065F46"/>
                </a:solidFill>
                <a:latin typeface="Plus Jakarta Sans" pitchFamily="34" charset="0"/>
                <a:ea typeface="Plus Jakarta Sans" pitchFamily="34" charset="-122"/>
                <a:cs typeface="Plus Jakarta Sans" pitchFamily="34" charset="-120"/>
              </a:rPr>
              <a:t>🎧 Hunter</a:t>
            </a:r>
            <a:endParaRPr lang="en-US" sz="1300" dirty="0"/>
          </a:p>
        </p:txBody>
      </p:sp>
      <p:sp>
        <p:nvSpPr>
          <p:cNvPr id="9" name="Text 7"/>
          <p:cNvSpPr/>
          <p:nvPr/>
        </p:nvSpPr>
        <p:spPr>
          <a:xfrm>
            <a:off x="4937760" y="1600200"/>
            <a:ext cx="3657600" cy="4389120"/>
          </a:xfrm>
          <a:prstGeom prst="rect">
            <a:avLst/>
          </a:prstGeom>
          <a:noFill/>
          <a:ln/>
        </p:spPr>
        <p:txBody>
          <a:bodyPr wrap="square" rtlCol="0" anchor="t"/>
          <a:lstStyle/>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Operates from home or anywhere outside the park</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Monitors spots on pota.app</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Calls the activator when spotted</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Gets credit for each park worked</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Chases rare parks for awards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960120"/>
            <a:ext cx="8229600" cy="45720"/>
          </a:xfrm>
          <a:prstGeom prst="rect">
            <a:avLst/>
          </a:prstGeom>
          <a:solidFill>
            <a:srgbClr val="10B981"/>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2200" b="1" dirty="0">
                <a:solidFill>
                  <a:srgbClr val="0F172A"/>
                </a:solidFill>
                <a:latin typeface="Plus Jakarta Sans" pitchFamily="34" charset="0"/>
                <a:ea typeface="Plus Jakarta Sans" pitchFamily="34" charset="-122"/>
                <a:cs typeface="Plus Jakarta Sans" pitchFamily="34" charset="-120"/>
              </a:rPr>
              <a:t>Park-to-Park (P2P)</a:t>
            </a:r>
            <a:endParaRPr lang="en-US" sz="2200" dirty="0"/>
          </a:p>
        </p:txBody>
      </p:sp>
      <p:sp>
        <p:nvSpPr>
          <p:cNvPr id="4" name="Text 2"/>
          <p:cNvSpPr/>
          <p:nvPr/>
        </p:nvSpPr>
        <p:spPr>
          <a:xfrm>
            <a:off x="457200" y="1097280"/>
            <a:ext cx="8229600" cy="5029200"/>
          </a:xfrm>
          <a:prstGeom prst="rect">
            <a:avLst/>
          </a:prstGeom>
          <a:noFill/>
          <a:ln/>
        </p:spPr>
        <p:txBody>
          <a:bodyPr wrap="square" rtlCol="0" anchor="t"/>
          <a:lstStyle/>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When two activators work each other, it's a Park-to-Park contact</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Both get regular activation/hunter credits</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Both also get P2P credit — tracked separately on pota.app</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How to find P2P contacts:</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Watch the spots page — look for other activators on the air</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Call CQ and a fellow activator may respond</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Listen for "de [callsign] at [park ref]" in their response</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P2P contacts count toward your 10 QSO minimum</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POTA awards include P2P-specific milestones</a:t>
            </a: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10B981"/>
          </a:solidFill>
          <a:ln/>
        </p:spPr>
      </p:sp>
      <p:sp>
        <p:nvSpPr>
          <p:cNvPr id="3" name="Text 1"/>
          <p:cNvSpPr/>
          <p:nvPr/>
        </p:nvSpPr>
        <p:spPr>
          <a:xfrm>
            <a:off x="365760" y="1371600"/>
            <a:ext cx="8412480" cy="1828800"/>
          </a:xfrm>
          <a:prstGeom prst="rect">
            <a:avLst/>
          </a:prstGeom>
          <a:noFill/>
          <a:ln/>
        </p:spPr>
        <p:txBody>
          <a:bodyPr wrap="square" rtlCol="0" anchor="ctr"/>
          <a:lstStyle/>
          <a:p>
            <a:pPr indent="0" marL="0">
              <a:buNone/>
            </a:pPr>
            <a:r>
              <a:rPr lang="en-US" sz="3200" b="1" dirty="0">
                <a:solidFill>
                  <a:srgbClr val="FFFFFF"/>
                </a:solidFill>
                <a:latin typeface="Plus Jakarta Sans" pitchFamily="34" charset="0"/>
                <a:ea typeface="Plus Jakarta Sans" pitchFamily="34" charset="-122"/>
                <a:cs typeface="Plus Jakarta Sans" pitchFamily="34" charset="-120"/>
              </a:rPr>
              <a:t>Park References &amp; pota.app</a:t>
            </a:r>
            <a:endParaRPr lang="en-US" sz="3200" dirty="0"/>
          </a:p>
        </p:txBody>
      </p:sp>
      <p:sp>
        <p:nvSpPr>
          <p:cNvPr id="4" name="Text 2"/>
          <p:cNvSpPr/>
          <p:nvPr/>
        </p:nvSpPr>
        <p:spPr>
          <a:xfrm>
            <a:off x="365760" y="3200400"/>
            <a:ext cx="8229600" cy="731520"/>
          </a:xfrm>
          <a:prstGeom prst="rect">
            <a:avLst/>
          </a:prstGeom>
          <a:noFill/>
          <a:ln/>
        </p:spPr>
        <p:txBody>
          <a:bodyPr wrap="square" rtlCol="0" anchor="ctr"/>
          <a:lstStyle/>
          <a:p>
            <a:pPr indent="0" marL="0">
              <a:buNone/>
            </a:pPr>
            <a:r>
              <a:rPr lang="en-US" sz="1600" dirty="0">
                <a:solidFill>
                  <a:srgbClr val="6EE7B7"/>
                </a:solidFill>
                <a:latin typeface="Plus Jakarta Sans" pitchFamily="34" charset="0"/>
                <a:ea typeface="Plus Jakarta Sans" pitchFamily="34" charset="-122"/>
                <a:cs typeface="Plus Jakarta Sans" pitchFamily="34" charset="-120"/>
              </a:rPr>
              <a:t>Finding parks, reading park pages, using the database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960120"/>
            <a:ext cx="8229600" cy="45720"/>
          </a:xfrm>
          <a:prstGeom prst="rect">
            <a:avLst/>
          </a:prstGeom>
          <a:solidFill>
            <a:srgbClr val="10B981"/>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2200" b="1" dirty="0">
                <a:solidFill>
                  <a:srgbClr val="0F172A"/>
                </a:solidFill>
                <a:latin typeface="Plus Jakarta Sans" pitchFamily="34" charset="0"/>
                <a:ea typeface="Plus Jakarta Sans" pitchFamily="34" charset="-122"/>
                <a:cs typeface="Plus Jakarta Sans" pitchFamily="34" charset="-120"/>
              </a:rPr>
              <a:t>The K-Reference System</a:t>
            </a:r>
            <a:endParaRPr lang="en-US" sz="2200" dirty="0"/>
          </a:p>
        </p:txBody>
      </p:sp>
      <p:sp>
        <p:nvSpPr>
          <p:cNvPr id="4" name="Text 2"/>
          <p:cNvSpPr/>
          <p:nvPr/>
        </p:nvSpPr>
        <p:spPr>
          <a:xfrm>
            <a:off x="457200" y="1097280"/>
            <a:ext cx="8229600" cy="5029200"/>
          </a:xfrm>
          <a:prstGeom prst="rect">
            <a:avLst/>
          </a:prstGeom>
          <a:noFill/>
          <a:ln/>
        </p:spPr>
        <p:txBody>
          <a:bodyPr wrap="square" rtlCol="0" anchor="t"/>
          <a:lstStyle/>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Every park has a unique reference number</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US parks: K-XXXX (4 digits) — example: K-2119</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Some parks also have a KFF- number (old WWFF format — same park)</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Other entity prefixes:</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VE- = Canada</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DL- = Germany</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VK- = Australia</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(over 100 entities worldwide)</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You need the correct K-reference BEFORE you activate</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Look it up on pota.app — park name search or map view</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Put the reference in your log as SIG_INFO field (we cover this in Session 3)</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960120"/>
            <a:ext cx="8229600" cy="45720"/>
          </a:xfrm>
          <a:prstGeom prst="rect">
            <a:avLst/>
          </a:prstGeom>
          <a:solidFill>
            <a:srgbClr val="10B981"/>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2200" b="1" dirty="0">
                <a:solidFill>
                  <a:srgbClr val="0F172A"/>
                </a:solidFill>
                <a:latin typeface="Plus Jakarta Sans" pitchFamily="34" charset="0"/>
                <a:ea typeface="Plus Jakarta Sans" pitchFamily="34" charset="-122"/>
                <a:cs typeface="Plus Jakarta Sans" pitchFamily="34" charset="-120"/>
              </a:rPr>
              <a:t>Reading a Park Page on pota.app</a:t>
            </a:r>
            <a:endParaRPr lang="en-US" sz="2200" dirty="0"/>
          </a:p>
        </p:txBody>
      </p:sp>
      <p:sp>
        <p:nvSpPr>
          <p:cNvPr id="4" name="Text 2"/>
          <p:cNvSpPr/>
          <p:nvPr/>
        </p:nvSpPr>
        <p:spPr>
          <a:xfrm>
            <a:off x="457200" y="1097280"/>
            <a:ext cx="8229600" cy="5029200"/>
          </a:xfrm>
          <a:prstGeom prst="rect">
            <a:avLst/>
          </a:prstGeom>
          <a:noFill/>
          <a:ln/>
        </p:spPr>
        <p:txBody>
          <a:bodyPr wrap="square" rtlCol="0" anchor="t"/>
          <a:lstStyle/>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Every park has a dedicated page — tap any pin on the map</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Key information on a park page:</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Reference (K-number) — copy this exactly</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Park name and managing entity</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Total lifetime activations</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Total QSOs logged from this park</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Most recent activation date and activator</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Leaderboard — who has activated it most</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Hunter log — who has worked this park</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A park with 0 activations is called "unactivated"</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Hunters love unactivated parks — rare credit for them</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10B981"/>
          </a:solidFill>
          <a:ln/>
        </p:spPr>
      </p:sp>
      <p:sp>
        <p:nvSpPr>
          <p:cNvPr id="3" name="Text 1"/>
          <p:cNvSpPr/>
          <p:nvPr/>
        </p:nvSpPr>
        <p:spPr>
          <a:xfrm>
            <a:off x="365760" y="1371600"/>
            <a:ext cx="8412480" cy="1828800"/>
          </a:xfrm>
          <a:prstGeom prst="rect">
            <a:avLst/>
          </a:prstGeom>
          <a:noFill/>
          <a:ln/>
        </p:spPr>
        <p:txBody>
          <a:bodyPr wrap="square" rtlCol="0" anchor="ctr"/>
          <a:lstStyle/>
          <a:p>
            <a:pPr indent="0" marL="0">
              <a:buNone/>
            </a:pPr>
            <a:r>
              <a:rPr lang="en-US" sz="3200" b="1" dirty="0">
                <a:solidFill>
                  <a:srgbClr val="FFFFFF"/>
                </a:solidFill>
                <a:latin typeface="Plus Jakarta Sans" pitchFamily="34" charset="0"/>
                <a:ea typeface="Plus Jakarta Sans" pitchFamily="34" charset="-122"/>
                <a:cs typeface="Plus Jakarta Sans" pitchFamily="34" charset="-120"/>
              </a:rPr>
              <a:t>Your pota.app Account</a:t>
            </a:r>
            <a:endParaRPr lang="en-US" sz="3200" dirty="0"/>
          </a:p>
        </p:txBody>
      </p:sp>
      <p:sp>
        <p:nvSpPr>
          <p:cNvPr id="4" name="Text 2"/>
          <p:cNvSpPr/>
          <p:nvPr/>
        </p:nvSpPr>
        <p:spPr>
          <a:xfrm>
            <a:off x="365760" y="3200400"/>
            <a:ext cx="8229600" cy="731520"/>
          </a:xfrm>
          <a:prstGeom prst="rect">
            <a:avLst/>
          </a:prstGeom>
          <a:noFill/>
          <a:ln/>
        </p:spPr>
        <p:txBody>
          <a:bodyPr wrap="square" rtlCol="0" anchor="ctr"/>
          <a:lstStyle/>
          <a:p>
            <a:pPr indent="0" marL="0">
              <a:buNone/>
            </a:pPr>
            <a:r>
              <a:rPr lang="en-US" sz="1600" dirty="0">
                <a:solidFill>
                  <a:srgbClr val="6EE7B7"/>
                </a:solidFill>
                <a:latin typeface="Plus Jakarta Sans" pitchFamily="34" charset="0"/>
                <a:ea typeface="Plus Jakarta Sans" pitchFamily="34" charset="-122"/>
                <a:cs typeface="Plus Jakarta Sans" pitchFamily="34" charset="-120"/>
              </a:rPr>
              <a:t>Setup, the activator dashboard, and HamAlert</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960120"/>
            <a:ext cx="8229600" cy="45720"/>
          </a:xfrm>
          <a:prstGeom prst="rect">
            <a:avLst/>
          </a:prstGeom>
          <a:solidFill>
            <a:srgbClr val="10B981"/>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2200" b="1" dirty="0">
                <a:solidFill>
                  <a:srgbClr val="0F172A"/>
                </a:solidFill>
                <a:latin typeface="Plus Jakarta Sans" pitchFamily="34" charset="0"/>
                <a:ea typeface="Plus Jakarta Sans" pitchFamily="34" charset="-122"/>
                <a:cs typeface="Plus Jakarta Sans" pitchFamily="34" charset="-120"/>
              </a:rPr>
              <a:t>Creating Your Account</a:t>
            </a:r>
            <a:endParaRPr lang="en-US" sz="2200" dirty="0"/>
          </a:p>
        </p:txBody>
      </p:sp>
      <p:sp>
        <p:nvSpPr>
          <p:cNvPr id="4" name="Text 2"/>
          <p:cNvSpPr/>
          <p:nvPr/>
        </p:nvSpPr>
        <p:spPr>
          <a:xfrm>
            <a:off x="457200" y="1097280"/>
            <a:ext cx="8229600" cy="5029200"/>
          </a:xfrm>
          <a:prstGeom prst="rect">
            <a:avLst/>
          </a:prstGeom>
          <a:noFill/>
          <a:ln/>
        </p:spPr>
        <p:txBody>
          <a:bodyPr wrap="square" rtlCol="0" anchor="t"/>
          <a:lstStyle/>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Go to pota.app — hit Register</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Use your callsign as your username (must match your FCC license)</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Verify email</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Profile setup:</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Profile → Edit Profile</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Enter callsign, name, QRZ link</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Optionally link LoTW certificate</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 Callsign must match exactly</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Hunters log your callsign when they work you</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System matches it to your account automatically</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Mismatch = hunters don't get credit = unhappy hunters</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960120"/>
            <a:ext cx="8229600" cy="45720"/>
          </a:xfrm>
          <a:prstGeom prst="rect">
            <a:avLst/>
          </a:prstGeom>
          <a:solidFill>
            <a:srgbClr val="10B981"/>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2200" b="1" dirty="0">
                <a:solidFill>
                  <a:srgbClr val="0F172A"/>
                </a:solidFill>
                <a:latin typeface="Plus Jakarta Sans" pitchFamily="34" charset="0"/>
                <a:ea typeface="Plus Jakarta Sans" pitchFamily="34" charset="-122"/>
                <a:cs typeface="Plus Jakarta Sans" pitchFamily="34" charset="-120"/>
              </a:rPr>
              <a:t>Your Activator Dashboard</a:t>
            </a:r>
            <a:endParaRPr lang="en-US" sz="2200" dirty="0"/>
          </a:p>
        </p:txBody>
      </p:sp>
      <p:sp>
        <p:nvSpPr>
          <p:cNvPr id="4" name="Text 2"/>
          <p:cNvSpPr/>
          <p:nvPr/>
        </p:nvSpPr>
        <p:spPr>
          <a:xfrm>
            <a:off x="457200" y="1097280"/>
            <a:ext cx="8229600" cy="5029200"/>
          </a:xfrm>
          <a:prstGeom prst="rect">
            <a:avLst/>
          </a:prstGeom>
          <a:noFill/>
          <a:ln/>
        </p:spPr>
        <p:txBody>
          <a:bodyPr wrap="square" rtlCol="0" anchor="t"/>
          <a:lstStyle/>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Shows after you log in:</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Total activations (valid count)</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Total parks activated</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Award progress — badges at 1, 10, 25, 50, 100, 250, 500, 1000</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Recent activation history</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Pending activations (uploaded, processing)</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HamAlert (hamalert.org):</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Free push notification service for hunters</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Set up alerts for specific parks you want to catch</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Also useful to monitor if your own spot went live</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Can text you when a specific callsign is spotted</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10B981"/>
          </a:solidFill>
          <a:ln/>
        </p:spPr>
      </p:sp>
      <p:sp>
        <p:nvSpPr>
          <p:cNvPr id="3" name="Text 1"/>
          <p:cNvSpPr/>
          <p:nvPr/>
        </p:nvSpPr>
        <p:spPr>
          <a:xfrm>
            <a:off x="365760" y="1371600"/>
            <a:ext cx="8412480" cy="1828800"/>
          </a:xfrm>
          <a:prstGeom prst="rect">
            <a:avLst/>
          </a:prstGeom>
          <a:noFill/>
          <a:ln/>
        </p:spPr>
        <p:txBody>
          <a:bodyPr wrap="square" rtlCol="0" anchor="ctr"/>
          <a:lstStyle/>
          <a:p>
            <a:pPr indent="0" marL="0">
              <a:buNone/>
            </a:pPr>
            <a:r>
              <a:rPr lang="en-US" sz="3200" b="1" dirty="0">
                <a:solidFill>
                  <a:srgbClr val="FFFFFF"/>
                </a:solidFill>
                <a:latin typeface="Plus Jakarta Sans" pitchFamily="34" charset="0"/>
                <a:ea typeface="Plus Jakarta Sans" pitchFamily="34" charset="-122"/>
                <a:cs typeface="Plus Jakarta Sans" pitchFamily="34" charset="-120"/>
              </a:rPr>
              <a:t>Valid Activation Rules</a:t>
            </a:r>
            <a:endParaRPr lang="en-US" sz="3200" dirty="0"/>
          </a:p>
        </p:txBody>
      </p:sp>
      <p:sp>
        <p:nvSpPr>
          <p:cNvPr id="4" name="Text 2"/>
          <p:cNvSpPr/>
          <p:nvPr/>
        </p:nvSpPr>
        <p:spPr>
          <a:xfrm>
            <a:off x="365760" y="3200400"/>
            <a:ext cx="8229600" cy="731520"/>
          </a:xfrm>
          <a:prstGeom prst="rect">
            <a:avLst/>
          </a:prstGeom>
          <a:noFill/>
          <a:ln/>
        </p:spPr>
        <p:txBody>
          <a:bodyPr wrap="square" rtlCol="0" anchor="ctr"/>
          <a:lstStyle/>
          <a:p>
            <a:pPr indent="0" marL="0">
              <a:buNone/>
            </a:pPr>
            <a:r>
              <a:rPr lang="en-US" sz="1600" dirty="0">
                <a:solidFill>
                  <a:srgbClr val="6EE7B7"/>
                </a:solidFill>
                <a:latin typeface="Plus Jakarta Sans" pitchFamily="34" charset="0"/>
                <a:ea typeface="Plus Jakarta Sans" pitchFamily="34" charset="-122"/>
                <a:cs typeface="Plus Jakarta Sans" pitchFamily="34" charset="-120"/>
              </a:rPr>
              <a:t>What counts, what doesn't, and the UTC clock</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960120"/>
            <a:ext cx="8229600" cy="45720"/>
          </a:xfrm>
          <a:prstGeom prst="rect">
            <a:avLst/>
          </a:prstGeom>
          <a:solidFill>
            <a:srgbClr val="10B981"/>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2200" b="1" dirty="0">
                <a:solidFill>
                  <a:srgbClr val="0F172A"/>
                </a:solidFill>
                <a:latin typeface="Plus Jakarta Sans" pitchFamily="34" charset="0"/>
                <a:ea typeface="Plus Jakarta Sans" pitchFamily="34" charset="-122"/>
                <a:cs typeface="Plus Jakarta Sans" pitchFamily="34" charset="-120"/>
              </a:rPr>
              <a:t>The Five Rules</a:t>
            </a:r>
            <a:endParaRPr lang="en-US" sz="2200" dirty="0"/>
          </a:p>
        </p:txBody>
      </p:sp>
      <p:sp>
        <p:nvSpPr>
          <p:cNvPr id="4" name="Text 2"/>
          <p:cNvSpPr/>
          <p:nvPr/>
        </p:nvSpPr>
        <p:spPr>
          <a:xfrm>
            <a:off x="457200" y="1097280"/>
            <a:ext cx="8229600" cy="5029200"/>
          </a:xfrm>
          <a:prstGeom prst="rect">
            <a:avLst/>
          </a:prstGeom>
          <a:noFill/>
          <a:ln/>
        </p:spPr>
        <p:txBody>
          <a:bodyPr wrap="square" rtlCol="0" anchor="t"/>
          <a:lstStyle/>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1.  10 QSOs minimum to earn activator credit</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2.  All QSOs from within park boundaries</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3.  Same UTC calendar day for all contacts</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4.  Your callsign as control operator</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5.  Valid ADIF log uploaded to pota.app</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If you make fewer than 10 QSOs:</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Upload the log anyway</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You don't get activator credit</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Hunters DO get credit — they earned it</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Overlapping parks: count QSOs toward both simultaneously</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960120"/>
            <a:ext cx="8229600" cy="45720"/>
          </a:xfrm>
          <a:prstGeom prst="rect">
            <a:avLst/>
          </a:prstGeom>
          <a:solidFill>
            <a:srgbClr val="10B981"/>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2200" b="1" dirty="0">
                <a:solidFill>
                  <a:srgbClr val="0F172A"/>
                </a:solidFill>
                <a:latin typeface="Plus Jakarta Sans" pitchFamily="34" charset="0"/>
                <a:ea typeface="Plus Jakarta Sans" pitchFamily="34" charset="-122"/>
                <a:cs typeface="Plus Jakarta Sans" pitchFamily="34" charset="-120"/>
              </a:rPr>
              <a:t>UTC — The Activator's Time Zone</a:t>
            </a:r>
            <a:endParaRPr lang="en-US" sz="2200" dirty="0"/>
          </a:p>
        </p:txBody>
      </p:sp>
      <p:sp>
        <p:nvSpPr>
          <p:cNvPr id="4" name="Text 2"/>
          <p:cNvSpPr/>
          <p:nvPr/>
        </p:nvSpPr>
        <p:spPr>
          <a:xfrm>
            <a:off x="457200" y="1097280"/>
            <a:ext cx="8229600" cy="5029200"/>
          </a:xfrm>
          <a:prstGeom prst="rect">
            <a:avLst/>
          </a:prstGeom>
          <a:noFill/>
          <a:ln/>
        </p:spPr>
        <p:txBody>
          <a:bodyPr wrap="square" rtlCol="0" anchor="t"/>
          <a:lstStyle/>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All POTA logs use UTC — not local time</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Florida time conversions:</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EDT (summer) = UTC − 4 hours</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EST (winter) = UTC − 5 hours</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Example: 7:30 PM EDT = 23:30 UTC (same date)</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Example: 9:00 PM EDT = 01:00 UTC (NEXT date)</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 Late activations: watch the UTC midnight rollover</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If QSOs span two UTC dates, log the split carefully</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HAMRS handles this automatically — trust the app</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Set your phone or radio clock to UTC before activating</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960120"/>
            <a:ext cx="8229600" cy="45720"/>
          </a:xfrm>
          <a:prstGeom prst="rect">
            <a:avLst/>
          </a:prstGeom>
          <a:solidFill>
            <a:srgbClr val="10B981"/>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2200" b="1" dirty="0">
                <a:solidFill>
                  <a:srgbClr val="0F172A"/>
                </a:solidFill>
                <a:latin typeface="Plus Jakarta Sans" pitchFamily="34" charset="0"/>
                <a:ea typeface="Plus Jakarta Sans" pitchFamily="34" charset="-122"/>
                <a:cs typeface="Plus Jakarta Sans" pitchFamily="34" charset="-120"/>
              </a:rPr>
              <a:t>Modes That Count vs. Don't Count</a:t>
            </a:r>
            <a:endParaRPr lang="en-US" sz="2200" dirty="0"/>
          </a:p>
        </p:txBody>
      </p:sp>
      <p:sp>
        <p:nvSpPr>
          <p:cNvPr id="4" name="Shape 2"/>
          <p:cNvSpPr/>
          <p:nvPr/>
        </p:nvSpPr>
        <p:spPr>
          <a:xfrm>
            <a:off x="457200" y="1097280"/>
            <a:ext cx="3840480" cy="5029200"/>
          </a:xfrm>
          <a:prstGeom prst="rect">
            <a:avLst/>
          </a:prstGeom>
          <a:solidFill>
            <a:srgbClr val="F8FAFC"/>
          </a:solidFill>
          <a:ln w="12700">
            <a:solidFill>
              <a:srgbClr val="E2E8F0"/>
            </a:solidFill>
            <a:prstDash val="solid"/>
          </a:ln>
        </p:spPr>
      </p:sp>
      <p:sp>
        <p:nvSpPr>
          <p:cNvPr id="5" name="Shape 3"/>
          <p:cNvSpPr/>
          <p:nvPr/>
        </p:nvSpPr>
        <p:spPr>
          <a:xfrm>
            <a:off x="4846320" y="1097280"/>
            <a:ext cx="3840480" cy="5029200"/>
          </a:xfrm>
          <a:prstGeom prst="rect">
            <a:avLst/>
          </a:prstGeom>
          <a:solidFill>
            <a:srgbClr val="F8FAFC"/>
          </a:solidFill>
          <a:ln w="12700">
            <a:solidFill>
              <a:srgbClr val="E2E8F0"/>
            </a:solidFill>
            <a:prstDash val="solid"/>
          </a:ln>
        </p:spPr>
      </p:sp>
      <p:sp>
        <p:nvSpPr>
          <p:cNvPr id="6" name="Text 4"/>
          <p:cNvSpPr/>
          <p:nvPr/>
        </p:nvSpPr>
        <p:spPr>
          <a:xfrm>
            <a:off x="548640" y="1188720"/>
            <a:ext cx="3657600" cy="365760"/>
          </a:xfrm>
          <a:prstGeom prst="rect">
            <a:avLst/>
          </a:prstGeom>
          <a:noFill/>
          <a:ln/>
        </p:spPr>
        <p:txBody>
          <a:bodyPr wrap="square" rtlCol="0" anchor="ctr"/>
          <a:lstStyle/>
          <a:p>
            <a:pPr indent="0" marL="0">
              <a:buNone/>
            </a:pPr>
            <a:r>
              <a:rPr lang="en-US" sz="1300" b="1" dirty="0">
                <a:solidFill>
                  <a:srgbClr val="065F46"/>
                </a:solidFill>
                <a:latin typeface="Plus Jakarta Sans" pitchFamily="34" charset="0"/>
                <a:ea typeface="Plus Jakarta Sans" pitchFamily="34" charset="-122"/>
                <a:cs typeface="Plus Jakarta Sans" pitchFamily="34" charset="-120"/>
              </a:rPr>
              <a:t>✅ Valid POTA Modes</a:t>
            </a:r>
            <a:endParaRPr lang="en-US" sz="1300" dirty="0"/>
          </a:p>
        </p:txBody>
      </p:sp>
      <p:sp>
        <p:nvSpPr>
          <p:cNvPr id="7" name="Text 5"/>
          <p:cNvSpPr/>
          <p:nvPr/>
        </p:nvSpPr>
        <p:spPr>
          <a:xfrm>
            <a:off x="548640" y="1600200"/>
            <a:ext cx="3657600" cy="4389120"/>
          </a:xfrm>
          <a:prstGeom prst="rect">
            <a:avLst/>
          </a:prstGeom>
          <a:noFill/>
          <a:ln/>
        </p:spPr>
        <p:txBody>
          <a:bodyPr wrap="square" rtlCol="0" anchor="t"/>
          <a:lstStyle/>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SSB (phone) — most common</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CW — short exchanges, very popular</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FT8 / FT4 — highest rate per hour</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FM — VHF/UHF, 147.555 simplex</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RTTY, PSK31, other digital RF modes</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Any RF mode in the rulebook</a:t>
            </a:r>
            <a:endParaRPr lang="en-US" sz="1300" dirty="0"/>
          </a:p>
        </p:txBody>
      </p:sp>
      <p:sp>
        <p:nvSpPr>
          <p:cNvPr id="8" name="Text 6"/>
          <p:cNvSpPr/>
          <p:nvPr/>
        </p:nvSpPr>
        <p:spPr>
          <a:xfrm>
            <a:off x="4937760" y="1188720"/>
            <a:ext cx="3657600" cy="365760"/>
          </a:xfrm>
          <a:prstGeom prst="rect">
            <a:avLst/>
          </a:prstGeom>
          <a:noFill/>
          <a:ln/>
        </p:spPr>
        <p:txBody>
          <a:bodyPr wrap="square" rtlCol="0" anchor="ctr"/>
          <a:lstStyle/>
          <a:p>
            <a:pPr indent="0" marL="0">
              <a:buNone/>
            </a:pPr>
            <a:r>
              <a:rPr lang="en-US" sz="1300" b="1" dirty="0">
                <a:solidFill>
                  <a:srgbClr val="065F46"/>
                </a:solidFill>
                <a:latin typeface="Plus Jakarta Sans" pitchFamily="34" charset="0"/>
                <a:ea typeface="Plus Jakarta Sans" pitchFamily="34" charset="-122"/>
                <a:cs typeface="Plus Jakarta Sans" pitchFamily="34" charset="-120"/>
              </a:rPr>
              <a:t>❌ Does Not Count</a:t>
            </a:r>
            <a:endParaRPr lang="en-US" sz="1300" dirty="0"/>
          </a:p>
        </p:txBody>
      </p:sp>
      <p:sp>
        <p:nvSpPr>
          <p:cNvPr id="9" name="Text 7"/>
          <p:cNvSpPr/>
          <p:nvPr/>
        </p:nvSpPr>
        <p:spPr>
          <a:xfrm>
            <a:off x="4937760" y="1600200"/>
            <a:ext cx="3657600" cy="4389120"/>
          </a:xfrm>
          <a:prstGeom prst="rect">
            <a:avLst/>
          </a:prstGeom>
          <a:noFill/>
          <a:ln/>
        </p:spPr>
        <p:txBody>
          <a:bodyPr wrap="square" rtlCol="0" anchor="t"/>
          <a:lstStyle/>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Echolink (internet-linked)</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AllStar, IRLP, D-STAR repeater internet</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DMR via internet gateway</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Winlink HF is OK; Winlink via internet is not</a:t>
            </a:r>
            <a:endParaRPr lang="en-US" sz="1300" dirty="0"/>
          </a:p>
          <a:p>
            <a:pPr marL="342900" indent="-342900">
              <a:spcBef>
                <a:spcPts val="400"/>
              </a:spcBef>
              <a:buSzPct val="100000"/>
              <a:buChar char="•"/>
            </a:pPr>
            <a:r>
              <a:rPr lang="en-US" sz="1300" dirty="0">
                <a:solidFill>
                  <a:srgbClr val="334155"/>
                </a:solidFill>
                <a:latin typeface="Plus Jakarta Sans" pitchFamily="34" charset="0"/>
                <a:ea typeface="Plus Jakarta Sans" pitchFamily="34" charset="-122"/>
                <a:cs typeface="Plus Jakarta Sans" pitchFamily="34" charset="-120"/>
              </a:rPr>
              <a:t>Any connection where RF is not end-to-end</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10B981"/>
          </a:solidFill>
          <a:ln/>
        </p:spPr>
      </p:sp>
      <p:sp>
        <p:nvSpPr>
          <p:cNvPr id="3" name="Text 1"/>
          <p:cNvSpPr/>
          <p:nvPr/>
        </p:nvSpPr>
        <p:spPr>
          <a:xfrm>
            <a:off x="365760" y="1371600"/>
            <a:ext cx="8412480" cy="1828800"/>
          </a:xfrm>
          <a:prstGeom prst="rect">
            <a:avLst/>
          </a:prstGeom>
          <a:noFill/>
          <a:ln/>
        </p:spPr>
        <p:txBody>
          <a:bodyPr wrap="square" rtlCol="0" anchor="ctr"/>
          <a:lstStyle/>
          <a:p>
            <a:pPr indent="0" marL="0">
              <a:buNone/>
            </a:pPr>
            <a:r>
              <a:rPr lang="en-US" sz="3200" b="1" dirty="0">
                <a:solidFill>
                  <a:srgbClr val="FFFFFF"/>
                </a:solidFill>
                <a:latin typeface="Plus Jakarta Sans" pitchFamily="34" charset="0"/>
                <a:ea typeface="Plus Jakarta Sans" pitchFamily="34" charset="-122"/>
                <a:cs typeface="Plus Jakarta Sans" pitchFamily="34" charset="-120"/>
              </a:rPr>
              <a:t>Park Logistics &amp; Leave No Trace</a:t>
            </a:r>
            <a:endParaRPr lang="en-US" sz="3200" dirty="0"/>
          </a:p>
        </p:txBody>
      </p:sp>
      <p:sp>
        <p:nvSpPr>
          <p:cNvPr id="4" name="Text 2"/>
          <p:cNvSpPr/>
          <p:nvPr/>
        </p:nvSpPr>
        <p:spPr>
          <a:xfrm>
            <a:off x="365760" y="3200400"/>
            <a:ext cx="8229600" cy="731520"/>
          </a:xfrm>
          <a:prstGeom prst="rect">
            <a:avLst/>
          </a:prstGeom>
          <a:noFill/>
          <a:ln/>
        </p:spPr>
        <p:txBody>
          <a:bodyPr wrap="square" rtlCol="0" anchor="ctr"/>
          <a:lstStyle/>
          <a:p>
            <a:pPr indent="0" marL="0">
              <a:buNone/>
            </a:pPr>
            <a:r>
              <a:rPr lang="en-US" sz="1600" dirty="0">
                <a:solidFill>
                  <a:srgbClr val="6EE7B7"/>
                </a:solidFill>
                <a:latin typeface="Plus Jakarta Sans" pitchFamily="34" charset="0"/>
                <a:ea typeface="Plus Jakarta Sans" pitchFamily="34" charset="-122"/>
                <a:cs typeface="Plus Jakarta Sans" pitchFamily="34" charset="-120"/>
              </a:rPr>
              <a:t>Research before you go, etiquette, safety</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960120"/>
            <a:ext cx="8229600" cy="45720"/>
          </a:xfrm>
          <a:prstGeom prst="rect">
            <a:avLst/>
          </a:prstGeom>
          <a:solidFill>
            <a:srgbClr val="10B981"/>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2200" b="1" dirty="0">
                <a:solidFill>
                  <a:srgbClr val="0F172A"/>
                </a:solidFill>
                <a:latin typeface="Plus Jakarta Sans" pitchFamily="34" charset="0"/>
                <a:ea typeface="Plus Jakarta Sans" pitchFamily="34" charset="-122"/>
                <a:cs typeface="Plus Jakarta Sans" pitchFamily="34" charset="-120"/>
              </a:rPr>
              <a:t>Before You Go — Research Checklist</a:t>
            </a:r>
            <a:endParaRPr lang="en-US" sz="2200" dirty="0"/>
          </a:p>
        </p:txBody>
      </p:sp>
      <p:sp>
        <p:nvSpPr>
          <p:cNvPr id="4" name="Text 2"/>
          <p:cNvSpPr/>
          <p:nvPr/>
        </p:nvSpPr>
        <p:spPr>
          <a:xfrm>
            <a:off x="457200" y="1097280"/>
            <a:ext cx="8229600" cy="5029200"/>
          </a:xfrm>
          <a:prstGeom prst="rect">
            <a:avLst/>
          </a:prstGeom>
          <a:noFill/>
          <a:ln/>
        </p:spPr>
        <p:txBody>
          <a:bodyPr wrap="square" rtlCol="0" anchor="t"/>
          <a:lstStyle/>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Park hours — many close at sunset; check the website</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Entry fees — budget $5–$10 for most state parks</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Permit requirements — some NPS parks require one for antenna setups</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Cell coverage — you need a signal to self-spot; check coverage maps</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Parking — is there a spot close to a suitable operating area?</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Have a backup plan:</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If the park is closed, have a nearby alternative K-reference ready</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If weather turns, know if there's a covered pavilion</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Tip: pota.app past activation comments often mention logistics details other activators noted</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960120"/>
            <a:ext cx="8229600" cy="45720"/>
          </a:xfrm>
          <a:prstGeom prst="rect">
            <a:avLst/>
          </a:prstGeom>
          <a:solidFill>
            <a:srgbClr val="10B981"/>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2200" b="1" dirty="0">
                <a:solidFill>
                  <a:srgbClr val="0F172A"/>
                </a:solidFill>
                <a:latin typeface="Plus Jakarta Sans" pitchFamily="34" charset="0"/>
                <a:ea typeface="Plus Jakarta Sans" pitchFamily="34" charset="-122"/>
                <a:cs typeface="Plus Jakarta Sans" pitchFamily="34" charset="-120"/>
              </a:rPr>
              <a:t>Antenna Placement and Leave No Trace</a:t>
            </a:r>
            <a:endParaRPr lang="en-US" sz="2200" dirty="0"/>
          </a:p>
        </p:txBody>
      </p:sp>
      <p:sp>
        <p:nvSpPr>
          <p:cNvPr id="4" name="Text 2"/>
          <p:cNvSpPr/>
          <p:nvPr/>
        </p:nvSpPr>
        <p:spPr>
          <a:xfrm>
            <a:off x="457200" y="1097280"/>
            <a:ext cx="8229600" cy="5029200"/>
          </a:xfrm>
          <a:prstGeom prst="rect">
            <a:avLst/>
          </a:prstGeom>
          <a:noFill/>
          <a:ln/>
        </p:spPr>
        <p:txBody>
          <a:bodyPr wrap="square" rtlCol="0" anchor="t"/>
          <a:lstStyle/>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Throwing wire into trees: generally fine with a soft throw bag</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Telescoping poles (squid poles): excellent for parks — no tree needed</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Driving ground stakes: fine in camping/picnic areas</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Never leave attached hardware — remove everything when you leave</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Leave No Trace in practice:</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Pack everything in, pack everything out</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Use existing paths and clearings for setup</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Loop wire on trees — don't hard-tie (trees move in wind)</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Leave tables cleaner than you found them</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Position generators away from other visitors</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If a ranger approaches: be friendly, explain POTA, show your license</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960120"/>
            <a:ext cx="8229600" cy="45720"/>
          </a:xfrm>
          <a:prstGeom prst="rect">
            <a:avLst/>
          </a:prstGeom>
          <a:solidFill>
            <a:srgbClr val="10B981"/>
          </a:solidFill>
          <a:ln/>
        </p:spPr>
      </p:sp>
      <p:sp>
        <p:nvSpPr>
          <p:cNvPr id="3" name="Text 1"/>
          <p:cNvSpPr/>
          <p:nvPr/>
        </p:nvSpPr>
        <p:spPr>
          <a:xfrm>
            <a:off x="457200" y="274320"/>
            <a:ext cx="8229600" cy="640080"/>
          </a:xfrm>
          <a:prstGeom prst="rect">
            <a:avLst/>
          </a:prstGeom>
          <a:noFill/>
          <a:ln/>
        </p:spPr>
        <p:txBody>
          <a:bodyPr wrap="square" rtlCol="0" anchor="ctr"/>
          <a:lstStyle/>
          <a:p>
            <a:pPr indent="0" marL="0">
              <a:buNone/>
            </a:pPr>
            <a:r>
              <a:rPr lang="en-US" sz="2200" b="1" dirty="0">
                <a:solidFill>
                  <a:srgbClr val="0F172A"/>
                </a:solidFill>
                <a:latin typeface="Plus Jakarta Sans" pitchFamily="34" charset="0"/>
                <a:ea typeface="Plus Jakarta Sans" pitchFamily="34" charset="-122"/>
                <a:cs typeface="Plus Jakarta Sans" pitchFamily="34" charset="-120"/>
              </a:rPr>
              <a:t>Safety for Solo Activations</a:t>
            </a:r>
            <a:endParaRPr lang="en-US" sz="2200" dirty="0"/>
          </a:p>
        </p:txBody>
      </p:sp>
      <p:sp>
        <p:nvSpPr>
          <p:cNvPr id="4" name="Text 2"/>
          <p:cNvSpPr/>
          <p:nvPr/>
        </p:nvSpPr>
        <p:spPr>
          <a:xfrm>
            <a:off x="457200" y="1097280"/>
            <a:ext cx="8229600" cy="5029200"/>
          </a:xfrm>
          <a:prstGeom prst="rect">
            <a:avLst/>
          </a:prstGeom>
          <a:noFill/>
          <a:ln/>
        </p:spPr>
        <p:txBody>
          <a:bodyPr wrap="square" rtlCol="0" anchor="t"/>
          <a:lstStyle/>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Tell someone where you're going and when you'll be back</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Keep your phone charged — it's your lifeline</a:t>
            </a: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Know the nearest hospital or urgent care</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Florida-specific hazards:</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Lightning — most dangerous RF hazard outdoors</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When thunder starts: antenna down immediately</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A long wire in a storm is a lightning rod</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Head to your car — it's a Faraday cage</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Heat — hydrate, know the signs of heat exhaustion</a:t>
            </a:r>
            <a:endParaRPr lang="en-US" sz="1600" dirty="0"/>
          </a:p>
          <a:p>
            <a:pPr marL="381000" indent="-381000">
              <a:spcBef>
                <a:spcPts val="300"/>
              </a:spcBef>
              <a:buSzPct val="100000"/>
              <a:buChar char="•"/>
            </a:pPr>
            <a:r>
              <a:rPr lang="en-US" sz="1400" dirty="0">
                <a:solidFill>
                  <a:srgbClr val="334155"/>
                </a:solidFill>
                <a:latin typeface="Plus Jakarta Sans" pitchFamily="34" charset="0"/>
                <a:ea typeface="Plus Jakarta Sans" pitchFamily="34" charset="-122"/>
                <a:cs typeface="Plus Jakarta Sans" pitchFamily="34" charset="-120"/>
              </a:rPr>
              <a:t>Wildlife — alligators near water, snakes in vegetation</a:t>
            </a:r>
            <a:endParaRPr lang="en-US" sz="1600" dirty="0"/>
          </a:p>
          <a:p>
            <a:pPr marL="342900" indent="-342900">
              <a:spcBef>
                <a:spcPts val="600"/>
              </a:spcBef>
              <a:buSzPct val="100000"/>
              <a:buChar char="•"/>
            </a:pPr>
            <a:endParaRPr lang="en-US" sz="1600" dirty="0"/>
          </a:p>
          <a:p>
            <a:pPr marL="342900" indent="-342900">
              <a:spcBef>
                <a:spcPts val="600"/>
              </a:spcBef>
              <a:buSzPct val="100000"/>
              <a:buChar char="•"/>
            </a:pPr>
            <a:r>
              <a:rPr lang="en-US" sz="1600" dirty="0">
                <a:solidFill>
                  <a:srgbClr val="0F172A"/>
                </a:solidFill>
                <a:latin typeface="Plus Jakarta Sans" pitchFamily="34" charset="0"/>
                <a:ea typeface="Plus Jakarta Sans" pitchFamily="34" charset="-122"/>
                <a:cs typeface="Plus Jakarta Sans" pitchFamily="34" charset="-120"/>
              </a:rPr>
              <a:t>If you feel unsafe: pack up and leave. No activation is worth it.</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82880"/>
            <a:ext cx="8229600" cy="365760"/>
          </a:xfrm>
          <a:prstGeom prst="rect">
            <a:avLst/>
          </a:prstGeom>
          <a:noFill/>
          <a:ln/>
        </p:spPr>
        <p:txBody>
          <a:bodyPr wrap="square" rtlCol="0" anchor="ctr"/>
          <a:lstStyle/>
          <a:p>
            <a:pPr indent="0" marL="0">
              <a:buNone/>
            </a:pPr>
            <a:r>
              <a:rPr lang="en-US" sz="1100" b="1" spc="300" kern="0" dirty="0">
                <a:solidFill>
                  <a:srgbClr val="6EE7B7"/>
                </a:solidFill>
                <a:latin typeface="Plus Jakarta Sans" pitchFamily="34" charset="0"/>
                <a:ea typeface="Plus Jakarta Sans" pitchFamily="34" charset="-122"/>
                <a:cs typeface="Plus Jakarta Sans" pitchFamily="34" charset="-120"/>
              </a:rPr>
              <a:t>KNOWLEDGE CHECK</a:t>
            </a:r>
            <a:endParaRPr lang="en-US" sz="1100" dirty="0"/>
          </a:p>
        </p:txBody>
      </p:sp>
      <p:sp>
        <p:nvSpPr>
          <p:cNvPr id="3" name="Text 1"/>
          <p:cNvSpPr/>
          <p:nvPr/>
        </p:nvSpPr>
        <p:spPr>
          <a:xfrm>
            <a:off x="457200" y="640080"/>
            <a:ext cx="8229600" cy="1280160"/>
          </a:xfrm>
          <a:prstGeom prst="rect">
            <a:avLst/>
          </a:prstGeom>
          <a:noFill/>
          <a:ln/>
        </p:spPr>
        <p:txBody>
          <a:bodyPr wrap="square" rtlCol="0" anchor="ctr"/>
          <a:lstStyle/>
          <a:p>
            <a:pPr indent="0" marL="0">
              <a:buNone/>
            </a:pPr>
            <a:r>
              <a:rPr lang="en-US" sz="2200" b="1" dirty="0">
                <a:solidFill>
                  <a:srgbClr val="FFFFFF"/>
                </a:solidFill>
                <a:latin typeface="Plus Jakarta Sans" pitchFamily="34" charset="0"/>
                <a:ea typeface="Plus Jakarta Sans" pitchFamily="34" charset="-122"/>
                <a:cs typeface="Plus Jakarta Sans" pitchFamily="34" charset="-120"/>
              </a:rPr>
              <a:t>How many QSOs do you need for a valid POTA activation?</a:t>
            </a:r>
            <a:endParaRPr lang="en-US" sz="2200" dirty="0"/>
          </a:p>
        </p:txBody>
      </p:sp>
      <p:sp>
        <p:nvSpPr>
          <p:cNvPr id="4" name="Shape 2"/>
          <p:cNvSpPr/>
          <p:nvPr/>
        </p:nvSpPr>
        <p:spPr>
          <a:xfrm>
            <a:off x="457200" y="2011680"/>
            <a:ext cx="8229600" cy="822960"/>
          </a:xfrm>
          <a:prstGeom prst="rect">
            <a:avLst/>
          </a:prstGeom>
          <a:solidFill>
            <a:srgbClr val="1E293B"/>
          </a:solidFill>
          <a:ln w="12700">
            <a:solidFill>
              <a:srgbClr val="334155"/>
            </a:solidFill>
            <a:prstDash val="solid"/>
          </a:ln>
        </p:spPr>
      </p:sp>
      <p:sp>
        <p:nvSpPr>
          <p:cNvPr id="5" name="Text 3"/>
          <p:cNvSpPr/>
          <p:nvPr/>
        </p:nvSpPr>
        <p:spPr>
          <a:xfrm>
            <a:off x="640080" y="2103120"/>
            <a:ext cx="7863840" cy="640080"/>
          </a:xfrm>
          <a:prstGeom prst="rect">
            <a:avLst/>
          </a:prstGeom>
          <a:noFill/>
          <a:ln/>
        </p:spPr>
        <p:txBody>
          <a:bodyPr wrap="square" rtlCol="0" anchor="ctr"/>
          <a:lstStyle/>
          <a:p>
            <a:pPr indent="0" marL="0">
              <a:buNone/>
            </a:pPr>
            <a:r>
              <a:rPr lang="en-US" sz="1500" dirty="0">
                <a:solidFill>
                  <a:srgbClr val="FFFFFF"/>
                </a:solidFill>
                <a:latin typeface="Plus Jakarta Sans" pitchFamily="34" charset="0"/>
                <a:ea typeface="Plus Jakarta Sans" pitchFamily="34" charset="-122"/>
                <a:cs typeface="Plus Jakarta Sans" pitchFamily="34" charset="-120"/>
              </a:rPr>
              <a:t>A.  5 QSOs</a:t>
            </a:r>
            <a:endParaRPr lang="en-US" sz="1500" dirty="0"/>
          </a:p>
        </p:txBody>
      </p:sp>
      <p:sp>
        <p:nvSpPr>
          <p:cNvPr id="6" name="Shape 4"/>
          <p:cNvSpPr/>
          <p:nvPr/>
        </p:nvSpPr>
        <p:spPr>
          <a:xfrm>
            <a:off x="457200" y="2971800"/>
            <a:ext cx="8229600" cy="822960"/>
          </a:xfrm>
          <a:prstGeom prst="rect">
            <a:avLst/>
          </a:prstGeom>
          <a:solidFill>
            <a:srgbClr val="1E293B"/>
          </a:solidFill>
          <a:ln w="12700">
            <a:solidFill>
              <a:srgbClr val="334155"/>
            </a:solidFill>
            <a:prstDash val="solid"/>
          </a:ln>
        </p:spPr>
      </p:sp>
      <p:sp>
        <p:nvSpPr>
          <p:cNvPr id="7" name="Text 5"/>
          <p:cNvSpPr/>
          <p:nvPr/>
        </p:nvSpPr>
        <p:spPr>
          <a:xfrm>
            <a:off x="640080" y="3063240"/>
            <a:ext cx="7863840" cy="640080"/>
          </a:xfrm>
          <a:prstGeom prst="rect">
            <a:avLst/>
          </a:prstGeom>
          <a:noFill/>
          <a:ln/>
        </p:spPr>
        <p:txBody>
          <a:bodyPr wrap="square" rtlCol="0" anchor="ctr"/>
          <a:lstStyle/>
          <a:p>
            <a:pPr indent="0" marL="0">
              <a:buNone/>
            </a:pPr>
            <a:r>
              <a:rPr lang="en-US" sz="1500" dirty="0">
                <a:solidFill>
                  <a:srgbClr val="FFFFFF"/>
                </a:solidFill>
                <a:latin typeface="Plus Jakarta Sans" pitchFamily="34" charset="0"/>
                <a:ea typeface="Plus Jakarta Sans" pitchFamily="34" charset="-122"/>
                <a:cs typeface="Plus Jakarta Sans" pitchFamily="34" charset="-120"/>
              </a:rPr>
              <a:t>B.  10 QSOs</a:t>
            </a:r>
            <a:endParaRPr lang="en-US" sz="1500" dirty="0"/>
          </a:p>
        </p:txBody>
      </p:sp>
      <p:sp>
        <p:nvSpPr>
          <p:cNvPr id="8" name="Shape 6"/>
          <p:cNvSpPr/>
          <p:nvPr/>
        </p:nvSpPr>
        <p:spPr>
          <a:xfrm>
            <a:off x="457200" y="3931920"/>
            <a:ext cx="8229600" cy="822960"/>
          </a:xfrm>
          <a:prstGeom prst="rect">
            <a:avLst/>
          </a:prstGeom>
          <a:solidFill>
            <a:srgbClr val="1E293B"/>
          </a:solidFill>
          <a:ln w="12700">
            <a:solidFill>
              <a:srgbClr val="334155"/>
            </a:solidFill>
            <a:prstDash val="solid"/>
          </a:ln>
        </p:spPr>
      </p:sp>
      <p:sp>
        <p:nvSpPr>
          <p:cNvPr id="9" name="Text 7"/>
          <p:cNvSpPr/>
          <p:nvPr/>
        </p:nvSpPr>
        <p:spPr>
          <a:xfrm>
            <a:off x="640080" y="4023360"/>
            <a:ext cx="7863840" cy="640080"/>
          </a:xfrm>
          <a:prstGeom prst="rect">
            <a:avLst/>
          </a:prstGeom>
          <a:noFill/>
          <a:ln/>
        </p:spPr>
        <p:txBody>
          <a:bodyPr wrap="square" rtlCol="0" anchor="ctr"/>
          <a:lstStyle/>
          <a:p>
            <a:pPr indent="0" marL="0">
              <a:buNone/>
            </a:pPr>
            <a:r>
              <a:rPr lang="en-US" sz="1500" dirty="0">
                <a:solidFill>
                  <a:srgbClr val="FFFFFF"/>
                </a:solidFill>
                <a:latin typeface="Plus Jakarta Sans" pitchFamily="34" charset="0"/>
                <a:ea typeface="Plus Jakarta Sans" pitchFamily="34" charset="-122"/>
                <a:cs typeface="Plus Jakarta Sans" pitchFamily="34" charset="-120"/>
              </a:rPr>
              <a:t>C.  15 QSOs</a:t>
            </a:r>
            <a:endParaRPr lang="en-US" sz="1500" dirty="0"/>
          </a:p>
        </p:txBody>
      </p:sp>
      <p:sp>
        <p:nvSpPr>
          <p:cNvPr id="10" name="Shape 8"/>
          <p:cNvSpPr/>
          <p:nvPr/>
        </p:nvSpPr>
        <p:spPr>
          <a:xfrm>
            <a:off x="457200" y="4892040"/>
            <a:ext cx="8229600" cy="822960"/>
          </a:xfrm>
          <a:prstGeom prst="rect">
            <a:avLst/>
          </a:prstGeom>
          <a:solidFill>
            <a:srgbClr val="1E293B"/>
          </a:solidFill>
          <a:ln w="12700">
            <a:solidFill>
              <a:srgbClr val="334155"/>
            </a:solidFill>
            <a:prstDash val="solid"/>
          </a:ln>
        </p:spPr>
      </p:sp>
      <p:sp>
        <p:nvSpPr>
          <p:cNvPr id="11" name="Text 9"/>
          <p:cNvSpPr/>
          <p:nvPr/>
        </p:nvSpPr>
        <p:spPr>
          <a:xfrm>
            <a:off x="640080" y="4983480"/>
            <a:ext cx="7863840" cy="640080"/>
          </a:xfrm>
          <a:prstGeom prst="rect">
            <a:avLst/>
          </a:prstGeom>
          <a:noFill/>
          <a:ln/>
        </p:spPr>
        <p:txBody>
          <a:bodyPr wrap="square" rtlCol="0" anchor="ctr"/>
          <a:lstStyle/>
          <a:p>
            <a:pPr indent="0" marL="0">
              <a:buNone/>
            </a:pPr>
            <a:r>
              <a:rPr lang="en-US" sz="1500" dirty="0">
                <a:solidFill>
                  <a:srgbClr val="FFFFFF"/>
                </a:solidFill>
                <a:latin typeface="Plus Jakarta Sans" pitchFamily="34" charset="0"/>
                <a:ea typeface="Plus Jakarta Sans" pitchFamily="34" charset="-122"/>
                <a:cs typeface="Plus Jakarta Sans" pitchFamily="34" charset="-120"/>
              </a:rPr>
              <a:t>D.  25 QSOs</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82880"/>
            <a:ext cx="8229600" cy="365760"/>
          </a:xfrm>
          <a:prstGeom prst="rect">
            <a:avLst/>
          </a:prstGeom>
          <a:noFill/>
          <a:ln/>
        </p:spPr>
        <p:txBody>
          <a:bodyPr wrap="square" rtlCol="0" anchor="ctr"/>
          <a:lstStyle/>
          <a:p>
            <a:pPr indent="0" marL="0">
              <a:buNone/>
            </a:pPr>
            <a:r>
              <a:rPr lang="en-US" sz="1100" b="1" spc="300" kern="0" dirty="0">
                <a:solidFill>
                  <a:srgbClr val="6EE7B7"/>
                </a:solidFill>
                <a:latin typeface="Plus Jakarta Sans" pitchFamily="34" charset="0"/>
                <a:ea typeface="Plus Jakarta Sans" pitchFamily="34" charset="-122"/>
                <a:cs typeface="Plus Jakarta Sans" pitchFamily="34" charset="-120"/>
              </a:rPr>
              <a:t>KNOWLEDGE CHECK</a:t>
            </a:r>
            <a:endParaRPr lang="en-US" sz="1100" dirty="0"/>
          </a:p>
        </p:txBody>
      </p:sp>
      <p:sp>
        <p:nvSpPr>
          <p:cNvPr id="3" name="Text 1"/>
          <p:cNvSpPr/>
          <p:nvPr/>
        </p:nvSpPr>
        <p:spPr>
          <a:xfrm>
            <a:off x="457200" y="640080"/>
            <a:ext cx="8229600" cy="1280160"/>
          </a:xfrm>
          <a:prstGeom prst="rect">
            <a:avLst/>
          </a:prstGeom>
          <a:noFill/>
          <a:ln/>
        </p:spPr>
        <p:txBody>
          <a:bodyPr wrap="square" rtlCol="0" anchor="ctr"/>
          <a:lstStyle/>
          <a:p>
            <a:pPr indent="0" marL="0">
              <a:buNone/>
            </a:pPr>
            <a:r>
              <a:rPr lang="en-US" sz="2200" b="1" dirty="0">
                <a:solidFill>
                  <a:srgbClr val="FFFFFF"/>
                </a:solidFill>
                <a:latin typeface="Plus Jakarta Sans" pitchFamily="34" charset="0"/>
                <a:ea typeface="Plus Jakarta Sans" pitchFamily="34" charset="-122"/>
                <a:cs typeface="Plus Jakarta Sans" pitchFamily="34" charset="-120"/>
              </a:rPr>
              <a:t>You make 8 QSOs before your battery dies. What should you do?</a:t>
            </a:r>
            <a:endParaRPr lang="en-US" sz="2200" dirty="0"/>
          </a:p>
        </p:txBody>
      </p:sp>
      <p:sp>
        <p:nvSpPr>
          <p:cNvPr id="4" name="Shape 2"/>
          <p:cNvSpPr/>
          <p:nvPr/>
        </p:nvSpPr>
        <p:spPr>
          <a:xfrm>
            <a:off x="457200" y="2011680"/>
            <a:ext cx="8229600" cy="822960"/>
          </a:xfrm>
          <a:prstGeom prst="rect">
            <a:avLst/>
          </a:prstGeom>
          <a:solidFill>
            <a:srgbClr val="1E293B"/>
          </a:solidFill>
          <a:ln w="12700">
            <a:solidFill>
              <a:srgbClr val="334155"/>
            </a:solidFill>
            <a:prstDash val="solid"/>
          </a:ln>
        </p:spPr>
      </p:sp>
      <p:sp>
        <p:nvSpPr>
          <p:cNvPr id="5" name="Text 3"/>
          <p:cNvSpPr/>
          <p:nvPr/>
        </p:nvSpPr>
        <p:spPr>
          <a:xfrm>
            <a:off x="640080" y="2103120"/>
            <a:ext cx="7863840" cy="640080"/>
          </a:xfrm>
          <a:prstGeom prst="rect">
            <a:avLst/>
          </a:prstGeom>
          <a:noFill/>
          <a:ln/>
        </p:spPr>
        <p:txBody>
          <a:bodyPr wrap="square" rtlCol="0" anchor="ctr"/>
          <a:lstStyle/>
          <a:p>
            <a:pPr indent="0" marL="0">
              <a:buNone/>
            </a:pPr>
            <a:r>
              <a:rPr lang="en-US" sz="1500" dirty="0">
                <a:solidFill>
                  <a:srgbClr val="FFFFFF"/>
                </a:solidFill>
                <a:latin typeface="Plus Jakarta Sans" pitchFamily="34" charset="0"/>
                <a:ea typeface="Plus Jakarta Sans" pitchFamily="34" charset="-122"/>
                <a:cs typeface="Plus Jakarta Sans" pitchFamily="34" charset="-120"/>
              </a:rPr>
              <a:t>A.  Don't upload — it's not a valid activation</a:t>
            </a:r>
            <a:endParaRPr lang="en-US" sz="1500" dirty="0"/>
          </a:p>
        </p:txBody>
      </p:sp>
      <p:sp>
        <p:nvSpPr>
          <p:cNvPr id="6" name="Shape 4"/>
          <p:cNvSpPr/>
          <p:nvPr/>
        </p:nvSpPr>
        <p:spPr>
          <a:xfrm>
            <a:off x="457200" y="2971800"/>
            <a:ext cx="8229600" cy="822960"/>
          </a:xfrm>
          <a:prstGeom prst="rect">
            <a:avLst/>
          </a:prstGeom>
          <a:solidFill>
            <a:srgbClr val="1E293B"/>
          </a:solidFill>
          <a:ln w="12700">
            <a:solidFill>
              <a:srgbClr val="334155"/>
            </a:solidFill>
            <a:prstDash val="solid"/>
          </a:ln>
        </p:spPr>
      </p:sp>
      <p:sp>
        <p:nvSpPr>
          <p:cNvPr id="7" name="Text 5"/>
          <p:cNvSpPr/>
          <p:nvPr/>
        </p:nvSpPr>
        <p:spPr>
          <a:xfrm>
            <a:off x="640080" y="3063240"/>
            <a:ext cx="7863840" cy="640080"/>
          </a:xfrm>
          <a:prstGeom prst="rect">
            <a:avLst/>
          </a:prstGeom>
          <a:noFill/>
          <a:ln/>
        </p:spPr>
        <p:txBody>
          <a:bodyPr wrap="square" rtlCol="0" anchor="ctr"/>
          <a:lstStyle/>
          <a:p>
            <a:pPr indent="0" marL="0">
              <a:buNone/>
            </a:pPr>
            <a:r>
              <a:rPr lang="en-US" sz="1500" dirty="0">
                <a:solidFill>
                  <a:srgbClr val="FFFFFF"/>
                </a:solidFill>
                <a:latin typeface="Plus Jakarta Sans" pitchFamily="34" charset="0"/>
                <a:ea typeface="Plus Jakarta Sans" pitchFamily="34" charset="-122"/>
                <a:cs typeface="Plus Jakarta Sans" pitchFamily="34" charset="-120"/>
              </a:rPr>
              <a:t>B.  Upload the log anyway so hunters get credit</a:t>
            </a:r>
            <a:endParaRPr lang="en-US" sz="1500" dirty="0"/>
          </a:p>
        </p:txBody>
      </p:sp>
      <p:sp>
        <p:nvSpPr>
          <p:cNvPr id="8" name="Shape 6"/>
          <p:cNvSpPr/>
          <p:nvPr/>
        </p:nvSpPr>
        <p:spPr>
          <a:xfrm>
            <a:off x="457200" y="3931920"/>
            <a:ext cx="8229600" cy="822960"/>
          </a:xfrm>
          <a:prstGeom prst="rect">
            <a:avLst/>
          </a:prstGeom>
          <a:solidFill>
            <a:srgbClr val="1E293B"/>
          </a:solidFill>
          <a:ln w="12700">
            <a:solidFill>
              <a:srgbClr val="334155"/>
            </a:solidFill>
            <a:prstDash val="solid"/>
          </a:ln>
        </p:spPr>
      </p:sp>
      <p:sp>
        <p:nvSpPr>
          <p:cNvPr id="9" name="Text 7"/>
          <p:cNvSpPr/>
          <p:nvPr/>
        </p:nvSpPr>
        <p:spPr>
          <a:xfrm>
            <a:off x="640080" y="4023360"/>
            <a:ext cx="7863840" cy="640080"/>
          </a:xfrm>
          <a:prstGeom prst="rect">
            <a:avLst/>
          </a:prstGeom>
          <a:noFill/>
          <a:ln/>
        </p:spPr>
        <p:txBody>
          <a:bodyPr wrap="square" rtlCol="0" anchor="ctr"/>
          <a:lstStyle/>
          <a:p>
            <a:pPr indent="0" marL="0">
              <a:buNone/>
            </a:pPr>
            <a:r>
              <a:rPr lang="en-US" sz="1500" dirty="0">
                <a:solidFill>
                  <a:srgbClr val="FFFFFF"/>
                </a:solidFill>
                <a:latin typeface="Plus Jakarta Sans" pitchFamily="34" charset="0"/>
                <a:ea typeface="Plus Jakarta Sans" pitchFamily="34" charset="-122"/>
                <a:cs typeface="Plus Jakarta Sans" pitchFamily="34" charset="-120"/>
              </a:rPr>
              <a:t>C.  Go home and pretend it didn't happen</a:t>
            </a:r>
            <a:endParaRPr lang="en-US" sz="1500" dirty="0"/>
          </a:p>
        </p:txBody>
      </p:sp>
      <p:sp>
        <p:nvSpPr>
          <p:cNvPr id="10" name="Shape 8"/>
          <p:cNvSpPr/>
          <p:nvPr/>
        </p:nvSpPr>
        <p:spPr>
          <a:xfrm>
            <a:off x="457200" y="4892040"/>
            <a:ext cx="8229600" cy="822960"/>
          </a:xfrm>
          <a:prstGeom prst="rect">
            <a:avLst/>
          </a:prstGeom>
          <a:solidFill>
            <a:srgbClr val="1E293B"/>
          </a:solidFill>
          <a:ln w="12700">
            <a:solidFill>
              <a:srgbClr val="334155"/>
            </a:solidFill>
            <a:prstDash val="solid"/>
          </a:ln>
        </p:spPr>
      </p:sp>
      <p:sp>
        <p:nvSpPr>
          <p:cNvPr id="11" name="Text 9"/>
          <p:cNvSpPr/>
          <p:nvPr/>
        </p:nvSpPr>
        <p:spPr>
          <a:xfrm>
            <a:off x="640080" y="4983480"/>
            <a:ext cx="7863840" cy="640080"/>
          </a:xfrm>
          <a:prstGeom prst="rect">
            <a:avLst/>
          </a:prstGeom>
          <a:noFill/>
          <a:ln/>
        </p:spPr>
        <p:txBody>
          <a:bodyPr wrap="square" rtlCol="0" anchor="ctr"/>
          <a:lstStyle/>
          <a:p>
            <a:pPr indent="0" marL="0">
              <a:buNone/>
            </a:pPr>
            <a:r>
              <a:rPr lang="en-US" sz="1500" dirty="0">
                <a:solidFill>
                  <a:srgbClr val="FFFFFF"/>
                </a:solidFill>
                <a:latin typeface="Plus Jakarta Sans" pitchFamily="34" charset="0"/>
                <a:ea typeface="Plus Jakarta Sans" pitchFamily="34" charset="-122"/>
                <a:cs typeface="Plus Jakarta Sans" pitchFamily="34" charset="-120"/>
              </a:rPr>
              <a:t>D.  Claim 10 QSOs and hope no one checks</a:t>
            </a:r>
            <a:endParaRPr lang="en-US" sz="15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F172A"/>
        </a:solidFill>
      </p:bgPr>
    </p:bg>
    <p:spTree>
      <p:nvGrpSpPr>
        <p:cNvPr id="1" name=""/>
        <p:cNvGrpSpPr/>
        <p:nvPr/>
      </p:nvGrpSpPr>
      <p:grpSpPr>
        <a:xfrm>
          <a:off x="0" y="0"/>
          <a:ext cx="0" cy="0"/>
          <a:chOff x="0" y="0"/>
          <a:chExt cx="0" cy="0"/>
        </a:xfrm>
      </p:grpSpPr>
      <p:sp>
        <p:nvSpPr>
          <p:cNvPr id="2" name="Text 0"/>
          <p:cNvSpPr/>
          <p:nvPr/>
        </p:nvSpPr>
        <p:spPr>
          <a:xfrm>
            <a:off x="457200" y="182880"/>
            <a:ext cx="8229600" cy="365760"/>
          </a:xfrm>
          <a:prstGeom prst="rect">
            <a:avLst/>
          </a:prstGeom>
          <a:noFill/>
          <a:ln/>
        </p:spPr>
        <p:txBody>
          <a:bodyPr wrap="square" rtlCol="0" anchor="ctr"/>
          <a:lstStyle/>
          <a:p>
            <a:pPr indent="0" marL="0">
              <a:buNone/>
            </a:pPr>
            <a:r>
              <a:rPr lang="en-US" sz="1100" b="1" spc="300" kern="0" dirty="0">
                <a:solidFill>
                  <a:srgbClr val="6EE7B7"/>
                </a:solidFill>
                <a:latin typeface="Plus Jakarta Sans" pitchFamily="34" charset="0"/>
                <a:ea typeface="Plus Jakarta Sans" pitchFamily="34" charset="-122"/>
                <a:cs typeface="Plus Jakarta Sans" pitchFamily="34" charset="-120"/>
              </a:rPr>
              <a:t>KNOWLEDGE CHECK</a:t>
            </a:r>
            <a:endParaRPr lang="en-US" sz="1100" dirty="0"/>
          </a:p>
        </p:txBody>
      </p:sp>
      <p:sp>
        <p:nvSpPr>
          <p:cNvPr id="3" name="Text 1"/>
          <p:cNvSpPr/>
          <p:nvPr/>
        </p:nvSpPr>
        <p:spPr>
          <a:xfrm>
            <a:off x="457200" y="640080"/>
            <a:ext cx="8229600" cy="1280160"/>
          </a:xfrm>
          <a:prstGeom prst="rect">
            <a:avLst/>
          </a:prstGeom>
          <a:noFill/>
          <a:ln/>
        </p:spPr>
        <p:txBody>
          <a:bodyPr wrap="square" rtlCol="0" anchor="ctr"/>
          <a:lstStyle/>
          <a:p>
            <a:pPr indent="0" marL="0">
              <a:buNone/>
            </a:pPr>
            <a:r>
              <a:rPr lang="en-US" sz="2200" b="1" dirty="0">
                <a:solidFill>
                  <a:srgbClr val="FFFFFF"/>
                </a:solidFill>
                <a:latin typeface="Plus Jakarta Sans" pitchFamily="34" charset="0"/>
                <a:ea typeface="Plus Jakarta Sans" pitchFamily="34" charset="-122"/>
                <a:cs typeface="Plus Jakarta Sans" pitchFamily="34" charset="-120"/>
              </a:rPr>
              <a:t>An Echolink contact made from inside a National Forest — does it count for POTA?</a:t>
            </a:r>
            <a:endParaRPr lang="en-US" sz="2200" dirty="0"/>
          </a:p>
        </p:txBody>
      </p:sp>
      <p:sp>
        <p:nvSpPr>
          <p:cNvPr id="4" name="Shape 2"/>
          <p:cNvSpPr/>
          <p:nvPr/>
        </p:nvSpPr>
        <p:spPr>
          <a:xfrm>
            <a:off x="457200" y="2011680"/>
            <a:ext cx="8229600" cy="822960"/>
          </a:xfrm>
          <a:prstGeom prst="rect">
            <a:avLst/>
          </a:prstGeom>
          <a:solidFill>
            <a:srgbClr val="1E293B"/>
          </a:solidFill>
          <a:ln w="12700">
            <a:solidFill>
              <a:srgbClr val="334155"/>
            </a:solidFill>
            <a:prstDash val="solid"/>
          </a:ln>
        </p:spPr>
      </p:sp>
      <p:sp>
        <p:nvSpPr>
          <p:cNvPr id="5" name="Text 3"/>
          <p:cNvSpPr/>
          <p:nvPr/>
        </p:nvSpPr>
        <p:spPr>
          <a:xfrm>
            <a:off x="640080" y="2103120"/>
            <a:ext cx="7863840" cy="640080"/>
          </a:xfrm>
          <a:prstGeom prst="rect">
            <a:avLst/>
          </a:prstGeom>
          <a:noFill/>
          <a:ln/>
        </p:spPr>
        <p:txBody>
          <a:bodyPr wrap="square" rtlCol="0" anchor="ctr"/>
          <a:lstStyle/>
          <a:p>
            <a:pPr indent="0" marL="0">
              <a:buNone/>
            </a:pPr>
            <a:r>
              <a:rPr lang="en-US" sz="1500" dirty="0">
                <a:solidFill>
                  <a:srgbClr val="FFFFFF"/>
                </a:solidFill>
                <a:latin typeface="Plus Jakarta Sans" pitchFamily="34" charset="0"/>
                <a:ea typeface="Plus Jakarta Sans" pitchFamily="34" charset="-122"/>
                <a:cs typeface="Plus Jakarta Sans" pitchFamily="34" charset="-120"/>
              </a:rPr>
              <a:t>A.  Yes — you're inside a park, so it counts</a:t>
            </a:r>
            <a:endParaRPr lang="en-US" sz="1500" dirty="0"/>
          </a:p>
        </p:txBody>
      </p:sp>
      <p:sp>
        <p:nvSpPr>
          <p:cNvPr id="6" name="Shape 4"/>
          <p:cNvSpPr/>
          <p:nvPr/>
        </p:nvSpPr>
        <p:spPr>
          <a:xfrm>
            <a:off x="457200" y="2971800"/>
            <a:ext cx="8229600" cy="822960"/>
          </a:xfrm>
          <a:prstGeom prst="rect">
            <a:avLst/>
          </a:prstGeom>
          <a:solidFill>
            <a:srgbClr val="1E293B"/>
          </a:solidFill>
          <a:ln w="12700">
            <a:solidFill>
              <a:srgbClr val="334155"/>
            </a:solidFill>
            <a:prstDash val="solid"/>
          </a:ln>
        </p:spPr>
      </p:sp>
      <p:sp>
        <p:nvSpPr>
          <p:cNvPr id="7" name="Text 5"/>
          <p:cNvSpPr/>
          <p:nvPr/>
        </p:nvSpPr>
        <p:spPr>
          <a:xfrm>
            <a:off x="640080" y="3063240"/>
            <a:ext cx="7863840" cy="640080"/>
          </a:xfrm>
          <a:prstGeom prst="rect">
            <a:avLst/>
          </a:prstGeom>
          <a:noFill/>
          <a:ln/>
        </p:spPr>
        <p:txBody>
          <a:bodyPr wrap="square" rtlCol="0" anchor="ctr"/>
          <a:lstStyle/>
          <a:p>
            <a:pPr indent="0" marL="0">
              <a:buNone/>
            </a:pPr>
            <a:r>
              <a:rPr lang="en-US" sz="1500" dirty="0">
                <a:solidFill>
                  <a:srgbClr val="FFFFFF"/>
                </a:solidFill>
                <a:latin typeface="Plus Jakarta Sans" pitchFamily="34" charset="0"/>
                <a:ea typeface="Plus Jakarta Sans" pitchFamily="34" charset="-122"/>
                <a:cs typeface="Plus Jakarta Sans" pitchFamily="34" charset="-120"/>
              </a:rPr>
              <a:t>B.  Only if the other station is also in a park</a:t>
            </a:r>
            <a:endParaRPr lang="en-US" sz="1500" dirty="0"/>
          </a:p>
        </p:txBody>
      </p:sp>
      <p:sp>
        <p:nvSpPr>
          <p:cNvPr id="8" name="Shape 6"/>
          <p:cNvSpPr/>
          <p:nvPr/>
        </p:nvSpPr>
        <p:spPr>
          <a:xfrm>
            <a:off x="457200" y="3931920"/>
            <a:ext cx="8229600" cy="822960"/>
          </a:xfrm>
          <a:prstGeom prst="rect">
            <a:avLst/>
          </a:prstGeom>
          <a:solidFill>
            <a:srgbClr val="1E293B"/>
          </a:solidFill>
          <a:ln w="12700">
            <a:solidFill>
              <a:srgbClr val="334155"/>
            </a:solidFill>
            <a:prstDash val="solid"/>
          </a:ln>
        </p:spPr>
      </p:sp>
      <p:sp>
        <p:nvSpPr>
          <p:cNvPr id="9" name="Text 7"/>
          <p:cNvSpPr/>
          <p:nvPr/>
        </p:nvSpPr>
        <p:spPr>
          <a:xfrm>
            <a:off x="640080" y="4023360"/>
            <a:ext cx="7863840" cy="640080"/>
          </a:xfrm>
          <a:prstGeom prst="rect">
            <a:avLst/>
          </a:prstGeom>
          <a:noFill/>
          <a:ln/>
        </p:spPr>
        <p:txBody>
          <a:bodyPr wrap="square" rtlCol="0" anchor="ctr"/>
          <a:lstStyle/>
          <a:p>
            <a:pPr indent="0" marL="0">
              <a:buNone/>
            </a:pPr>
            <a:r>
              <a:rPr lang="en-US" sz="1500" dirty="0">
                <a:solidFill>
                  <a:srgbClr val="FFFFFF"/>
                </a:solidFill>
                <a:latin typeface="Plus Jakarta Sans" pitchFamily="34" charset="0"/>
                <a:ea typeface="Plus Jakarta Sans" pitchFamily="34" charset="-122"/>
                <a:cs typeface="Plus Jakarta Sans" pitchFamily="34" charset="-120"/>
              </a:rPr>
              <a:t>C.  No — Echolink uses the internet; POTA requires RF end-to-end</a:t>
            </a:r>
            <a:endParaRPr lang="en-US" sz="1500" dirty="0"/>
          </a:p>
        </p:txBody>
      </p:sp>
      <p:sp>
        <p:nvSpPr>
          <p:cNvPr id="10" name="Shape 8"/>
          <p:cNvSpPr/>
          <p:nvPr/>
        </p:nvSpPr>
        <p:spPr>
          <a:xfrm>
            <a:off x="457200" y="4892040"/>
            <a:ext cx="8229600" cy="822960"/>
          </a:xfrm>
          <a:prstGeom prst="rect">
            <a:avLst/>
          </a:prstGeom>
          <a:solidFill>
            <a:srgbClr val="1E293B"/>
          </a:solidFill>
          <a:ln w="12700">
            <a:solidFill>
              <a:srgbClr val="334155"/>
            </a:solidFill>
            <a:prstDash val="solid"/>
          </a:ln>
        </p:spPr>
      </p:sp>
      <p:sp>
        <p:nvSpPr>
          <p:cNvPr id="11" name="Text 9"/>
          <p:cNvSpPr/>
          <p:nvPr/>
        </p:nvSpPr>
        <p:spPr>
          <a:xfrm>
            <a:off x="640080" y="4983480"/>
            <a:ext cx="7863840" cy="640080"/>
          </a:xfrm>
          <a:prstGeom prst="rect">
            <a:avLst/>
          </a:prstGeom>
          <a:noFill/>
          <a:ln/>
        </p:spPr>
        <p:txBody>
          <a:bodyPr wrap="square" rtlCol="0" anchor="ctr"/>
          <a:lstStyle/>
          <a:p>
            <a:pPr indent="0" marL="0">
              <a:buNone/>
            </a:pPr>
            <a:r>
              <a:rPr lang="en-US" sz="1500" dirty="0">
                <a:solidFill>
                  <a:srgbClr val="FFFFFF"/>
                </a:solidFill>
                <a:latin typeface="Plus Jakarta Sans" pitchFamily="34" charset="0"/>
                <a:ea typeface="Plus Jakarta Sans" pitchFamily="34" charset="-122"/>
                <a:cs typeface="Plus Jakarta Sans" pitchFamily="34" charset="-120"/>
              </a:rPr>
              <a:t>D.  Only for hunter credit, not activator credit</a:t>
            </a:r>
            <a:endParaRPr lang="en-US" sz="15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E293B"/>
        </a:solidFill>
      </p:bgPr>
    </p:bg>
    <p:spTree>
      <p:nvGrpSpPr>
        <p:cNvPr id="1" name=""/>
        <p:cNvGrpSpPr/>
        <p:nvPr/>
      </p:nvGrpSpPr>
      <p:grpSpPr>
        <a:xfrm>
          <a:off x="0" y="0"/>
          <a:ext cx="0" cy="0"/>
          <a:chOff x="0" y="0"/>
          <a:chExt cx="0" cy="0"/>
        </a:xfrm>
      </p:grpSpPr>
      <p:sp>
        <p:nvSpPr>
          <p:cNvPr id="2" name="Shape 0"/>
          <p:cNvSpPr/>
          <p:nvPr/>
        </p:nvSpPr>
        <p:spPr>
          <a:xfrm>
            <a:off x="0" y="0"/>
            <a:ext cx="64008" cy="6858000"/>
          </a:xfrm>
          <a:prstGeom prst="rect">
            <a:avLst/>
          </a:prstGeom>
          <a:solidFill>
            <a:srgbClr val="10B981"/>
          </a:solidFill>
          <a:ln/>
        </p:spPr>
      </p:sp>
      <p:sp>
        <p:nvSpPr>
          <p:cNvPr id="3" name="Text 1"/>
          <p:cNvSpPr/>
          <p:nvPr/>
        </p:nvSpPr>
        <p:spPr>
          <a:xfrm>
            <a:off x="365760" y="274320"/>
            <a:ext cx="8229600" cy="411480"/>
          </a:xfrm>
          <a:prstGeom prst="rect">
            <a:avLst/>
          </a:prstGeom>
          <a:noFill/>
          <a:ln/>
        </p:spPr>
        <p:txBody>
          <a:bodyPr wrap="square" rtlCol="0" anchor="ctr"/>
          <a:lstStyle/>
          <a:p>
            <a:pPr indent="0" marL="0">
              <a:buNone/>
            </a:pPr>
            <a:r>
              <a:rPr lang="en-US" sz="1200" b="1" spc="300" kern="0" dirty="0">
                <a:solidFill>
                  <a:srgbClr val="6EE7B7"/>
                </a:solidFill>
                <a:latin typeface="Plus Jakarta Sans" pitchFamily="34" charset="0"/>
                <a:ea typeface="Plus Jakarta Sans" pitchFamily="34" charset="-122"/>
                <a:cs typeface="Plus Jakarta Sans" pitchFamily="34" charset="-120"/>
              </a:rPr>
              <a:t>HANDS-ON ACTIVITY</a:t>
            </a:r>
            <a:endParaRPr lang="en-US" sz="1200" dirty="0"/>
          </a:p>
        </p:txBody>
      </p:sp>
      <p:sp>
        <p:nvSpPr>
          <p:cNvPr id="4" name="Text 2"/>
          <p:cNvSpPr/>
          <p:nvPr/>
        </p:nvSpPr>
        <p:spPr>
          <a:xfrm>
            <a:off x="365760" y="731520"/>
            <a:ext cx="8229600" cy="731520"/>
          </a:xfrm>
          <a:prstGeom prst="rect">
            <a:avLst/>
          </a:prstGeom>
          <a:noFill/>
          <a:ln/>
        </p:spPr>
        <p:txBody>
          <a:bodyPr wrap="square" rtlCol="0" anchor="ctr"/>
          <a:lstStyle/>
          <a:p>
            <a:pPr indent="0" marL="0">
              <a:buNone/>
            </a:pPr>
            <a:r>
              <a:rPr lang="en-US" sz="2800" b="1" dirty="0">
                <a:solidFill>
                  <a:srgbClr val="FFFFFF"/>
                </a:solidFill>
                <a:latin typeface="Plus Jakarta Sans" pitchFamily="34" charset="0"/>
                <a:ea typeface="Plus Jakarta Sans" pitchFamily="34" charset="-122"/>
                <a:cs typeface="Plus Jakarta Sans" pitchFamily="34" charset="-120"/>
              </a:rPr>
              <a:t>Find Your First Parks</a:t>
            </a:r>
            <a:endParaRPr lang="en-US" sz="2800" dirty="0"/>
          </a:p>
        </p:txBody>
      </p:sp>
      <p:sp>
        <p:nvSpPr>
          <p:cNvPr id="5" name="Text 3"/>
          <p:cNvSpPr/>
          <p:nvPr/>
        </p:nvSpPr>
        <p:spPr>
          <a:xfrm>
            <a:off x="365760" y="1554480"/>
            <a:ext cx="8412480" cy="4114800"/>
          </a:xfrm>
          <a:prstGeom prst="rect">
            <a:avLst/>
          </a:prstGeom>
          <a:noFill/>
          <a:ln/>
        </p:spPr>
        <p:txBody>
          <a:bodyPr wrap="square" rtlCol="0" anchor="t"/>
          <a:lstStyle/>
          <a:p>
            <a:pPr marL="342900" indent="-342900">
              <a:spcBef>
                <a:spcPts val="800"/>
              </a:spcBef>
              <a:buSzPct val="100000"/>
              <a:buChar char="•"/>
            </a:pPr>
            <a:r>
              <a:rPr lang="en-US" sz="1500" dirty="0">
                <a:solidFill>
                  <a:srgbClr val="FFFFFF"/>
                </a:solidFill>
                <a:latin typeface="Plus Jakarta Sans" pitchFamily="34" charset="0"/>
                <a:ea typeface="Plus Jakarta Sans" pitchFamily="34" charset="-122"/>
                <a:cs typeface="Plus Jakarta Sans" pitchFamily="34" charset="-120"/>
              </a:rPr>
              <a:t>Open pota.app → map view → navigate to your home area</a:t>
            </a:r>
            <a:endParaRPr lang="en-US" sz="1500" dirty="0"/>
          </a:p>
          <a:p>
            <a:pPr marL="342900" indent="-342900">
              <a:spcBef>
                <a:spcPts val="800"/>
              </a:spcBef>
              <a:buSzPct val="100000"/>
              <a:buChar char="•"/>
            </a:pPr>
            <a:r>
              <a:rPr lang="en-US" sz="1500" dirty="0">
                <a:solidFill>
                  <a:srgbClr val="FFFFFF"/>
                </a:solidFill>
                <a:latin typeface="Plus Jakarta Sans" pitchFamily="34" charset="0"/>
                <a:ea typeface="Plus Jakarta Sans" pitchFamily="34" charset="-122"/>
                <a:cs typeface="Plus Jakarta Sans" pitchFamily="34" charset="-120"/>
              </a:rPr>
              <a:t>Find 3 POTA parks within 30 miles</a:t>
            </a:r>
            <a:endParaRPr lang="en-US" sz="1500" dirty="0"/>
          </a:p>
          <a:p>
            <a:pPr marL="342900" indent="-342900">
              <a:spcBef>
                <a:spcPts val="800"/>
              </a:spcBef>
              <a:buSzPct val="100000"/>
              <a:buChar char="•"/>
            </a:pPr>
            <a:r>
              <a:rPr lang="en-US" sz="1500" dirty="0">
                <a:solidFill>
                  <a:srgbClr val="FFFFFF"/>
                </a:solidFill>
                <a:latin typeface="Plus Jakarta Sans" pitchFamily="34" charset="0"/>
                <a:ea typeface="Plus Jakarta Sans" pitchFamily="34" charset="-122"/>
                <a:cs typeface="Plus Jakarta Sans" pitchFamily="34" charset="-120"/>
              </a:rPr>
              <a:t>For each: note the K-reference, name, total activations, last activated date</a:t>
            </a:r>
            <a:endParaRPr lang="en-US" sz="1500" dirty="0"/>
          </a:p>
          <a:p>
            <a:pPr marL="342900" indent="-342900">
              <a:spcBef>
                <a:spcPts val="800"/>
              </a:spcBef>
              <a:buSzPct val="100000"/>
              <a:buChar char="•"/>
            </a:pPr>
            <a:r>
              <a:rPr lang="en-US" sz="1500" dirty="0">
                <a:solidFill>
                  <a:srgbClr val="FFFFFF"/>
                </a:solidFill>
                <a:latin typeface="Plus Jakarta Sans" pitchFamily="34" charset="0"/>
                <a:ea typeface="Plus Jakarta Sans" pitchFamily="34" charset="-122"/>
                <a:cs typeface="Plus Jakarta Sans" pitchFamily="34" charset="-120"/>
              </a:rPr>
              <a:t>Pick your favorite as a target for your first solo activation</a:t>
            </a:r>
            <a:endParaRPr lang="en-US" sz="1500" dirty="0"/>
          </a:p>
          <a:p>
            <a:pPr marL="342900" indent="-342900">
              <a:spcBef>
                <a:spcPts val="800"/>
              </a:spcBef>
              <a:buSzPct val="100000"/>
              <a:buChar char="•"/>
            </a:pPr>
            <a:r>
              <a:rPr lang="en-US" sz="1500" b="1" dirty="0">
                <a:solidFill>
                  <a:srgbClr val="6EE7B7"/>
                </a:solidFill>
                <a:latin typeface="Plus Jakarta Sans" pitchFamily="34" charset="0"/>
                <a:ea typeface="Plus Jakarta Sans" pitchFamily="34" charset="-122"/>
                <a:cs typeface="Plus Jakarta Sans" pitchFamily="34" charset="-120"/>
              </a:rPr>
              <a:t>Share your pick with the group — and why</a:t>
            </a:r>
            <a:endParaRPr lang="en-US" sz="1500" dirty="0"/>
          </a:p>
        </p:txBody>
      </p:sp>
      <p:sp>
        <p:nvSpPr>
          <p:cNvPr id="6" name="Text 4"/>
          <p:cNvSpPr/>
          <p:nvPr/>
        </p:nvSpPr>
        <p:spPr>
          <a:xfrm>
            <a:off x="365760" y="5943600"/>
            <a:ext cx="8229600" cy="457200"/>
          </a:xfrm>
          <a:prstGeom prst="rect">
            <a:avLst/>
          </a:prstGeom>
          <a:noFill/>
          <a:ln/>
        </p:spPr>
        <p:txBody>
          <a:bodyPr wrap="square" rtlCol="0" anchor="ctr"/>
          <a:lstStyle/>
          <a:p>
            <a:pPr indent="0" marL="0">
              <a:buNone/>
            </a:pPr>
            <a:r>
              <a:rPr lang="en-US" sz="1200" dirty="0">
                <a:solidFill>
                  <a:srgbClr val="94A3B8"/>
                </a:solidFill>
                <a:latin typeface="Plus Jakarta Sans" pitchFamily="34" charset="0"/>
                <a:ea typeface="Plus Jakarta Sans" pitchFamily="34" charset="-122"/>
                <a:cs typeface="Plus Jakarta Sans" pitchFamily="34" charset="-120"/>
              </a:rPr>
              <a:t>15 minutes · phones out · pota.app</a:t>
            </a:r>
            <a:endParaRPr lang="en-US" sz="12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0F172A"/>
        </a:solidFill>
      </p:bgPr>
    </p:bg>
    <p:spTree>
      <p:nvGrpSpPr>
        <p:cNvPr id="1" name=""/>
        <p:cNvGrpSpPr/>
        <p:nvPr/>
      </p:nvGrpSpPr>
      <p:grpSpPr>
        <a:xfrm>
          <a:off x="0" y="0"/>
          <a:ext cx="0" cy="0"/>
          <a:chOff x="0" y="0"/>
          <a:chExt cx="0" cy="0"/>
        </a:xfrm>
      </p:grpSpPr>
      <p:sp>
        <p:nvSpPr>
          <p:cNvPr id="2" name="Shape 0"/>
          <p:cNvSpPr/>
          <p:nvPr/>
        </p:nvSpPr>
        <p:spPr>
          <a:xfrm>
            <a:off x="0" y="4389120"/>
            <a:ext cx="9144000" cy="54864"/>
          </a:xfrm>
          <a:prstGeom prst="rect">
            <a:avLst/>
          </a:prstGeom>
          <a:solidFill>
            <a:srgbClr val="10B981"/>
          </a:solidFill>
          <a:ln/>
        </p:spPr>
      </p:sp>
      <p:sp>
        <p:nvSpPr>
          <p:cNvPr id="3" name="Text 1"/>
          <p:cNvSpPr/>
          <p:nvPr/>
        </p:nvSpPr>
        <p:spPr>
          <a:xfrm>
            <a:off x="457200" y="457200"/>
            <a:ext cx="8229600" cy="548640"/>
          </a:xfrm>
          <a:prstGeom prst="rect">
            <a:avLst/>
          </a:prstGeom>
          <a:noFill/>
          <a:ln/>
        </p:spPr>
        <p:txBody>
          <a:bodyPr wrap="square" rtlCol="0" anchor="ctr"/>
          <a:lstStyle/>
          <a:p>
            <a:pPr indent="0" marL="0">
              <a:buNone/>
            </a:pPr>
            <a:r>
              <a:rPr lang="en-US" sz="1400" b="1" spc="200" kern="0" dirty="0">
                <a:solidFill>
                  <a:srgbClr val="6EE7B7"/>
                </a:solidFill>
                <a:latin typeface="Plus Jakarta Sans" pitchFamily="34" charset="0"/>
                <a:ea typeface="Plus Jakarta Sans" pitchFamily="34" charset="-122"/>
                <a:cs typeface="Plus Jakarta Sans" pitchFamily="34" charset="-120"/>
              </a:rPr>
              <a:t>Session 2 Preview</a:t>
            </a:r>
            <a:endParaRPr lang="en-US" sz="1400" dirty="0"/>
          </a:p>
        </p:txBody>
      </p:sp>
      <p:sp>
        <p:nvSpPr>
          <p:cNvPr id="4" name="Text 2"/>
          <p:cNvSpPr/>
          <p:nvPr/>
        </p:nvSpPr>
        <p:spPr>
          <a:xfrm>
            <a:off x="457200" y="1097280"/>
            <a:ext cx="8229600" cy="914400"/>
          </a:xfrm>
          <a:prstGeom prst="rect">
            <a:avLst/>
          </a:prstGeom>
          <a:noFill/>
          <a:ln/>
        </p:spPr>
        <p:txBody>
          <a:bodyPr wrap="square" rtlCol="0" anchor="ctr"/>
          <a:lstStyle/>
          <a:p>
            <a:pPr indent="0" marL="0">
              <a:buNone/>
            </a:pPr>
            <a:r>
              <a:rPr lang="en-US" sz="3200" b="1" dirty="0">
                <a:solidFill>
                  <a:srgbClr val="FFFFFF"/>
                </a:solidFill>
                <a:latin typeface="Plus Jakarta Sans" pitchFamily="34" charset="0"/>
                <a:ea typeface="Plus Jakarta Sans" pitchFamily="34" charset="-122"/>
                <a:cs typeface="Plus Jakarta Sans" pitchFamily="34" charset="-120"/>
              </a:rPr>
              <a:t>Field Station Fundamentals</a:t>
            </a:r>
            <a:endParaRPr lang="en-US" sz="3200" dirty="0"/>
          </a:p>
        </p:txBody>
      </p:sp>
      <p:sp>
        <p:nvSpPr>
          <p:cNvPr id="5" name="Text 3"/>
          <p:cNvSpPr/>
          <p:nvPr/>
        </p:nvSpPr>
        <p:spPr>
          <a:xfrm>
            <a:off x="457200" y="2103120"/>
            <a:ext cx="8229600" cy="3657600"/>
          </a:xfrm>
          <a:prstGeom prst="rect">
            <a:avLst/>
          </a:prstGeom>
          <a:noFill/>
          <a:ln/>
        </p:spPr>
        <p:txBody>
          <a:bodyPr wrap="square" rtlCol="0" anchor="t"/>
          <a:lstStyle/>
          <a:p>
            <a:pPr marL="342900" indent="-342900">
              <a:spcBef>
                <a:spcPts val="1000"/>
              </a:spcBef>
              <a:buSzPct val="100000"/>
              <a:buChar char="•"/>
            </a:pPr>
            <a:r>
              <a:rPr lang="en-US" sz="1600" dirty="0">
                <a:solidFill>
                  <a:srgbClr val="FFFFFF"/>
                </a:solidFill>
                <a:latin typeface="Plus Jakarta Sans" pitchFamily="34" charset="0"/>
                <a:ea typeface="Plus Jakarta Sans" pitchFamily="34" charset="-122"/>
                <a:cs typeface="Plus Jakarta Sans" pitchFamily="34" charset="-120"/>
              </a:rPr>
              <a:t>Radio selection for POTA — IC-705, FT-891, Xiegu, KX2/KX3</a:t>
            </a:r>
            <a:endParaRPr lang="en-US" sz="1600" dirty="0"/>
          </a:p>
          <a:p>
            <a:pPr marL="342900" indent="-342900">
              <a:spcBef>
                <a:spcPts val="1000"/>
              </a:spcBef>
              <a:buSzPct val="100000"/>
              <a:buChar char="•"/>
            </a:pPr>
            <a:r>
              <a:rPr lang="en-US" sz="1600" dirty="0">
                <a:solidFill>
                  <a:srgbClr val="FFFFFF"/>
                </a:solidFill>
                <a:latin typeface="Plus Jakarta Sans" pitchFamily="34" charset="0"/>
                <a:ea typeface="Plus Jakarta Sans" pitchFamily="34" charset="-122"/>
                <a:cs typeface="Plus Jakarta Sans" pitchFamily="34" charset="-120"/>
              </a:rPr>
              <a:t>Antennas — EFHW, wire dipoles, linked dipoles, verticals</a:t>
            </a:r>
            <a:endParaRPr lang="en-US" sz="1600" dirty="0"/>
          </a:p>
          <a:p>
            <a:pPr marL="342900" indent="-342900">
              <a:spcBef>
                <a:spcPts val="1000"/>
              </a:spcBef>
              <a:buSzPct val="100000"/>
              <a:buChar char="•"/>
            </a:pPr>
            <a:r>
              <a:rPr lang="en-US" sz="1600" dirty="0">
                <a:solidFill>
                  <a:srgbClr val="FFFFFF"/>
                </a:solidFill>
                <a:latin typeface="Plus Jakarta Sans" pitchFamily="34" charset="0"/>
                <a:ea typeface="Plus Jakarta Sans" pitchFamily="34" charset="-122"/>
                <a:cs typeface="Plus Jakarta Sans" pitchFamily="34" charset="-120"/>
              </a:rPr>
              <a:t>Power options — LiFePO4, solar, capacity math</a:t>
            </a:r>
            <a:endParaRPr lang="en-US" sz="1600" dirty="0"/>
          </a:p>
          <a:p>
            <a:pPr marL="342900" indent="-342900">
              <a:spcBef>
                <a:spcPts val="1000"/>
              </a:spcBef>
              <a:buSzPct val="100000"/>
              <a:buChar char="•"/>
            </a:pPr>
            <a:r>
              <a:rPr lang="en-US" sz="1600" dirty="0">
                <a:solidFill>
                  <a:srgbClr val="FFFFFF"/>
                </a:solidFill>
                <a:latin typeface="Plus Jakarta Sans" pitchFamily="34" charset="0"/>
                <a:ea typeface="Plus Jakarta Sans" pitchFamily="34" charset="-122"/>
                <a:cs typeface="Plus Jakarta Sans" pitchFamily="34" charset="-120"/>
              </a:rPr>
              <a:t>Building your go-kit — weight, checklist, pack-and-go</a:t>
            </a:r>
            <a:endParaRPr lang="en-US" sz="1600" dirty="0"/>
          </a:p>
          <a:p>
            <a:pPr marL="342900" indent="-342900">
              <a:spcBef>
                <a:spcPts val="1000"/>
              </a:spcBef>
              <a:buSzPct val="100000"/>
              <a:buChar char="•"/>
            </a:pPr>
            <a:r>
              <a:rPr lang="en-US" sz="1600" b="1" dirty="0">
                <a:solidFill>
                  <a:srgbClr val="6EE7B7"/>
                </a:solidFill>
                <a:latin typeface="Plus Jakarta Sans" pitchFamily="34" charset="0"/>
                <a:ea typeface="Plus Jakarta Sans" pitchFamily="34" charset="-122"/>
                <a:cs typeface="Plus Jakarta Sans" pitchFamily="34" charset="-120"/>
              </a:rPr>
              <a:t>Hands-on: set up the club IC-705 + EFHW on the patio</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POTA Session 1 — The POTA Universe</dc:title>
  <dc:subject>PptxGenJS Presentation</dc:subject>
  <dc:creator>PptxGenJS</dc:creator>
  <cp:lastModifiedBy>PptxGenJS</cp:lastModifiedBy>
  <cp:revision>1</cp:revision>
  <dcterms:created xsi:type="dcterms:W3CDTF">2026-09-19T22:34:54Z</dcterms:created>
  <dcterms:modified xsi:type="dcterms:W3CDTF">2026-09-19T22:34:54Z</dcterms:modified>
</cp:coreProperties>
</file>