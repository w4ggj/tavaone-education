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Station Fundamentals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is the priority today. Keep the lecture moving — students need time outside with the station. The key concepts (battery math, EFHW basics) are in the student pack; don't get lost in detail. Aim to be outside by the 80-minute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Radio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radios on the table if available. Ask who already has a radio. If someone has a full-size HF radio at home, point out they can still do POTA with it — just bring a bigger battery. The most popular POTA radio at activations is probably the IC-705, but the Xiegu G90 is a fantastic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quick math live: 50W FT-891, 50W output at 12A TX. SSB duty 30%. Average draw = (12 × 0.3) + (1.5 × 0.7) = 4.65A. 20Ah battery ÷ 4.65A = 4.3 hours. Subtract 20% for LiFePO4 health = 3.4 hours. That's more than enough for any reasonable activation.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Antennas for Portable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club EFHW transformer — show how small it is. Then show 66 feet of wire coiled up. That's the antenna. The whole thing weighs maybe 4 oz. This is why it won. Walk through the theory briefly — the wire is a half-wave at 40m, so it's a full wave at 20m, 1.5 wave at 15m, etc. All are resonant multiples. The tuner may need a touch at some bands but usually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comparison physically if you have both antennas. The linked dipole looks more complex but becomes intuitive after a few deployments. For someone doing mostly SSB on one or two bands, a simple dipole is plenty. For someone wanting to bounce between 40m, 20m, and 10m without a tuner, linked dipole is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outside and demo the throw bag if there's a suitable tree. Or demo with the squid pole. Students who haven't deployed an antenna outdoors often underestimate how much time it takes. The 15-minute station assembly activity will show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Power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around the 20Ah Bioenno battery. Let students feel the weight. For comparison, a 20Ah AGM battery weighs about 15 lbs. This weighs 4.4. That's the entire case for portable LiFePO4 operations. Mention the Anderson Powerpole connectors — ARRL standard for ham radio, worth putting on your go-kit cables for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do the math with their own radio's specs. Most radio manuals list TX current draw. If they don't know their radio's draw, suggest checking the spec sheet or EHAM reviews. The math is quick once you know the numbers. Reinforce: always size for more capacity than you think you need — you can always bring the battery home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ask about solar. It's cool, it works, but for the typical 2-hour POTA activation you will never recoup the weight penalty. Where solar shines: long day trips to a park where you activate morning, have lunch, activate again in the afternoon. Or multi-day camping activations. For the capstone, we're just bringing batteries.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Building Your Go-Kit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go-kit discipline is underrated. How many times have you decided to activate somewhere on a whim but then spent 45 minutes finding gear? The bag that lives in your trunk is worth more than any radio upgrade. Share the "grabbed the bag and caught a P2P on the way to a soccer game" style story —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capstone activation, we're doing vehicle-portable — park at the trailhead, walk 100 yards, set up. Perfect for learning. Once you've done 5 or 6 activations and know your kit cold, the hike-in activations become fun. But vehicle-portable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everyone outside. Station bags are pre-packed on the counter. Don't let anyone read instructions — have them figure it out together, then correct. Key debrief point: what would you do differently? What needed more pre-staging? Usually answer is: pre-connect the feedline to the transformer before leaving home, pre-wind the throw bag, pre-charge the battery. None of this is hard but doing it under a time clock in a park for the first time is stressful.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20m, 15m, and 10m
40m is the fundamental; 20m is the 2nd harmonic, 15m is the 3rd, 10m is the 4th. This is why the EFHW is so popular — four bands from one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Lighter, more cycles, flatter discharge curve
Price per Ah is actually higher for LiFePO4 initially but lower over the battery's lifetime due to 2000+ cycles vs ~500 for AGM. In Florida heat, both technologies need care — don't leave either in a hot car unnecessarily.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Deploy vertically on the squid pole
The squid pole saves you in open areas. Run the EFHW wire up the pole and let it hang vertically, or run it as an inverted-L. The antenna works in any orientation — you just need to get the wire up somehow. Alternatively, an inverted-V dipole with the squid pole at center also works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everyone: install HAMRS before Session 3 (free, iOS and Android). Make sure pota.app login works. Session 3 is heavily hands-on — the simulated activation is the core of the session. Also mention the capstone date if it's been scheduled.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10B981"/>
          </a:solidFill>
          <a:ln/>
        </p:spPr>
      </p:sp>
      <p:sp>
        <p:nvSpPr>
          <p:cNvPr id="3" name="Text 1"/>
          <p:cNvSpPr/>
          <p:nvPr/>
        </p:nvSpPr>
        <p:spPr>
          <a:xfrm>
            <a:off x="457200" y="822960"/>
            <a:ext cx="8229600" cy="2011680"/>
          </a:xfrm>
          <a:prstGeom prst="rect">
            <a:avLst/>
          </a:prstGeom>
          <a:noFill/>
          <a:ln/>
        </p:spPr>
        <p:txBody>
          <a:bodyPr wrap="square" rtlCol="0" anchor="ctr"/>
          <a:lstStyle/>
          <a:p>
            <a:pPr indent="0" marL="0">
              <a:buNone/>
            </a:pPr>
            <a:r>
              <a:rPr lang="en-US" sz="4000" b="1" dirty="0">
                <a:solidFill>
                  <a:srgbClr val="FFFFFF"/>
                </a:solidFill>
                <a:latin typeface="Plus Jakarta Sans" pitchFamily="34" charset="0"/>
                <a:ea typeface="Plus Jakarta Sans" pitchFamily="34" charset="-122"/>
                <a:cs typeface="Plus Jakarta Sans" pitchFamily="34" charset="-120"/>
              </a:rPr>
              <a:t>Field Station Fundamentals</a:t>
            </a:r>
            <a:endParaRPr lang="en-US" sz="4000" dirty="0"/>
          </a:p>
        </p:txBody>
      </p:sp>
      <p:sp>
        <p:nvSpPr>
          <p:cNvPr id="4" name="Text 2"/>
          <p:cNvSpPr/>
          <p:nvPr/>
        </p:nvSpPr>
        <p:spPr>
          <a:xfrm>
            <a:off x="457200" y="2743200"/>
            <a:ext cx="8229600" cy="640080"/>
          </a:xfrm>
          <a:prstGeom prst="rect">
            <a:avLst/>
          </a:prstGeom>
          <a:noFill/>
          <a:ln/>
        </p:spPr>
        <p:txBody>
          <a:bodyPr wrap="square" rtlCol="0" anchor="ctr"/>
          <a:lstStyle/>
          <a:p>
            <a:pPr indent="0" marL="0">
              <a:buNone/>
            </a:pPr>
            <a:r>
              <a:rPr lang="en-US" sz="1800" dirty="0">
                <a:solidFill>
                  <a:srgbClr val="6EE7B7"/>
                </a:solidFill>
                <a:latin typeface="Plus Jakarta Sans" pitchFamily="34" charset="0"/>
                <a:ea typeface="Plus Jakarta Sans" pitchFamily="34" charset="-122"/>
                <a:cs typeface="Plus Jakarta Sans" pitchFamily="34" charset="-120"/>
              </a:rPr>
              <a:t>Session 2 — Radio, Antennas &amp; Power</a:t>
            </a:r>
            <a:endParaRPr lang="en-US" sz="1800" dirty="0"/>
          </a:p>
        </p:txBody>
      </p:sp>
      <p:sp>
        <p:nvSpPr>
          <p:cNvPr id="5" name="Text 3"/>
          <p:cNvSpPr/>
          <p:nvPr/>
        </p:nvSpPr>
        <p:spPr>
          <a:xfrm>
            <a:off x="457200" y="3474720"/>
            <a:ext cx="8229600" cy="457200"/>
          </a:xfrm>
          <a:prstGeom prst="rect">
            <a:avLst/>
          </a:prstGeom>
          <a:noFill/>
          <a:ln/>
        </p:spPr>
        <p:txBody>
          <a:bodyPr wrap="square" rtlCol="0" anchor="ctr"/>
          <a:lstStyle/>
          <a:p>
            <a:pPr indent="0" marL="0">
              <a:buNone/>
            </a:pPr>
            <a:r>
              <a:rPr lang="en-US" sz="1300" dirty="0">
                <a:solidFill>
                  <a:srgbClr val="94A3B8"/>
                </a:solidFill>
                <a:latin typeface="Plus Jakarta Sans" pitchFamily="34" charset="0"/>
                <a:ea typeface="Plus Jakarta Sans" pitchFamily="34" charset="-122"/>
                <a:cs typeface="Plus Jakarta Sans" pitchFamily="34" charset="-120"/>
              </a:rPr>
              <a:t>TavaOne Education · W4GGJ</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Today's Session</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Radio selection — which rig for portable HF</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Antennas — EFHW, dipoles, verticals, deployment tools</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Feedline and connectors — what to carry</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Power — LiFePO4 batteries, capacity math, solar</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Building your go-kit — checklist and weight targets</a:t>
            </a:r>
            <a:endParaRPr lang="en-US" sz="1600" dirty="0"/>
          </a:p>
          <a:p>
            <a:pPr marL="342900" indent="-342900">
              <a:spcBef>
                <a:spcPts val="800"/>
              </a:spcBef>
              <a:buSzPct val="100000"/>
              <a:buChar char="•"/>
            </a:pPr>
            <a:r>
              <a:rPr lang="en-US" sz="1600" b="1" dirty="0">
                <a:solidFill>
                  <a:srgbClr val="6EE7B7"/>
                </a:solidFill>
                <a:latin typeface="Plus Jakarta Sans" pitchFamily="34" charset="0"/>
                <a:ea typeface="Plus Jakarta Sans" pitchFamily="34" charset="-122"/>
                <a:cs typeface="Plus Jakarta Sans" pitchFamily="34" charset="-120"/>
              </a:rPr>
              <a:t>Hands-on: set up the club IC-705 + EFHW on the patio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Radio Selection</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What to bring — and why it matters less than you think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POTA Radio — What You Need</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All-band HF transceiver (at minimum 40m + 20m)</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Portable enough to carry to an operating position</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Built-in or external antenna tuner</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Reasonable battery draw for your expected activation length</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Popular choices (ascending price):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Xiegu G90 — 20W, 1.8 lb, built-in tuner and SDR, ~$450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Xiegu G106 — 10W, 0.9 lb, touchscreen, ~$350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Yaesu FT-891 — 100W, 2.2 lb, full power, needs external battery, ~$600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Icom IC-705 — 10W, HF+VHF+UHF, built-in battery, GPS, ~$1,350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Elecraft KX2 — 10W, 0.7 lb, AA batteries, keyer, ~$950</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Power Considerations — TX Current</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Higher power = easier contacts, shorter battery life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Typical TX current draw (at 12V):</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10W radio: 2–4A TX</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50W radio: ~10–12A TX</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100W radio: 15–22A TX</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RX draw is usually 1–2A regardless of power level</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SSB duty cycle: ~30% transmit / 70% receive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FT8 duty cycle: ~50% transmit</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CW duty cycle: ~40% (depends on speed and spacing)</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Balance: QRP (5–10W) gives longer battery life but harder contacts on bad days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Sweet spot for most activators: 25–50W with a 20Ah LiFePO4</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Antennas for Portable Ops</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The wire that does the work</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End-Fed Half-Wave (EFHW) — Why It Won</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The most popular POTA antenna — and for good reason</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How it works: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 half-wave wire fed at the high-impedance end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49:1 transformer drops impedance to match 50-ohm coax</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40m wire: 66 feet — resonant on 40m, 20m, 15m, 10m (harmonics)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Why activators love it: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Only needs support at ONE end (tree, squid pole)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No ground plane required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 bands, no tuner adjustment between them</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Entire kit weighs under 1 lb and fits in a sandwich bag</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Build cost: $15–20 in parts (FT140-43 toroid + wire)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Buy: SOTAbeams, MyAntennas EFHW-8010, Packtenna — $60–120</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Wire Dipole vs. Linked Dipole</a:t>
            </a:r>
            <a:endParaRPr lang="en-US" sz="2200" dirty="0"/>
          </a:p>
        </p:txBody>
      </p:sp>
      <p:sp>
        <p:nvSpPr>
          <p:cNvPr id="4" name="Shape 2"/>
          <p:cNvSpPr/>
          <p:nvPr/>
        </p:nvSpPr>
        <p:spPr>
          <a:xfrm>
            <a:off x="457200" y="1097280"/>
            <a:ext cx="3840480" cy="5029200"/>
          </a:xfrm>
          <a:prstGeom prst="rect">
            <a:avLst/>
          </a:prstGeom>
          <a:solidFill>
            <a:srgbClr val="F8FAFC"/>
          </a:solidFill>
          <a:ln w="12700">
            <a:solidFill>
              <a:srgbClr val="E2E8F0"/>
            </a:solidFill>
            <a:prstDash val="solid"/>
          </a:ln>
        </p:spPr>
      </p:sp>
      <p:sp>
        <p:nvSpPr>
          <p:cNvPr id="5" name="Shape 3"/>
          <p:cNvSpPr/>
          <p:nvPr/>
        </p:nvSpPr>
        <p:spPr>
          <a:xfrm>
            <a:off x="4846320" y="1097280"/>
            <a:ext cx="3840480" cy="5029200"/>
          </a:xfrm>
          <a:prstGeom prst="rect">
            <a:avLst/>
          </a:prstGeom>
          <a:solidFill>
            <a:srgbClr val="F8FAFC"/>
          </a:solidFill>
          <a:ln w="12700">
            <a:solidFill>
              <a:srgbClr val="E2E8F0"/>
            </a:solidFill>
            <a:prstDash val="solid"/>
          </a:ln>
        </p:spPr>
      </p:sp>
      <p:sp>
        <p:nvSpPr>
          <p:cNvPr id="6" name="Text 4"/>
          <p:cNvSpPr/>
          <p:nvPr/>
        </p:nvSpPr>
        <p:spPr>
          <a:xfrm>
            <a:off x="54864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Center-Fed Wire Dipole</a:t>
            </a:r>
            <a:endParaRPr lang="en-US" sz="1300" dirty="0"/>
          </a:p>
        </p:txBody>
      </p:sp>
      <p:sp>
        <p:nvSpPr>
          <p:cNvPr id="7" name="Text 5"/>
          <p:cNvSpPr/>
          <p:nvPr/>
        </p:nvSpPr>
        <p:spPr>
          <a:xfrm>
            <a:off x="54864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Half-wave per side (33 ft per leg on 40m)</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50-ohm match — excellent SWR without a tuner</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Needs 3 support points (center + 2 ends)</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One band per build (need separate dipoles per band)</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Works well as inverted-V with center up</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Easy to build: center insulator + 2 wires + feedline</a:t>
            </a:r>
            <a:endParaRPr lang="en-US" sz="1300" dirty="0"/>
          </a:p>
        </p:txBody>
      </p:sp>
      <p:sp>
        <p:nvSpPr>
          <p:cNvPr id="8" name="Text 6"/>
          <p:cNvSpPr/>
          <p:nvPr/>
        </p:nvSpPr>
        <p:spPr>
          <a:xfrm>
            <a:off x="493776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Linked Dipole</a:t>
            </a:r>
            <a:endParaRPr lang="en-US" sz="1300" dirty="0"/>
          </a:p>
        </p:txBody>
      </p:sp>
      <p:sp>
        <p:nvSpPr>
          <p:cNvPr id="9" name="Text 7"/>
          <p:cNvSpPr/>
          <p:nvPr/>
        </p:nvSpPr>
        <p:spPr>
          <a:xfrm>
            <a:off x="493776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Quick-disconnect links (bullet connectors) in each leg</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Remove links to shorten = change bands</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No tuner needed for each resonant band</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Common builds: 40/20/15/10m (3 links per side)</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More deployment steps — clip links before TX</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Popular with CW operators who hate tuner losses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Verticals and Deployment Tools</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Verticals — when trees aren't available: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Chameleon MPAS Lite: versatile, needs radials, ~$200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Wolf River Coil: loaded vertical, compact, ~$80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Commercial hamsticks on a mag mount: vehicle-portable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Key: always include a counterpoise or radials — skip it and efficiency tanks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Deployment tools: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Throw bag + paracord: 3 oz bag + 100 ft line; toss over a branch</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Squid pole (fiberglass telescoping): 7–10m up to 60cm collapsed; best all-around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Collapsed fishing rod: cheap substitute, works fine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Painter pole: heavy but inexpensive and common</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Practice throw-bag technique at home before your first activation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Power Sources</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LiFePO4, solar, and the capacity math</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LiFePO4 — The Standard</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Lithium Iron Phosphate: the POTA battery of choice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Why LiFePO4 beats lead-acid and standard lithium:</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Safe chemistry — won't catch fire if punctured or overcharged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Flat discharge curve — stays at 13.2V until nearly empty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1C discharge rate — 20Ah battery delivers 20A continuously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2000+ charge cycles (lead-acid: ~500)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Lighter: ~60% the weight of equivalent AGM</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Popular brands: Bioenno, Dakota Lithium, Battleborn, Renogy</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Do NOT discharge below 20% — protect cycle life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Charge with a LiFePO4-compatible charger — not a car charger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Capacity Math — Size Your Battery</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Formula: Average draw = (TX amps × TX duty%) + (RX amps × RX duty%)</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Example — FT-891 at 50W, SSB:</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TX draw at 50W: 12A</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RX draw: 1.5A</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TX duty: 30%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Average = (12 × 0.3) + (1.5 × 0.7) = 3.6 + 1.05 = 4.65A</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20Ah battery usable (80%) = 16Ah</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Runtime: 16 ÷ 4.65 = 3.4 hours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Example — IC-705 at 10W, FT8:</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TX draw: 3A  |  RX: 1A  |  TX duty: 50%</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Average = (3 × 0.5) + (1 × 0.5) = 2A</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10Ah battery (8Ah usable) ÷ 2A = 4 hours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Solar and USB Power</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Solar — supplemental, not primary for most activations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40W panel in full Florida sun: ~3A charge rate at 12V</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Pair with MPPT charge controller (Renogy 10A, ~$25)</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Weight penalty: ~2.5 lbs for 40W panel</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Best use: vehicle-portable multi-park day, long activations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Not worth it for a single 90-minute activation — just bring a bigger battery</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Generators — last resort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Heavy, noisy, need fuel, many parks prohibit them</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If you think you need a generator, you've over-estimated power needs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Solution: run lower power instead</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USB power bank for logging devices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Keep phone/tablet charged separately from the radio battery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10,000–20,000mAh bank handles a full activation day</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Do not drain the radio battery through a USB adapter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Building Your Go-Kit</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Ready to grab, ready to go</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The Go-Kit Philosophy</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Should be ready to grab at any moment</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Activation opportunity appears → you're on the road in 10 minutes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Everything lives in one bag, always stocked</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Essentials: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Radio + power cable + mic/headphones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Antenna (EFHW or dipole) + feedline + adapters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Battery (charged)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Throw bag + line, or squid pole</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Logging device + paper backup + pens</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USB power bank</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FCC license (printed or phone)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Comfort:</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Portable chair or seat pad</a:t>
            </a:r>
            <a:endParaRPr lang="en-US" sz="1600" dirty="0"/>
          </a:p>
          <a:p>
            <a:pPr lvl="1" marL="685800" indent="-3429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  Water, snacks, sunscreen, bug spray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Weight Targets by Setup Type</a:t>
            </a:r>
            <a:endParaRPr lang="en-US" sz="2200" dirty="0"/>
          </a:p>
        </p:txBody>
      </p:sp>
      <p:sp>
        <p:nvSpPr>
          <p:cNvPr id="4" name="Shape 2"/>
          <p:cNvSpPr/>
          <p:nvPr/>
        </p:nvSpPr>
        <p:spPr>
          <a:xfrm>
            <a:off x="457200" y="1097280"/>
            <a:ext cx="3840480" cy="5029200"/>
          </a:xfrm>
          <a:prstGeom prst="rect">
            <a:avLst/>
          </a:prstGeom>
          <a:solidFill>
            <a:srgbClr val="F8FAFC"/>
          </a:solidFill>
          <a:ln w="12700">
            <a:solidFill>
              <a:srgbClr val="E2E8F0"/>
            </a:solidFill>
            <a:prstDash val="solid"/>
          </a:ln>
        </p:spPr>
      </p:sp>
      <p:sp>
        <p:nvSpPr>
          <p:cNvPr id="5" name="Shape 3"/>
          <p:cNvSpPr/>
          <p:nvPr/>
        </p:nvSpPr>
        <p:spPr>
          <a:xfrm>
            <a:off x="4846320" y="1097280"/>
            <a:ext cx="3840480" cy="5029200"/>
          </a:xfrm>
          <a:prstGeom prst="rect">
            <a:avLst/>
          </a:prstGeom>
          <a:solidFill>
            <a:srgbClr val="F8FAFC"/>
          </a:solidFill>
          <a:ln w="12700">
            <a:solidFill>
              <a:srgbClr val="E2E8F0"/>
            </a:solidFill>
            <a:prstDash val="solid"/>
          </a:ln>
        </p:spPr>
      </p:sp>
      <p:sp>
        <p:nvSpPr>
          <p:cNvPr id="6" name="Text 4"/>
          <p:cNvSpPr/>
          <p:nvPr/>
        </p:nvSpPr>
        <p:spPr>
          <a:xfrm>
            <a:off x="54864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Vehicle-Portable</a:t>
            </a:r>
            <a:endParaRPr lang="en-US" sz="1300" dirty="0"/>
          </a:p>
        </p:txBody>
      </p:sp>
      <p:sp>
        <p:nvSpPr>
          <p:cNvPr id="7" name="Text 5"/>
          <p:cNvSpPr/>
          <p:nvPr/>
        </p:nvSpPr>
        <p:spPr>
          <a:xfrm>
            <a:off x="54864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Park within walking distance of car</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Under 40 lbs total — anything goes</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Full station: 100W radio, big battery, real antenna</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Comfort items: table, chair, umbrella</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Best for first activations — minimize variables</a:t>
            </a:r>
            <a:endParaRPr lang="en-US" sz="1300" dirty="0"/>
          </a:p>
        </p:txBody>
      </p:sp>
      <p:sp>
        <p:nvSpPr>
          <p:cNvPr id="8" name="Text 6"/>
          <p:cNvSpPr/>
          <p:nvPr/>
        </p:nvSpPr>
        <p:spPr>
          <a:xfrm>
            <a:off x="493776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Hike-Portable</a:t>
            </a:r>
            <a:endParaRPr lang="en-US" sz="1300" dirty="0"/>
          </a:p>
        </p:txBody>
      </p:sp>
      <p:sp>
        <p:nvSpPr>
          <p:cNvPr id="9" name="Text 7"/>
          <p:cNvSpPr/>
          <p:nvPr/>
        </p:nvSpPr>
        <p:spPr>
          <a:xfrm>
            <a:off x="493776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Short hike (&amp;lt;1 mile): under 25 lbs</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Long hike / backpack: under 10 lbs</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QRP radio (KX2, IC-705, G106)</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66 ft EFHW on a squid pole</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10Ah LiFePO4, phone logging</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Everything fits in a daypack</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274320"/>
            <a:ext cx="8229600" cy="411480"/>
          </a:xfrm>
          <a:prstGeom prst="rect">
            <a:avLst/>
          </a:prstGeom>
          <a:noFill/>
          <a:ln/>
        </p:spPr>
        <p:txBody>
          <a:bodyPr wrap="square" rtlCol="0" anchor="ctr"/>
          <a:lstStyle/>
          <a:p>
            <a:pPr indent="0" marL="0">
              <a:buNone/>
            </a:pPr>
            <a:r>
              <a:rPr lang="en-US" sz="1200" b="1" spc="300" kern="0" dirty="0">
                <a:solidFill>
                  <a:srgbClr val="6EE7B7"/>
                </a:solidFill>
                <a:latin typeface="Plus Jakarta Sans" pitchFamily="34" charset="0"/>
                <a:ea typeface="Plus Jakarta Sans" pitchFamily="34" charset="-122"/>
                <a:cs typeface="Plus Jakarta Sans" pitchFamily="34" charset="-120"/>
              </a:rPr>
              <a:t>HANDS-ON ACTIVITY</a:t>
            </a:r>
            <a:endParaRPr lang="en-US" sz="1200" dirty="0"/>
          </a:p>
        </p:txBody>
      </p:sp>
      <p:sp>
        <p:nvSpPr>
          <p:cNvPr id="4" name="Text 2"/>
          <p:cNvSpPr/>
          <p:nvPr/>
        </p:nvSpPr>
        <p:spPr>
          <a:xfrm>
            <a:off x="365760" y="731520"/>
            <a:ext cx="8229600" cy="731520"/>
          </a:xfrm>
          <a:prstGeom prst="rect">
            <a:avLst/>
          </a:prstGeom>
          <a:noFill/>
          <a:ln/>
        </p:spPr>
        <p:txBody>
          <a:bodyPr wrap="square" rtlCol="0" anchor="ctr"/>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Station Setup — Bag to RF-Ready</a:t>
            </a:r>
            <a:endParaRPr lang="en-US" sz="2800" dirty="0"/>
          </a:p>
        </p:txBody>
      </p:sp>
      <p:sp>
        <p:nvSpPr>
          <p:cNvPr id="5" name="Text 3"/>
          <p:cNvSpPr/>
          <p:nvPr/>
        </p:nvSpPr>
        <p:spPr>
          <a:xfrm>
            <a:off x="365760" y="1554480"/>
            <a:ext cx="8412480" cy="4389120"/>
          </a:xfrm>
          <a:prstGeom prst="rect">
            <a:avLst/>
          </a:prstGeom>
          <a:noFill/>
          <a:ln/>
        </p:spPr>
        <p:txBody>
          <a:bodyPr wrap="square" rtlCol="0" anchor="t"/>
          <a:lstStyle/>
          <a:p>
            <a:pPr indent="0" marL="0">
              <a:spcBef>
                <a:spcPts val="800"/>
              </a:spcBef>
              <a:buNone/>
            </a:pPr>
            <a:r>
              <a:rPr lang="en-US" sz="1500" b="1" dirty="0">
                <a:solidFill>
                  <a:srgbClr val="6EE7B7"/>
                </a:solidFill>
                <a:latin typeface="Plus Jakarta Sans" pitchFamily="34" charset="0"/>
                <a:ea typeface="Plus Jakarta Sans" pitchFamily="34" charset="-122"/>
                <a:cs typeface="Plus Jakarta Sans" pitchFamily="34" charset="-120"/>
              </a:rPr>
              <a:t>Team roles (everyone rotates):</a:t>
            </a:r>
            <a:endParaRPr lang="en-US" sz="1500" dirty="0"/>
          </a:p>
          <a:p>
            <a:pPr lvl="1" marL="685800" indent="-342900">
              <a:spcBef>
                <a:spcPts val="600"/>
              </a:spcBef>
              <a:buSzPct val="100000"/>
              <a:buChar char="•"/>
            </a:pPr>
            <a:r>
              <a:rPr lang="en-US" sz="1400" dirty="0">
                <a:solidFill>
                  <a:srgbClr val="FFFFFF"/>
                </a:solidFill>
                <a:latin typeface="Plus Jakarta Sans" pitchFamily="34" charset="0"/>
                <a:ea typeface="Plus Jakarta Sans" pitchFamily="34" charset="-122"/>
                <a:cs typeface="Plus Jakarta Sans" pitchFamily="34" charset="-120"/>
              </a:rPr>
              <a:t>Radio operator — unpack, connect power + feedline</a:t>
            </a:r>
            <a:endParaRPr lang="en-US" sz="1500" dirty="0"/>
          </a:p>
          <a:p>
            <a:pPr lvl="1" marL="685800" indent="-342900">
              <a:spcBef>
                <a:spcPts val="600"/>
              </a:spcBef>
              <a:buSzPct val="100000"/>
              <a:buChar char="•"/>
            </a:pPr>
            <a:r>
              <a:rPr lang="en-US" sz="1400" dirty="0">
                <a:solidFill>
                  <a:srgbClr val="FFFFFF"/>
                </a:solidFill>
                <a:latin typeface="Plus Jakarta Sans" pitchFamily="34" charset="0"/>
                <a:ea typeface="Plus Jakarta Sans" pitchFamily="34" charset="-122"/>
                <a:cs typeface="Plus Jakarta Sans" pitchFamily="34" charset="-120"/>
              </a:rPr>
              <a:t>Antenna crew — unwind EFHW, connect to feedline, deploy</a:t>
            </a:r>
            <a:endParaRPr lang="en-US" sz="1500" dirty="0"/>
          </a:p>
          <a:p>
            <a:pPr lvl="1" marL="685800" indent="-342900">
              <a:spcBef>
                <a:spcPts val="600"/>
              </a:spcBef>
              <a:buSzPct val="100000"/>
              <a:buChar char="•"/>
            </a:pPr>
            <a:r>
              <a:rPr lang="en-US" sz="1400" dirty="0">
                <a:solidFill>
                  <a:srgbClr val="FFFFFF"/>
                </a:solidFill>
                <a:latin typeface="Plus Jakarta Sans" pitchFamily="34" charset="0"/>
                <a:ea typeface="Plus Jakarta Sans" pitchFamily="34" charset="-122"/>
                <a:cs typeface="Plus Jakarta Sans" pitchFamily="34" charset="-120"/>
              </a:rPr>
              <a:t>Power crew — check battery voltage, connect to radio</a:t>
            </a:r>
            <a:endParaRPr lang="en-US" sz="1500" dirty="0"/>
          </a:p>
          <a:p>
            <a:pPr lvl="1" marL="685800" indent="-342900">
              <a:spcBef>
                <a:spcPts val="600"/>
              </a:spcBef>
              <a:buSzPct val="100000"/>
              <a:buChar char="•"/>
            </a:pPr>
            <a:r>
              <a:rPr lang="en-US" sz="1400" dirty="0">
                <a:solidFill>
                  <a:srgbClr val="FFFFFF"/>
                </a:solidFill>
                <a:latin typeface="Plus Jakarta Sans" pitchFamily="34" charset="0"/>
                <a:ea typeface="Plus Jakarta Sans" pitchFamily="34" charset="-122"/>
                <a:cs typeface="Plus Jakarta Sans" pitchFamily="34" charset="-120"/>
              </a:rPr>
              <a:t>Logger — open HAMRS, start activation, enter park reference</a:t>
            </a:r>
            <a:pPr indent="0" marL="0">
              <a:spcBef>
                <a:spcPts val="400"/>
              </a:spcBef>
              <a:buNone/>
            </a:pPr>
            <a:r>
              <a:rPr lang="en-US" sz="800" dirty="0">
                <a:solidFill>
                  <a:srgbClr val="FFFFFF"/>
                </a:solidFill>
                <a:latin typeface="Plus Jakarta Sans" pitchFamily="34" charset="0"/>
                <a:ea typeface="Plus Jakarta Sans" pitchFamily="34" charset="-122"/>
                <a:cs typeface="Plus Jakarta Sans" pitchFamily="34" charset="-120"/>
              </a:rPr>
              <a:t> </a:t>
            </a:r>
            <a:pPr indent="0" marL="0">
              <a:spcBef>
                <a:spcPts val="800"/>
              </a:spcBef>
              <a:buNone/>
            </a:pPr>
            <a:r>
              <a:rPr lang="en-US" sz="1500" b="1" dirty="0">
                <a:solidFill>
                  <a:srgbClr val="6EE7B7"/>
                </a:solidFill>
                <a:latin typeface="Plus Jakarta Sans" pitchFamily="34" charset="0"/>
                <a:ea typeface="Plus Jakarta Sans" pitchFamily="34" charset="-122"/>
                <a:cs typeface="Plus Jakarta Sans" pitchFamily="34" charset="-120"/>
              </a:rPr>
              <a:t>Done when: radio powered, antenna up, SWR checked, HAMRS loaded</a:t>
            </a:r>
            <a:pPr indent="0" marL="0">
              <a:spcBef>
                <a:spcPts val="600"/>
              </a:spcBef>
              <a:buNone/>
            </a:pPr>
            <a:r>
              <a:rPr lang="en-US" sz="1400" dirty="0">
                <a:solidFill>
                  <a:srgbClr val="FFFFFF"/>
                </a:solidFill>
                <a:latin typeface="Plus Jakarta Sans" pitchFamily="34" charset="0"/>
                <a:ea typeface="Plus Jakarta Sans" pitchFamily="34" charset="-122"/>
                <a:cs typeface="Plus Jakarta Sans" pitchFamily="34" charset="-120"/>
              </a:rPr>
              <a:t>Target: RF-ready in under 15 minutes</a:t>
            </a:r>
            <a:endParaRPr lang="en-US" sz="1500" dirty="0"/>
          </a:p>
        </p:txBody>
      </p:sp>
      <p:sp>
        <p:nvSpPr>
          <p:cNvPr id="6" name="Text 4"/>
          <p:cNvSpPr/>
          <p:nvPr/>
        </p:nvSpPr>
        <p:spPr>
          <a:xfrm>
            <a:off x="365760" y="6217920"/>
            <a:ext cx="8229600" cy="320040"/>
          </a:xfrm>
          <a:prstGeom prst="rect">
            <a:avLst/>
          </a:prstGeom>
          <a:noFill/>
          <a:ln/>
        </p:spPr>
        <p:txBody>
          <a:bodyPr wrap="square" rtlCol="0" anchor="ctr"/>
          <a:lstStyle/>
          <a:p>
            <a:pPr indent="0" marL="0">
              <a:buNone/>
            </a:pPr>
            <a:r>
              <a:rPr lang="en-US" sz="1100" dirty="0">
                <a:solidFill>
                  <a:srgbClr val="94A3B8"/>
                </a:solidFill>
                <a:latin typeface="Plus Jakarta Sans" pitchFamily="34" charset="0"/>
                <a:ea typeface="Plus Jakarta Sans" pitchFamily="34" charset="-122"/>
                <a:cs typeface="Plus Jakarta Sans" pitchFamily="34" charset="-120"/>
              </a:rPr>
              <a:t>20 minutes · patio setup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A 40m EFHW is built with 66 feet of wire. Without any changes, it also resonates on which bands?</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80m and 160m (longer harmonics)</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20m, 15m, and 10m (harmonic multiples)</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Only 40m — EFHW is single-band</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60m and 30m (WARC bands)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Why is LiFePO4 preferred over lead-acid (AGM/SLA) for portable POTA operations?</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LiFePO4 is cheaper per Ah</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LiFePO4 is lighter, has more cycles, and holds voltage better through discharge</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LiFePO4 doesn't need a BMS or charge controller</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LiFePO4 works in hot climates; AGM doesn't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You arrive at an open field with no trees. Your antenna kit contains an EFHW, a throw bag with paracord, and an 8m squid pole. What do you do?</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Give up and drive to a park with trees</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Deploy the EFHW vertically using the squid pole as a mast</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The EFHW won't work without a tree — need a different antenna</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Call CQ on VHF FM only</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10B981"/>
          </a:solidFill>
          <a:ln/>
        </p:spPr>
      </p:sp>
      <p:sp>
        <p:nvSpPr>
          <p:cNvPr id="3" name="Text 1"/>
          <p:cNvSpPr/>
          <p:nvPr/>
        </p:nvSpPr>
        <p:spPr>
          <a:xfrm>
            <a:off x="457200" y="457200"/>
            <a:ext cx="8229600" cy="548640"/>
          </a:xfrm>
          <a:prstGeom prst="rect">
            <a:avLst/>
          </a:prstGeom>
          <a:noFill/>
          <a:ln/>
        </p:spPr>
        <p:txBody>
          <a:bodyPr wrap="square" rtlCol="0" anchor="ctr"/>
          <a:lstStyle/>
          <a:p>
            <a:pPr indent="0" marL="0">
              <a:buNone/>
            </a:pPr>
            <a:r>
              <a:rPr lang="en-US" sz="1400" b="1" spc="200" kern="0" dirty="0">
                <a:solidFill>
                  <a:srgbClr val="6EE7B7"/>
                </a:solidFill>
                <a:latin typeface="Plus Jakarta Sans" pitchFamily="34" charset="0"/>
                <a:ea typeface="Plus Jakarta Sans" pitchFamily="34" charset="-122"/>
                <a:cs typeface="Plus Jakarta Sans" pitchFamily="34" charset="-120"/>
              </a:rPr>
              <a:t>Session 3 Preview</a:t>
            </a:r>
            <a:endParaRPr lang="en-US" sz="1400" dirty="0"/>
          </a:p>
        </p:txBody>
      </p:sp>
      <p:sp>
        <p:nvSpPr>
          <p:cNvPr id="4" name="Text 2"/>
          <p:cNvSpPr/>
          <p:nvPr/>
        </p:nvSpPr>
        <p:spPr>
          <a:xfrm>
            <a:off x="457200" y="1097280"/>
            <a:ext cx="8229600" cy="9144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Operating, Logging &amp; Uploading</a:t>
            </a:r>
            <a:endParaRPr lang="en-US" sz="3200" dirty="0"/>
          </a:p>
        </p:txBody>
      </p:sp>
      <p:sp>
        <p:nvSpPr>
          <p:cNvPr id="5" name="Text 3"/>
          <p:cNvSpPr/>
          <p:nvPr/>
        </p:nvSpPr>
        <p:spPr>
          <a:xfrm>
            <a:off x="457200" y="2103120"/>
            <a:ext cx="8229600" cy="3657600"/>
          </a:xfrm>
          <a:prstGeom prst="rect">
            <a:avLst/>
          </a:prstGeom>
          <a:noFill/>
          <a:ln/>
        </p:spPr>
        <p:txBody>
          <a:bodyPr wrap="square" rtlCol="0" anchor="t"/>
          <a:lstStyle/>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CQ POTA calling procedure and exchange</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Self-spotting on pota.app — getting hunters on your frequency</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FT8 from the field — WSJT-X setup and the digital workflow</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HAMRS logging — walkthrough from activation create to ADIF export</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Log upload to pota.app — full workflow, common errors</a:t>
            </a:r>
            <a:endParaRPr lang="en-US" sz="1600" dirty="0"/>
          </a:p>
          <a:p>
            <a:pPr marL="342900" indent="-342900">
              <a:spcBef>
                <a:spcPts val="1000"/>
              </a:spcBef>
              <a:buSzPct val="100000"/>
              <a:buChar char="•"/>
            </a:pPr>
            <a:r>
              <a:rPr lang="en-US" sz="1600" b="1" dirty="0">
                <a:solidFill>
                  <a:srgbClr val="6EE7B7"/>
                </a:solidFill>
                <a:latin typeface="Plus Jakarta Sans" pitchFamily="34" charset="0"/>
                <a:ea typeface="Plus Jakarta Sans" pitchFamily="34" charset="-122"/>
                <a:cs typeface="Plus Jakarta Sans" pitchFamily="34" charset="-120"/>
              </a:rPr>
              <a:t>Simulated activation: log 10 contacts start-to-finish</a:t>
            </a:r>
            <a:endParaRPr lang="en-US" sz="1600" dirty="0"/>
          </a:p>
        </p:txBody>
      </p:sp>
      <p:sp>
        <p:nvSpPr>
          <p:cNvPr id="6" name="Text 4"/>
          <p:cNvSpPr/>
          <p:nvPr/>
        </p:nvSpPr>
        <p:spPr>
          <a:xfrm>
            <a:off x="457200" y="6035040"/>
            <a:ext cx="8229600" cy="365760"/>
          </a:xfrm>
          <a:prstGeom prst="rect">
            <a:avLst/>
          </a:prstGeom>
          <a:noFill/>
          <a:ln/>
        </p:spPr>
        <p:txBody>
          <a:bodyPr wrap="square" rtlCol="0" anchor="ctr"/>
          <a:lstStyle/>
          <a:p>
            <a:pPr indent="0" marL="0">
              <a:buNone/>
            </a:pPr>
            <a:r>
              <a:rPr lang="en-US" sz="1200" dirty="0">
                <a:solidFill>
                  <a:srgbClr val="94A3B8"/>
                </a:solidFill>
                <a:latin typeface="Plus Jakarta Sans" pitchFamily="34" charset="0"/>
                <a:ea typeface="Plus Jakarta Sans" pitchFamily="34" charset="-122"/>
                <a:cs typeface="Plus Jakarta Sans" pitchFamily="34" charset="-120"/>
              </a:rPr>
              <a:t>Bring: phone with HAMRS installed, pota.app login ready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POTA Session 2 — Field Station Fundamentals</dc:title>
  <dc:subject>PptxGenJS Presentation</dc:subject>
  <dc:creator>PptxGenJS</dc:creator>
  <cp:lastModifiedBy>PptxGenJS</cp:lastModifiedBy>
  <cp:revision>1</cp:revision>
  <dcterms:created xsi:type="dcterms:W3CDTF">2026-09-19T22:40:11Z</dcterms:created>
  <dcterms:modified xsi:type="dcterms:W3CDTF">2026-09-19T22:40:11Z</dcterms:modified>
</cp:coreProperties>
</file>