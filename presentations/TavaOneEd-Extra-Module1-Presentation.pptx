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Extra class. This module is the biggest in the course at 22% of the exam. We cover E1 (rules) and E2 (operating) — 11 questions total. Remind students they need their General license to sit for Extra. HamStudy setup is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them the Extra pool has 602 questions. HamStudy will narrow that down for them. The prerequisite is already passing General, so they've been through the process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the $35 FCC application fee for a new license, upgrade exams typically don't require a new FCC payment if the VEC processes it as an upgrade. Verify current FCC fee rules at time of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 minutes to pull up HamStudy on their phones. Confirm they can find the Extra pool. Share your instructor link so you can see their progress before Module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E1A section is about where Extra-class operators can go that General cannot. These exclusive segments are small, mostly at the bottom of each HF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Extra-exclusive CW segments are where the serious CW contesters and DX operators live. On contest weekends, 14.000–14.025 is wall-to-wall CW that General operators can only listen to, not transmit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if 20m phone extends to 14.350 MHz at the top, and you're using USB, what's the highest carrier frequency you'd use? Answer: roughly 14.347 MHz to keep the upper sideband edge at 14.350.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EIRP vs. ERP: EIRP is referenced to an isotropic radiator, ERP is referenced to a dipole. EIRP = ERP + 2.15 dB. The LF bands share spectrum with power-line carrier systems — that's why UTC gets notified.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E1B covers spurious emissions, antenna structure rules, PRB-1, RACES, and the National Radio Quiet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PRB-1 comes up in the exam and in real life. Know the language: 'reasonably accommodate' and 'not preclude all communications.' HOA restrictions are contractual and outside FCC jurisdiction unless your state has acted.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RACES is distinct from ARES (Amateur Radio Emergency Service, which is an ARRL program). RACES is FCC-defined and requires the civil defense certification. Ask: does your county have a RACES program? Most ARES operators function under both when activated.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E1C covers remote control rules, the control link failure requirement, international permits, and LF band notification.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3-minute rule is a favorite exam question. Make sure students have it cold. Ask: why 3 minutes? Answer: to give the station time to detect the failure and shut down gracefully without requiring instant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US amateur can get both CEPT and IARP documentation before an international trip. The ARRL has current information on which countries honor which permit. Always verify — rules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E1D is about amateur satellites, balloons, space telecommand, and one-way transmissions. Students who aren't into satellites often miss this section — emphasize the key definitions.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distinction: you don't need a special designation to control a model aircraft — any amateur can do that with 1W, no ID. But you DO need a designated space telecommand station to control an orbiting satellite.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students are probably sitting in front of the people who will administer their exam. Make this section personal and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out: the consequence for VE fraud is both a station license revocation AND an operator license suspension — not just one. The exam almost always asks about the consequence of fraudulent administration.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E1F covers power amplifier certification, spread spectrum geography, Line A, Canadian amateurs, and mesh network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spread-spectrum-above-222-MHz rule is a common exam question. Mesh networks are increasingly popular for emergency communications — make sure students understand the encryption restriction applies there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Satellites are a favorite topic for Extra class. Even students who don't operate satellites find this section interesting once they understand how linear transponders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students have used satellite tracking apps on their phones without knowing the math behind it. Keplerian elements are the underlying data. Ask: what happens to a satellite's orbit at very low altitudes? Atmospheric drag decays it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if possible: pull up a linear transponder satellite (like SO-50 or RS-44) on a tracking app and show students where it is. Explain that on a linear transponder, if you tune up 1 kHz on your uplink, you appear 1 kHz lower on the downlink.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 designators: the first letter is the uplink, the second is the downlink. A student asked once why they invert — it's because the repeater in space needs to receive on one band while transmitting on another, just like a terrestrial repeater.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E2B covers SSTV and fast-scan ATV. E2C covers digital logging formats and DX operating. Quick section — mostly memorization.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demo of SSTV audio is very effective here if you have a recording. The students can literally hear the tones encoding image data — it makes the concept stick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LoTW vs. paper QSLs: LoTW confirmations count for DXCC. The ARRL stopped accepting paper QSLs for most DXCC credit. Ask who has submitted a Cabrillo log before — they'll have strong opinions about contest logging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section covers the full spectrum of digital modes Extra operators need to know. Many students already use FT8 — build on what they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FT8 is the gateway drug to understanding weak-signal modes. Ask: who's already used FT8? What happens if your computer clock is off? The answer (wrong decode cycles, missed contacts) makes the clock-sync requirement memorable.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Winlink + PACTOR IV is the combination most emergency communications operators use for HF email. APRS is live on 144.390 MHz — if anyone has a handheld, you can pull up aprs.fi on a projector and show live APRS traffic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for review before the checkpoint quiz. Give students 2 minutes to quiz each other on the reference card from their student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1. Cover the right column, say the answer from the left. 90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2. Then move into the checkpoint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distractor: B is 630m, not 2200m. Students mix these up constantly. 2200m = 1W, 630m = 5W.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conceptual question. Make sure students can visualize the inversion before the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wrong answer: A. The ARRL is not involved. UTC protects power-line carrier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 is the specific number. Not 5, not 10. Get that number solid.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Both. Not one or the other. This is a two-part consequence.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Spin modulation = rapid amplitude variation as a rotating satellite's antenna sweeps past you. Circular polarization averages out the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PSK31 is narrow. FT8 is optimized for weak-signal, not throughput. WSPR is one-way only. PACTOR IV wins on throughput.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 = Vertical Interval Signaling. Your software reads it and automatically selects the right decoder.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ADIF is for data exchange between programs. LoTW is for award confirmation. Cabrillo is specifically for submitting contest logs to sponsors.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PRB-1 does not eliminate local authority. It sets a floor: 'reasonably accommodate' and 'not preclude all.' HOA rules are not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students. Remind them the VE exam is at the end of Module 7. At the pace of one module per week, they'll be licensed in 7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8288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Module 1: Rules &amp; Operating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BB"/>
                </a:solidFill>
              </a:rPr>
              <a:t>FCC Privileges · Operating Procedures · Digital Modes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ACCBB"/>
                </a:solidFill>
              </a:rPr>
              <a:t>2024–2028 Amateur Extra Question Pool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TavaOne Education  ·  Pinellas STEM Radio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We're Building Toward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7 modules × 2 hours = 50-question Amateur Extra exam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Module 1 (today): Rules &amp; Operating — FCC privileges, satellites, digital modes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Module 2: Propagation &amp; Practices — EME, meteor scatter, test equipment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Module 3: Electrical Principles — resonance, Q, time constants, phasors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Module 4: Circuit Components — semiconductors, diodes, digital ICs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Module 5: Practical Circuits — amplifiers, filters, DSP, oscillators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Module 6: Signals, Emissions &amp; Safety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Module 7: Antennas &amp; Transmission Lines — heaviest math, Smith chart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50 questions on the exam, 37 to pass (74%) — you already know how to study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Extra Exam — What to Expect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50 multiple-choice questions, randomly drawn from the question pool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One question from each of 50 groups (E1A through E9H and E0A)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37 correct answers to pass = 74%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No trick questions — four choices, one is always correct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Exam sessions at the lab — same VE team as Technician and General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No FCC application fee for upgrade (it's already associated with your license)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Your call sign doesn't change when you upgrade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HamStudy is the primary study tool — use it between every session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HamStudy Setup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Go to hamstudy.org — create or log into your account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Select the 2024–2028 Amateur Extra question pool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Share your progress link with your instructor (QR code on handout)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Between sessions: drill the assigned sections to 80%+ confidence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HamStudy tracks which questions you miss and drills those harder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Trust the system — it works the same way it worked for Tech and General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Target: 80%+ on E1A through E2E before Module 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1: Extra-Class Frequency Privileges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BB"/>
                </a:solidFill>
              </a:rPr>
              <a:t>Subelement E1A — 1 exam question from this group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Where Only Extras Can Transmit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80 meters: 3.500–3.525 MHz (CW) and 3.600–3.700 MHz (phone/CW/data)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40 meters: 7.000–7.025 MHz (CW)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20 meters: 14.000–14.025 MHz (CW) and 14.150–14.175 MHz (phone/CW)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15 meters: 21.000–21.025 MHz (CW)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10 meters: 28.000–28.025 MHz (CW)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These are small segments — Extra's reward for doing the harder exam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General already has most HF — Extra opens the competitive CW segments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Signal Bandwidth at Band Edges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Your signal extends beyond your carrier frequency — not just on the carrier itself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USB (upper sideband): signal extends upward from carrier — stay 3 kHz inside upper edge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LSB (lower sideband): signal extends downward from carrier — stay 3 kHz inside lower edge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CW: carrier IS the signal center — still has some bandwidth (filter shape)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FT8 and other digital modes also have real bandwidth — know where you sit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Transmitting outside the band is an FCC violation even if the carrier is inside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60m, 630m, and 2200m Bands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60 meters (5 MHz): channelized operation on 5 specific channel center frequencies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5332, 5348, 5358.5, 5373, and 5405 kHz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CW must be transmitted at the channel center (not USB-offset like phone)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Maximum power: 100 watts ERP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2200 meters (135.7–137.8 kHz): maximum 1 watt EIRP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630 meters (472–479 kHz): maximum 5 watts EIRP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Both LF bands require UTC (Utilities Technology Council) notification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Wait 30 days after notification before operating — unless UTC clears you earlier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EIRP = Effective Isotropic Radiated Power (referenced to a perfect isotropic)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2: Station Restrictions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BB"/>
                </a:solidFill>
              </a:rPr>
              <a:t>Subelement E1B — 1 exam question from this group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Spurious Emissions &amp; Zoning (E1B)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Spurious Emissions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14800" cy="36118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3258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Any transmission not part of intended signal</a:t>
            </a:r>
            <a:endParaRPr lang="en-US" sz="15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HF standard: −43 dB below fundamental</a:t>
            </a:r>
            <a:endParaRPr lang="en-US" sz="15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Includes: harmonics, IMD, parasitic oscillations</a:t>
            </a:r>
            <a:endParaRPr lang="en-US" sz="15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Switching amplifiers need output filters</a:t>
            </a:r>
            <a:endParaRPr lang="en-US" sz="15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Your amp must meet this standard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PRB-1 Zoning Preemption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114800" cy="361188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3258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FCC preemption of local zoning rules</a:t>
            </a:r>
            <a:endParaRPr lang="en-US" sz="15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Local law must 'reasonably accommodate'</a:t>
            </a:r>
            <a:endParaRPr lang="en-US" sz="15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Cannot 'preclude' all amateur communications</a:t>
            </a:r>
            <a:endParaRPr lang="en-US" sz="15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Does NOT eliminate local authority</a:t>
            </a:r>
            <a:endParaRPr lang="en-US" sz="15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Does NOT cover HOA private covenants</a:t>
            </a:r>
            <a:endParaRPr lang="en-US" sz="15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Some states extended similar rules to HOAs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RACES, Antenna Structures &amp; Quiet Zone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RACES (Radio Amateur Civil Emergency Service):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Requires FCC amateur license AND civil defense certification — both required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May use any frequency authorized to your station during declared emergencies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Limited to 1 hour per week of RACES practice (no limit during actual emergency)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Antenna structure registration (Part 17 / FAA):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Structures over 200 feet above ground require FAA determination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Structures within certain airport proximity also require notification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FCC ASR database tracks registered structures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National Radio Quiet Zone: area around Green Bank, WV — restrictions on transmitted power near sensitive observatories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3: Remote/Automatic Control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BB"/>
                </a:solidFill>
              </a:rPr>
              <a:t>Subelement E1C — 1 exam question from this group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Remote Control &amp; Control Link Failure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Remote control: control operator is NOT at the transmitter site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Control link: the connection between operator and transmitter (internet, RF link, phone)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If the control link fails: station must automatically stop transmitting within 3 minutes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The control operator must be able to immediately terminate transmission at any time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HF FM: modulation index must not exceed 1.0 below 29.7 MHz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Automatic control: no operator present — station runs itself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Automatic control is allowed for: beacons, repeaters, RTTY/data gateways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Automatically controlled data stations may forward third-party traffic on RTTY/data modes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Operating Internationally (CEPT, IARP)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CEPT License: operate in CEPT member countries without a separate host-country license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CEPT = Conference of Postal and Telecommunications Administrations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Covers most of Europe plus some other countries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You operate under your US license — host country may impose equivalent class limits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IARP Permit: operate in IARP countries (mainly Americas)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IARP = International Amateur Radio Permit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Required by some Western Hemisphere countries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Canadian amateurs operating in the US: use Canadian license terms, up to Extra-equivalent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Check current country-specific rules before any international operation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STA (Special Temporary Authority): FCC authorization for experimental operations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4: Space Stations &amp; One-Way Comms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BB"/>
                </a:solidFill>
              </a:rPr>
              <a:t>Subelement E1D — 1 exam question from this group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Space Station Definitions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Space station: amateur station located above 50 km altitude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Telemetry: one-way data transmission FROM space station TO Earth (status, sensor data)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Telecommand: one-way control transmission FROM Earth TO space station (commanding it)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Space telecommand stations: only specifically designated amateur stations may transmit to control a space station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Model craft telecommand: ANY amateur may transmit up to 1 watt to control models — no ID required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HF bands with space allocations: 40m, 20m, 15m, and 10m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Balloon stations must transmit ID at regular intervals — standard amateur rules apply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One-way amateur transmissions are allowed for: beacons, space telemetry, and telecommand only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5: The Volunteer Examiner Program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BB"/>
                </a:solidFill>
              </a:rPr>
              <a:t>Subelement E1E — 1 exam question from this group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VE Program Rules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VEC (Volunteer Examiner Coordinator): organization that coordinates VEs — ARRL, W5YI, Laurel, etc.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VE (Volunteer Examiner): individual licensed amateur who administers exams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VE must be accredited (confirmed) by a VEC — not just licensed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VEs can only be reimbursed for expenses directly related to exam preparation, processing, and administration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A VE may NOT examine immediate family members or household members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If an applicant fails an element: VE team RETURNS the application to the applicant — does not keep it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Fraudulent exam administration by a VE: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Revocation of station license AND suspension of operator license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This is the most severe consequence for VE misconduct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6: Miscellaneous Rules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BB"/>
                </a:solidFill>
              </a:rPr>
              <a:t>Subelement E1F — 1 exam question from this group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Miscellaneous Extra-Class Rules (E1F)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External RF power amplifiers: must meet FCC certification if capable of operating below 144 MHz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Prevents use on CB and other services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Spread spectrum: only authorized above 222 MHz (not on HF)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Line A: geographic boundary near Canadian border — 420–430 MHz operations restricted near Line A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Canadian amateurs in the US: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Operate under Canadian license terms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Privileges limited to US equivalent of their Canadian class (up to Extra)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Auxiliary stations: Technician class and above may serve as control operator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Mesh networks (AREDN): cannot transmit messages encoded to obscure meaning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Encryption to hide content is prohibited on mesh networks just as everywhere else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7: Amateur Satellites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BB"/>
                </a:solidFill>
              </a:rPr>
              <a:t>Subelement E2A — 1 exam question from this group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Orbital Mechanics for Ham Radio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Ascending pass: satellite travels south to north across your location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Descending pass: satellite travels north to south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Perigee: closest point of orbit to Earth → least path loss → strongest signal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Apogee: farthest point → weakest signal, most Doppler shift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Geostationary: ~35,786 km altitude, satellite appears stationary from Earth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Keplerian elements: 6 parameters that fully define a satellite's orbit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Used by tracking software (like Gpredict) to predict passes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Updated regularly as orbits drift due to atmospheric drag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Linear Transponders — Key Concept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A linear transponder receives a range of frequencies on one band, retransmits on another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Linear transponders are INVERTING: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Upper Sideband uplink becomes Lower Sideband downlink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Signal at the top of the uplink passband appears at the BOTTOM of the downlink passband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Doppler correction: as satellite approaches, frequencies shift up; as it recedes, they shift down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Keep your ERP (power × antenna gain) at minimum needed: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High power crushes the transponder's automatic level control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Degrades the downlink signal for EVERYONE using the satellite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Spin modulation: rotating satellite causes rapid signal variations → use circular polarization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Satellite Mode Designators &amp; Bands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Mode designators use letters for uplink/downlink bands: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Mode U/V: uplink on 70cm (UHF), downlink on 2m (VHF)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Mode V/U: uplink on 2m (VHF), downlink on 70cm (UHF)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Mode L/U: uplink on 23cm (L band), downlink on 70cm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L band = 23 cm = 1.2 GHz range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S band = 13 cm = 2.4 GHz range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Low-Earth orbit satellites: typical pass duration 8–12 minutes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Geostationary amateur satellites (like Phase 3 spacecraft): visible continuously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8: Television, Contesting &amp; DX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BB"/>
                </a:solidFill>
              </a:rPr>
              <a:t>Subelements E2B–E2C — 1 exam question from this group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Slow-Scan Television (SSTV)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SSTV transmits still images via audio tones over standard SSB equipment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Colors are sent SEQUENTIALLY — one color scan per line (not simultaneously)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Tone frequency encodes pixel brightness: higher frequency = brighter pixel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VIS (Vertical Interval Signaling) code at the start of each frame: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Identifies the SSTV mode (color system + resolution)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Received automatically by SSTV software to decode correctly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DRM (Digital Radio Mondiale): uses SSB-capable receiver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Fast-scan ATV (amateur television): 525 lines NTSC, interlaced scanning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DVB-T (digital ATV): uses QAM and QPSK modulation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Contest Logging &amp; DX Operating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Cabrillo format: the standard electronic log format for contest submission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Required by ARRL, CQ Magazine, and most major contest sponsors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ADIF (Amateur Data Interchange Format): exchange log data between programs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LoTW (Logbook of the World): ARRL's electronic QSL system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Confirms all contact types (phone, CW, digital) for DXCC, WAS, and other awards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DX pileup procedure: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Send your FULL call sign once or twice — not just suffix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Listen to how the DX is working: by suffix? by region? simplex or split?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Split operation: DX transmits one freq, listens on a range 5–10 kHz away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Remote operation in the US: no '/R' or additional indicator required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9: Digital Modes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BB"/>
                </a:solidFill>
              </a:rPr>
              <a:t>Subelements E2D–E2E — 1 exam question from this group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Weak-Signal Digital Modes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FT8: 15-second TX/RX cycles; 4-tone CPFSK modulation; computer clock must be within ±1 second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Most popular digital mode in ham radio today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FT4: 7.5-second cycles; faster paced for contests; less sensitive than FT8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Q65: designed for EME (Earth-Moon-Earth / moon bounce)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Handles severe Doppler shifting and libration fading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MSK144: designed for meteor scatter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Uses sporadic E-layer ionization trails from meteors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Works on 28–148 MHz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FST4: four-tone Gaussian FSK; variable periods (15 seconds to 1800 seconds)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Used on VLF, LF, and MF bands where propagation is very slow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WSPR: propagation beacons ONLY — not two-way keyboard communication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HF Data Modes &amp; APRS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PACTOR IV: highest data throughput of any HF digital mode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Used extensively for Winlink email over HF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PSK31: variable-length (Varicode) character coding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Very narrow bandwidth — second narrowest after FT8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ALE (Automatic Link Establishment): scans a list of frequencies, selects best one automatically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APRS (Automatic Packet Reporting System):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Protocol: AX.25 packet radio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Frame type: unnumbered information (UI) frames — connectionless, broadcast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WIDE3-1 digipeater path: relayed by up to 3 digipeaters (counter decrements each hop)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</a:rPr>
              <a:t>→ Uses: position reporting, weather data, messages, object tracking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Quick Reference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BB"/>
                </a:solidFill>
              </a:rPr>
              <a:t>The numbers and rules that matter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Numbers for the Exam (Part 1)</a:t>
            </a:r>
            <a:endParaRPr lang="en-US" sz="2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Extra-only 80m CW segment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3.500-3.525 MHz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Extra-only 20m phone segment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14.150-14.175 MHz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60m max power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100W ERP, channelized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2200m max power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1 watt EIRP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630m max power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5 watts EIRP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630m/2200m startup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UTC notification: 30-day wait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Control link failure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Auto-stop within 3 minutes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Spurious emissions (HF)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-43 dB below fundamental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Spread spectrum above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222 MHz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FT8 cycle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15 sec TX/RX; 4-tone CPFSK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MSK144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Meteor scatter, 28-148 MHz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WSPR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One-way beacons only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Numbers for the Exam (Part 2)</a:t>
            </a:r>
            <a:endParaRPr lang="en-US" sz="2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PACTOR IV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Highest HF data throughput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Cabrillo format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Electronic contest log submission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LoTW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Confirms all contact types for awards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APRS protocol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AX.25, unnumbered information frames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VE cannot examine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Immediate family / household members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VE fraud consequence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Station license revoked + operator license suspended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RACES requirement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FCC license + civil defense certification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PRB-1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Zoning must reasonably accommodate amateur radio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CEPT permit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Operate in CEPT countries on your US license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Satellite transponder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Inverting: USB in, LSB out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Perigee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Closest approach: least path loss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Model craft telecommand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Any amateur, 1W max, no ID required</a:t>
                      </a:r>
                      <a:endParaRPr lang="en-US" sz="1400" dirty="0"/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800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TavaOne Education — Module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0" y="4800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E1–E2 · Extra Class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1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is the maximum power allowed on the 2200-meter amateur band?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100 watts PEP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5 watts EIRP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1 watt EIRP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50 watts PEP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Answer: C — 1 watt EIRP (2200m = 135.7–137.8 kHz)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2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Which of the following describes the operation of a linear transponder in an amateur satellite?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Amplifies signals and retransmits on the same frequency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Receives signals and retransmits them in an inverted passband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Converts digital signals to analog and retransmits them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Demodulates and remodulates signals to reduce noise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Answer: B — Inverting passband: USB in = LSB out; signal position reversed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3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must happen before operating on the 630-meter band?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Notify the ARRL at least 30 days before operating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Notify the Utilities Technology Council and wait 30 days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File an STA request with the FCC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Register with a VEC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Answer: B — UTC (Utilities Technology Council) notification, then 30-day wait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4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If the control link of a remotely controlled station fails, what must happen?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The station must automatically stop transmitting within 3 minutes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Switch to automatic control until the link is restored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The station may continue operating for up to 1 hour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The licensee must notify the FCC immediately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Answer: A — Auto-stop within 3 minutes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5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is the consequence of fraudulent exam administration by a Volunteer Examiner?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Revocation of VE accreditation only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Suspension of operator license only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Revocation of station license AND suspension of operator license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A written warning from the FCC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Answer: C — BOTH station license revoked AND operator license suspended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6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is the primary advantage of circular polarization on a ground station antenna when working satellites?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Greater signal bandwidth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Resistance to multipath propagation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Mitigation of spin modulation from tumbling satellites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Reduced path loss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Answer: C — Reduces spin modulation effects from tumbling satellites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7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Which HF digital mode provides the highest data throughput?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PSK31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FT8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WSPR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PACTOR IV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Answer: D — PACTOR IV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8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does the VIS code at the beginning of an SSTV transmission identify?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The transmitting station's call sign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The SSTV mode being used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The receiving station's ID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The image resolution in pixels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Answer: B — The SSTV mode (color system and resolution)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9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is the Cabrillo format used for?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Exchanging QSO data between logging programs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Electronic submission of contest logs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Confirming contacts for DXCC awards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Automatic frequency control in digital modes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Answer: B — Electronic contest log submission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Checkpoint Quiz  10 / 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What does PRB-1 require of state and local governments?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A.  Exempt all amateur antennas from local zoning entirely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B.  Allow unlimited antenna height in residential areas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C.  Reasonably accommodate amateur radio and not preclude all antenna installations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</a:rPr>
              <a:t>D.  Require permits for all antennas over 10 feet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079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Answer: C — Reasonably accommodate; cannot preclude all communications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Before Module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2"/>
                </a:solidFill>
              </a:rPr>
              <a:t>Your assignment: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Drill HamStudy sections E1A through E2E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Target 80%+ confidence on each section before Module 2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Focus extra time on E2A (satellites) — most students find it unfamiliar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HamStudy tracks your weak spots and drills those harder — trust the system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2"/>
                </a:solidFill>
              </a:rPr>
              <a:t>Coming in Module 2: Advanced Propagation &amp; Practices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CCBB"/>
                </a:solidFill>
              </a:rPr>
              <a:t>EME, meteor scatter, aurora, TEP, space weather, test equipment, receiver performance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2026-09-19T03:23:10Z</dcterms:created>
  <dcterms:modified xsi:type="dcterms:W3CDTF">2026-09-19T03:23:10Z</dcterms:modified>
</cp:coreProperties>
</file>