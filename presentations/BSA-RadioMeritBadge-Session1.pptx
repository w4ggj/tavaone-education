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Scouts. This session covers six of the nine merit badge requirements. By the end you will understand radio safety, the EM spectrum, how signals travel, FCC rules, and what amateur radio is. You will also make your first on-air voice contact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agenda so Scouts know what to expect. Let them know they will physically make an on-air contact today — this is usually the most exciting part. Session 2 covers Reqs 4, 5, 7, and the FT8 digital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is one of the most important safety topics. Ask Scouts: "Why do appliances have three prongs?" Most already know the answer instinctively but may not know the technical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hypothetical — lightning injuries at antenna installations happen every year. Emphasize disconnecting and grounding before a storm, not when you hear thunder.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one-hand rule prevents current from crossing the chest (the dangerous path near the heart). This is why electricians keep one hand behind their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Li-ion fires are dramatic and news-worthy. You can mention the hoverboard fires of 2015–16 and incidents with vape devices and e-scooters as examples Scouts likely know about. The key message: these batteries store a lot of energy and fail fast when abused.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scenario Scouts may encounter. Baofengs are common in scout radio programs. Emphasize: swelling = danger, freezer =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blank spectrum chart worksheets now. Scouts fill in their chart during this slide and the next. Walk around and check their work. They must locate at least 8 radio services: AM broadcast, FM broadcast, CB, TV, amateur (4 bands), public safety, cellular,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topics are a counselor discussion — Scouts need to explain them in their own words, not just read them back. Practice this with a volunteer Scout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Scouts draw the propagation sketch in their student packs while you draw it on the whiteboard. The key teaching point is WHY AM stations are audible farther at night — the ionosphere absorbs MF during the day but not at night, allowing sky-wave propagation.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WWV is something Scouts can listen to right now on the club station — pull it up on the receiver. Point out the voiced announcement at :18 past the hour. This makes the concept real and memorable.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Scouts: "Why would we need international rules for radio?" The answer: signals don't stop at borders. A US ham transmitting on HF can be heard in Europe — ITU coordinates so stations in different countries aren't using the same frequencies for conflicting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W4GGJ is Joe's personal callsign (the control op for TavaOne Education). You can use it as a real example. Walk through the structure: W = US station, 4 = 4th call district (southeastern US), GGJ = unique suffix.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whole room say the alphabet in unison once, then each Scout spells their name. This is one of the most fun parts of the session. Note: "Alfa" is spelled without the "ph" intentionally — the NATO version is spelled phonetically to work in multiple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common exam question for Technician license too. If you have Scouts interested in getting licensed, point this out as double-useful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Scouts if they have ever seen or heard about ham radio being used in a hurricane or tornado response. Florida examples: Hurricane Ian, Hurricane Michael. ARES operators staffed emergency management EOCs when 911 centers were flooded.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Scouts can take if they want to actually get on the air themselves. Point out that TavaOne Education runs Technician prep courses and holds VE exam sessions on-site. Having a license lets you operate independently without needing a control 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Q signals is the minimum for Req 8-A(3). Go through them all so Scouts understand the system, not just memorize 5. RST is going to matter when they make their contact — they need to know how to give a signal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have fun with this: demonstrate the MAYDAY call on a dummy mic. Ask a Scout to read it back. Point out that even if they aren't licensed, they can ALWAYS transmit to call for help in a life-or-death emergency — this is an FCC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actual club station equipment in the room. Label which items are base station vs. HT. If you have a repeater linked, show how it works. Hands-on is better than slides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source of confusion for new operators. Reinforce: your radio transmits on the INPUT; the repeater transmits on the OUTPUT. Your radio receives on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only need to do ONE of these. Write your research notes in your student pack. Come to Session 2 ready to have a real conversation with the counselor — this is not a paper you turn in, it is a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procedure slowly. Have the licensed control op (W4GGJ or another GCCC operator) demonstrate a full CQ call and exchange first. Then have each Scout take a turn at the mic. They don't need to memorize the exact words — encourage natural conversation once the initial exchange is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Scouts for attending. Remind them to bring their signed blue card to Session 2 — the counselor cannot complete the sign-off without it. If any Scout wants to pursue a Technician license, let them know TavaOne Education runs prep courses and VE exam sessions on-site.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20040"/>
            <a:ext cx="8229600" cy="228600"/>
          </a:xfrm>
          <a:prstGeom prst="rect">
            <a:avLst/>
          </a:prstGeom>
          <a:noFill/>
          <a:ln/>
        </p:spPr>
        <p:txBody>
          <a:bodyPr wrap="square" rtlCol="0" anchor="ctr"/>
          <a:lstStyle/>
          <a:p>
            <a:pPr indent="0" marL="0">
              <a:buNone/>
            </a:pPr>
            <a:r>
              <a:rPr lang="en-US" sz="900" b="1" spc="200" kern="0" dirty="0">
                <a:solidFill>
                  <a:srgbClr val="6EE7B7"/>
                </a:solidFill>
              </a:rPr>
              <a:t>TAVAONE EDUCATION · PINELLAS STEM RADIO LAB</a:t>
            </a:r>
            <a:endParaRPr lang="en-US" sz="900" dirty="0"/>
          </a:p>
        </p:txBody>
      </p:sp>
      <p:sp>
        <p:nvSpPr>
          <p:cNvPr id="3" name="Text 1"/>
          <p:cNvSpPr/>
          <p:nvPr/>
        </p:nvSpPr>
        <p:spPr>
          <a:xfrm>
            <a:off x="457200" y="685800"/>
            <a:ext cx="8229600" cy="1371600"/>
          </a:xfrm>
          <a:prstGeom prst="rect">
            <a:avLst/>
          </a:prstGeom>
          <a:noFill/>
          <a:ln/>
        </p:spPr>
        <p:txBody>
          <a:bodyPr wrap="square" rtlCol="0" anchor="ctr"/>
          <a:lstStyle/>
          <a:p>
            <a:pPr indent="0" marL="0">
              <a:buNone/>
            </a:pPr>
            <a:r>
              <a:rPr lang="en-US" sz="3600" b="1" dirty="0">
                <a:solidFill>
                  <a:srgbClr val="FFFFFF"/>
                </a:solidFill>
              </a:rPr>
              <a:t>BSA Radio Merit Badge</a:t>
            </a:r>
            <a:endParaRPr lang="en-US" sz="3600" dirty="0"/>
          </a:p>
          <a:p>
            <a:pPr indent="0" marL="0">
              <a:buNone/>
            </a:pPr>
            <a:r>
              <a:rPr lang="en-US" sz="3600" b="1" dirty="0">
                <a:solidFill>
                  <a:srgbClr val="FFFFFF"/>
                </a:solidFill>
              </a:rPr>
              <a:t>Session 1 — Radio Foundations</a:t>
            </a:r>
            <a:endParaRPr lang="en-US" sz="3600" dirty="0"/>
          </a:p>
        </p:txBody>
      </p:sp>
      <p:sp>
        <p:nvSpPr>
          <p:cNvPr id="4" name="Text 2"/>
          <p:cNvSpPr/>
          <p:nvPr/>
        </p:nvSpPr>
        <p:spPr>
          <a:xfrm>
            <a:off x="457200" y="2148840"/>
            <a:ext cx="8229600" cy="457200"/>
          </a:xfrm>
          <a:prstGeom prst="rect">
            <a:avLst/>
          </a:prstGeom>
          <a:noFill/>
          <a:ln/>
        </p:spPr>
        <p:txBody>
          <a:bodyPr wrap="square" rtlCol="0" anchor="ctr"/>
          <a:lstStyle/>
          <a:p>
            <a:pPr indent="0" marL="0">
              <a:buNone/>
            </a:pPr>
            <a:r>
              <a:rPr lang="en-US" sz="1400" dirty="0">
                <a:solidFill>
                  <a:srgbClr val="6EE7B7"/>
                </a:solidFill>
              </a:rPr>
              <a:t>Safety · Fundamentals · Propagation · Regulation · Amateur Radio (Reqs 1–6, 8-A(1–5))</a:t>
            </a:r>
            <a:endParaRPr lang="en-US" sz="1400" dirty="0"/>
          </a:p>
        </p:txBody>
      </p:sp>
      <p:sp>
        <p:nvSpPr>
          <p:cNvPr id="5" name="Shape 3"/>
          <p:cNvSpPr/>
          <p:nvPr/>
        </p:nvSpPr>
        <p:spPr>
          <a:xfrm>
            <a:off x="457200" y="2834640"/>
            <a:ext cx="8229600" cy="36576"/>
          </a:xfrm>
          <a:prstGeom prst="rect">
            <a:avLst/>
          </a:prstGeom>
          <a:solidFill>
            <a:srgbClr val="10B981"/>
          </a:solidFill>
          <a:ln/>
        </p:spPr>
      </p:sp>
      <p:sp>
        <p:nvSpPr>
          <p:cNvPr id="6" name="Text 4"/>
          <p:cNvSpPr/>
          <p:nvPr/>
        </p:nvSpPr>
        <p:spPr>
          <a:xfrm>
            <a:off x="457200" y="3017520"/>
            <a:ext cx="8229600" cy="274320"/>
          </a:xfrm>
          <a:prstGeom prst="rect">
            <a:avLst/>
          </a:prstGeom>
          <a:noFill/>
          <a:ln/>
        </p:spPr>
        <p:txBody>
          <a:bodyPr wrap="square" rtlCol="0" anchor="ctr"/>
          <a:lstStyle/>
          <a:p>
            <a:pPr indent="0" marL="0">
              <a:buNone/>
            </a:pPr>
            <a:r>
              <a:rPr lang="en-US" sz="900" dirty="0">
                <a:solidFill>
                  <a:srgbClr val="94A3B8"/>
                </a:solidFill>
              </a:rPr>
              <a:t>TavaOne Education · Pinellas STEM Radio Lab · Gulf Coast Contest Club</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Today's Agenda</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Req 1 — Radio Safety (grounding, burns, Li-ion fires)</a:t>
            </a:r>
            <a:endParaRPr lang="en-US" sz="1500" dirty="0"/>
          </a:p>
          <a:p>
            <a:pPr marL="190500" indent="-190500">
              <a:buSzPct val="100000"/>
              <a:buChar char="•"/>
            </a:pPr>
            <a:r>
              <a:rPr lang="en-US" sz="1500" dirty="0">
                <a:solidFill>
                  <a:srgbClr val="334155"/>
                </a:solidFill>
              </a:rPr>
              <a:t>Req 2 — Radio Fundamentals (EM spectrum chart, definitions)</a:t>
            </a:r>
            <a:endParaRPr lang="en-US" sz="1500" dirty="0"/>
          </a:p>
          <a:p>
            <a:pPr marL="190500" indent="-190500">
              <a:buSzPct val="100000"/>
              <a:buChar char="•"/>
            </a:pPr>
            <a:r>
              <a:rPr lang="en-US" sz="1500" dirty="0">
                <a:solidFill>
                  <a:srgbClr val="334155"/>
                </a:solidFill>
              </a:rPr>
              <a:t>Req 3 — How Radio Waves Travel (propagation)</a:t>
            </a:r>
            <a:endParaRPr lang="en-US" sz="1500" dirty="0"/>
          </a:p>
          <a:p>
            <a:pPr marL="190500" indent="-190500">
              <a:buSzPct val="100000"/>
              <a:buChar char="•"/>
            </a:pPr>
            <a:r>
              <a:rPr lang="en-US" sz="1500" dirty="0">
                <a:solidFill>
                  <a:srgbClr val="334155"/>
                </a:solidFill>
              </a:rPr>
              <a:t>Req 6 — Radio Regulation (FCC/ITU, call signs, phonetic alphabet)</a:t>
            </a:r>
            <a:endParaRPr lang="en-US" sz="1500" dirty="0"/>
          </a:p>
          <a:p>
            <a:pPr marL="190500" indent="-190500">
              <a:buSzPct val="100000"/>
              <a:buChar char="•"/>
            </a:pPr>
            <a:r>
              <a:rPr lang="en-US" sz="1500" dirty="0">
                <a:solidFill>
                  <a:srgbClr val="334155"/>
                </a:solidFill>
              </a:rPr>
              <a:t>Req 8-A, Items 1–5 — Amateur Radio knowledge</a:t>
            </a:r>
            <a:endParaRPr lang="en-US" sz="1500" dirty="0"/>
          </a:p>
          <a:p>
            <a:pPr marL="190500" indent="-190500">
              <a:buSzPct val="100000"/>
              <a:buChar char="•"/>
            </a:pPr>
            <a:r>
              <a:rPr lang="en-US" sz="1500" dirty="0">
                <a:solidFill>
                  <a:srgbClr val="334155"/>
                </a:solidFill>
              </a:rPr>
              <a:t>Req 9 — Introduction to career/hobby research assignment</a:t>
            </a:r>
            <a:endParaRPr lang="en-US" sz="1500" dirty="0"/>
          </a:p>
          <a:p>
            <a:pPr marL="190500" indent="-190500">
              <a:buSzPct val="100000"/>
              <a:buChar char="•"/>
            </a:pPr>
            <a:r>
              <a:rPr lang="en-US" sz="1500" dirty="0">
                <a:solidFill>
                  <a:srgbClr val="334155"/>
                </a:solidFill>
              </a:rPr>
              <a:t>On-Air: Supervised voice contact at the club station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1</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Radio Safety — Grounding, Burns &amp; Battery Fires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1a — Grounding: Two Types of Circuits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DC Grounding</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Batteries and solar panels produce DC</a:t>
            </a:r>
            <a:endParaRPr lang="en-US" sz="1300" dirty="0"/>
          </a:p>
          <a:p>
            <a:pPr marL="190500" indent="-190500">
              <a:buSzPct val="100000"/>
              <a:buChar char="•"/>
            </a:pPr>
            <a:r>
              <a:rPr lang="en-US" sz="1300" dirty="0">
                <a:solidFill>
                  <a:srgbClr val="334155"/>
                </a:solidFill>
              </a:rPr>
              <a:t>Negative terminal = ground reference</a:t>
            </a:r>
            <a:endParaRPr lang="en-US" sz="1300" dirty="0"/>
          </a:p>
          <a:p>
            <a:pPr marL="190500" indent="-190500">
              <a:buSzPct val="100000"/>
              <a:buChar char="•"/>
            </a:pPr>
            <a:r>
              <a:rPr lang="en-US" sz="1300" dirty="0">
                <a:solidFill>
                  <a:srgbClr val="334155"/>
                </a:solidFill>
              </a:rPr>
              <a:t>All negative leads connect to a common ground point</a:t>
            </a:r>
            <a:endParaRPr lang="en-US" sz="1300" dirty="0"/>
          </a:p>
          <a:p>
            <a:pPr marL="190500" indent="-190500">
              <a:buSzPct val="100000"/>
              <a:buChar char="•"/>
            </a:pPr>
            <a:r>
              <a:rPr lang="en-US" sz="1300" dirty="0">
                <a:solidFill>
                  <a:srgbClr val="334155"/>
                </a:solidFill>
              </a:rPr>
              <a:t>Prevents voltage differences and arcing between equipment</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AC Grounding (Household Power)</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Household outlets are 120 V AC in the US</a:t>
            </a:r>
            <a:endParaRPr lang="en-US" sz="1300" dirty="0"/>
          </a:p>
          <a:p>
            <a:pPr marL="190500" indent="-190500">
              <a:buSzPct val="100000"/>
              <a:buChar char="•"/>
            </a:pPr>
            <a:r>
              <a:rPr lang="en-US" sz="1300" dirty="0">
                <a:solidFill>
                  <a:srgbClr val="334155"/>
                </a:solidFill>
              </a:rPr>
              <a:t>The third (round) prong is the safety ground</a:t>
            </a:r>
            <a:endParaRPr lang="en-US" sz="1300" dirty="0"/>
          </a:p>
          <a:p>
            <a:pPr marL="190500" indent="-190500">
              <a:buSzPct val="100000"/>
              <a:buChar char="•"/>
            </a:pPr>
            <a:r>
              <a:rPr lang="en-US" sz="1300" dirty="0">
                <a:solidFill>
                  <a:srgbClr val="334155"/>
                </a:solidFill>
              </a:rPr>
              <a:t>Never remove the third prong or use an ungrounded adapter</a:t>
            </a:r>
            <a:endParaRPr lang="en-US" sz="1300" dirty="0"/>
          </a:p>
          <a:p>
            <a:pPr marL="190500" indent="-190500">
              <a:buSzPct val="100000"/>
              <a:buChar char="•"/>
            </a:pPr>
            <a:r>
              <a:rPr lang="en-US" sz="1300" dirty="0">
                <a:solidFill>
                  <a:srgbClr val="334155"/>
                </a:solidFill>
              </a:rPr>
              <a:t>Safety ground prevents the chassis from becoming energized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1a — Antenna &amp; Lightning Grounding</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 NEVER touch an antenna or feedline during a thunderstorm</a:t>
            </a:r>
            <a:endParaRPr lang="en-US" sz="1500" dirty="0"/>
          </a:p>
          <a:p>
            <a:pPr marL="190500" indent="-190500">
              <a:buSzPct val="100000"/>
              <a:buChar char="•"/>
            </a:pPr>
            <a:r>
              <a:rPr lang="en-US" sz="1500" dirty="0">
                <a:solidFill>
                  <a:srgbClr val="334155"/>
                </a:solidFill>
              </a:rPr>
              <a:t>Disconnect feedlines from radio BEFORE the storm arrives</a:t>
            </a:r>
            <a:endParaRPr lang="en-US" sz="1500" dirty="0"/>
          </a:p>
          <a:p>
            <a:pPr marL="190500" indent="-190500">
              <a:buSzPct val="100000"/>
              <a:buChar char="•"/>
            </a:pPr>
            <a:r>
              <a:rPr lang="en-US" sz="1500" dirty="0">
                <a:solidFill>
                  <a:srgbClr val="334155"/>
                </a:solidFill>
              </a:rPr>
              <a:t>Lightning arrestors divert strike energy to a ground rod — not through your radio</a:t>
            </a:r>
            <a:endParaRPr lang="en-US" sz="1500" dirty="0"/>
          </a:p>
          <a:p>
            <a:pPr marL="190500" indent="-190500">
              <a:buSzPct val="100000"/>
              <a:buChar char="•"/>
            </a:pPr>
            <a:r>
              <a:rPr lang="en-US" sz="1500" dirty="0">
                <a:solidFill>
                  <a:srgbClr val="334155"/>
                </a:solidFill>
              </a:rPr>
              <a:t>Antennas build up static charge even without lightning → a bleeder resistor or ground strap bleeds it off safely</a:t>
            </a:r>
            <a:endParaRPr lang="en-US" sz="1500" dirty="0"/>
          </a:p>
          <a:p>
            <a:pPr marL="190500" indent="-190500">
              <a:buSzPct val="100000"/>
              <a:buChar char="•"/>
            </a:pPr>
            <a:r>
              <a:rPr lang="en-US" sz="1500" dirty="0">
                <a:solidFill>
                  <a:srgbClr val="334155"/>
                </a:solidFill>
              </a:rPr>
              <a:t>Ground rod should be driven into moist earth, bonded to station ground bus</a:t>
            </a:r>
            <a:endParaRPr lang="en-US" sz="1500" dirty="0"/>
          </a:p>
          <a:p>
            <a:pPr marL="190500" indent="-190500">
              <a:buSzPct val="100000"/>
              <a:buChar char="•"/>
            </a:pPr>
            <a:r>
              <a:rPr lang="en-US" sz="1500" dirty="0">
                <a:solidFill>
                  <a:srgbClr val="334155"/>
                </a:solidFill>
              </a:rPr>
              <a:t>If outdoors near an antenna in a storm → move indoors immediately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1b — Electrical Burns: Prevention &amp; Treatment</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Prevention</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Always turn off and unplug before working inside equipment</a:t>
            </a:r>
            <a:endParaRPr lang="en-US" sz="1300" dirty="0"/>
          </a:p>
          <a:p>
            <a:pPr marL="190500" indent="-190500">
              <a:buSzPct val="100000"/>
              <a:buChar char="•"/>
            </a:pPr>
            <a:r>
              <a:rPr lang="en-US" sz="1300" dirty="0">
                <a:solidFill>
                  <a:srgbClr val="334155"/>
                </a:solidFill>
              </a:rPr>
              <a:t>Capacitors hold charge after power is off — discharge them first</a:t>
            </a:r>
            <a:endParaRPr lang="en-US" sz="1300" dirty="0"/>
          </a:p>
          <a:p>
            <a:pPr marL="190500" indent="-190500">
              <a:buSzPct val="100000"/>
              <a:buChar char="•"/>
            </a:pPr>
            <a:r>
              <a:rPr lang="en-US" sz="1300" dirty="0">
                <a:solidFill>
                  <a:srgbClr val="334155"/>
                </a:solidFill>
              </a:rPr>
              <a:t>One-hand rule: keep one hand in pocket when probing live circuits</a:t>
            </a:r>
            <a:endParaRPr lang="en-US" sz="1300" dirty="0"/>
          </a:p>
          <a:p>
            <a:pPr marL="190500" indent="-190500">
              <a:buSzPct val="100000"/>
              <a:buChar char="•"/>
            </a:pPr>
            <a:r>
              <a:rPr lang="en-US" sz="1300" dirty="0">
                <a:solidFill>
                  <a:srgbClr val="334155"/>
                </a:solidFill>
              </a:rPr>
              <a:t>Never work on electrical equipment alone</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Treatment</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FIRST: cut power before touching the victim</a:t>
            </a:r>
            <a:endParaRPr lang="en-US" sz="1300" dirty="0"/>
          </a:p>
          <a:p>
            <a:pPr marL="190500" indent="-190500">
              <a:buSzPct val="100000"/>
              <a:buChar char="•"/>
            </a:pPr>
            <a:r>
              <a:rPr lang="en-US" sz="1300" dirty="0">
                <a:solidFill>
                  <a:srgbClr val="334155"/>
                </a:solidFill>
              </a:rPr>
              <a:t>Call 911 — even if person "seems okay"</a:t>
            </a:r>
            <a:endParaRPr lang="en-US" sz="1300" dirty="0"/>
          </a:p>
          <a:p>
            <a:pPr marL="190500" indent="-190500">
              <a:buSzPct val="100000"/>
              <a:buChar char="•"/>
            </a:pPr>
            <a:r>
              <a:rPr lang="en-US" sz="1300" dirty="0">
                <a:solidFill>
                  <a:srgbClr val="334155"/>
                </a:solidFill>
              </a:rPr>
              <a:t>Cool running water on the burn — NOT ice</a:t>
            </a:r>
            <a:endParaRPr lang="en-US" sz="1300" dirty="0"/>
          </a:p>
          <a:p>
            <a:pPr marL="190500" indent="-190500">
              <a:buSzPct val="100000"/>
              <a:buChar char="•"/>
            </a:pPr>
            <a:r>
              <a:rPr lang="en-US" sz="1300" dirty="0">
                <a:solidFill>
                  <a:srgbClr val="334155"/>
                </a:solidFill>
              </a:rPr>
              <a:t>Cover loosely with sterile dressing, do not pop blisters</a:t>
            </a:r>
            <a:endParaRPr lang="en-US" sz="1300" dirty="0"/>
          </a:p>
          <a:p>
            <a:pPr marL="190500" indent="-190500">
              <a:buSzPct val="100000"/>
              <a:buChar char="•"/>
            </a:pPr>
            <a:r>
              <a:rPr lang="en-US" sz="1300" dirty="0">
                <a:solidFill>
                  <a:srgbClr val="334155"/>
                </a:solidFill>
              </a:rPr>
              <a:t>Internal damage is often far worse than external burns look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1c — Lithium-Ion Battery Fire Prevention</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Li-ion batteries power phones, handheld radios, tablets, laptops</a:t>
            </a:r>
            <a:endParaRPr lang="en-US" sz="1500" dirty="0"/>
          </a:p>
          <a:p>
            <a:pPr marL="190500" indent="-190500">
              <a:buSzPct val="100000"/>
              <a:buChar char="•"/>
            </a:pPr>
            <a:r>
              <a:rPr lang="en-US" sz="1500" dirty="0">
                <a:solidFill>
                  <a:srgbClr val="334155"/>
                </a:solidFill>
              </a:rPr>
              <a:t>THERMAL RUNAWAY: heat from one failing cell ignites adjacent cells — the fire spreads and re-ignites</a:t>
            </a:r>
            <a:endParaRPr lang="en-US" sz="1500" dirty="0"/>
          </a:p>
          <a:p>
            <a:pPr marL="190500" indent="-190500">
              <a:buSzPct val="100000"/>
              <a:buChar char="•"/>
            </a:pPr>
            <a:r>
              <a:rPr lang="en-US" sz="1500" dirty="0">
                <a:solidFill>
                  <a:srgbClr val="334155"/>
                </a:solidFill>
              </a:rPr>
              <a:t>Never use a charger not designed for your specific battery</a:t>
            </a:r>
            <a:endParaRPr lang="en-US" sz="1500" dirty="0"/>
          </a:p>
          <a:p>
            <a:pPr marL="190500" indent="-190500">
              <a:buSzPct val="100000"/>
              <a:buChar char="•"/>
            </a:pPr>
            <a:r>
              <a:rPr lang="en-US" sz="1500" dirty="0">
                <a:solidFill>
                  <a:srgbClr val="334155"/>
                </a:solidFill>
              </a:rPr>
              <a:t>Do not charge unattended overnight without a protected quality charger</a:t>
            </a:r>
            <a:endParaRPr lang="en-US" sz="1500" dirty="0"/>
          </a:p>
          <a:p>
            <a:pPr marL="190500" indent="-190500">
              <a:buSzPct val="100000"/>
              <a:buChar char="•"/>
            </a:pPr>
            <a:r>
              <a:rPr lang="en-US" sz="1500" dirty="0">
                <a:solidFill>
                  <a:srgbClr val="334155"/>
                </a:solidFill>
              </a:rPr>
              <a:t>Swollen (puffy) battery = failing → stop using, dispose properly</a:t>
            </a:r>
            <a:endParaRPr lang="en-US" sz="1500" dirty="0"/>
          </a:p>
          <a:p>
            <a:pPr marL="190500" indent="-190500">
              <a:buSzPct val="100000"/>
              <a:buChar char="•"/>
            </a:pPr>
            <a:r>
              <a:rPr lang="en-US" sz="1500" dirty="0">
                <a:solidFill>
                  <a:srgbClr val="334155"/>
                </a:solidFill>
              </a:rPr>
              <a:t>Never puncture, crush, or expose to temperatures above 140°F (60°C)</a:t>
            </a:r>
            <a:endParaRPr lang="en-US" sz="1500" dirty="0"/>
          </a:p>
          <a:p>
            <a:pPr marL="190500" indent="-190500">
              <a:buSzPct val="100000"/>
              <a:buChar char="•"/>
            </a:pPr>
            <a:r>
              <a:rPr lang="en-US" sz="1500" dirty="0">
                <a:solidFill>
                  <a:srgbClr val="334155"/>
                </a:solidFill>
              </a:rPr>
              <a:t>Li-ion fire: do NOT use water → use Class D extinguisher or sand, move device outdoors, call 911</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indent="0" marL="0">
              <a:buNone/>
            </a:pPr>
            <a:r>
              <a:rPr lang="en-US" sz="1100" b="1" spc="200" kern="0" dirty="0">
                <a:solidFill>
                  <a:srgbClr val="6EE7B7"/>
                </a:solidFill>
              </a:rPr>
              <a:t>Quick Check</a:t>
            </a:r>
            <a:endParaRPr lang="en-US" sz="1100" dirty="0"/>
          </a:p>
        </p:txBody>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2000" b="1" dirty="0">
                <a:solidFill>
                  <a:srgbClr val="FFFFFF"/>
                </a:solidFill>
              </a:rPr>
              <a:t>Your baofeng battery is puffy and the case feels warm. What do you do?</a:t>
            </a:r>
            <a:endParaRPr lang="en-US" sz="2000" dirty="0"/>
          </a:p>
        </p:txBody>
      </p:sp>
      <p:sp>
        <p:nvSpPr>
          <p:cNvPr id="4" name="Shape 2"/>
          <p:cNvSpPr/>
          <p:nvPr/>
        </p:nvSpPr>
        <p:spPr>
          <a:xfrm>
            <a:off x="457200" y="1554480"/>
            <a:ext cx="8229600" cy="502920"/>
          </a:xfrm>
          <a:prstGeom prst="rect">
            <a:avLst/>
          </a:prstGeom>
          <a:solidFill>
            <a:srgbClr val="0F172A"/>
          </a:solidFill>
          <a:ln w="12700">
            <a:solidFill>
              <a:srgbClr val="10B981"/>
            </a:solidFill>
            <a:prstDash val="solid"/>
          </a:ln>
        </p:spPr>
      </p:sp>
      <p:sp>
        <p:nvSpPr>
          <p:cNvPr id="5" name="Text 3"/>
          <p:cNvSpPr/>
          <p:nvPr/>
        </p:nvSpPr>
        <p:spPr>
          <a:xfrm>
            <a:off x="640080" y="1600200"/>
            <a:ext cx="7863840" cy="411480"/>
          </a:xfrm>
          <a:prstGeom prst="rect">
            <a:avLst/>
          </a:prstGeom>
          <a:noFill/>
          <a:ln/>
        </p:spPr>
        <p:txBody>
          <a:bodyPr wrap="square" rtlCol="0" anchor="ctr"/>
          <a:lstStyle/>
          <a:p>
            <a:pPr indent="0" marL="0">
              <a:buNone/>
            </a:pPr>
            <a:r>
              <a:rPr lang="en-US" sz="1400" dirty="0">
                <a:solidFill>
                  <a:srgbClr val="FFFFFF"/>
                </a:solidFill>
              </a:rPr>
              <a:t>A) Charge it — the warmth means it needs more power</a:t>
            </a:r>
            <a:endParaRPr lang="en-US" sz="1400" dirty="0"/>
          </a:p>
        </p:txBody>
      </p:sp>
      <p:sp>
        <p:nvSpPr>
          <p:cNvPr id="6" name="Shape 4"/>
          <p:cNvSpPr/>
          <p:nvPr/>
        </p:nvSpPr>
        <p:spPr>
          <a:xfrm>
            <a:off x="457200" y="2148840"/>
            <a:ext cx="8229600" cy="502920"/>
          </a:xfrm>
          <a:prstGeom prst="rect">
            <a:avLst/>
          </a:prstGeom>
          <a:solidFill>
            <a:srgbClr val="0F172A"/>
          </a:solidFill>
          <a:ln w="12700">
            <a:solidFill>
              <a:srgbClr val="10B981"/>
            </a:solidFill>
            <a:prstDash val="solid"/>
          </a:ln>
        </p:spPr>
      </p:sp>
      <p:sp>
        <p:nvSpPr>
          <p:cNvPr id="7" name="Text 5"/>
          <p:cNvSpPr/>
          <p:nvPr/>
        </p:nvSpPr>
        <p:spPr>
          <a:xfrm>
            <a:off x="640080" y="2194560"/>
            <a:ext cx="7863840" cy="411480"/>
          </a:xfrm>
          <a:prstGeom prst="rect">
            <a:avLst/>
          </a:prstGeom>
          <a:noFill/>
          <a:ln/>
        </p:spPr>
        <p:txBody>
          <a:bodyPr wrap="square" rtlCol="0" anchor="ctr"/>
          <a:lstStyle/>
          <a:p>
            <a:pPr indent="0" marL="0">
              <a:buNone/>
            </a:pPr>
            <a:r>
              <a:rPr lang="en-US" sz="1400" dirty="0">
                <a:solidFill>
                  <a:srgbClr val="FFFFFF"/>
                </a:solidFill>
              </a:rPr>
              <a:t>B) Continue using it, it's probably fine</a:t>
            </a:r>
            <a:endParaRPr lang="en-US" sz="1400" dirty="0"/>
          </a:p>
        </p:txBody>
      </p:sp>
      <p:sp>
        <p:nvSpPr>
          <p:cNvPr id="8" name="Shape 6"/>
          <p:cNvSpPr/>
          <p:nvPr/>
        </p:nvSpPr>
        <p:spPr>
          <a:xfrm>
            <a:off x="457200" y="2743200"/>
            <a:ext cx="8229600" cy="502920"/>
          </a:xfrm>
          <a:prstGeom prst="rect">
            <a:avLst/>
          </a:prstGeom>
          <a:solidFill>
            <a:srgbClr val="0F172A"/>
          </a:solidFill>
          <a:ln w="12700">
            <a:solidFill>
              <a:srgbClr val="10B981"/>
            </a:solidFill>
            <a:prstDash val="solid"/>
          </a:ln>
        </p:spPr>
      </p:sp>
      <p:sp>
        <p:nvSpPr>
          <p:cNvPr id="9" name="Text 7"/>
          <p:cNvSpPr/>
          <p:nvPr/>
        </p:nvSpPr>
        <p:spPr>
          <a:xfrm>
            <a:off x="640080" y="2788920"/>
            <a:ext cx="7863840" cy="411480"/>
          </a:xfrm>
          <a:prstGeom prst="rect">
            <a:avLst/>
          </a:prstGeom>
          <a:noFill/>
          <a:ln/>
        </p:spPr>
        <p:txBody>
          <a:bodyPr wrap="square" rtlCol="0" anchor="ctr"/>
          <a:lstStyle/>
          <a:p>
            <a:pPr indent="0" marL="0">
              <a:buNone/>
            </a:pPr>
            <a:r>
              <a:rPr lang="en-US" sz="1400" dirty="0">
                <a:solidFill>
                  <a:srgbClr val="FFFFFF"/>
                </a:solidFill>
              </a:rPr>
              <a:t>C) Stop using it, do not charge it, dispose of it properly</a:t>
            </a:r>
            <a:endParaRPr lang="en-US" sz="1400" dirty="0"/>
          </a:p>
        </p:txBody>
      </p:sp>
      <p:sp>
        <p:nvSpPr>
          <p:cNvPr id="10" name="Shape 8"/>
          <p:cNvSpPr/>
          <p:nvPr/>
        </p:nvSpPr>
        <p:spPr>
          <a:xfrm>
            <a:off x="457200" y="3337560"/>
            <a:ext cx="8229600" cy="502920"/>
          </a:xfrm>
          <a:prstGeom prst="rect">
            <a:avLst/>
          </a:prstGeom>
          <a:solidFill>
            <a:srgbClr val="0F172A"/>
          </a:solidFill>
          <a:ln w="12700">
            <a:solidFill>
              <a:srgbClr val="10B981"/>
            </a:solidFill>
            <a:prstDash val="solid"/>
          </a:ln>
        </p:spPr>
      </p:sp>
      <p:sp>
        <p:nvSpPr>
          <p:cNvPr id="11" name="Text 9"/>
          <p:cNvSpPr/>
          <p:nvPr/>
        </p:nvSpPr>
        <p:spPr>
          <a:xfrm>
            <a:off x="640080" y="3383280"/>
            <a:ext cx="7863840" cy="411480"/>
          </a:xfrm>
          <a:prstGeom prst="rect">
            <a:avLst/>
          </a:prstGeom>
          <a:noFill/>
          <a:ln/>
        </p:spPr>
        <p:txBody>
          <a:bodyPr wrap="square" rtlCol="0" anchor="ctr"/>
          <a:lstStyle/>
          <a:p>
            <a:pPr indent="0" marL="0">
              <a:buNone/>
            </a:pPr>
            <a:r>
              <a:rPr lang="en-US" sz="1400" dirty="0">
                <a:solidFill>
                  <a:srgbClr val="FFFFFF"/>
                </a:solidFill>
              </a:rPr>
              <a:t>D) Put it in the freezer to cool down</a:t>
            </a:r>
            <a:endParaRPr lang="en-US" sz="1400" dirty="0"/>
          </a:p>
        </p:txBody>
      </p:sp>
      <p:sp>
        <p:nvSpPr>
          <p:cNvPr id="12" name="Text 10"/>
          <p:cNvSpPr/>
          <p:nvPr/>
        </p:nvSpPr>
        <p:spPr>
          <a:xfrm>
            <a:off x="457200" y="4069080"/>
            <a:ext cx="8229600" cy="320040"/>
          </a:xfrm>
          <a:prstGeom prst="rect">
            <a:avLst/>
          </a:prstGeom>
          <a:noFill/>
          <a:ln/>
        </p:spPr>
        <p:txBody>
          <a:bodyPr wrap="square" rtlCol="0" anchor="ctr"/>
          <a:lstStyle/>
          <a:p>
            <a:pPr indent="0" marL="0">
              <a:buNone/>
            </a:pPr>
            <a:r>
              <a:rPr lang="en-US" sz="1100" i="1" dirty="0">
                <a:solidFill>
                  <a:srgbClr val="6EE7B7"/>
                </a:solidFill>
              </a:rPr>
              <a:t>Answer: C — A swollen battery is failing. Stop using it immediately. Disposing properly means taking it to a battery recycling point, not the trash.</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2</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Radio Fundamentals — Spectrum, Definitions &amp; Discussion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2a — The Electromagnetic Spectrum (300 kHz – 3 GHz)</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All radio waves are EM waves — same physics as light, just longer wavelength</a:t>
            </a:r>
            <a:endParaRPr lang="en-US" sz="1500" dirty="0"/>
          </a:p>
          <a:p>
            <a:pPr marL="190500" indent="-190500">
              <a:buSzPct val="100000"/>
              <a:buChar char="•"/>
            </a:pPr>
            <a:r>
              <a:rPr lang="en-US" sz="1500" dirty="0">
                <a:solidFill>
                  <a:srgbClr val="334155"/>
                </a:solidFill>
              </a:rPr>
              <a:t>Frequency ↑ = Wavelength ↓ (they're inversely proportional)</a:t>
            </a:r>
            <a:endParaRPr lang="en-US" sz="1500" dirty="0"/>
          </a:p>
          <a:p>
            <a:pPr marL="190500" indent="-190500">
              <a:buSzPct val="100000"/>
              <a:buChar char="•"/>
            </a:pPr>
            <a:r>
              <a:rPr lang="en-US" sz="1500" dirty="0">
                <a:solidFill>
                  <a:srgbClr val="334155"/>
                </a:solidFill>
              </a:rPr>
              <a:t>MF (300 kHz–3 MHz): AM broadcast, amateur 160m/80m, maritime</a:t>
            </a:r>
            <a:endParaRPr lang="en-US" sz="1500" dirty="0"/>
          </a:p>
          <a:p>
            <a:pPr marL="190500" indent="-190500">
              <a:buSzPct val="100000"/>
              <a:buChar char="•"/>
            </a:pPr>
            <a:r>
              <a:rPr lang="en-US" sz="1500" dirty="0">
                <a:solidFill>
                  <a:srgbClr val="334155"/>
                </a:solidFill>
              </a:rPr>
              <a:t>HF (3–30 MHz): Shortwave, all ham HF bands, CB radio (27 MHz), WWV</a:t>
            </a:r>
            <a:endParaRPr lang="en-US" sz="1500" dirty="0"/>
          </a:p>
          <a:p>
            <a:pPr marL="190500" indent="-190500">
              <a:buSzPct val="100000"/>
              <a:buChar char="•"/>
            </a:pPr>
            <a:r>
              <a:rPr lang="en-US" sz="1500" dirty="0">
                <a:solidFill>
                  <a:srgbClr val="334155"/>
                </a:solidFill>
              </a:rPr>
              <a:t>VHF (30–300 MHz): FM broadcast (88–108), TV, amateur 6m/2m, public safety</a:t>
            </a:r>
            <a:endParaRPr lang="en-US" sz="1500" dirty="0"/>
          </a:p>
          <a:p>
            <a:pPr marL="190500" indent="-190500">
              <a:buSzPct val="100000"/>
              <a:buChar char="•"/>
            </a:pPr>
            <a:r>
              <a:rPr lang="en-US" sz="1500" dirty="0">
                <a:solidFill>
                  <a:srgbClr val="334155"/>
                </a:solidFill>
              </a:rPr>
              <a:t>UHF (300 MHz–3 GHz): TV, amateur 70cm, cellular, Wi-Fi 2.4 GHz, GPS, Bluetooth</a:t>
            </a:r>
            <a:endParaRPr lang="en-US" sz="1500" dirty="0"/>
          </a:p>
          <a:p>
            <a:pPr marL="190500" indent="-190500">
              <a:buSzPct val="100000"/>
              <a:buChar char="•"/>
            </a:pPr>
            <a:r>
              <a:rPr lang="en-US" sz="1500" dirty="0">
                <a:solidFill>
                  <a:srgbClr val="334155"/>
                </a:solidFill>
              </a:rPr>
              <a:t>Microwave (3 GHz+): Wi-Fi 5 GHz/6 GHz, satellite TV, radar, 5G mmWave</a:t>
            </a:r>
            <a:endParaRPr lang="en-US" sz="1500" dirty="0"/>
          </a:p>
          <a:p>
            <a:pPr marL="190500" indent="-190500">
              <a:buSzPct val="100000"/>
              <a:buChar char="•"/>
            </a:pPr>
            <a:r>
              <a:rPr lang="en-US" sz="1500" dirty="0">
                <a:solidFill>
                  <a:srgbClr val="334155"/>
                </a:solidFill>
              </a:rPr>
              <a:t>ACTIVITY: Draw your own chart — label all five bands and mark 8 radio services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2b — Three Discussion Topics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What is radio? · Broadcast vs. Two-Way</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Radio: transmission of info using EM waves in the RF spectrum</a:t>
            </a:r>
            <a:endParaRPr lang="en-US" sz="1300" dirty="0"/>
          </a:p>
          <a:p>
            <a:pPr marL="190500" indent="-190500">
              <a:buSzPct val="100000"/>
              <a:buChar char="•"/>
            </a:pPr>
            <a:r>
              <a:rPr lang="en-US" sz="1300" dirty="0">
                <a:solidFill>
                  <a:srgbClr val="334155"/>
                </a:solidFill>
              </a:rPr>
              <a:t>TX converts audio/data → RF; antenna radiates it; RX captures and decodes</a:t>
            </a:r>
            <a:endParaRPr lang="en-US" sz="1300" dirty="0"/>
          </a:p>
          <a:p>
            <a:pPr marL="190500" indent="-190500">
              <a:buSzPct val="100000"/>
              <a:buChar char="•"/>
            </a:pPr>
            <a:r>
              <a:rPr lang="en-US" sz="1300" dirty="0">
                <a:solidFill>
                  <a:srgbClr val="334155"/>
                </a:solidFill>
              </a:rPr>
              <a:t>Broadcast: one-way, one-to-many (AM/FM, TV)</a:t>
            </a:r>
            <a:endParaRPr lang="en-US" sz="1300" dirty="0"/>
          </a:p>
          <a:p>
            <a:pPr marL="190500" indent="-190500">
              <a:buSzPct val="100000"/>
              <a:buChar char="•"/>
            </a:pPr>
            <a:r>
              <a:rPr lang="en-US" sz="1300" dirty="0">
                <a:solidFill>
                  <a:srgbClr val="334155"/>
                </a:solidFill>
              </a:rPr>
              <a:t>Two-way: both parties transmit and receive (ham, walkie-talkie, police)</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Commercial Broadcast vs. Hobby Radio</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Commercial: licensed for business, sells advertising, passive audience</a:t>
            </a:r>
            <a:endParaRPr lang="en-US" sz="1300" dirty="0"/>
          </a:p>
          <a:p>
            <a:pPr marL="190500" indent="-190500">
              <a:buSzPct val="100000"/>
              <a:buChar char="•"/>
            </a:pPr>
            <a:r>
              <a:rPr lang="en-US" sz="1300" dirty="0">
                <a:solidFill>
                  <a:srgbClr val="334155"/>
                </a:solidFill>
              </a:rPr>
              <a:t>Amateur (hobby): non-commercial, licensed for personal use and experimentation</a:t>
            </a:r>
            <a:endParaRPr lang="en-US" sz="1300" dirty="0"/>
          </a:p>
          <a:p>
            <a:pPr marL="190500" indent="-190500">
              <a:buSzPct val="100000"/>
              <a:buChar char="•"/>
            </a:pPr>
            <a:r>
              <a:rPr lang="en-US" sz="1300" dirty="0">
                <a:solidFill>
                  <a:srgbClr val="334155"/>
                </a:solidFill>
              </a:rPr>
              <a:t>Hams build equipment, experiment with antennas, provide emergency comms</a:t>
            </a:r>
            <a:endParaRPr lang="en-US" sz="1300" dirty="0"/>
          </a:p>
          <a:p>
            <a:pPr marL="190500" indent="-190500">
              <a:buSzPct val="100000"/>
              <a:buChar char="•"/>
            </a:pPr>
            <a:r>
              <a:rPr lang="en-US" sz="1300" dirty="0">
                <a:solidFill>
                  <a:srgbClr val="334155"/>
                </a:solidFill>
              </a:rPr>
              <a:t>No selling ads, no playing music for an audience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3</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How Radio Waves Travel — Propagation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3a — Three Propagation Modes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GROUND WAVE: Follows the earth's surface → MF/AM broadcast → range: a few hundred miles</a:t>
            </a:r>
            <a:endParaRPr lang="en-US" sz="1500" dirty="0"/>
          </a:p>
          <a:p>
            <a:pPr marL="190500" indent="-190500">
              <a:buSzPct val="100000"/>
              <a:buChar char="•"/>
            </a:pPr>
            <a:r>
              <a:rPr lang="en-US" sz="1500" dirty="0">
                <a:solidFill>
                  <a:srgbClr val="334155"/>
                </a:solidFill>
              </a:rPr>
              <a:t>SKY WAVE (Ionospheric): Signal goes up → hits the ionosphere → bends back down → HF can travel thousands of miles → explains why you hear faraway AM stations at night</a:t>
            </a:r>
            <a:endParaRPr lang="en-US" sz="1500" dirty="0"/>
          </a:p>
          <a:p>
            <a:pPr marL="190500" indent="-190500">
              <a:buSzPct val="100000"/>
              <a:buChar char="•"/>
            </a:pPr>
            <a:r>
              <a:rPr lang="en-US" sz="1500" dirty="0">
                <a:solidFill>
                  <a:srgbClr val="334155"/>
                </a:solidFill>
              </a:rPr>
              <a:t>LINE-OF-SIGHT (Direct wave): VHF and above travel in straight lines → limited by terrain and antenna height → FM radio, TV, 2m amateur, cellular</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ACTIVITY: Sketch cross-section of earth, show all three paths with arrows</a:t>
            </a:r>
            <a:endParaRPr lang="en-US" sz="1500" dirty="0"/>
          </a:p>
          <a:p>
            <a:pPr marL="190500" indent="-190500">
              <a:buSzPct val="100000"/>
              <a:buChar char="•"/>
            </a:pPr>
            <a:r>
              <a:rPr lang="en-US" sz="1500" dirty="0">
                <a:solidFill>
                  <a:srgbClr val="334155"/>
                </a:solidFill>
              </a:rPr>
              <a:t>Label: transmitter, ionosphere layer, skip zone, receiver at distant skip distance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3b &amp; 3c — WWV/WWVH and DX vs. Local</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WWV and WWVH — Band Condition Indicators</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NIST time-standard stations: WWV (Fort Collins CO), WWVH (Kauai HI)</a:t>
            </a:r>
            <a:endParaRPr lang="en-US" sz="1300" dirty="0"/>
          </a:p>
          <a:p>
            <a:pPr marL="190500" indent="-190500">
              <a:buSzPct val="100000"/>
              <a:buChar char="•"/>
            </a:pPr>
            <a:r>
              <a:rPr lang="en-US" sz="1300" dirty="0">
                <a:solidFill>
                  <a:srgbClr val="334155"/>
                </a:solidFill>
              </a:rPr>
              <a:t>Broadcast on 2.5, 5, 10, 15, 20 MHz — 24/7</a:t>
            </a:r>
            <a:endParaRPr lang="en-US" sz="1300" dirty="0"/>
          </a:p>
          <a:p>
            <a:pPr marL="190500" indent="-190500">
              <a:buSzPct val="100000"/>
              <a:buChar char="•"/>
            </a:pPr>
            <a:r>
              <a:rPr lang="en-US" sz="1300" dirty="0">
                <a:solidFill>
                  <a:srgbClr val="334155"/>
                </a:solidFill>
              </a:rPr>
              <a:t>If you can hear WWV on 20m → 20m is OPEN to Colorado</a:t>
            </a:r>
            <a:endParaRPr lang="en-US" sz="1300" dirty="0"/>
          </a:p>
          <a:p>
            <a:pPr marL="190500" indent="-190500">
              <a:buSzPct val="100000"/>
              <a:buChar char="•"/>
            </a:pPr>
            <a:r>
              <a:rPr lang="en-US" sz="1300" dirty="0">
                <a:solidFill>
                  <a:srgbClr val="334155"/>
                </a:solidFill>
              </a:rPr>
              <a:t>Weak signal → marginal conditions</a:t>
            </a:r>
            <a:endParaRPr lang="en-US" sz="1300" dirty="0"/>
          </a:p>
          <a:p>
            <a:pPr marL="190500" indent="-190500">
              <a:buSzPct val="100000"/>
              <a:buChar char="•"/>
            </a:pPr>
            <a:r>
              <a:rPr lang="en-US" sz="1300" dirty="0">
                <a:solidFill>
                  <a:srgbClr val="334155"/>
                </a:solidFill>
              </a:rPr>
              <a:t>Can't hear at all → band may be closed (absorbed)</a:t>
            </a:r>
            <a:endParaRPr lang="en-US" sz="1300" dirty="0"/>
          </a:p>
          <a:p>
            <a:pPr marL="190500" indent="-190500">
              <a:buSzPct val="100000"/>
              <a:buChar char="•"/>
            </a:pPr>
            <a:r>
              <a:rPr lang="en-US" sz="1300" dirty="0">
                <a:solidFill>
                  <a:srgbClr val="334155"/>
                </a:solidFill>
              </a:rPr>
              <a:t>Propagation forecast voiced at :18 each hour</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DX vs. Local Stations</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LOCAL: close enough for reliable ground wave or LOS reception → typically within 25–100 miles, strong and consistent</a:t>
            </a:r>
            <a:endParaRPr lang="en-US" sz="1300" dirty="0"/>
          </a:p>
          <a:p>
            <a:pPr marL="190500" indent="-190500">
              <a:buSzPct val="100000"/>
              <a:buChar char="•"/>
            </a:pPr>
            <a:r>
              <a:rPr lang="en-US" sz="1300" dirty="0">
                <a:solidFill>
                  <a:srgbClr val="334155"/>
                </a:solidFill>
              </a:rPr>
              <a:t>DX: "distance" — distant station reached by sky wave → signal fades in and out (QSB) → may be thousands of miles away</a:t>
            </a:r>
            <a:endParaRPr lang="en-US" sz="1300" dirty="0"/>
          </a:p>
          <a:p>
            <a:pPr marL="190500" indent="-190500">
              <a:buSzPct val="100000"/>
              <a:buChar char="•"/>
            </a:pPr>
            <a:r>
              <a:rPr lang="en-US" sz="1300" dirty="0">
                <a:solidFill>
                  <a:srgbClr val="334155"/>
                </a:solidFill>
              </a:rPr>
              <a:t>DX-ing is a major ham pursuit: rare countries, expeditions to remote islands, contests to work as many countries as possible</a:t>
            </a:r>
            <a:endParaRPr lang="en-US" sz="1300" dirty="0"/>
          </a:p>
          <a:p>
            <a:pPr marL="190500" indent="-190500">
              <a:buSzPct val="100000"/>
              <a:buChar char="•"/>
            </a:pPr>
            <a:r>
              <a:rPr lang="en-US" sz="1300" dirty="0">
                <a:solidFill>
                  <a:srgbClr val="334155"/>
                </a:solidFill>
              </a:rPr>
              <a:t>A "DX station" calling CQ on HF is usually someone YOU want to contact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6</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Radio Regulation — FCC, ITU, Call Signs &amp; Phonetic Alphabet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6a — FCC vs. ITU</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FCC (Federal Communications Commission)</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US government agency created by Communications Act of 1934</a:t>
            </a:r>
            <a:endParaRPr lang="en-US" sz="1300" dirty="0"/>
          </a:p>
          <a:p>
            <a:pPr marL="190500" indent="-190500">
              <a:buSzPct val="100000"/>
              <a:buChar char="•"/>
            </a:pPr>
            <a:r>
              <a:rPr lang="en-US" sz="1300" dirty="0">
                <a:solidFill>
                  <a:srgbClr val="334155"/>
                </a:solidFill>
              </a:rPr>
              <a:t>Regulates all radio, TV, wire, satellite, and cable in the US</a:t>
            </a:r>
            <a:endParaRPr lang="en-US" sz="1300" dirty="0"/>
          </a:p>
          <a:p>
            <a:pPr marL="190500" indent="-190500">
              <a:buSzPct val="100000"/>
              <a:buChar char="•"/>
            </a:pPr>
            <a:r>
              <a:rPr lang="en-US" sz="1300" dirty="0">
                <a:solidFill>
                  <a:srgbClr val="334155"/>
                </a:solidFill>
              </a:rPr>
              <a:t>Issues licenses, enforces rules, allocates US frequencies</a:t>
            </a:r>
            <a:endParaRPr lang="en-US" sz="1300" dirty="0"/>
          </a:p>
          <a:p>
            <a:pPr marL="190500" indent="-190500">
              <a:buSzPct val="100000"/>
              <a:buChar char="•"/>
            </a:pPr>
            <a:r>
              <a:rPr lang="en-US" sz="1300" dirty="0">
                <a:solidFill>
                  <a:srgbClr val="334155"/>
                </a:solidFill>
              </a:rPr>
              <a:t>Runs the amateur service via Volunteer Examiner Coordinators (VECs)</a:t>
            </a:r>
            <a:endParaRPr lang="en-US" sz="1300" dirty="0"/>
          </a:p>
          <a:p>
            <a:pPr marL="190500" indent="-190500">
              <a:buSzPct val="100000"/>
              <a:buChar char="•"/>
            </a:pPr>
            <a:r>
              <a:rPr lang="en-US" sz="1300" dirty="0">
                <a:solidFill>
                  <a:srgbClr val="334155"/>
                </a:solidFill>
              </a:rPr>
              <a:t>Investigates interference complaints</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ITU (International Telecommunication Union)</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UN agency — coordinates global use of radio spectrum and satellite orbits</a:t>
            </a:r>
            <a:endParaRPr lang="en-US" sz="1300" dirty="0"/>
          </a:p>
          <a:p>
            <a:pPr marL="190500" indent="-190500">
              <a:buSzPct val="100000"/>
              <a:buChar char="•"/>
            </a:pPr>
            <a:r>
              <a:rPr lang="en-US" sz="1300" dirty="0">
                <a:solidFill>
                  <a:srgbClr val="334155"/>
                </a:solidFill>
              </a:rPr>
              <a:t>Issues the Radio Regulations — an international treaty all nations agree to follow</a:t>
            </a:r>
            <a:endParaRPr lang="en-US" sz="1300" dirty="0"/>
          </a:p>
          <a:p>
            <a:pPr marL="190500" indent="-190500">
              <a:buSzPct val="100000"/>
              <a:buChar char="•"/>
            </a:pPr>
            <a:r>
              <a:rPr lang="en-US" sz="1300" dirty="0">
                <a:solidFill>
                  <a:srgbClr val="334155"/>
                </a:solidFill>
              </a:rPr>
              <a:t>Divides the world into 3 Regions; assigns frequency bands to services in each</a:t>
            </a:r>
            <a:endParaRPr lang="en-US" sz="1300" dirty="0"/>
          </a:p>
          <a:p>
            <a:pPr marL="190500" indent="-190500">
              <a:buSzPct val="100000"/>
              <a:buChar char="•"/>
            </a:pPr>
            <a:r>
              <a:rPr lang="en-US" sz="1300" dirty="0">
                <a:solidFill>
                  <a:srgbClr val="334155"/>
                </a:solidFill>
              </a:rPr>
              <a:t>FCC rules must comply with ITU at the international level</a:t>
            </a:r>
            <a:endParaRPr lang="en-US" sz="1300" dirty="0"/>
          </a:p>
          <a:p>
            <a:pPr marL="190500" indent="-190500">
              <a:buSzPct val="100000"/>
              <a:buChar char="•"/>
            </a:pPr>
            <a:r>
              <a:rPr lang="en-US" sz="1300" dirty="0">
                <a:solidFill>
                  <a:srgbClr val="334155"/>
                </a:solidFill>
              </a:rPr>
              <a:t>Simple: ITU sets global rules → FCC enforces them in the US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6b — Call Signs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AMATEUR: Prefix + Number + Suffix → e.g., W4GGJ</a:t>
            </a:r>
            <a:endParaRPr lang="en-US" sz="1500" dirty="0"/>
          </a:p>
          <a:p>
            <a:pPr marL="190500" indent="-190500">
              <a:buSzPct val="100000"/>
              <a:buChar char="•"/>
            </a:pPr>
            <a:r>
              <a:rPr lang="en-US" sz="1500" dirty="0">
                <a:solidFill>
                  <a:srgbClr val="334155"/>
                </a:solidFill>
              </a:rPr>
              <a:t>  US prefixes: A, K, N, W — ITU-assigned</a:t>
            </a:r>
            <a:endParaRPr lang="en-US" sz="1500" dirty="0"/>
          </a:p>
          <a:p>
            <a:pPr marL="190500" indent="-190500">
              <a:buSzPct val="100000"/>
              <a:buChar char="•"/>
            </a:pPr>
            <a:r>
              <a:rPr lang="en-US" sz="1500" dirty="0">
                <a:solidFill>
                  <a:srgbClr val="334155"/>
                </a:solidFill>
              </a:rPr>
              <a:t>  Number = call district (0–9 in continental US)</a:t>
            </a:r>
            <a:endParaRPr lang="en-US" sz="1500" dirty="0"/>
          </a:p>
          <a:p>
            <a:pPr marL="190500" indent="-190500">
              <a:buSzPct val="100000"/>
              <a:buChar char="•"/>
            </a:pPr>
            <a:r>
              <a:rPr lang="en-US" sz="1500" dirty="0">
                <a:solidFill>
                  <a:srgbClr val="334155"/>
                </a:solidFill>
              </a:rPr>
              <a:t>  Must ID at end of every transmission and at least every 10 minutes</a:t>
            </a:r>
            <a:endParaRPr lang="en-US" sz="1500" dirty="0"/>
          </a:p>
          <a:p>
            <a:pPr marL="190500" indent="-190500">
              <a:buSzPct val="100000"/>
              <a:buChar char="•"/>
            </a:pPr>
            <a:r>
              <a:rPr lang="en-US" sz="1500" dirty="0">
                <a:solidFill>
                  <a:srgbClr val="334155"/>
                </a:solidFill>
              </a:rPr>
              <a:t>  Your call sign identifies you — not your radio</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BROADCAST: W_ _ _ _ for stations east of Mississippi, K_ _ _ _ west (with historic exceptions)</a:t>
            </a:r>
            <a:endParaRPr lang="en-US" sz="1500" dirty="0"/>
          </a:p>
          <a:p>
            <a:pPr marL="190500" indent="-190500">
              <a:buSzPct val="100000"/>
              <a:buChar char="•"/>
            </a:pPr>
            <a:r>
              <a:rPr lang="en-US" sz="1500" dirty="0">
                <a:solidFill>
                  <a:srgbClr val="334155"/>
                </a:solidFill>
              </a:rPr>
              <a:t>  Must ID at top of each hour and at sign-on/sign-off</a:t>
            </a:r>
            <a:endParaRPr lang="en-US" sz="1500" dirty="0"/>
          </a:p>
          <a:p>
            <a:pPr marL="190500" indent="-190500">
              <a:buSzPct val="100000"/>
              <a:buChar char="•"/>
            </a:pPr>
            <a:r>
              <a:rPr lang="en-US" sz="1500" dirty="0">
                <a:solidFill>
                  <a:srgbClr val="334155"/>
                </a:solidFill>
              </a:rPr>
              <a:t>  TV call signs use -TV suffix (WFLA-TV)</a:t>
            </a:r>
            <a:endParaRPr lang="en-US" sz="1500" dirty="0"/>
          </a:p>
          <a:p>
            <a:pPr marL="190500" indent="-190500">
              <a:buSzPct val="100000"/>
              <a:buChar char="•"/>
            </a:pPr>
            <a:r>
              <a:rPr lang="en-US" sz="1500" dirty="0">
                <a:solidFill>
                  <a:srgbClr val="334155"/>
                </a:solidFill>
              </a:rPr>
              <a:t>  If there is a tie for "first use" — historical call signs may break the east/west rule (e.g., KDKA in Pittsburgh)</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6c — NATO Phonetic Alphabet</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A–Alfa · B–Bravo · C–Charlie · D–Delta · E–Echo · F–Foxtrot · G–Golf</a:t>
            </a:r>
            <a:endParaRPr lang="en-US" sz="1500" dirty="0"/>
          </a:p>
          <a:p>
            <a:pPr marL="190500" indent="-190500">
              <a:buSzPct val="100000"/>
              <a:buChar char="•"/>
            </a:pPr>
            <a:r>
              <a:rPr lang="en-US" sz="1500" dirty="0">
                <a:solidFill>
                  <a:srgbClr val="334155"/>
                </a:solidFill>
              </a:rPr>
              <a:t>H–Hotel · I–India · J–Juliett · K–Kilo · L–Lima · M–Mike</a:t>
            </a:r>
            <a:endParaRPr lang="en-US" sz="1500" dirty="0"/>
          </a:p>
          <a:p>
            <a:pPr marL="190500" indent="-190500">
              <a:buSzPct val="100000"/>
              <a:buChar char="•"/>
            </a:pPr>
            <a:r>
              <a:rPr lang="en-US" sz="1500" dirty="0">
                <a:solidFill>
                  <a:srgbClr val="334155"/>
                </a:solidFill>
              </a:rPr>
              <a:t>N–November · O–Oscar · P–Papa · Q–Quebec · R–Romeo · S–Sierra · T–Tango</a:t>
            </a:r>
            <a:endParaRPr lang="en-US" sz="1500" dirty="0"/>
          </a:p>
          <a:p>
            <a:pPr marL="190500" indent="-190500">
              <a:buSzPct val="100000"/>
              <a:buChar char="•"/>
            </a:pPr>
            <a:r>
              <a:rPr lang="en-US" sz="1500" dirty="0">
                <a:solidFill>
                  <a:srgbClr val="334155"/>
                </a:solidFill>
              </a:rPr>
              <a:t>U–Uniform · V–Victor · W–Whiskey · X–X-ray · Y–Yankee · Z–Zulu</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PRACTICE: Spell your first name using phonetic alphabet — say it out loud</a:t>
            </a:r>
            <a:endParaRPr lang="en-US" sz="1500" dirty="0"/>
          </a:p>
          <a:p>
            <a:pPr marL="190500" indent="-190500">
              <a:buSzPct val="100000"/>
              <a:buChar char="•"/>
            </a:pPr>
            <a:r>
              <a:rPr lang="en-US" sz="1500" dirty="0">
                <a:solidFill>
                  <a:srgbClr val="334155"/>
                </a:solidFill>
              </a:rPr>
              <a:t>PRACTICE: Spell your troop number phonetically</a:t>
            </a:r>
            <a:endParaRPr lang="en-US" sz="1500" dirty="0"/>
          </a:p>
          <a:p>
            <a:pPr marL="190500" indent="-190500">
              <a:buSzPct val="100000"/>
              <a:buChar char="•"/>
            </a:pPr>
            <a:r>
              <a:rPr lang="en-US" sz="1500" dirty="0">
                <a:solidFill>
                  <a:srgbClr val="334155"/>
                </a:solidFill>
              </a:rPr>
              <a:t>WHY: B/D/E/G/P/T/V all sound alike on a noisy radio channel — these words are chosen for maximum distinctiveness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indent="0" marL="0">
              <a:buNone/>
            </a:pPr>
            <a:r>
              <a:rPr lang="en-US" sz="1100" b="1" spc="200" kern="0" dirty="0">
                <a:solidFill>
                  <a:srgbClr val="6EE7B7"/>
                </a:solidFill>
              </a:rPr>
              <a:t>Quick Check</a:t>
            </a:r>
            <a:endParaRPr lang="en-US" sz="1100" dirty="0"/>
          </a:p>
        </p:txBody>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2000" b="1" dirty="0">
                <a:solidFill>
                  <a:srgbClr val="FFFFFF"/>
                </a:solidFill>
              </a:rPr>
              <a:t>A ham must give their call sign: ___</a:t>
            </a:r>
            <a:endParaRPr lang="en-US" sz="2000" dirty="0"/>
          </a:p>
        </p:txBody>
      </p:sp>
      <p:sp>
        <p:nvSpPr>
          <p:cNvPr id="4" name="Shape 2"/>
          <p:cNvSpPr/>
          <p:nvPr/>
        </p:nvSpPr>
        <p:spPr>
          <a:xfrm>
            <a:off x="457200" y="1554480"/>
            <a:ext cx="8229600" cy="502920"/>
          </a:xfrm>
          <a:prstGeom prst="rect">
            <a:avLst/>
          </a:prstGeom>
          <a:solidFill>
            <a:srgbClr val="0F172A"/>
          </a:solidFill>
          <a:ln w="12700">
            <a:solidFill>
              <a:srgbClr val="10B981"/>
            </a:solidFill>
            <a:prstDash val="solid"/>
          </a:ln>
        </p:spPr>
      </p:sp>
      <p:sp>
        <p:nvSpPr>
          <p:cNvPr id="5" name="Text 3"/>
          <p:cNvSpPr/>
          <p:nvPr/>
        </p:nvSpPr>
        <p:spPr>
          <a:xfrm>
            <a:off x="640080" y="1600200"/>
            <a:ext cx="7863840" cy="411480"/>
          </a:xfrm>
          <a:prstGeom prst="rect">
            <a:avLst/>
          </a:prstGeom>
          <a:noFill/>
          <a:ln/>
        </p:spPr>
        <p:txBody>
          <a:bodyPr wrap="square" rtlCol="0" anchor="ctr"/>
          <a:lstStyle/>
          <a:p>
            <a:pPr indent="0" marL="0">
              <a:buNone/>
            </a:pPr>
            <a:r>
              <a:rPr lang="en-US" sz="1400" dirty="0">
                <a:solidFill>
                  <a:srgbClr val="FFFFFF"/>
                </a:solidFill>
              </a:rPr>
              <a:t>A) Only at the beginning of each transmission</a:t>
            </a:r>
            <a:endParaRPr lang="en-US" sz="1400" dirty="0"/>
          </a:p>
        </p:txBody>
      </p:sp>
      <p:sp>
        <p:nvSpPr>
          <p:cNvPr id="6" name="Shape 4"/>
          <p:cNvSpPr/>
          <p:nvPr/>
        </p:nvSpPr>
        <p:spPr>
          <a:xfrm>
            <a:off x="457200" y="2148840"/>
            <a:ext cx="8229600" cy="502920"/>
          </a:xfrm>
          <a:prstGeom prst="rect">
            <a:avLst/>
          </a:prstGeom>
          <a:solidFill>
            <a:srgbClr val="0F172A"/>
          </a:solidFill>
          <a:ln w="12700">
            <a:solidFill>
              <a:srgbClr val="10B981"/>
            </a:solidFill>
            <a:prstDash val="solid"/>
          </a:ln>
        </p:spPr>
      </p:sp>
      <p:sp>
        <p:nvSpPr>
          <p:cNvPr id="7" name="Text 5"/>
          <p:cNvSpPr/>
          <p:nvPr/>
        </p:nvSpPr>
        <p:spPr>
          <a:xfrm>
            <a:off x="640080" y="2194560"/>
            <a:ext cx="7863840" cy="411480"/>
          </a:xfrm>
          <a:prstGeom prst="rect">
            <a:avLst/>
          </a:prstGeom>
          <a:noFill/>
          <a:ln/>
        </p:spPr>
        <p:txBody>
          <a:bodyPr wrap="square" rtlCol="0" anchor="ctr"/>
          <a:lstStyle/>
          <a:p>
            <a:pPr indent="0" marL="0">
              <a:buNone/>
            </a:pPr>
            <a:r>
              <a:rPr lang="en-US" sz="1400" dirty="0">
                <a:solidFill>
                  <a:srgbClr val="FFFFFF"/>
                </a:solidFill>
              </a:rPr>
              <a:t>B) At the end of every transmission and at least every 10 minutes</a:t>
            </a:r>
            <a:endParaRPr lang="en-US" sz="1400" dirty="0"/>
          </a:p>
        </p:txBody>
      </p:sp>
      <p:sp>
        <p:nvSpPr>
          <p:cNvPr id="8" name="Shape 6"/>
          <p:cNvSpPr/>
          <p:nvPr/>
        </p:nvSpPr>
        <p:spPr>
          <a:xfrm>
            <a:off x="457200" y="2743200"/>
            <a:ext cx="8229600" cy="502920"/>
          </a:xfrm>
          <a:prstGeom prst="rect">
            <a:avLst/>
          </a:prstGeom>
          <a:solidFill>
            <a:srgbClr val="0F172A"/>
          </a:solidFill>
          <a:ln w="12700">
            <a:solidFill>
              <a:srgbClr val="10B981"/>
            </a:solidFill>
            <a:prstDash val="solid"/>
          </a:ln>
        </p:spPr>
      </p:sp>
      <p:sp>
        <p:nvSpPr>
          <p:cNvPr id="9" name="Text 7"/>
          <p:cNvSpPr/>
          <p:nvPr/>
        </p:nvSpPr>
        <p:spPr>
          <a:xfrm>
            <a:off x="640080" y="2788920"/>
            <a:ext cx="7863840" cy="411480"/>
          </a:xfrm>
          <a:prstGeom prst="rect">
            <a:avLst/>
          </a:prstGeom>
          <a:noFill/>
          <a:ln/>
        </p:spPr>
        <p:txBody>
          <a:bodyPr wrap="square" rtlCol="0" anchor="ctr"/>
          <a:lstStyle/>
          <a:p>
            <a:pPr indent="0" marL="0">
              <a:buNone/>
            </a:pPr>
            <a:r>
              <a:rPr lang="en-US" sz="1400" dirty="0">
                <a:solidFill>
                  <a:srgbClr val="FFFFFF"/>
                </a:solidFill>
              </a:rPr>
              <a:t>C) Only when asked by another station</a:t>
            </a:r>
            <a:endParaRPr lang="en-US" sz="1400" dirty="0"/>
          </a:p>
        </p:txBody>
      </p:sp>
      <p:sp>
        <p:nvSpPr>
          <p:cNvPr id="10" name="Shape 8"/>
          <p:cNvSpPr/>
          <p:nvPr/>
        </p:nvSpPr>
        <p:spPr>
          <a:xfrm>
            <a:off x="457200" y="3337560"/>
            <a:ext cx="8229600" cy="502920"/>
          </a:xfrm>
          <a:prstGeom prst="rect">
            <a:avLst/>
          </a:prstGeom>
          <a:solidFill>
            <a:srgbClr val="0F172A"/>
          </a:solidFill>
          <a:ln w="12700">
            <a:solidFill>
              <a:srgbClr val="10B981"/>
            </a:solidFill>
            <a:prstDash val="solid"/>
          </a:ln>
        </p:spPr>
      </p:sp>
      <p:sp>
        <p:nvSpPr>
          <p:cNvPr id="11" name="Text 9"/>
          <p:cNvSpPr/>
          <p:nvPr/>
        </p:nvSpPr>
        <p:spPr>
          <a:xfrm>
            <a:off x="640080" y="3383280"/>
            <a:ext cx="7863840" cy="411480"/>
          </a:xfrm>
          <a:prstGeom prst="rect">
            <a:avLst/>
          </a:prstGeom>
          <a:noFill/>
          <a:ln/>
        </p:spPr>
        <p:txBody>
          <a:bodyPr wrap="square" rtlCol="0" anchor="ctr"/>
          <a:lstStyle/>
          <a:p>
            <a:pPr indent="0" marL="0">
              <a:buNone/>
            </a:pPr>
            <a:r>
              <a:rPr lang="en-US" sz="1400" dirty="0">
                <a:solidFill>
                  <a:srgbClr val="FFFFFF"/>
                </a:solidFill>
              </a:rPr>
              <a:t>D) Only when transmitting on HF</a:t>
            </a:r>
            <a:endParaRPr lang="en-US" sz="1400" dirty="0"/>
          </a:p>
        </p:txBody>
      </p:sp>
      <p:sp>
        <p:nvSpPr>
          <p:cNvPr id="12" name="Text 10"/>
          <p:cNvSpPr/>
          <p:nvPr/>
        </p:nvSpPr>
        <p:spPr>
          <a:xfrm>
            <a:off x="457200" y="4069080"/>
            <a:ext cx="8229600" cy="320040"/>
          </a:xfrm>
          <a:prstGeom prst="rect">
            <a:avLst/>
          </a:prstGeom>
          <a:noFill/>
          <a:ln/>
        </p:spPr>
        <p:txBody>
          <a:bodyPr wrap="square" rtlCol="0" anchor="ctr"/>
          <a:lstStyle/>
          <a:p>
            <a:pPr indent="0" marL="0">
              <a:buNone/>
            </a:pPr>
            <a:r>
              <a:rPr lang="en-US" sz="1100" i="1" dirty="0">
                <a:solidFill>
                  <a:srgbClr val="6EE7B7"/>
                </a:solidFill>
              </a:rPr>
              <a:t>Answer: B — End of every transmission AND at least every 10 minutes during a QSO (contact). This is FCC Part 97 rule.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8-A</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Amateur Radio — Items 1 through 5</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8-A(1) — Why the FCC Has an Amateur Radio Service</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Emergency communications: hams provide comms when cell/internet fails in disasters (ARES, RACES)</a:t>
            </a:r>
            <a:endParaRPr lang="en-US" sz="1500" dirty="0"/>
          </a:p>
          <a:p>
            <a:pPr marL="190500" indent="-190500">
              <a:buSzPct val="100000"/>
              <a:buChar char="•"/>
            </a:pPr>
            <a:r>
              <a:rPr lang="en-US" sz="1500" dirty="0">
                <a:solidFill>
                  <a:srgbClr val="334155"/>
                </a:solidFill>
              </a:rPr>
              <a:t>Advancement of the radio art: hams experiment and innovate — some innovations later go commercial</a:t>
            </a:r>
            <a:endParaRPr lang="en-US" sz="1500" dirty="0"/>
          </a:p>
          <a:p>
            <a:pPr marL="190500" indent="-190500">
              <a:buSzPct val="100000"/>
              <a:buChar char="•"/>
            </a:pPr>
            <a:r>
              <a:rPr lang="en-US" sz="1500" dirty="0">
                <a:solidFill>
                  <a:srgbClr val="334155"/>
                </a:solidFill>
              </a:rPr>
              <a:t>International goodwill: connecting people across borders without commercial or political purpose</a:t>
            </a:r>
            <a:endParaRPr lang="en-US" sz="1500" dirty="0"/>
          </a:p>
          <a:p>
            <a:pPr marL="190500" indent="-190500">
              <a:buSzPct val="100000"/>
              <a:buChar char="•"/>
            </a:pPr>
            <a:r>
              <a:rPr lang="en-US" sz="1500" dirty="0">
                <a:solidFill>
                  <a:srgbClr val="334155"/>
                </a:solidFill>
              </a:rPr>
              <a:t>Pool of trained operators: national asset in wartime or national emergency</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What licensed hams can do: voice, digital, satellite (AMSAT), meteor scatter, moonbounce (EME), POTA/SOTA, APRS tracking, public service events, emergency communication</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8-A(2) — License Classes and VE Exams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TECHNICIAN (Element 2): 35 Qs from 423-Q pool, pass 26/35 (74%). All VHF/UHF; limited HF.</a:t>
            </a:r>
            <a:endParaRPr lang="en-US" sz="1500" dirty="0"/>
          </a:p>
          <a:p>
            <a:pPr marL="190500" indent="-190500">
              <a:buSzPct val="100000"/>
              <a:buChar char="•"/>
            </a:pPr>
            <a:r>
              <a:rPr lang="en-US" sz="1500" dirty="0">
                <a:solidFill>
                  <a:srgbClr val="334155"/>
                </a:solidFill>
              </a:rPr>
              <a:t>GENERAL (Elements 2+3): 35 Qs from 432-Q pool, pass 26/35. Technician privileges + most HF worldwide.</a:t>
            </a:r>
            <a:endParaRPr lang="en-US" sz="1500" dirty="0"/>
          </a:p>
          <a:p>
            <a:pPr marL="190500" indent="-190500">
              <a:buSzPct val="100000"/>
              <a:buChar char="•"/>
            </a:pPr>
            <a:r>
              <a:rPr lang="en-US" sz="1500" dirty="0">
                <a:solidFill>
                  <a:srgbClr val="334155"/>
                </a:solidFill>
              </a:rPr>
              <a:t>AMATEUR EXTRA (Elements 2+3+4): 50 Qs from 622-Q pool, pass 37/50. All amateur privileges; exclusive sub-bands; premium callsigns.</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VE Exams: administered by Volunteer Examiners (VEs) — licensed hams accredited through Volunteer Examiner Coordinators (VECs) like ARRL-VEC, W5YI-VEC.</a:t>
            </a:r>
            <a:endParaRPr lang="en-US" sz="1500" dirty="0"/>
          </a:p>
          <a:p>
            <a:pPr marL="190500" indent="-190500">
              <a:buSzPct val="100000"/>
              <a:buChar char="•"/>
            </a:pPr>
            <a:r>
              <a:rPr lang="en-US" sz="1500" dirty="0">
                <a:solidFill>
                  <a:srgbClr val="334155"/>
                </a:solidFill>
              </a:rPr>
              <a:t>FCC does NOT administer the exams directly.</a:t>
            </a:r>
            <a:endParaRPr lang="en-US" sz="1500" dirty="0"/>
          </a:p>
          <a:p>
            <a:pPr marL="190500" indent="-190500">
              <a:buSzPct val="100000"/>
              <a:buChar char="•"/>
            </a:pPr>
            <a:r>
              <a:rPr lang="en-US" sz="1500" dirty="0">
                <a:solidFill>
                  <a:srgbClr val="334155"/>
                </a:solidFill>
              </a:rPr>
              <a:t>Exam fee: ~$15 (VEC session) + $35 FCC application fee after passing.</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8-A(3) — Q Signals and Amateur Terms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QSO — A contact / "Can you communicate with ___?"</a:t>
            </a:r>
            <a:endParaRPr lang="en-US" sz="1500" dirty="0"/>
          </a:p>
          <a:p>
            <a:pPr marL="190500" indent="-190500">
              <a:buSzPct val="100000"/>
              <a:buChar char="•"/>
            </a:pPr>
            <a:r>
              <a:rPr lang="en-US" sz="1500" dirty="0">
                <a:solidFill>
                  <a:srgbClr val="334155"/>
                </a:solidFill>
              </a:rPr>
              <a:t>QTH — Location / "My location is ___."</a:t>
            </a:r>
            <a:endParaRPr lang="en-US" sz="1500" dirty="0"/>
          </a:p>
          <a:p>
            <a:pPr marL="190500" indent="-190500">
              <a:buSzPct val="100000"/>
              <a:buChar char="•"/>
            </a:pPr>
            <a:r>
              <a:rPr lang="en-US" sz="1500" dirty="0">
                <a:solidFill>
                  <a:srgbClr val="334155"/>
                </a:solidFill>
              </a:rPr>
              <a:t>QSL — Acknowledgment (also a confirmation card) / "I confirm the contact."</a:t>
            </a:r>
            <a:endParaRPr lang="en-US" sz="1500" dirty="0"/>
          </a:p>
          <a:p>
            <a:pPr marL="190500" indent="-190500">
              <a:buSzPct val="100000"/>
              <a:buChar char="•"/>
            </a:pPr>
            <a:r>
              <a:rPr lang="en-US" sz="1500" dirty="0">
                <a:solidFill>
                  <a:srgbClr val="334155"/>
                </a:solidFill>
              </a:rPr>
              <a:t>QRM — Interference from other stations / "I am being interfered with."</a:t>
            </a:r>
            <a:endParaRPr lang="en-US" sz="1500" dirty="0"/>
          </a:p>
          <a:p>
            <a:pPr marL="190500" indent="-190500">
              <a:buSzPct val="100000"/>
              <a:buChar char="•"/>
            </a:pPr>
            <a:r>
              <a:rPr lang="en-US" sz="1500" dirty="0">
                <a:solidFill>
                  <a:srgbClr val="334155"/>
                </a:solidFill>
              </a:rPr>
              <a:t>QRN — Static / "I am troubled by static."</a:t>
            </a:r>
            <a:endParaRPr lang="en-US" sz="1500" dirty="0"/>
          </a:p>
          <a:p>
            <a:pPr marL="190500" indent="-190500">
              <a:buSzPct val="100000"/>
              <a:buChar char="•"/>
            </a:pPr>
            <a:r>
              <a:rPr lang="en-US" sz="1500" dirty="0">
                <a:solidFill>
                  <a:srgbClr val="334155"/>
                </a:solidFill>
              </a:rPr>
              <a:t>QRZ — "Who is calling me?" / Used to ask who is there</a:t>
            </a:r>
            <a:endParaRPr lang="en-US" sz="1500" dirty="0"/>
          </a:p>
          <a:p>
            <a:pPr marL="190500" indent="-190500">
              <a:buSzPct val="100000"/>
              <a:buChar char="•"/>
            </a:pPr>
            <a:r>
              <a:rPr lang="en-US" sz="1500" dirty="0">
                <a:solidFill>
                  <a:srgbClr val="334155"/>
                </a:solidFill>
              </a:rPr>
              <a:t>QSB — Fading signals / "Your signals are fading."</a:t>
            </a:r>
            <a:endParaRPr lang="en-US" sz="1500" dirty="0"/>
          </a:p>
          <a:p>
            <a:pPr marL="190500" indent="-190500">
              <a:buSzPct val="100000"/>
              <a:buChar char="•"/>
            </a:pPr>
            <a:r>
              <a:rPr lang="en-US" sz="1500" dirty="0">
                <a:solidFill>
                  <a:srgbClr val="334155"/>
                </a:solidFill>
              </a:rPr>
              <a:t>CQ — General call: "Is anyone listening? I want to make a contact."</a:t>
            </a:r>
            <a:endParaRPr lang="en-US" sz="1500" dirty="0"/>
          </a:p>
          <a:p>
            <a:pPr marL="190500" indent="-190500">
              <a:buSzPct val="100000"/>
              <a:buChar char="•"/>
            </a:pPr>
            <a:r>
              <a:rPr lang="en-US" sz="1500" dirty="0">
                <a:solidFill>
                  <a:srgbClr val="334155"/>
                </a:solidFill>
              </a:rPr>
              <a:t>73 — Best regards (standard friendly sign-off)</a:t>
            </a:r>
            <a:endParaRPr lang="en-US" sz="1500" dirty="0"/>
          </a:p>
          <a:p>
            <a:pPr marL="190500" indent="-190500">
              <a:buSzPct val="100000"/>
              <a:buChar char="•"/>
            </a:pPr>
            <a:r>
              <a:rPr lang="en-US" sz="1500" dirty="0">
                <a:solidFill>
                  <a:srgbClr val="334155"/>
                </a:solidFill>
              </a:rPr>
              <a:t>RST — Signal report: Readability (1–5) / Strength (1–9) / Tone (1–9 for CW)</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8-A(4) — Emergency Calls on Voice and CW</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Voice — MAYDAY</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MAYDAY MAYDAY MAYDAY</a:t>
            </a:r>
            <a:endParaRPr lang="en-US" sz="1300" dirty="0"/>
          </a:p>
          <a:p>
            <a:pPr marL="190500" indent="-190500">
              <a:buSzPct val="100000"/>
              <a:buChar char="•"/>
            </a:pPr>
            <a:r>
              <a:rPr lang="en-US" sz="1300" dirty="0">
                <a:solidFill>
                  <a:srgbClr val="334155"/>
                </a:solidFill>
              </a:rPr>
              <a:t>[your call sign]</a:t>
            </a:r>
            <a:endParaRPr lang="en-US" sz="1300" dirty="0"/>
          </a:p>
          <a:p>
            <a:pPr marL="190500" indent="-190500">
              <a:buSzPct val="100000"/>
              <a:buChar char="•"/>
            </a:pPr>
            <a:r>
              <a:rPr lang="en-US" sz="1300" dirty="0">
                <a:solidFill>
                  <a:srgbClr val="334155"/>
                </a:solidFill>
              </a:rPr>
              <a:t>[your location]</a:t>
            </a:r>
            <a:endParaRPr lang="en-US" sz="1300" dirty="0"/>
          </a:p>
          <a:p>
            <a:pPr marL="190500" indent="-190500">
              <a:buSzPct val="100000"/>
              <a:buChar char="•"/>
            </a:pPr>
            <a:r>
              <a:rPr lang="en-US" sz="1300" dirty="0">
                <a:solidFill>
                  <a:srgbClr val="334155"/>
                </a:solidFill>
              </a:rPr>
              <a:t>[nature of emergency]</a:t>
            </a:r>
            <a:endParaRPr lang="en-US" sz="1300" dirty="0"/>
          </a:p>
          <a:p>
            <a:pPr marL="190500" indent="-190500">
              <a:buSzPct val="100000"/>
              <a:buChar char="•"/>
            </a:pPr>
            <a:r>
              <a:rPr lang="en-US" sz="1300" dirty="0">
                <a:solidFill>
                  <a:srgbClr val="334155"/>
                </a:solidFill>
              </a:rPr>
              <a:t>[number of people]</a:t>
            </a:r>
            <a:endParaRPr lang="en-US" sz="1300" dirty="0"/>
          </a:p>
          <a:p>
            <a:pPr marL="190500" indent="-190500">
              <a:buSzPct val="100000"/>
              <a:buChar char="•"/>
            </a:pPr>
            <a:r>
              <a:rPr lang="en-US" sz="1300" dirty="0">
                <a:solidFill>
                  <a:srgbClr val="334155"/>
                </a:solidFill>
              </a:rPr>
              <a:t>[any other critical info]</a:t>
            </a:r>
            <a:endParaRPr lang="en-US" sz="1300" dirty="0"/>
          </a:p>
          <a:p>
            <a:pPr marL="190500" indent="-190500">
              <a:buSzPct val="100000"/>
              <a:buChar char="•"/>
            </a:pPr>
            <a:r>
              <a:rPr lang="en-US" sz="1300" dirty="0">
                <a:solidFill>
                  <a:srgbClr val="334155"/>
                </a:solidFill>
              </a:rPr>
              <a:t>Repeat as needed on 146.520 MHz (2m simplex), 14.300 MHz (HF maritime mobile)</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Morse Code — SOS</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 · · — — — · · ·  (SOS)</a:t>
            </a:r>
            <a:endParaRPr lang="en-US" sz="1300" dirty="0"/>
          </a:p>
          <a:p>
            <a:pPr marL="190500" indent="-190500">
              <a:buSzPct val="100000"/>
              <a:buChar char="•"/>
            </a:pPr>
            <a:r>
              <a:rPr lang="en-US" sz="1300" dirty="0">
                <a:solidFill>
                  <a:srgbClr val="334155"/>
                </a:solidFill>
              </a:rPr>
              <a:t>SOS is NOT an abbreviation — it is one unbroken character: 3 dits, 3 dahs, 3 dits</a:t>
            </a:r>
            <a:endParaRPr lang="en-US" sz="1300" dirty="0"/>
          </a:p>
          <a:p>
            <a:pPr marL="190500" indent="-190500">
              <a:buSzPct val="100000"/>
              <a:buChar char="•"/>
            </a:pPr>
            <a:r>
              <a:rPr lang="en-US" sz="1300" dirty="0">
                <a:solidFill>
                  <a:srgbClr val="334155"/>
                </a:solidFill>
              </a:rPr>
              <a:t>Follow with DE [your callsign] — [location] — [situation]</a:t>
            </a:r>
            <a:endParaRPr lang="en-US" sz="1300" dirty="0"/>
          </a:p>
          <a:p>
            <a:pPr marL="190500" indent="-190500">
              <a:buSzPct val="100000"/>
              <a:buChar char="•"/>
            </a:pPr>
            <a:r>
              <a:rPr lang="en-US" sz="1300" dirty="0">
                <a:solidFill>
                  <a:srgbClr val="334155"/>
                </a:solidFill>
              </a:rPr>
              <a:t>Sent continuously until help responds or you must stop</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8-A(5) — Transceivers and Repeaters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HANDHELD (HT — Handie-Talkie): battery-powered, portable, ~5 W, VHF/UHF, great for local use and public service events. Examples: Yaesu FT-60, Baofeng UV-5R.</a:t>
            </a:r>
            <a:endParaRPr lang="en-US" sz="1500" dirty="0"/>
          </a:p>
          <a:p>
            <a:pPr marL="190500" indent="-190500">
              <a:buSzPct val="100000"/>
              <a:buChar char="•"/>
            </a:pPr>
            <a:r>
              <a:rPr lang="en-US" sz="1500" dirty="0">
                <a:solidFill>
                  <a:srgbClr val="334155"/>
                </a:solidFill>
              </a:rPr>
              <a:t>MOBILE: vehicle-installed, 12 V power, 25–50 W on VHF/UHF, up to 100 W HF, larger antenna = more range. Examples: Icom IC-7100, Yaesu FT-891.</a:t>
            </a:r>
            <a:endParaRPr lang="en-US" sz="1500" dirty="0"/>
          </a:p>
          <a:p>
            <a:pPr marL="190500" indent="-190500">
              <a:buSzPct val="100000"/>
              <a:buChar char="•"/>
            </a:pPr>
            <a:r>
              <a:rPr lang="en-US" sz="1500" dirty="0">
                <a:solidFill>
                  <a:srgbClr val="334155"/>
                </a:solidFill>
              </a:rPr>
              <a:t>BASE STATION: fixed location, AC-powered, 100–1,500 W HF, large permanent antennas, maximum range. Examples: Icom IC-7300, Kenwood TS-890.</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REPEATER: Listens on the INPUT frequency, retransmits on the OUTPUT frequency from a high location at higher power. Extends HT range from ~5 miles to 50+ miles.</a:t>
            </a:r>
            <a:endParaRPr lang="en-US" sz="1500" dirty="0"/>
          </a:p>
          <a:p>
            <a:pPr marL="190500" indent="-190500">
              <a:buSzPct val="100000"/>
              <a:buChar char="•"/>
            </a:pPr>
            <a:r>
              <a:rPr lang="en-US" sz="1500" dirty="0">
                <a:solidFill>
                  <a:srgbClr val="334155"/>
                </a:solidFill>
              </a:rPr>
              <a:t>Your radio needs: correct offset (e.g., −600 kHz on 2m) + CTCSS tone to open the repeater.</a:t>
            </a:r>
            <a:endParaRPr lang="en-US" sz="1500" dirty="0"/>
          </a:p>
          <a:p>
            <a:pPr marL="190500" indent="-190500">
              <a:buSzPct val="100000"/>
              <a:buChar char="•"/>
            </a:pPr>
            <a:r>
              <a:rPr lang="en-US" sz="1500" dirty="0">
                <a:solidFill>
                  <a:srgbClr val="334155"/>
                </a:solidFill>
              </a:rPr>
              <a:t>Many repeaters link via internet (IRLP, EchoLink, AllStar) for worldwide reach.</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indent="0" marL="0">
              <a:buNone/>
            </a:pPr>
            <a:r>
              <a:rPr lang="en-US" sz="1100" b="1" spc="200" kern="0" dirty="0">
                <a:solidFill>
                  <a:srgbClr val="6EE7B7"/>
                </a:solidFill>
              </a:rPr>
              <a:t>Quick Check</a:t>
            </a:r>
            <a:endParaRPr lang="en-US" sz="1100" dirty="0"/>
          </a:p>
        </p:txBody>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2000" b="1" dirty="0">
                <a:solidFill>
                  <a:srgbClr val="FFFFFF"/>
                </a:solidFill>
              </a:rPr>
              <a:t>What does a repeater's "offset" mean?</a:t>
            </a:r>
            <a:endParaRPr lang="en-US" sz="2000" dirty="0"/>
          </a:p>
        </p:txBody>
      </p:sp>
      <p:sp>
        <p:nvSpPr>
          <p:cNvPr id="4" name="Shape 2"/>
          <p:cNvSpPr/>
          <p:nvPr/>
        </p:nvSpPr>
        <p:spPr>
          <a:xfrm>
            <a:off x="457200" y="1554480"/>
            <a:ext cx="8229600" cy="502920"/>
          </a:xfrm>
          <a:prstGeom prst="rect">
            <a:avLst/>
          </a:prstGeom>
          <a:solidFill>
            <a:srgbClr val="0F172A"/>
          </a:solidFill>
          <a:ln w="12700">
            <a:solidFill>
              <a:srgbClr val="10B981"/>
            </a:solidFill>
            <a:prstDash val="solid"/>
          </a:ln>
        </p:spPr>
      </p:sp>
      <p:sp>
        <p:nvSpPr>
          <p:cNvPr id="5" name="Text 3"/>
          <p:cNvSpPr/>
          <p:nvPr/>
        </p:nvSpPr>
        <p:spPr>
          <a:xfrm>
            <a:off x="640080" y="1600200"/>
            <a:ext cx="7863840" cy="411480"/>
          </a:xfrm>
          <a:prstGeom prst="rect">
            <a:avLst/>
          </a:prstGeom>
          <a:noFill/>
          <a:ln/>
        </p:spPr>
        <p:txBody>
          <a:bodyPr wrap="square" rtlCol="0" anchor="ctr"/>
          <a:lstStyle/>
          <a:p>
            <a:pPr indent="0" marL="0">
              <a:buNone/>
            </a:pPr>
            <a:r>
              <a:rPr lang="en-US" sz="1400" dirty="0">
                <a:solidFill>
                  <a:srgbClr val="FFFFFF"/>
                </a:solidFill>
              </a:rPr>
              <a:t>A) The time delay before the repeater responds</a:t>
            </a:r>
            <a:endParaRPr lang="en-US" sz="1400" dirty="0"/>
          </a:p>
        </p:txBody>
      </p:sp>
      <p:sp>
        <p:nvSpPr>
          <p:cNvPr id="6" name="Shape 4"/>
          <p:cNvSpPr/>
          <p:nvPr/>
        </p:nvSpPr>
        <p:spPr>
          <a:xfrm>
            <a:off x="457200" y="2148840"/>
            <a:ext cx="8229600" cy="502920"/>
          </a:xfrm>
          <a:prstGeom prst="rect">
            <a:avLst/>
          </a:prstGeom>
          <a:solidFill>
            <a:srgbClr val="0F172A"/>
          </a:solidFill>
          <a:ln w="12700">
            <a:solidFill>
              <a:srgbClr val="10B981"/>
            </a:solidFill>
            <a:prstDash val="solid"/>
          </a:ln>
        </p:spPr>
      </p:sp>
      <p:sp>
        <p:nvSpPr>
          <p:cNvPr id="7" name="Text 5"/>
          <p:cNvSpPr/>
          <p:nvPr/>
        </p:nvSpPr>
        <p:spPr>
          <a:xfrm>
            <a:off x="640080" y="2194560"/>
            <a:ext cx="7863840" cy="411480"/>
          </a:xfrm>
          <a:prstGeom prst="rect">
            <a:avLst/>
          </a:prstGeom>
          <a:noFill/>
          <a:ln/>
        </p:spPr>
        <p:txBody>
          <a:bodyPr wrap="square" rtlCol="0" anchor="ctr"/>
          <a:lstStyle/>
          <a:p>
            <a:pPr indent="0" marL="0">
              <a:buNone/>
            </a:pPr>
            <a:r>
              <a:rPr lang="en-US" sz="1400" dirty="0">
                <a:solidFill>
                  <a:srgbClr val="FFFFFF"/>
                </a:solidFill>
              </a:rPr>
              <a:t>B) The difference between the repeater's input and output frequencies</a:t>
            </a:r>
            <a:endParaRPr lang="en-US" sz="1400" dirty="0"/>
          </a:p>
        </p:txBody>
      </p:sp>
      <p:sp>
        <p:nvSpPr>
          <p:cNvPr id="8" name="Shape 6"/>
          <p:cNvSpPr/>
          <p:nvPr/>
        </p:nvSpPr>
        <p:spPr>
          <a:xfrm>
            <a:off x="457200" y="2743200"/>
            <a:ext cx="8229600" cy="502920"/>
          </a:xfrm>
          <a:prstGeom prst="rect">
            <a:avLst/>
          </a:prstGeom>
          <a:solidFill>
            <a:srgbClr val="0F172A"/>
          </a:solidFill>
          <a:ln w="12700">
            <a:solidFill>
              <a:srgbClr val="10B981"/>
            </a:solidFill>
            <a:prstDash val="solid"/>
          </a:ln>
        </p:spPr>
      </p:sp>
      <p:sp>
        <p:nvSpPr>
          <p:cNvPr id="9" name="Text 7"/>
          <p:cNvSpPr/>
          <p:nvPr/>
        </p:nvSpPr>
        <p:spPr>
          <a:xfrm>
            <a:off x="640080" y="2788920"/>
            <a:ext cx="7863840" cy="411480"/>
          </a:xfrm>
          <a:prstGeom prst="rect">
            <a:avLst/>
          </a:prstGeom>
          <a:noFill/>
          <a:ln/>
        </p:spPr>
        <p:txBody>
          <a:bodyPr wrap="square" rtlCol="0" anchor="ctr"/>
          <a:lstStyle/>
          <a:p>
            <a:pPr indent="0" marL="0">
              <a:buNone/>
            </a:pPr>
            <a:r>
              <a:rPr lang="en-US" sz="1400" dirty="0">
                <a:solidFill>
                  <a:srgbClr val="FFFFFF"/>
                </a:solidFill>
              </a:rPr>
              <a:t>C) The CTCSS tone code required to open the repeater</a:t>
            </a:r>
            <a:endParaRPr lang="en-US" sz="1400" dirty="0"/>
          </a:p>
        </p:txBody>
      </p:sp>
      <p:sp>
        <p:nvSpPr>
          <p:cNvPr id="10" name="Shape 8"/>
          <p:cNvSpPr/>
          <p:nvPr/>
        </p:nvSpPr>
        <p:spPr>
          <a:xfrm>
            <a:off x="457200" y="3337560"/>
            <a:ext cx="8229600" cy="502920"/>
          </a:xfrm>
          <a:prstGeom prst="rect">
            <a:avLst/>
          </a:prstGeom>
          <a:solidFill>
            <a:srgbClr val="0F172A"/>
          </a:solidFill>
          <a:ln w="12700">
            <a:solidFill>
              <a:srgbClr val="10B981"/>
            </a:solidFill>
            <a:prstDash val="solid"/>
          </a:ln>
        </p:spPr>
      </p:sp>
      <p:sp>
        <p:nvSpPr>
          <p:cNvPr id="11" name="Text 9"/>
          <p:cNvSpPr/>
          <p:nvPr/>
        </p:nvSpPr>
        <p:spPr>
          <a:xfrm>
            <a:off x="640080" y="3383280"/>
            <a:ext cx="7863840" cy="411480"/>
          </a:xfrm>
          <a:prstGeom prst="rect">
            <a:avLst/>
          </a:prstGeom>
          <a:noFill/>
          <a:ln/>
        </p:spPr>
        <p:txBody>
          <a:bodyPr wrap="square" rtlCol="0" anchor="ctr"/>
          <a:lstStyle/>
          <a:p>
            <a:pPr indent="0" marL="0">
              <a:buNone/>
            </a:pPr>
            <a:r>
              <a:rPr lang="en-US" sz="1400" dirty="0">
                <a:solidFill>
                  <a:srgbClr val="FFFFFF"/>
                </a:solidFill>
              </a:rPr>
              <a:t>D) The maximum range of the repeater system</a:t>
            </a:r>
            <a:endParaRPr lang="en-US" sz="1400" dirty="0"/>
          </a:p>
        </p:txBody>
      </p:sp>
      <p:sp>
        <p:nvSpPr>
          <p:cNvPr id="12" name="Text 10"/>
          <p:cNvSpPr/>
          <p:nvPr/>
        </p:nvSpPr>
        <p:spPr>
          <a:xfrm>
            <a:off x="457200" y="4069080"/>
            <a:ext cx="8229600" cy="320040"/>
          </a:xfrm>
          <a:prstGeom prst="rect">
            <a:avLst/>
          </a:prstGeom>
          <a:noFill/>
          <a:ln/>
        </p:spPr>
        <p:txBody>
          <a:bodyPr wrap="square" rtlCol="0" anchor="ctr"/>
          <a:lstStyle/>
          <a:p>
            <a:pPr indent="0" marL="0">
              <a:buNone/>
            </a:pPr>
            <a:r>
              <a:rPr lang="en-US" sz="1100" i="1" dirty="0">
                <a:solidFill>
                  <a:srgbClr val="6EE7B7"/>
                </a:solidFill>
              </a:rPr>
              <a:t>Answer: B — The offset is the frequency difference between where the repeater listens (input) and where it retransmits (output). On 2m this is typically −600 kHz.</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9</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Career &amp; Hobby Exploration — Homework Assignment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9 — Your Assignment (due before Session 2)</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Option 9a — Radio Career</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Research ONE career related to radio</a:t>
            </a:r>
            <a:endParaRPr lang="en-US" sz="1300" dirty="0"/>
          </a:p>
          <a:p>
            <a:pPr marL="190500" indent="-190500">
              <a:buSzPct val="100000"/>
              <a:buChar char="•"/>
            </a:pPr>
            <a:r>
              <a:rPr lang="en-US" sz="1300" dirty="0">
                <a:solidFill>
                  <a:srgbClr val="334155"/>
                </a:solidFill>
              </a:rPr>
              <a:t>Must cover: training, education needed, costs, job prospects, salary, duties, advancement</a:t>
            </a:r>
            <a:endParaRPr lang="en-US" sz="1300" dirty="0"/>
          </a:p>
          <a:p>
            <a:pPr marL="190500" indent="-190500">
              <a:buSzPct val="100000"/>
              <a:buChar char="•"/>
            </a:pPr>
            <a:r>
              <a:rPr lang="en-US" sz="1300" dirty="0">
                <a:solidFill>
                  <a:srgbClr val="334155"/>
                </a:solidFill>
              </a:rPr>
              <a:t>Good choices: broadcast engineer, RF engineer, antenna tech, air traffic controller, emergency manager, radio astronomer</a:t>
            </a:r>
            <a:endParaRPr lang="en-US" sz="1300" dirty="0"/>
          </a:p>
          <a:p>
            <a:pPr marL="190500" indent="-190500">
              <a:buSzPct val="100000"/>
              <a:buChar char="•"/>
            </a:pPr>
            <a:r>
              <a:rPr lang="en-US" sz="1300" dirty="0">
                <a:solidFill>
                  <a:srgbClr val="334155"/>
                </a:solidFill>
              </a:rPr>
              <a:t>Discuss findings with counselor in Session 2</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Option 9b — Ham Radio Hobby or Volunteer</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Research amateur radio hobby OR a volunteer role (ARES, RACES, public service)</a:t>
            </a:r>
            <a:endParaRPr lang="en-US" sz="1300" dirty="0"/>
          </a:p>
          <a:p>
            <a:pPr marL="190500" indent="-190500">
              <a:buSzPct val="100000"/>
              <a:buChar char="•"/>
            </a:pPr>
            <a:r>
              <a:rPr lang="en-US" sz="1300" dirty="0">
                <a:solidFill>
                  <a:srgbClr val="334155"/>
                </a:solidFill>
              </a:rPr>
              <a:t>Must cover: licensing and training, startup costs, supporting organizations</a:t>
            </a:r>
            <a:endParaRPr lang="en-US" sz="1300" dirty="0"/>
          </a:p>
          <a:p>
            <a:pPr marL="190500" indent="-190500">
              <a:buSzPct val="100000"/>
              <a:buChar char="•"/>
            </a:pPr>
            <a:r>
              <a:rPr lang="en-US" sz="1300" dirty="0">
                <a:solidFill>
                  <a:srgbClr val="334155"/>
                </a:solidFill>
              </a:rPr>
              <a:t>Discuss short-term AND long-term goals you might have</a:t>
            </a:r>
            <a:endParaRPr lang="en-US" sz="1300" dirty="0"/>
          </a:p>
          <a:p>
            <a:pPr marL="190500" indent="-190500">
              <a:buSzPct val="100000"/>
              <a:buChar char="•"/>
            </a:pPr>
            <a:r>
              <a:rPr lang="en-US" sz="1300" dirty="0">
                <a:solidFill>
                  <a:srgbClr val="334155"/>
                </a:solidFill>
              </a:rPr>
              <a:t>Interview a ham operator if possible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On-Air Time</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Supervised Voice Contact — Req 8-A(6) Preparation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Your First On-Air Contact — Voice Operating Procedure</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1. LISTEN FIRST: Is the frequency already in use? "Is this frequency in use?" — wait 5 seconds.</a:t>
            </a:r>
            <a:endParaRPr lang="en-US" sz="1500" dirty="0"/>
          </a:p>
          <a:p>
            <a:pPr marL="190500" indent="-190500">
              <a:buSzPct val="100000"/>
              <a:buChar char="•"/>
            </a:pPr>
            <a:r>
              <a:rPr lang="en-US" sz="1500" dirty="0">
                <a:solidFill>
                  <a:srgbClr val="334155"/>
                </a:solidFill>
              </a:rPr>
              <a:t>2. CALL CQ: "CQ CQ CQ, this is [callsign], CQ and standing by."</a:t>
            </a:r>
            <a:endParaRPr lang="en-US" sz="1500" dirty="0"/>
          </a:p>
          <a:p>
            <a:pPr marL="190500" indent="-190500">
              <a:buSzPct val="100000"/>
              <a:buChar char="•"/>
            </a:pPr>
            <a:r>
              <a:rPr lang="en-US" sz="1500" dirty="0">
                <a:solidFill>
                  <a:srgbClr val="334155"/>
                </a:solidFill>
              </a:rPr>
              <a:t>3. ANSWER: "[Their callsign], this is [your callsign] — or — just [your callsign]"</a:t>
            </a:r>
            <a:endParaRPr lang="en-US" sz="1500" dirty="0"/>
          </a:p>
          <a:p>
            <a:pPr marL="190500" indent="-190500">
              <a:buSzPct val="100000"/>
              <a:buChar char="•"/>
            </a:pPr>
            <a:r>
              <a:rPr lang="en-US" sz="1500" dirty="0">
                <a:solidFill>
                  <a:srgbClr val="334155"/>
                </a:solidFill>
              </a:rPr>
              <a:t>4. EXCHANGE: Give name, QTH (location), and RST signal report</a:t>
            </a:r>
            <a:endParaRPr lang="en-US" sz="1500" dirty="0"/>
          </a:p>
          <a:p>
            <a:pPr marL="190500" indent="-190500">
              <a:buSzPct val="100000"/>
              <a:buChar char="•"/>
            </a:pPr>
            <a:r>
              <a:rPr lang="en-US" sz="1500" dirty="0">
                <a:solidFill>
                  <a:srgbClr val="334155"/>
                </a:solidFill>
              </a:rPr>
              <a:t>5. LOG IT: Date, UTC time, their call sign, band/frequency, mode, RST sent, RST received, their QTH</a:t>
            </a:r>
            <a:endParaRPr lang="en-US" sz="1500" dirty="0"/>
          </a:p>
          <a:p>
            <a:pPr marL="190500" indent="-190500">
              <a:buSzPct val="100000"/>
              <a:buChar char="•"/>
            </a:pPr>
            <a:r>
              <a:rPr lang="en-US" sz="1500" dirty="0">
                <a:solidFill>
                  <a:srgbClr val="334155"/>
                </a:solidFill>
              </a:rPr>
              <a:t>6. SIGN OFF: "73, this is [callsign] clear and listening."</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RST reminder: "You are 5-9" = perfectly readable, extremely strong signal. "You are 5-5" = perfectly readable, middling strength. Most contacts get 5-9 if they're clear.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FFFFFF"/>
                </a:solidFill>
              </a:rPr>
              <a:t>Session 1 Complete!</a:t>
            </a:r>
            <a:endParaRPr lang="en-US" sz="2800" dirty="0"/>
          </a:p>
        </p:txBody>
      </p:sp>
      <p:sp>
        <p:nvSpPr>
          <p:cNvPr id="3" name="Text 1"/>
          <p:cNvSpPr/>
          <p:nvPr/>
        </p:nvSpPr>
        <p:spPr>
          <a:xfrm>
            <a:off x="457200" y="1508760"/>
            <a:ext cx="8229600" cy="365760"/>
          </a:xfrm>
          <a:prstGeom prst="rect">
            <a:avLst/>
          </a:prstGeom>
          <a:noFill/>
          <a:ln/>
        </p:spPr>
        <p:txBody>
          <a:bodyPr wrap="square" rtlCol="0" anchor="ctr"/>
          <a:lstStyle/>
          <a:p>
            <a:pPr indent="0" marL="0">
              <a:buNone/>
            </a:pPr>
            <a:r>
              <a:rPr lang="en-US" sz="1400" b="1" dirty="0">
                <a:solidFill>
                  <a:srgbClr val="6EE7B7"/>
                </a:solidFill>
              </a:rPr>
              <a:t>What to do before Session 2:</a:t>
            </a:r>
            <a:endParaRPr lang="en-US" sz="1400" dirty="0"/>
          </a:p>
        </p:txBody>
      </p:sp>
      <p:sp>
        <p:nvSpPr>
          <p:cNvPr id="4" name="Text 2"/>
          <p:cNvSpPr/>
          <p:nvPr/>
        </p:nvSpPr>
        <p:spPr>
          <a:xfrm>
            <a:off x="457200" y="1920240"/>
            <a:ext cx="8229600" cy="2286000"/>
          </a:xfrm>
          <a:prstGeom prst="rect">
            <a:avLst/>
          </a:prstGeom>
          <a:noFill/>
          <a:ln/>
        </p:spPr>
        <p:txBody>
          <a:bodyPr wrap="square" rtlCol="0" anchor="ctr"/>
          <a:lstStyle/>
          <a:p>
            <a:pPr marL="190500" indent="-190500">
              <a:buSzPct val="100000"/>
              <a:buChar char="•"/>
            </a:pPr>
            <a:r>
              <a:rPr lang="en-US" sz="1400" dirty="0">
                <a:solidFill>
                  <a:srgbClr val="FFFFFF"/>
                </a:solidFill>
              </a:rPr>
              <a:t>Complete your Req 9 research (career OR hobby/volunteer path)</a:t>
            </a:r>
            <a:endParaRPr lang="en-US" sz="1400" dirty="0"/>
          </a:p>
          <a:p>
            <a:pPr marL="190500" indent="-190500">
              <a:buSzPct val="100000"/>
              <a:buChar char="•"/>
            </a:pPr>
            <a:r>
              <a:rPr lang="en-US" sz="1400" dirty="0">
                <a:solidFill>
                  <a:srgbClr val="FFFFFF"/>
                </a:solidFill>
              </a:rPr>
              <a:t>Review the Q signals (QSO, QTH, QSL, QRM, QRN, QRZ, QSB)</a:t>
            </a:r>
            <a:endParaRPr lang="en-US" sz="1400" dirty="0"/>
          </a:p>
          <a:p>
            <a:pPr marL="190500" indent="-190500">
              <a:buSzPct val="100000"/>
              <a:buChar char="•"/>
            </a:pPr>
            <a:r>
              <a:rPr lang="en-US" sz="1400" dirty="0">
                <a:solidFill>
                  <a:srgbClr val="FFFFFF"/>
                </a:solidFill>
              </a:rPr>
              <a:t>Practice the phonetic alphabet until you can spell your name without looking</a:t>
            </a:r>
            <a:endParaRPr lang="en-US" sz="1400" dirty="0"/>
          </a:p>
          <a:p>
            <a:pPr marL="190500" indent="-190500">
              <a:buSzPct val="100000"/>
              <a:buChar char="•"/>
            </a:pPr>
            <a:r>
              <a:rPr lang="en-US" sz="1400" dirty="0">
                <a:solidFill>
                  <a:srgbClr val="FFFFFF"/>
                </a:solidFill>
              </a:rPr>
              <a:t>Bring this student pack, your blue card, and your Req 9 notes to Session 2</a:t>
            </a:r>
            <a:endParaRPr lang="en-US" sz="1400" dirty="0"/>
          </a:p>
        </p:txBody>
      </p:sp>
      <p:sp>
        <p:nvSpPr>
          <p:cNvPr id="5" name="Shape 3"/>
          <p:cNvSpPr/>
          <p:nvPr/>
        </p:nvSpPr>
        <p:spPr>
          <a:xfrm>
            <a:off x="457200" y="4297680"/>
            <a:ext cx="8229600" cy="36576"/>
          </a:xfrm>
          <a:prstGeom prst="rect">
            <a:avLst/>
          </a:prstGeom>
          <a:solidFill>
            <a:srgbClr val="10B981"/>
          </a:solidFill>
          <a:ln/>
        </p:spPr>
      </p:sp>
      <p:sp>
        <p:nvSpPr>
          <p:cNvPr id="6" name="Text 4"/>
          <p:cNvSpPr/>
          <p:nvPr/>
        </p:nvSpPr>
        <p:spPr>
          <a:xfrm>
            <a:off x="457200" y="4389120"/>
            <a:ext cx="8229600" cy="320040"/>
          </a:xfrm>
          <a:prstGeom prst="rect">
            <a:avLst/>
          </a:prstGeom>
          <a:noFill/>
          <a:ln/>
        </p:spPr>
        <p:txBody>
          <a:bodyPr wrap="square" rtlCol="0" anchor="ctr"/>
          <a:lstStyle/>
          <a:p>
            <a:pPr indent="0" marL="0">
              <a:buNone/>
            </a:pPr>
            <a:r>
              <a:rPr lang="en-US" sz="1100" dirty="0">
                <a:solidFill>
                  <a:srgbClr val="94A3B8"/>
                </a:solidFill>
              </a:rPr>
              <a:t>Session 2: Digital Modes · Hardware · Cell Phones · FT8 Contact · Blue Card Sign-Off</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2026-09-19T12:32:38Z</dcterms:created>
  <dcterms:modified xsi:type="dcterms:W3CDTF">2026-09-19T12:32:38Z</dcterms:modified>
</cp:coreProperties>
</file>