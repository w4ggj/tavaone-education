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Module 1 of the TavaOne Education Technician License Course. Today we cover the FCC rules — the legal framework for amateur radio. 6 of your 35 exam questions come from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5-module structure. Emphasize: they will pass if they do the work. HamStudy between sessions is what makes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exam. Many students are nervous. Point out: 74% means you can miss 9 and still pass. The VEs come to us — no need to go somewhere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everyone through creating their HamStudy account NOW. Don't move on until everyone is set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and make sure everyone gets signed up. This is the single most important thing for their success. The progress sharing lets you see who's studying and who's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first content section. T1A covers the basis and purpose of the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amateur radio is a SERVICE defined by law, with specific purposes. It's not commercial, not for entertainment, not for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terms come up on the exam as definitions. 'Harmful interference' and 'willful interference' are the ones students mix up — harmful is the standard, willful/malicious is the prohibition.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practice spelling their name. Make it interactive — go around the room. This is a skill they'll use every single time they key the 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T1B. This is the 'where can I operate'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 chart is the most-referenced page in the handout. Point to it. Key exam numbers: 146.520 (2m calling), 200W on 10m HF, 1500W above 30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146.520 is the number they need to memorize for the exam AND for real life. It's the national calling frequency. CW-only segments trip people up — below 50.1 and below 144.1.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licensing system. This is straightforward but has specific numbers they need to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no Morse code. This is still the #1 misconception about ham radio. Also: vanity calls are open to everyone — common exam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grace period is a trap question — yes there's a 2-year grace, but NO you can't transmit during it. That catches a lot of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about the rules of the road. What's allowed, what's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'broadcasting' definition is an exam favorite: 'transmissions intended for reception by the general public.' Two-way communication between hams is NOT broadcasting.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broadcasting question is almost guaranteed on the exam. Make sure they understand the FCC definition — it's about the INTENT to reach the general public, not about one-way vs two-way.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concepts. Control operator rules show up frequently on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'never transmit without a control operator' rule is absolute — even repeaters have a control operator (automatic control). Drive this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confuse remote and automatic. Remote = a human is controlling it from afar. Automatic = no human in the loop (repeater). Both still have a control operator — the repeater trustee.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content section. Station ID rules, repeaters, third-party, club stations, FCC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 end. That's the rule. Tactical calls like 'Race Headquarters' or 'Net Control' are supplemental — they don't replace your FCC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repeater accountability question is common: it's the ORIGINATING station, not the repeater owner. And FCC inspection: at any time upon request, no warrant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the key facts before the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these quickly. These are the 'free points' — pure memorization, no concepts to understand. If they know these cold, that's 6 easy questions on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for the quiz. Do it as a group — show each question, let them think, then discuss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The key phrase is 'advancing skills in the technical and communication phases.' This comes directly from Part 97.1.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The FCC. ARRL is a membership organization, not a regulatory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Phone starts at 28.300. Below that is CW and digital. Above 28.500 is out of the Tech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Ten years. Renewable up to 90 days before expiration.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Willful or malicious interference is the most explicitly prohibited act. The others are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 NEVER. Even automatic control (repeaters) has a designated control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 Every 10 minutes during AND at the end. Not the beginning — that's a common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 The control operator's license class. Not the station licensee's, not whoever else is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Two years. But remember — you CANNOT transmit during the grace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 Broadcasting = intended for the general public. Normal amateur radio is station-to-station, not broadcasting.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Give the HamStudy assignment and preview what's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the exam pass rate correlates directly with HamStudy drilling. Students who do the homework pass. Students who don't, struggle.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731520" y="1371600"/>
            <a:ext cx="7680960" cy="109728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Module 1: License &amp; Rules</a:t>
            </a:r>
            <a:endParaRPr lang="en-US" sz="3600" dirty="0"/>
          </a:p>
        </p:txBody>
      </p:sp>
      <p:sp>
        <p:nvSpPr>
          <p:cNvPr id="4" name="Text 2"/>
          <p:cNvSpPr txBox="1"/>
          <p:nvPr/>
        </p:nvSpPr>
        <p:spPr>
          <a:xfrm>
            <a:off x="731520" y="2560320"/>
            <a:ext cx="7680960" cy="731520"/>
          </a:xfrm>
          <a:prstGeom prst="rect">
            <a:avLst/>
          </a:prstGeom>
          <a:noFill/>
          <a:ln/>
        </p:spPr>
        <p:txBody>
          <a:bodyPr wrap="square" rtlCol="0" anchor="ctr"/>
          <a:lstStyle/>
          <a:p>
            <a:pPr indent="0" marL="0">
              <a:buNone/>
            </a:pPr>
            <a:r>
              <a:rPr lang="en-US" sz="1800" dirty="0">
                <a:solidFill>
                  <a:srgbClr val="94A3B8"/>
                </a:solidFill>
                <a:latin typeface="Arial" pitchFamily="34" charset="0"/>
                <a:ea typeface="Arial" pitchFamily="34" charset="-122"/>
                <a:cs typeface="Arial" pitchFamily="34" charset="-120"/>
              </a:rPr>
              <a:t>FCC Framework · Licensing · Station Operation</a:t>
            </a:r>
            <a:endParaRPr lang="en-US" sz="1800" dirty="0"/>
          </a:p>
          <a:p>
            <a:pPr indent="0" marL="0">
              <a:buNone/>
            </a:pPr>
            <a:r>
              <a:rPr lang="en-US" sz="1800" dirty="0">
                <a:solidFill>
                  <a:srgbClr val="94A3B8"/>
                </a:solidFill>
                <a:latin typeface="Arial" pitchFamily="34" charset="0"/>
                <a:ea typeface="Arial" pitchFamily="34" charset="-122"/>
                <a:cs typeface="Arial" pitchFamily="34" charset="-120"/>
              </a:rPr>
              <a:t>2026–2030 Technician Question Pool</a:t>
            </a:r>
            <a:endParaRPr lang="en-US" sz="1800" dirty="0"/>
          </a:p>
        </p:txBody>
      </p:sp>
      <p:sp>
        <p:nvSpPr>
          <p:cNvPr id="5" name="Text 3"/>
          <p:cNvSpPr txBox="1"/>
          <p:nvPr/>
        </p:nvSpPr>
        <p:spPr>
          <a:xfrm>
            <a:off x="731520" y="4389120"/>
            <a:ext cx="7680960" cy="36576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TavaOne Education · Pinellas STEM Radio Lab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What We're Building Toward</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5 modules × 2 hours = your FCC Technician license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Module 1 (today): License &amp; Rules — the FCC framework</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Module 2: Operating &amp; Propagation — how to get on the air</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Module 3: Technical Core — the math and components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Module 4: Signals, Antennas &amp; Safety — the hardware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Module 5: Capstone — practice exam + review → VE exam on-site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35 questions on the exam, 26 to pass (74%) — you WILL pass</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The Exam — What to Expect</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35 multiple-choice questions, randomly drawn from the question pool</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One question from each of 35 groups (T1A through T0C)</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26 correct answers to pass = 74%</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No trick questions — the answer is always one of the four choices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Most people finish in 15–20 minutes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VE exam right here at the lab — bring photo ID and your FRN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$35 FCC fee is paid online through CORES after VEs submit your application</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731520" y="1645920"/>
            <a:ext cx="7680960" cy="91440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Let's Set Up HamStudy</a:t>
            </a:r>
            <a:endParaRPr lang="en-US" sz="3000" dirty="0"/>
          </a:p>
        </p:txBody>
      </p:sp>
      <p:sp>
        <p:nvSpPr>
          <p:cNvPr id="4" name="Text 2"/>
          <p:cNvSpPr txBox="1"/>
          <p:nvPr/>
        </p:nvSpPr>
        <p:spPr>
          <a:xfrm>
            <a:off x="731520" y="2651760"/>
            <a:ext cx="7680960" cy="548640"/>
          </a:xfrm>
          <a:prstGeom prst="rect">
            <a:avLst/>
          </a:prstGeom>
          <a:noFill/>
          <a:ln/>
        </p:spPr>
        <p:txBody>
          <a:bodyPr wrap="square" rtlCol="0" anchor="ctr"/>
          <a:lstStyle/>
          <a:p>
            <a:pPr indent="0" marL="0">
              <a:buNone/>
            </a:pPr>
            <a:r>
              <a:rPr lang="en-US" sz="1500" dirty="0">
                <a:solidFill>
                  <a:srgbClr val="6EE7B7"/>
                </a:solidFill>
                <a:latin typeface="Arial" pitchFamily="34" charset="0"/>
                <a:ea typeface="Arial" pitchFamily="34" charset="-122"/>
                <a:cs typeface="Arial" pitchFamily="34" charset="-120"/>
              </a:rPr>
              <a:t>Your #1 study tool between sessions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HamStudy Setup — Do This Now</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Go to hamstudy.org on your phone or computer</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Create a free account</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Select the 2026–2030 Technician question pool</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Scan the QR code on your handout (or visit the link) to share progress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Share link: hamstudy.org/share?shareTo=qslujd</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This lets your instructor see which sections you're strong and weak on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Between sessions: drill T1A–T1F to 80%+ confidence</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731520" y="1645920"/>
            <a:ext cx="7680960" cy="91440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Part 1: What Is Amateur Radio?</a:t>
            </a:r>
            <a:endParaRPr lang="en-US" sz="3000" dirty="0"/>
          </a:p>
        </p:txBody>
      </p:sp>
      <p:sp>
        <p:nvSpPr>
          <p:cNvPr id="4" name="Text 2"/>
          <p:cNvSpPr txBox="1"/>
          <p:nvPr/>
        </p:nvSpPr>
        <p:spPr>
          <a:xfrm>
            <a:off x="731520" y="2651760"/>
            <a:ext cx="7680960" cy="548640"/>
          </a:xfrm>
          <a:prstGeom prst="rect">
            <a:avLst/>
          </a:prstGeom>
          <a:noFill/>
          <a:ln/>
        </p:spPr>
        <p:txBody>
          <a:bodyPr wrap="square" rtlCol="0" anchor="ctr"/>
          <a:lstStyle/>
          <a:p>
            <a:pPr indent="0" marL="0">
              <a:buNone/>
            </a:pPr>
            <a:r>
              <a:rPr lang="en-US" sz="1500" dirty="0">
                <a:solidFill>
                  <a:srgbClr val="6EE7B7"/>
                </a:solidFill>
                <a:latin typeface="Arial" pitchFamily="34" charset="0"/>
                <a:ea typeface="Arial" pitchFamily="34" charset="-122"/>
                <a:cs typeface="Arial" pitchFamily="34" charset="-120"/>
              </a:rPr>
              <a:t>Subelement T1A · 1 exam question from this group</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The Amateur Radio Service</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A radiocommunication service — not a product, not a toy, not CB</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Regulated by the FCC (Federal Communications Commission)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Purposes defined in FCC Part 97:</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Advancing skills in technical and communication phases of radio</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Self-training and technical investigation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Emergency communications and public service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Building international goodwill</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Key Terms You Need to Know</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Harmful interference — seriously degrades or repeatedly interrupts another service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Beacon — a station transmitting for propagation observation (28.200–28.300 MHz on 10m)</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RACES — Radio Amateur Civil Emergency Service (requires FCC license AND civil defense certification)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Frequency coordinator — recommended by local amateurs, coordinates repeater frequencies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Willful or malicious interference — the single most explicitly prohibited act in amateur radio</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The Phonetic Alphabet</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Alpha Bravo Charlie Delta Echo Foxtrot Golf</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Hotel India Juliet Kilo Lima Mike November</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Oscar Papa Quebec Romeo Sierra Tango Uniform</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Victor Whiskey X-ray Yankee Zulu</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Practice: spell your call sign (or your name) phonetically</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You'll use this CONSTANTLY on the air</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The FCC encourages (not requires) phonetics on phone</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731520" y="1645920"/>
            <a:ext cx="7680960" cy="91440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Part 2: Frequency Allocations</a:t>
            </a:r>
            <a:endParaRPr lang="en-US" sz="3000" dirty="0"/>
          </a:p>
        </p:txBody>
      </p:sp>
      <p:sp>
        <p:nvSpPr>
          <p:cNvPr id="4" name="Text 2"/>
          <p:cNvSpPr txBox="1"/>
          <p:nvPr/>
        </p:nvSpPr>
        <p:spPr>
          <a:xfrm>
            <a:off x="731520" y="2651760"/>
            <a:ext cx="7680960" cy="548640"/>
          </a:xfrm>
          <a:prstGeom prst="rect">
            <a:avLst/>
          </a:prstGeom>
          <a:noFill/>
          <a:ln/>
        </p:spPr>
        <p:txBody>
          <a:bodyPr wrap="square" rtlCol="0" anchor="ctr"/>
          <a:lstStyle/>
          <a:p>
            <a:pPr indent="0" marL="0">
              <a:buNone/>
            </a:pPr>
            <a:r>
              <a:rPr lang="en-US" sz="1500" dirty="0">
                <a:solidFill>
                  <a:srgbClr val="6EE7B7"/>
                </a:solidFill>
                <a:latin typeface="Arial" pitchFamily="34" charset="0"/>
                <a:ea typeface="Arial" pitchFamily="34" charset="-122"/>
                <a:cs typeface="Arial" pitchFamily="34" charset="-120"/>
              </a:rPr>
              <a:t>Subelement T1B · 1 exam question from this group</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Technician Band Privileges</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3657600" cy="457200"/>
          </a:xfrm>
          <a:prstGeom prst="rect">
            <a:avLst/>
          </a:prstGeom>
          <a:noFill/>
          <a:ln/>
        </p:spPr>
        <p:txBody>
          <a:bodyPr wrap="square" rtlCol="0" anchor="ctr"/>
          <a:lstStyle/>
          <a:p>
            <a:pPr indent="0" marL="0">
              <a:buNone/>
            </a:pPr>
            <a:r>
              <a:rPr lang="en-US" sz="1800" b="1" dirty="0">
                <a:solidFill>
                  <a:srgbClr val="065F46"/>
                </a:solidFill>
                <a:latin typeface="Arial" pitchFamily="34" charset="0"/>
                <a:ea typeface="Arial" pitchFamily="34" charset="-122"/>
                <a:cs typeface="Arial" pitchFamily="34" charset="-120"/>
              </a:rPr>
              <a:t>VHF / UHF (full privileges)</a:t>
            </a:r>
            <a:endParaRPr lang="en-US" sz="1800" dirty="0"/>
          </a:p>
        </p:txBody>
      </p:sp>
      <p:sp>
        <p:nvSpPr>
          <p:cNvPr id="6" name="Text 4"/>
          <p:cNvSpPr txBox="1"/>
          <p:nvPr/>
        </p:nvSpPr>
        <p:spPr>
          <a:xfrm>
            <a:off x="640080" y="1554480"/>
            <a:ext cx="3657600"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6 meters: 50.0–54.0 MHz</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2 meters: 144.0–148.0 MHz</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1.25 meters: 222.0–225.0 MHz</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70 cm: 420.0–450.0 MHz</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Plus 902 MHz and up</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Max power: 1500W PEP</a:t>
            </a:r>
            <a:endParaRPr lang="en-US" sz="1200" dirty="0"/>
          </a:p>
        </p:txBody>
      </p:sp>
      <p:sp>
        <p:nvSpPr>
          <p:cNvPr id="7" name="Text 5"/>
          <p:cNvSpPr txBox="1"/>
          <p:nvPr/>
        </p:nvSpPr>
        <p:spPr>
          <a:xfrm>
            <a:off x="4846320" y="1097280"/>
            <a:ext cx="3657600" cy="457200"/>
          </a:xfrm>
          <a:prstGeom prst="rect">
            <a:avLst/>
          </a:prstGeom>
          <a:noFill/>
          <a:ln/>
        </p:spPr>
        <p:txBody>
          <a:bodyPr wrap="square" rtlCol="0" anchor="ctr"/>
          <a:lstStyle/>
          <a:p>
            <a:pPr indent="0" marL="0">
              <a:buNone/>
            </a:pPr>
            <a:r>
              <a:rPr lang="en-US" sz="1800" b="1" dirty="0">
                <a:solidFill>
                  <a:srgbClr val="065F46"/>
                </a:solidFill>
                <a:latin typeface="Arial" pitchFamily="34" charset="0"/>
                <a:ea typeface="Arial" pitchFamily="34" charset="-122"/>
                <a:cs typeface="Arial" pitchFamily="34" charset="-120"/>
              </a:rPr>
              <a:t>HF (limited privileges)</a:t>
            </a:r>
            <a:endParaRPr lang="en-US" sz="1800" dirty="0"/>
          </a:p>
        </p:txBody>
      </p:sp>
      <p:sp>
        <p:nvSpPr>
          <p:cNvPr id="8" name="Text 6"/>
          <p:cNvSpPr txBox="1"/>
          <p:nvPr/>
        </p:nvSpPr>
        <p:spPr>
          <a:xfrm>
            <a:off x="4846320" y="1554480"/>
            <a:ext cx="3657600"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10 meters only: 28.000–28.500 MHz</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CW/digital: 28.000–28.300</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Phone/SSB: 28.300–28.500</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Max power on 10m: 200W PEP</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Can use FT8, CW, SSB, FM</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Can contact the ISS on VHF!</a:t>
            </a:r>
            <a:endParaRPr lang="en-US" sz="1200" dirty="0"/>
          </a:p>
        </p:txBody>
      </p:sp>
      <p:sp>
        <p:nvSpPr>
          <p:cNvPr id="9" name="Text 7"/>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Important Frequency Rules</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Don't transmit on the exact edge of a band — sidebands extend beyond</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CW-only segments: 50.0–50.1 MHz and 144.0–144.1 MHz</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2-meter FM simplex calling frequency: 146.520 MHz — memorize this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Secondary allocations: you must not interfere with the primary user</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Technicians CAN use digital modes (FT8) on 10m, 6m, and 2m</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Any Technician can contact the International Space Station on VHF</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731520" y="1645920"/>
            <a:ext cx="7680960" cy="91440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Part 3: Licensing</a:t>
            </a:r>
            <a:endParaRPr lang="en-US" sz="3000" dirty="0"/>
          </a:p>
        </p:txBody>
      </p:sp>
      <p:sp>
        <p:nvSpPr>
          <p:cNvPr id="4" name="Text 2"/>
          <p:cNvSpPr txBox="1"/>
          <p:nvPr/>
        </p:nvSpPr>
        <p:spPr>
          <a:xfrm>
            <a:off x="731520" y="2651760"/>
            <a:ext cx="7680960" cy="548640"/>
          </a:xfrm>
          <a:prstGeom prst="rect">
            <a:avLst/>
          </a:prstGeom>
          <a:noFill/>
          <a:ln/>
        </p:spPr>
        <p:txBody>
          <a:bodyPr wrap="square" rtlCol="0" anchor="ctr"/>
          <a:lstStyle/>
          <a:p>
            <a:pPr indent="0" marL="0">
              <a:buNone/>
            </a:pPr>
            <a:r>
              <a:rPr lang="en-US" sz="1500" dirty="0">
                <a:solidFill>
                  <a:srgbClr val="6EE7B7"/>
                </a:solidFill>
                <a:latin typeface="Arial" pitchFamily="34" charset="0"/>
                <a:ea typeface="Arial" pitchFamily="34" charset="-122"/>
                <a:cs typeface="Arial" pitchFamily="34" charset="-120"/>
              </a:rPr>
              <a:t>Subelement T1C · 1 exam question from this group</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Three License Classes</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Technician — your entry point. Full VHF/UHF + limited 10m HF</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General — adds most HF bands. Requires Element 2 + Element 3</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Amateur Extra — all frequencies. Requires Elements 2 + 3 + 4</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Each upgrade opens more bands — you keep all previous privileges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No Morse code requirement for ANY license class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Vanity call signs available to ANY licensed amateur (not just Extra)</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License Numbers to Know</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License term: 10 years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Renewal window: up to 90 days before expiration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Grace period after expiration: 2 years — but you CANNOT transmit</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After passing: transmit as soon as your call appears in the FCC ULS database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How you're notified: email from the FCC with a link to download your license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If the FCC can't reach you by email: they can revoke your station license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Keep your email address current in the FCC system!</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731520" y="1645920"/>
            <a:ext cx="7680960" cy="91440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Part 4: What You CAN and CAN'T Do</a:t>
            </a:r>
            <a:endParaRPr lang="en-US" sz="3000" dirty="0"/>
          </a:p>
        </p:txBody>
      </p:sp>
      <p:sp>
        <p:nvSpPr>
          <p:cNvPr id="4" name="Text 2"/>
          <p:cNvSpPr txBox="1"/>
          <p:nvPr/>
        </p:nvSpPr>
        <p:spPr>
          <a:xfrm>
            <a:off x="731520" y="2651760"/>
            <a:ext cx="7680960" cy="548640"/>
          </a:xfrm>
          <a:prstGeom prst="rect">
            <a:avLst/>
          </a:prstGeom>
          <a:noFill/>
          <a:ln/>
        </p:spPr>
        <p:txBody>
          <a:bodyPr wrap="square" rtlCol="0" anchor="ctr"/>
          <a:lstStyle/>
          <a:p>
            <a:pPr indent="0" marL="0">
              <a:buNone/>
            </a:pPr>
            <a:r>
              <a:rPr lang="en-US" sz="1500" dirty="0">
                <a:solidFill>
                  <a:srgbClr val="6EE7B7"/>
                </a:solidFill>
                <a:latin typeface="Arial" pitchFamily="34" charset="0"/>
                <a:ea typeface="Arial" pitchFamily="34" charset="-122"/>
                <a:cs typeface="Arial" pitchFamily="34" charset="-120"/>
              </a:rPr>
              <a:t>Subelement T1D · 1 exam question from this group</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Transmissions: Allowed vs. Prohibited</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3657600" cy="457200"/>
          </a:xfrm>
          <a:prstGeom prst="rect">
            <a:avLst/>
          </a:prstGeom>
          <a:noFill/>
          <a:ln/>
        </p:spPr>
        <p:txBody>
          <a:bodyPr wrap="square" rtlCol="0" anchor="ctr"/>
          <a:lstStyle/>
          <a:p>
            <a:pPr indent="0" marL="0">
              <a:buNone/>
            </a:pPr>
            <a:r>
              <a:rPr lang="en-US" sz="1800" b="1" dirty="0">
                <a:solidFill>
                  <a:srgbClr val="065F46"/>
                </a:solidFill>
                <a:latin typeface="Arial" pitchFamily="34" charset="0"/>
                <a:ea typeface="Arial" pitchFamily="34" charset="-122"/>
                <a:cs typeface="Arial" pitchFamily="34" charset="-120"/>
              </a:rPr>
              <a:t>PROHIBITED</a:t>
            </a:r>
            <a:endParaRPr lang="en-US" sz="1800" dirty="0"/>
          </a:p>
        </p:txBody>
      </p:sp>
      <p:sp>
        <p:nvSpPr>
          <p:cNvPr id="6" name="Text 4"/>
          <p:cNvSpPr txBox="1"/>
          <p:nvPr/>
        </p:nvSpPr>
        <p:spPr>
          <a:xfrm>
            <a:off x="640080" y="1554480"/>
            <a:ext cx="3657600"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Broadcasting (transmitting to the general public)</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Obscene or indecent language</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Music (with narrow exception)</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Encryption to hide meaning (mostly)</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Business communications for profit</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Willful or malicious interference</a:t>
            </a:r>
            <a:endParaRPr lang="en-US" sz="1200" dirty="0"/>
          </a:p>
        </p:txBody>
      </p:sp>
      <p:sp>
        <p:nvSpPr>
          <p:cNvPr id="7" name="Text 5"/>
          <p:cNvSpPr txBox="1"/>
          <p:nvPr/>
        </p:nvSpPr>
        <p:spPr>
          <a:xfrm>
            <a:off x="4846320" y="1097280"/>
            <a:ext cx="3657600" cy="457200"/>
          </a:xfrm>
          <a:prstGeom prst="rect">
            <a:avLst/>
          </a:prstGeom>
          <a:noFill/>
          <a:ln/>
        </p:spPr>
        <p:txBody>
          <a:bodyPr wrap="square" rtlCol="0" anchor="ctr"/>
          <a:lstStyle/>
          <a:p>
            <a:pPr indent="0" marL="0">
              <a:buNone/>
            </a:pPr>
            <a:r>
              <a:rPr lang="en-US" sz="1800" b="1" dirty="0">
                <a:solidFill>
                  <a:srgbClr val="065F46"/>
                </a:solidFill>
                <a:latin typeface="Arial" pitchFamily="34" charset="0"/>
                <a:ea typeface="Arial" pitchFamily="34" charset="-122"/>
                <a:cs typeface="Arial" pitchFamily="34" charset="-120"/>
              </a:rPr>
              <a:t>ALLOWED</a:t>
            </a:r>
            <a:endParaRPr lang="en-US" sz="1800" dirty="0"/>
          </a:p>
        </p:txBody>
      </p:sp>
      <p:sp>
        <p:nvSpPr>
          <p:cNvPr id="8" name="Text 6"/>
          <p:cNvSpPr txBox="1"/>
          <p:nvPr/>
        </p:nvSpPr>
        <p:spPr>
          <a:xfrm>
            <a:off x="4846320" y="1554480"/>
            <a:ext cx="3657600"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Selling amateur equipment (occasionally, not regularly)</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One-way: beacons, telecommand, emergencies</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Compensation when part of classroom instruction</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International comms (unless country objects via ITU)</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Test transmissions (but you must still identify)</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Emergency communications override most rules</a:t>
            </a:r>
            <a:endParaRPr lang="en-US" sz="1200" dirty="0"/>
          </a:p>
        </p:txBody>
      </p:sp>
      <p:sp>
        <p:nvSpPr>
          <p:cNvPr id="9" name="Text 7"/>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The Broadcasting Definition</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Broadcasting = transmissions intended for reception by the general public</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This is NOT what amateur radio does — we communicate station to station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One-way transmissions that ARE allowed:</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Beacons (propagation observation)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Telecommand of model craft (no ID required for this one!)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Emergency communications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Brief test transmissions (must still identify)</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When in doubt: if it's two-way between licensed operators, it's probably fine</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731520" y="1645920"/>
            <a:ext cx="7680960" cy="91440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Part 5: Control Operators</a:t>
            </a:r>
            <a:endParaRPr lang="en-US" sz="3000" dirty="0"/>
          </a:p>
        </p:txBody>
      </p:sp>
      <p:sp>
        <p:nvSpPr>
          <p:cNvPr id="4" name="Text 2"/>
          <p:cNvSpPr txBox="1"/>
          <p:nvPr/>
        </p:nvSpPr>
        <p:spPr>
          <a:xfrm>
            <a:off x="731520" y="2651760"/>
            <a:ext cx="7680960" cy="548640"/>
          </a:xfrm>
          <a:prstGeom prst="rect">
            <a:avLst/>
          </a:prstGeom>
          <a:noFill/>
          <a:ln/>
        </p:spPr>
        <p:txBody>
          <a:bodyPr wrap="square" rtlCol="0" anchor="ctr"/>
          <a:lstStyle/>
          <a:p>
            <a:pPr indent="0" marL="0">
              <a:buNone/>
            </a:pPr>
            <a:r>
              <a:rPr lang="en-US" sz="1500" dirty="0">
                <a:solidFill>
                  <a:srgbClr val="6EE7B7"/>
                </a:solidFill>
                <a:latin typeface="Arial" pitchFamily="34" charset="0"/>
                <a:ea typeface="Arial" pitchFamily="34" charset="-122"/>
                <a:cs typeface="Arial" pitchFamily="34" charset="-120"/>
              </a:rPr>
              <a:t>Subelement T1E · 1 exam question from this group</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What Is a Control Operator?</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The licensed amateur designated by the station licensee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Responsible for all transmissions and FCC compliance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An amateur station may NEVER transmit without a control operator</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The station licensee designates who the control operator is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Both the control operator AND the licensee share responsibility</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Transmitting privileges = the control operator's license class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A Technician can NEVER be control op in an Extra-only segment</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Control Types</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Local control — you're physically at the transmitter</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Example: sitting at your radio desk</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Remote control — you're somewhere else, controlling via a link</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Example: operating your station over the internet</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Automatic control — no operator present, station runs on its own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Example: a repeater</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The control point = where the control operator function is performed</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Any station may be remotely controlled</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731520" y="1645920"/>
            <a:ext cx="7680960" cy="91440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Part 6: Station Identification</a:t>
            </a:r>
            <a:endParaRPr lang="en-US" sz="3000" dirty="0"/>
          </a:p>
        </p:txBody>
      </p:sp>
      <p:sp>
        <p:nvSpPr>
          <p:cNvPr id="4" name="Text 2"/>
          <p:cNvSpPr txBox="1"/>
          <p:nvPr/>
        </p:nvSpPr>
        <p:spPr>
          <a:xfrm>
            <a:off x="731520" y="2651760"/>
            <a:ext cx="7680960" cy="548640"/>
          </a:xfrm>
          <a:prstGeom prst="rect">
            <a:avLst/>
          </a:prstGeom>
          <a:noFill/>
          <a:ln/>
        </p:spPr>
        <p:txBody>
          <a:bodyPr wrap="square" rtlCol="0" anchor="ctr"/>
          <a:lstStyle/>
          <a:p>
            <a:pPr indent="0" marL="0">
              <a:buNone/>
            </a:pPr>
            <a:r>
              <a:rPr lang="en-US" sz="1500" dirty="0">
                <a:solidFill>
                  <a:srgbClr val="6EE7B7"/>
                </a:solidFill>
                <a:latin typeface="Arial" pitchFamily="34" charset="0"/>
                <a:ea typeface="Arial" pitchFamily="34" charset="-122"/>
                <a:cs typeface="Arial" pitchFamily="34" charset="-120"/>
              </a:rPr>
              <a:t>Subelement T1F · 1 exam question from this group</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How to Identify Your Station</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Identify at least every 10 minutes AND at the end of the communication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Use your FCC-assigned call sign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On phone: identify in English (CW or phone emission)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Tactical call signs are fine — but still give your FCC call every 10 min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Self-assigned indicators: 'stroke,' 'slant,' or 'slash' — all acceptable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You must ID even during test transmissions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Exception: transmitting to control model craft (no ID required)</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Repeaters, Third-Party &amp; Club Stations</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Repeater = simultaneously retransmits on a different channel</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If a repeater retransmits a violation: the originating station is responsible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Third-party communication = a message on behalf of another person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You can let an unlicensed person talk — but YOU are responsible</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With foreign stations: only with third-party agreement countries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Club station license requires at least 4 members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FCC can inspect your station at ANY time — no advance notice</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731520" y="1645920"/>
            <a:ext cx="7680960" cy="91440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Quick Reference</a:t>
            </a:r>
            <a:endParaRPr lang="en-US" sz="3000" dirty="0"/>
          </a:p>
        </p:txBody>
      </p:sp>
      <p:sp>
        <p:nvSpPr>
          <p:cNvPr id="4" name="Text 2"/>
          <p:cNvSpPr txBox="1"/>
          <p:nvPr/>
        </p:nvSpPr>
        <p:spPr>
          <a:xfrm>
            <a:off x="731520" y="2651760"/>
            <a:ext cx="7680960" cy="548640"/>
          </a:xfrm>
          <a:prstGeom prst="rect">
            <a:avLst/>
          </a:prstGeom>
          <a:noFill/>
          <a:ln/>
        </p:spPr>
        <p:txBody>
          <a:bodyPr wrap="square" rtlCol="0" anchor="ctr"/>
          <a:lstStyle/>
          <a:p>
            <a:pPr indent="0" marL="0">
              <a:buNone/>
            </a:pPr>
            <a:r>
              <a:rPr lang="en-US" sz="1500" dirty="0">
                <a:solidFill>
                  <a:srgbClr val="6EE7B7"/>
                </a:solidFill>
                <a:latin typeface="Arial" pitchFamily="34" charset="0"/>
                <a:ea typeface="Arial" pitchFamily="34" charset="-122"/>
                <a:cs typeface="Arial" pitchFamily="34" charset="-120"/>
              </a:rPr>
              <a:t>The numbers that matter</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Key Numbers for the Exam</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3657600" cy="457200"/>
          </a:xfrm>
          <a:prstGeom prst="rect">
            <a:avLst/>
          </a:prstGeom>
          <a:noFill/>
          <a:ln/>
        </p:spPr>
        <p:txBody>
          <a:bodyPr wrap="square" rtlCol="0" anchor="ctr"/>
          <a:lstStyle/>
          <a:p>
            <a:pPr indent="0" marL="0">
              <a:buNone/>
            </a:pPr>
            <a:r>
              <a:rPr lang="en-US" sz="1800" b="1" dirty="0">
                <a:solidFill>
                  <a:srgbClr val="065F46"/>
                </a:solidFill>
                <a:latin typeface="Arial" pitchFamily="34" charset="0"/>
                <a:ea typeface="Arial" pitchFamily="34" charset="-122"/>
                <a:cs typeface="Arial" pitchFamily="34" charset="-120"/>
              </a:rPr>
              <a:t>Rules &amp; Licensing</a:t>
            </a:r>
            <a:endParaRPr lang="en-US" sz="1800" dirty="0"/>
          </a:p>
        </p:txBody>
      </p:sp>
      <p:sp>
        <p:nvSpPr>
          <p:cNvPr id="6" name="Text 4"/>
          <p:cNvSpPr txBox="1"/>
          <p:nvPr/>
        </p:nvSpPr>
        <p:spPr>
          <a:xfrm>
            <a:off x="640080" y="1554480"/>
            <a:ext cx="3657600"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Regulating agency: FCC</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License term: 10 years</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Grace period: 2 years (no TX!)</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Renewal window: 90 days before</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Station ID: every 10 min + end</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ID language on phone: English</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Club station: minimum 4 members</a:t>
            </a:r>
            <a:endParaRPr lang="en-US" sz="1200" dirty="0"/>
          </a:p>
        </p:txBody>
      </p:sp>
      <p:sp>
        <p:nvSpPr>
          <p:cNvPr id="7" name="Text 5"/>
          <p:cNvSpPr txBox="1"/>
          <p:nvPr/>
        </p:nvSpPr>
        <p:spPr>
          <a:xfrm>
            <a:off x="4846320" y="1097280"/>
            <a:ext cx="3657600" cy="457200"/>
          </a:xfrm>
          <a:prstGeom prst="rect">
            <a:avLst/>
          </a:prstGeom>
          <a:noFill/>
          <a:ln/>
        </p:spPr>
        <p:txBody>
          <a:bodyPr wrap="square" rtlCol="0" anchor="ctr"/>
          <a:lstStyle/>
          <a:p>
            <a:pPr indent="0" marL="0">
              <a:buNone/>
            </a:pPr>
            <a:r>
              <a:rPr lang="en-US" sz="1800" b="1" dirty="0">
                <a:solidFill>
                  <a:srgbClr val="065F46"/>
                </a:solidFill>
                <a:latin typeface="Arial" pitchFamily="34" charset="0"/>
                <a:ea typeface="Arial" pitchFamily="34" charset="-122"/>
                <a:cs typeface="Arial" pitchFamily="34" charset="-120"/>
              </a:rPr>
              <a:t>Frequencies &amp; Power</a:t>
            </a:r>
            <a:endParaRPr lang="en-US" sz="1800" dirty="0"/>
          </a:p>
        </p:txBody>
      </p:sp>
      <p:sp>
        <p:nvSpPr>
          <p:cNvPr id="8" name="Text 6"/>
          <p:cNvSpPr txBox="1"/>
          <p:nvPr/>
        </p:nvSpPr>
        <p:spPr>
          <a:xfrm>
            <a:off x="4846320" y="1554480"/>
            <a:ext cx="3657600"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2m calling freq: 146.520 MHz</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Tech max power (VHF+): 1500W PEP</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Tech max power (10m HF): 200W PEP</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CW-only: below 50.1, below 144.1</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Beacons on 10m: 28.200–28.300</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Control operator: ALWAYS required</a:t>
            </a:r>
            <a:endParaRPr lang="en-US" sz="1200" dirty="0"/>
          </a:p>
          <a:p>
            <a:pPr marL="342900" indent="-342900">
              <a:spcAft>
                <a:spcPts val="600"/>
              </a:spcAft>
              <a:buSzPct val="100000"/>
              <a:buChar char="•"/>
            </a:pPr>
            <a:r>
              <a:rPr lang="en-US" sz="1200" dirty="0">
                <a:solidFill>
                  <a:srgbClr val="334155"/>
                </a:solidFill>
                <a:latin typeface="Arial" pitchFamily="34" charset="0"/>
                <a:ea typeface="Arial" pitchFamily="34" charset="-122"/>
                <a:cs typeface="Arial" pitchFamily="34" charset="-120"/>
              </a:rPr>
              <a:t>Vanity calls: ANY licensed amateur</a:t>
            </a:r>
            <a:endParaRPr lang="en-US" sz="1200" dirty="0"/>
          </a:p>
        </p:txBody>
      </p:sp>
      <p:sp>
        <p:nvSpPr>
          <p:cNvPr id="9" name="Text 7"/>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731520" y="1645920"/>
            <a:ext cx="7680960" cy="91440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Checkpoint Quiz</a:t>
            </a:r>
            <a:endParaRPr lang="en-US" sz="3000" dirty="0"/>
          </a:p>
        </p:txBody>
      </p:sp>
      <p:sp>
        <p:nvSpPr>
          <p:cNvPr id="4" name="Text 2"/>
          <p:cNvSpPr txBox="1"/>
          <p:nvPr/>
        </p:nvSpPr>
        <p:spPr>
          <a:xfrm>
            <a:off x="731520" y="2651760"/>
            <a:ext cx="7680960" cy="548640"/>
          </a:xfrm>
          <a:prstGeom prst="rect">
            <a:avLst/>
          </a:prstGeom>
          <a:noFill/>
          <a:ln/>
        </p:spPr>
        <p:txBody>
          <a:bodyPr wrap="square" rtlCol="0" anchor="ctr"/>
          <a:lstStyle/>
          <a:p>
            <a:pPr indent="0" marL="0">
              <a:buNone/>
            </a:pPr>
            <a:r>
              <a:rPr lang="en-US" sz="1500" dirty="0">
                <a:solidFill>
                  <a:srgbClr val="6EE7B7"/>
                </a:solidFill>
                <a:latin typeface="Arial" pitchFamily="34" charset="0"/>
                <a:ea typeface="Arial" pitchFamily="34" charset="-122"/>
                <a:cs typeface="Arial" pitchFamily="34" charset="-120"/>
              </a:rPr>
              <a:t>10 questions from the T1 question pool</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28600"/>
            <a:ext cx="3657600" cy="457200"/>
          </a:xfrm>
          <a:prstGeom prst="rect">
            <a:avLst/>
          </a:prstGeom>
          <a:noFill/>
          <a:ln/>
        </p:spPr>
        <p:txBody>
          <a:bodyPr wrap="square" rtlCol="0" anchor="ctr"/>
          <a:lstStyle/>
          <a:p>
            <a:pPr indent="0" marL="0">
              <a:buNone/>
            </a:pPr>
            <a:r>
              <a:rPr lang="en-US" sz="1400" b="1" dirty="0">
                <a:solidFill>
                  <a:srgbClr val="065F46"/>
                </a:solidFill>
                <a:latin typeface="Arial" pitchFamily="34" charset="0"/>
                <a:ea typeface="Arial" pitchFamily="34" charset="-122"/>
                <a:cs typeface="Arial" pitchFamily="34" charset="-120"/>
              </a:rPr>
              <a:t>Checkpoint Quiz</a:t>
            </a:r>
            <a:endParaRPr lang="en-US" sz="1400" dirty="0"/>
          </a:p>
        </p:txBody>
      </p:sp>
      <p:sp>
        <p:nvSpPr>
          <p:cNvPr id="4" name="Text 2"/>
          <p:cNvSpPr txBox="1"/>
          <p:nvPr/>
        </p:nvSpPr>
        <p:spPr>
          <a:xfrm>
            <a:off x="7772400" y="228600"/>
            <a:ext cx="914400" cy="457200"/>
          </a:xfrm>
          <a:prstGeom prst="rect">
            <a:avLst/>
          </a:prstGeom>
          <a:noFill/>
          <a:ln/>
        </p:spPr>
        <p:txBody>
          <a:bodyPr wrap="square" rtlCol="0" anchor="ctr"/>
          <a:lstStyle/>
          <a:p>
            <a:pPr algn="r" indent="0" marL="0">
              <a:buNone/>
            </a:pPr>
            <a:r>
              <a:rPr lang="en-US" sz="1400" b="1" dirty="0">
                <a:solidFill>
                  <a:srgbClr val="94A3B8"/>
                </a:solidFill>
                <a:latin typeface="Arial" pitchFamily="34" charset="0"/>
                <a:ea typeface="Arial" pitchFamily="34" charset="-122"/>
                <a:cs typeface="Arial" pitchFamily="34" charset="-120"/>
              </a:rPr>
              <a:t>Q1</a:t>
            </a:r>
            <a:endParaRPr lang="en-US" sz="1400" dirty="0"/>
          </a:p>
        </p:txBody>
      </p:sp>
      <p:sp>
        <p:nvSpPr>
          <p:cNvPr id="5" name="Text 3"/>
          <p:cNvSpPr txBox="1"/>
          <p:nvPr/>
        </p:nvSpPr>
        <p:spPr>
          <a:xfrm>
            <a:off x="640080" y="822960"/>
            <a:ext cx="7863840" cy="8229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Which of the following is part of the Basis and Purpose of the Amateur Radio Service?</a:t>
            </a:r>
            <a:endParaRPr lang="en-US" sz="1800" dirty="0"/>
          </a:p>
        </p:txBody>
      </p:sp>
      <p:sp>
        <p:nvSpPr>
          <p:cNvPr id="6" name="Text 4"/>
          <p:cNvSpPr txBox="1"/>
          <p:nvPr/>
        </p:nvSpPr>
        <p:spPr>
          <a:xfrm>
            <a:off x="914400" y="1828800"/>
            <a:ext cx="7315200" cy="2743200"/>
          </a:xfrm>
          <a:prstGeom prst="rect">
            <a:avLst/>
          </a:prstGeom>
          <a:noFill/>
          <a:ln/>
        </p:spPr>
        <p:txBody>
          <a:bodyPr wrap="square" lIns="0" tIns="0" rIns="0" bIns="0" rtlCol="0" anchor="t"/>
          <a:lstStyle/>
          <a:p>
            <a:pPr indent="0" marL="0">
              <a:spcAft>
                <a:spcPts val="1200"/>
              </a:spcAft>
              <a:buNone/>
            </a:pPr>
            <a:r>
              <a:rPr lang="en-US" sz="1500" dirty="0">
                <a:solidFill>
                  <a:srgbClr val="334155"/>
                </a:solidFill>
                <a:latin typeface="Arial" pitchFamily="34" charset="0"/>
                <a:ea typeface="Arial" pitchFamily="34" charset="-122"/>
                <a:cs typeface="Arial" pitchFamily="34" charset="-120"/>
              </a:rPr>
              <a:t>A. Providing personal radio communications for as many citizens as possible</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B. Providing communications for international contesting</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C. Advancing skills in the technical and communication phases of the radio art</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D. All these choices are correct</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28600"/>
            <a:ext cx="3657600" cy="457200"/>
          </a:xfrm>
          <a:prstGeom prst="rect">
            <a:avLst/>
          </a:prstGeom>
          <a:noFill/>
          <a:ln/>
        </p:spPr>
        <p:txBody>
          <a:bodyPr wrap="square" rtlCol="0" anchor="ctr"/>
          <a:lstStyle/>
          <a:p>
            <a:pPr indent="0" marL="0">
              <a:buNone/>
            </a:pPr>
            <a:r>
              <a:rPr lang="en-US" sz="1400" b="1" dirty="0">
                <a:solidFill>
                  <a:srgbClr val="065F46"/>
                </a:solidFill>
                <a:latin typeface="Arial" pitchFamily="34" charset="0"/>
                <a:ea typeface="Arial" pitchFamily="34" charset="-122"/>
                <a:cs typeface="Arial" pitchFamily="34" charset="-120"/>
              </a:rPr>
              <a:t>Checkpoint Quiz</a:t>
            </a:r>
            <a:endParaRPr lang="en-US" sz="1400" dirty="0"/>
          </a:p>
        </p:txBody>
      </p:sp>
      <p:sp>
        <p:nvSpPr>
          <p:cNvPr id="4" name="Text 2"/>
          <p:cNvSpPr txBox="1"/>
          <p:nvPr/>
        </p:nvSpPr>
        <p:spPr>
          <a:xfrm>
            <a:off x="7772400" y="228600"/>
            <a:ext cx="914400" cy="457200"/>
          </a:xfrm>
          <a:prstGeom prst="rect">
            <a:avLst/>
          </a:prstGeom>
          <a:noFill/>
          <a:ln/>
        </p:spPr>
        <p:txBody>
          <a:bodyPr wrap="square" rtlCol="0" anchor="ctr"/>
          <a:lstStyle/>
          <a:p>
            <a:pPr algn="r" indent="0" marL="0">
              <a:buNone/>
            </a:pPr>
            <a:r>
              <a:rPr lang="en-US" sz="1400" b="1" dirty="0">
                <a:solidFill>
                  <a:srgbClr val="94A3B8"/>
                </a:solidFill>
                <a:latin typeface="Arial" pitchFamily="34" charset="0"/>
                <a:ea typeface="Arial" pitchFamily="34" charset="-122"/>
                <a:cs typeface="Arial" pitchFamily="34" charset="-120"/>
              </a:rPr>
              <a:t>Q2</a:t>
            </a:r>
            <a:endParaRPr lang="en-US" sz="1400" dirty="0"/>
          </a:p>
        </p:txBody>
      </p:sp>
      <p:sp>
        <p:nvSpPr>
          <p:cNvPr id="5" name="Text 3"/>
          <p:cNvSpPr txBox="1"/>
          <p:nvPr/>
        </p:nvSpPr>
        <p:spPr>
          <a:xfrm>
            <a:off x="640080" y="822960"/>
            <a:ext cx="7863840" cy="8229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Which agency regulates and enforces the rules for the Amateur Radio Service?</a:t>
            </a:r>
            <a:endParaRPr lang="en-US" sz="1800" dirty="0"/>
          </a:p>
        </p:txBody>
      </p:sp>
      <p:sp>
        <p:nvSpPr>
          <p:cNvPr id="6" name="Text 4"/>
          <p:cNvSpPr txBox="1"/>
          <p:nvPr/>
        </p:nvSpPr>
        <p:spPr>
          <a:xfrm>
            <a:off x="914400" y="1828800"/>
            <a:ext cx="7315200" cy="2743200"/>
          </a:xfrm>
          <a:prstGeom prst="rect">
            <a:avLst/>
          </a:prstGeom>
          <a:noFill/>
          <a:ln/>
        </p:spPr>
        <p:txBody>
          <a:bodyPr wrap="square" lIns="0" tIns="0" rIns="0" bIns="0" rtlCol="0" anchor="t"/>
          <a:lstStyle/>
          <a:p>
            <a:pPr indent="0" marL="0">
              <a:spcAft>
                <a:spcPts val="1200"/>
              </a:spcAft>
              <a:buNone/>
            </a:pPr>
            <a:r>
              <a:rPr lang="en-US" sz="1500" dirty="0">
                <a:solidFill>
                  <a:srgbClr val="334155"/>
                </a:solidFill>
                <a:latin typeface="Arial" pitchFamily="34" charset="0"/>
                <a:ea typeface="Arial" pitchFamily="34" charset="-122"/>
                <a:cs typeface="Arial" pitchFamily="34" charset="-120"/>
              </a:rPr>
              <a:t>A. ARRL</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B. Homeland Security</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C. The FCC</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D. All these choices are correct</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28600"/>
            <a:ext cx="3657600" cy="457200"/>
          </a:xfrm>
          <a:prstGeom prst="rect">
            <a:avLst/>
          </a:prstGeom>
          <a:noFill/>
          <a:ln/>
        </p:spPr>
        <p:txBody>
          <a:bodyPr wrap="square" rtlCol="0" anchor="ctr"/>
          <a:lstStyle/>
          <a:p>
            <a:pPr indent="0" marL="0">
              <a:buNone/>
            </a:pPr>
            <a:r>
              <a:rPr lang="en-US" sz="1400" b="1" dirty="0">
                <a:solidFill>
                  <a:srgbClr val="065F46"/>
                </a:solidFill>
                <a:latin typeface="Arial" pitchFamily="34" charset="0"/>
                <a:ea typeface="Arial" pitchFamily="34" charset="-122"/>
                <a:cs typeface="Arial" pitchFamily="34" charset="-120"/>
              </a:rPr>
              <a:t>Checkpoint Quiz</a:t>
            </a:r>
            <a:endParaRPr lang="en-US" sz="1400" dirty="0"/>
          </a:p>
        </p:txBody>
      </p:sp>
      <p:sp>
        <p:nvSpPr>
          <p:cNvPr id="4" name="Text 2"/>
          <p:cNvSpPr txBox="1"/>
          <p:nvPr/>
        </p:nvSpPr>
        <p:spPr>
          <a:xfrm>
            <a:off x="7772400" y="228600"/>
            <a:ext cx="914400" cy="457200"/>
          </a:xfrm>
          <a:prstGeom prst="rect">
            <a:avLst/>
          </a:prstGeom>
          <a:noFill/>
          <a:ln/>
        </p:spPr>
        <p:txBody>
          <a:bodyPr wrap="square" rtlCol="0" anchor="ctr"/>
          <a:lstStyle/>
          <a:p>
            <a:pPr algn="r" indent="0" marL="0">
              <a:buNone/>
            </a:pPr>
            <a:r>
              <a:rPr lang="en-US" sz="1400" b="1" dirty="0">
                <a:solidFill>
                  <a:srgbClr val="94A3B8"/>
                </a:solidFill>
                <a:latin typeface="Arial" pitchFamily="34" charset="0"/>
                <a:ea typeface="Arial" pitchFamily="34" charset="-122"/>
                <a:cs typeface="Arial" pitchFamily="34" charset="-120"/>
              </a:rPr>
              <a:t>Q3</a:t>
            </a:r>
            <a:endParaRPr lang="en-US" sz="1400" dirty="0"/>
          </a:p>
        </p:txBody>
      </p:sp>
      <p:sp>
        <p:nvSpPr>
          <p:cNvPr id="5" name="Text 3"/>
          <p:cNvSpPr txBox="1"/>
          <p:nvPr/>
        </p:nvSpPr>
        <p:spPr>
          <a:xfrm>
            <a:off x="640080" y="822960"/>
            <a:ext cx="7863840" cy="8229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Which frequency ranges are available for phone operation by Technician licensees?</a:t>
            </a:r>
            <a:endParaRPr lang="en-US" sz="1800" dirty="0"/>
          </a:p>
        </p:txBody>
      </p:sp>
      <p:sp>
        <p:nvSpPr>
          <p:cNvPr id="6" name="Text 4"/>
          <p:cNvSpPr txBox="1"/>
          <p:nvPr/>
        </p:nvSpPr>
        <p:spPr>
          <a:xfrm>
            <a:off x="914400" y="1828800"/>
            <a:ext cx="7315200" cy="2743200"/>
          </a:xfrm>
          <a:prstGeom prst="rect">
            <a:avLst/>
          </a:prstGeom>
          <a:noFill/>
          <a:ln/>
        </p:spPr>
        <p:txBody>
          <a:bodyPr wrap="square" lIns="0" tIns="0" rIns="0" bIns="0" rtlCol="0" anchor="t"/>
          <a:lstStyle/>
          <a:p>
            <a:pPr indent="0" marL="0">
              <a:spcAft>
                <a:spcPts val="1200"/>
              </a:spcAft>
              <a:buNone/>
            </a:pPr>
            <a:r>
              <a:rPr lang="en-US" sz="1500" dirty="0">
                <a:solidFill>
                  <a:srgbClr val="334155"/>
                </a:solidFill>
                <a:latin typeface="Arial" pitchFamily="34" charset="0"/>
                <a:ea typeface="Arial" pitchFamily="34" charset="-122"/>
                <a:cs typeface="Arial" pitchFamily="34" charset="-120"/>
              </a:rPr>
              <a:t>A. 28.050 MHz to 28.150 MHz</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B. 28.100 MHz to 28.300 MHz</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C. 28.300 MHz to 28.500 MHz</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D. 28.500 MHz to 28.600 MHz</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28600"/>
            <a:ext cx="3657600" cy="457200"/>
          </a:xfrm>
          <a:prstGeom prst="rect">
            <a:avLst/>
          </a:prstGeom>
          <a:noFill/>
          <a:ln/>
        </p:spPr>
        <p:txBody>
          <a:bodyPr wrap="square" rtlCol="0" anchor="ctr"/>
          <a:lstStyle/>
          <a:p>
            <a:pPr indent="0" marL="0">
              <a:buNone/>
            </a:pPr>
            <a:r>
              <a:rPr lang="en-US" sz="1400" b="1" dirty="0">
                <a:solidFill>
                  <a:srgbClr val="065F46"/>
                </a:solidFill>
                <a:latin typeface="Arial" pitchFamily="34" charset="0"/>
                <a:ea typeface="Arial" pitchFamily="34" charset="-122"/>
                <a:cs typeface="Arial" pitchFamily="34" charset="-120"/>
              </a:rPr>
              <a:t>Checkpoint Quiz</a:t>
            </a:r>
            <a:endParaRPr lang="en-US" sz="1400" dirty="0"/>
          </a:p>
        </p:txBody>
      </p:sp>
      <p:sp>
        <p:nvSpPr>
          <p:cNvPr id="4" name="Text 2"/>
          <p:cNvSpPr txBox="1"/>
          <p:nvPr/>
        </p:nvSpPr>
        <p:spPr>
          <a:xfrm>
            <a:off x="7772400" y="228600"/>
            <a:ext cx="914400" cy="457200"/>
          </a:xfrm>
          <a:prstGeom prst="rect">
            <a:avLst/>
          </a:prstGeom>
          <a:noFill/>
          <a:ln/>
        </p:spPr>
        <p:txBody>
          <a:bodyPr wrap="square" rtlCol="0" anchor="ctr"/>
          <a:lstStyle/>
          <a:p>
            <a:pPr algn="r" indent="0" marL="0">
              <a:buNone/>
            </a:pPr>
            <a:r>
              <a:rPr lang="en-US" sz="1400" b="1" dirty="0">
                <a:solidFill>
                  <a:srgbClr val="94A3B8"/>
                </a:solidFill>
                <a:latin typeface="Arial" pitchFamily="34" charset="0"/>
                <a:ea typeface="Arial" pitchFamily="34" charset="-122"/>
                <a:cs typeface="Arial" pitchFamily="34" charset="-120"/>
              </a:rPr>
              <a:t>Q4</a:t>
            </a:r>
            <a:endParaRPr lang="en-US" sz="1400" dirty="0"/>
          </a:p>
        </p:txBody>
      </p:sp>
      <p:sp>
        <p:nvSpPr>
          <p:cNvPr id="5" name="Text 3"/>
          <p:cNvSpPr txBox="1"/>
          <p:nvPr/>
        </p:nvSpPr>
        <p:spPr>
          <a:xfrm>
            <a:off x="640080" y="822960"/>
            <a:ext cx="7863840" cy="8229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What is the normal term for an FCC-issued amateur radio license?</a:t>
            </a:r>
            <a:endParaRPr lang="en-US" sz="1800" dirty="0"/>
          </a:p>
        </p:txBody>
      </p:sp>
      <p:sp>
        <p:nvSpPr>
          <p:cNvPr id="6" name="Text 4"/>
          <p:cNvSpPr txBox="1"/>
          <p:nvPr/>
        </p:nvSpPr>
        <p:spPr>
          <a:xfrm>
            <a:off x="914400" y="1828800"/>
            <a:ext cx="7315200" cy="2743200"/>
          </a:xfrm>
          <a:prstGeom prst="rect">
            <a:avLst/>
          </a:prstGeom>
          <a:noFill/>
          <a:ln/>
        </p:spPr>
        <p:txBody>
          <a:bodyPr wrap="square" lIns="0" tIns="0" rIns="0" bIns="0" rtlCol="0" anchor="t"/>
          <a:lstStyle/>
          <a:p>
            <a:pPr indent="0" marL="0">
              <a:spcAft>
                <a:spcPts val="1200"/>
              </a:spcAft>
              <a:buNone/>
            </a:pPr>
            <a:r>
              <a:rPr lang="en-US" sz="1500" dirty="0">
                <a:solidFill>
                  <a:srgbClr val="334155"/>
                </a:solidFill>
                <a:latin typeface="Arial" pitchFamily="34" charset="0"/>
                <a:ea typeface="Arial" pitchFamily="34" charset="-122"/>
                <a:cs typeface="Arial" pitchFamily="34" charset="-120"/>
              </a:rPr>
              <a:t>A. Five years</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B. Eight years</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C. Ten years</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D. Life</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28600"/>
            <a:ext cx="3657600" cy="457200"/>
          </a:xfrm>
          <a:prstGeom prst="rect">
            <a:avLst/>
          </a:prstGeom>
          <a:noFill/>
          <a:ln/>
        </p:spPr>
        <p:txBody>
          <a:bodyPr wrap="square" rtlCol="0" anchor="ctr"/>
          <a:lstStyle/>
          <a:p>
            <a:pPr indent="0" marL="0">
              <a:buNone/>
            </a:pPr>
            <a:r>
              <a:rPr lang="en-US" sz="1400" b="1" dirty="0">
                <a:solidFill>
                  <a:srgbClr val="065F46"/>
                </a:solidFill>
                <a:latin typeface="Arial" pitchFamily="34" charset="0"/>
                <a:ea typeface="Arial" pitchFamily="34" charset="-122"/>
                <a:cs typeface="Arial" pitchFamily="34" charset="-120"/>
              </a:rPr>
              <a:t>Checkpoint Quiz</a:t>
            </a:r>
            <a:endParaRPr lang="en-US" sz="1400" dirty="0"/>
          </a:p>
        </p:txBody>
      </p:sp>
      <p:sp>
        <p:nvSpPr>
          <p:cNvPr id="4" name="Text 2"/>
          <p:cNvSpPr txBox="1"/>
          <p:nvPr/>
        </p:nvSpPr>
        <p:spPr>
          <a:xfrm>
            <a:off x="7772400" y="228600"/>
            <a:ext cx="914400" cy="457200"/>
          </a:xfrm>
          <a:prstGeom prst="rect">
            <a:avLst/>
          </a:prstGeom>
          <a:noFill/>
          <a:ln/>
        </p:spPr>
        <p:txBody>
          <a:bodyPr wrap="square" rtlCol="0" anchor="ctr"/>
          <a:lstStyle/>
          <a:p>
            <a:pPr algn="r" indent="0" marL="0">
              <a:buNone/>
            </a:pPr>
            <a:r>
              <a:rPr lang="en-US" sz="1400" b="1" dirty="0">
                <a:solidFill>
                  <a:srgbClr val="94A3B8"/>
                </a:solidFill>
                <a:latin typeface="Arial" pitchFamily="34" charset="0"/>
                <a:ea typeface="Arial" pitchFamily="34" charset="-122"/>
                <a:cs typeface="Arial" pitchFamily="34" charset="-120"/>
              </a:rPr>
              <a:t>Q5</a:t>
            </a:r>
            <a:endParaRPr lang="en-US" sz="1400" dirty="0"/>
          </a:p>
        </p:txBody>
      </p:sp>
      <p:sp>
        <p:nvSpPr>
          <p:cNvPr id="5" name="Text 3"/>
          <p:cNvSpPr txBox="1"/>
          <p:nvPr/>
        </p:nvSpPr>
        <p:spPr>
          <a:xfrm>
            <a:off x="640080" y="822960"/>
            <a:ext cx="7863840" cy="8229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Which of the following is prohibited?</a:t>
            </a:r>
            <a:endParaRPr lang="en-US" sz="1800" dirty="0"/>
          </a:p>
        </p:txBody>
      </p:sp>
      <p:sp>
        <p:nvSpPr>
          <p:cNvPr id="6" name="Text 4"/>
          <p:cNvSpPr txBox="1"/>
          <p:nvPr/>
        </p:nvSpPr>
        <p:spPr>
          <a:xfrm>
            <a:off x="914400" y="1828800"/>
            <a:ext cx="7315200" cy="2743200"/>
          </a:xfrm>
          <a:prstGeom prst="rect">
            <a:avLst/>
          </a:prstGeom>
          <a:noFill/>
          <a:ln/>
        </p:spPr>
        <p:txBody>
          <a:bodyPr wrap="square" lIns="0" tIns="0" rIns="0" bIns="0" rtlCol="0" anchor="t"/>
          <a:lstStyle/>
          <a:p>
            <a:pPr indent="0" marL="0">
              <a:spcAft>
                <a:spcPts val="1200"/>
              </a:spcAft>
              <a:buNone/>
            </a:pPr>
            <a:r>
              <a:rPr lang="en-US" sz="1500" dirty="0">
                <a:solidFill>
                  <a:srgbClr val="334155"/>
                </a:solidFill>
                <a:latin typeface="Arial" pitchFamily="34" charset="0"/>
                <a:ea typeface="Arial" pitchFamily="34" charset="-122"/>
                <a:cs typeface="Arial" pitchFamily="34" charset="-120"/>
              </a:rPr>
              <a:t>A. International communications on VHF</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B. Willful or malicious interference</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C. Third-party traffic using digital modes</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D. All these choices are correct</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28600"/>
            <a:ext cx="3657600" cy="457200"/>
          </a:xfrm>
          <a:prstGeom prst="rect">
            <a:avLst/>
          </a:prstGeom>
          <a:noFill/>
          <a:ln/>
        </p:spPr>
        <p:txBody>
          <a:bodyPr wrap="square" rtlCol="0" anchor="ctr"/>
          <a:lstStyle/>
          <a:p>
            <a:pPr indent="0" marL="0">
              <a:buNone/>
            </a:pPr>
            <a:r>
              <a:rPr lang="en-US" sz="1400" b="1" dirty="0">
                <a:solidFill>
                  <a:srgbClr val="065F46"/>
                </a:solidFill>
                <a:latin typeface="Arial" pitchFamily="34" charset="0"/>
                <a:ea typeface="Arial" pitchFamily="34" charset="-122"/>
                <a:cs typeface="Arial" pitchFamily="34" charset="-120"/>
              </a:rPr>
              <a:t>Checkpoint Quiz</a:t>
            </a:r>
            <a:endParaRPr lang="en-US" sz="1400" dirty="0"/>
          </a:p>
        </p:txBody>
      </p:sp>
      <p:sp>
        <p:nvSpPr>
          <p:cNvPr id="4" name="Text 2"/>
          <p:cNvSpPr txBox="1"/>
          <p:nvPr/>
        </p:nvSpPr>
        <p:spPr>
          <a:xfrm>
            <a:off x="7772400" y="228600"/>
            <a:ext cx="914400" cy="457200"/>
          </a:xfrm>
          <a:prstGeom prst="rect">
            <a:avLst/>
          </a:prstGeom>
          <a:noFill/>
          <a:ln/>
        </p:spPr>
        <p:txBody>
          <a:bodyPr wrap="square" rtlCol="0" anchor="ctr"/>
          <a:lstStyle/>
          <a:p>
            <a:pPr algn="r" indent="0" marL="0">
              <a:buNone/>
            </a:pPr>
            <a:r>
              <a:rPr lang="en-US" sz="1400" b="1" dirty="0">
                <a:solidFill>
                  <a:srgbClr val="94A3B8"/>
                </a:solidFill>
                <a:latin typeface="Arial" pitchFamily="34" charset="0"/>
                <a:ea typeface="Arial" pitchFamily="34" charset="-122"/>
                <a:cs typeface="Arial" pitchFamily="34" charset="-120"/>
              </a:rPr>
              <a:t>Q6</a:t>
            </a:r>
            <a:endParaRPr lang="en-US" sz="1400" dirty="0"/>
          </a:p>
        </p:txBody>
      </p:sp>
      <p:sp>
        <p:nvSpPr>
          <p:cNvPr id="5" name="Text 3"/>
          <p:cNvSpPr txBox="1"/>
          <p:nvPr/>
        </p:nvSpPr>
        <p:spPr>
          <a:xfrm>
            <a:off x="640080" y="822960"/>
            <a:ext cx="7863840" cy="8229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When may an amateur station transmit without a control operator?</a:t>
            </a:r>
            <a:endParaRPr lang="en-US" sz="1800" dirty="0"/>
          </a:p>
        </p:txBody>
      </p:sp>
      <p:sp>
        <p:nvSpPr>
          <p:cNvPr id="6" name="Text 4"/>
          <p:cNvSpPr txBox="1"/>
          <p:nvPr/>
        </p:nvSpPr>
        <p:spPr>
          <a:xfrm>
            <a:off x="914400" y="1828800"/>
            <a:ext cx="7315200" cy="2743200"/>
          </a:xfrm>
          <a:prstGeom prst="rect">
            <a:avLst/>
          </a:prstGeom>
          <a:noFill/>
          <a:ln/>
        </p:spPr>
        <p:txBody>
          <a:bodyPr wrap="square" lIns="0" tIns="0" rIns="0" bIns="0" rtlCol="0" anchor="t"/>
          <a:lstStyle/>
          <a:p>
            <a:pPr indent="0" marL="0">
              <a:spcAft>
                <a:spcPts val="1200"/>
              </a:spcAft>
              <a:buNone/>
            </a:pPr>
            <a:r>
              <a:rPr lang="en-US" sz="1500" dirty="0">
                <a:solidFill>
                  <a:srgbClr val="334155"/>
                </a:solidFill>
                <a:latin typeface="Arial" pitchFamily="34" charset="0"/>
                <a:ea typeface="Arial" pitchFamily="34" charset="-122"/>
                <a:cs typeface="Arial" pitchFamily="34" charset="-120"/>
              </a:rPr>
              <a:t>A. When using automatic control</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B. When the licensee is away and another amateur is using the station</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C. When the station is an auxiliary station</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D. Never</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28600"/>
            <a:ext cx="3657600" cy="457200"/>
          </a:xfrm>
          <a:prstGeom prst="rect">
            <a:avLst/>
          </a:prstGeom>
          <a:noFill/>
          <a:ln/>
        </p:spPr>
        <p:txBody>
          <a:bodyPr wrap="square" rtlCol="0" anchor="ctr"/>
          <a:lstStyle/>
          <a:p>
            <a:pPr indent="0" marL="0">
              <a:buNone/>
            </a:pPr>
            <a:r>
              <a:rPr lang="en-US" sz="1400" b="1" dirty="0">
                <a:solidFill>
                  <a:srgbClr val="065F46"/>
                </a:solidFill>
                <a:latin typeface="Arial" pitchFamily="34" charset="0"/>
                <a:ea typeface="Arial" pitchFamily="34" charset="-122"/>
                <a:cs typeface="Arial" pitchFamily="34" charset="-120"/>
              </a:rPr>
              <a:t>Checkpoint Quiz</a:t>
            </a:r>
            <a:endParaRPr lang="en-US" sz="1400" dirty="0"/>
          </a:p>
        </p:txBody>
      </p:sp>
      <p:sp>
        <p:nvSpPr>
          <p:cNvPr id="4" name="Text 2"/>
          <p:cNvSpPr txBox="1"/>
          <p:nvPr/>
        </p:nvSpPr>
        <p:spPr>
          <a:xfrm>
            <a:off x="7772400" y="228600"/>
            <a:ext cx="914400" cy="457200"/>
          </a:xfrm>
          <a:prstGeom prst="rect">
            <a:avLst/>
          </a:prstGeom>
          <a:noFill/>
          <a:ln/>
        </p:spPr>
        <p:txBody>
          <a:bodyPr wrap="square" rtlCol="0" anchor="ctr"/>
          <a:lstStyle/>
          <a:p>
            <a:pPr algn="r" indent="0" marL="0">
              <a:buNone/>
            </a:pPr>
            <a:r>
              <a:rPr lang="en-US" sz="1400" b="1" dirty="0">
                <a:solidFill>
                  <a:srgbClr val="94A3B8"/>
                </a:solidFill>
                <a:latin typeface="Arial" pitchFamily="34" charset="0"/>
                <a:ea typeface="Arial" pitchFamily="34" charset="-122"/>
                <a:cs typeface="Arial" pitchFamily="34" charset="-120"/>
              </a:rPr>
              <a:t>Q7</a:t>
            </a:r>
            <a:endParaRPr lang="en-US" sz="1400" dirty="0"/>
          </a:p>
        </p:txBody>
      </p:sp>
      <p:sp>
        <p:nvSpPr>
          <p:cNvPr id="5" name="Text 3"/>
          <p:cNvSpPr txBox="1"/>
          <p:nvPr/>
        </p:nvSpPr>
        <p:spPr>
          <a:xfrm>
            <a:off x="640080" y="822960"/>
            <a:ext cx="7863840" cy="8229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How often must you identify with your FCC-assigned call sign?</a:t>
            </a:r>
            <a:endParaRPr lang="en-US" sz="1800" dirty="0"/>
          </a:p>
        </p:txBody>
      </p:sp>
      <p:sp>
        <p:nvSpPr>
          <p:cNvPr id="6" name="Text 4"/>
          <p:cNvSpPr txBox="1"/>
          <p:nvPr/>
        </p:nvSpPr>
        <p:spPr>
          <a:xfrm>
            <a:off x="914400" y="1828800"/>
            <a:ext cx="7315200" cy="2743200"/>
          </a:xfrm>
          <a:prstGeom prst="rect">
            <a:avLst/>
          </a:prstGeom>
          <a:noFill/>
          <a:ln/>
        </p:spPr>
        <p:txBody>
          <a:bodyPr wrap="square" lIns="0" tIns="0" rIns="0" bIns="0" rtlCol="0" anchor="t"/>
          <a:lstStyle/>
          <a:p>
            <a:pPr indent="0" marL="0">
              <a:spcAft>
                <a:spcPts val="1200"/>
              </a:spcAft>
              <a:buNone/>
            </a:pPr>
            <a:r>
              <a:rPr lang="en-US" sz="1500" dirty="0">
                <a:solidFill>
                  <a:srgbClr val="334155"/>
                </a:solidFill>
                <a:latin typeface="Arial" pitchFamily="34" charset="0"/>
                <a:ea typeface="Arial" pitchFamily="34" charset="-122"/>
                <a:cs typeface="Arial" pitchFamily="34" charset="-120"/>
              </a:rPr>
              <a:t>A. At the beginning of each contact and every 10 minutes</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B. At least once during each transmission</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C. Every 15 minutes and at the end</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D. Every 10 minutes during and at the end of a communication</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28600"/>
            <a:ext cx="3657600" cy="457200"/>
          </a:xfrm>
          <a:prstGeom prst="rect">
            <a:avLst/>
          </a:prstGeom>
          <a:noFill/>
          <a:ln/>
        </p:spPr>
        <p:txBody>
          <a:bodyPr wrap="square" rtlCol="0" anchor="ctr"/>
          <a:lstStyle/>
          <a:p>
            <a:pPr indent="0" marL="0">
              <a:buNone/>
            </a:pPr>
            <a:r>
              <a:rPr lang="en-US" sz="1400" b="1" dirty="0">
                <a:solidFill>
                  <a:srgbClr val="065F46"/>
                </a:solidFill>
                <a:latin typeface="Arial" pitchFamily="34" charset="0"/>
                <a:ea typeface="Arial" pitchFamily="34" charset="-122"/>
                <a:cs typeface="Arial" pitchFamily="34" charset="-120"/>
              </a:rPr>
              <a:t>Checkpoint Quiz</a:t>
            </a:r>
            <a:endParaRPr lang="en-US" sz="1400" dirty="0"/>
          </a:p>
        </p:txBody>
      </p:sp>
      <p:sp>
        <p:nvSpPr>
          <p:cNvPr id="4" name="Text 2"/>
          <p:cNvSpPr txBox="1"/>
          <p:nvPr/>
        </p:nvSpPr>
        <p:spPr>
          <a:xfrm>
            <a:off x="7772400" y="228600"/>
            <a:ext cx="914400" cy="457200"/>
          </a:xfrm>
          <a:prstGeom prst="rect">
            <a:avLst/>
          </a:prstGeom>
          <a:noFill/>
          <a:ln/>
        </p:spPr>
        <p:txBody>
          <a:bodyPr wrap="square" rtlCol="0" anchor="ctr"/>
          <a:lstStyle/>
          <a:p>
            <a:pPr algn="r" indent="0" marL="0">
              <a:buNone/>
            </a:pPr>
            <a:r>
              <a:rPr lang="en-US" sz="1400" b="1" dirty="0">
                <a:solidFill>
                  <a:srgbClr val="94A3B8"/>
                </a:solidFill>
                <a:latin typeface="Arial" pitchFamily="34" charset="0"/>
                <a:ea typeface="Arial" pitchFamily="34" charset="-122"/>
                <a:cs typeface="Arial" pitchFamily="34" charset="-120"/>
              </a:rPr>
              <a:t>Q8</a:t>
            </a:r>
            <a:endParaRPr lang="en-US" sz="1400" dirty="0"/>
          </a:p>
        </p:txBody>
      </p:sp>
      <p:sp>
        <p:nvSpPr>
          <p:cNvPr id="5" name="Text 3"/>
          <p:cNvSpPr txBox="1"/>
          <p:nvPr/>
        </p:nvSpPr>
        <p:spPr>
          <a:xfrm>
            <a:off x="640080" y="822960"/>
            <a:ext cx="7863840" cy="8229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What determines the transmitting frequency privileges of an amateur station?</a:t>
            </a:r>
            <a:endParaRPr lang="en-US" sz="1800" dirty="0"/>
          </a:p>
        </p:txBody>
      </p:sp>
      <p:sp>
        <p:nvSpPr>
          <p:cNvPr id="6" name="Text 4"/>
          <p:cNvSpPr txBox="1"/>
          <p:nvPr/>
        </p:nvSpPr>
        <p:spPr>
          <a:xfrm>
            <a:off x="914400" y="1828800"/>
            <a:ext cx="7315200" cy="2743200"/>
          </a:xfrm>
          <a:prstGeom prst="rect">
            <a:avLst/>
          </a:prstGeom>
          <a:noFill/>
          <a:ln/>
        </p:spPr>
        <p:txBody>
          <a:bodyPr wrap="square" lIns="0" tIns="0" rIns="0" bIns="0" rtlCol="0" anchor="t"/>
          <a:lstStyle/>
          <a:p>
            <a:pPr indent="0" marL="0">
              <a:spcAft>
                <a:spcPts val="1200"/>
              </a:spcAft>
              <a:buNone/>
            </a:pPr>
            <a:r>
              <a:rPr lang="en-US" sz="1500" dirty="0">
                <a:solidFill>
                  <a:srgbClr val="334155"/>
                </a:solidFill>
                <a:latin typeface="Arial" pitchFamily="34" charset="0"/>
                <a:ea typeface="Arial" pitchFamily="34" charset="-122"/>
                <a:cs typeface="Arial" pitchFamily="34" charset="-120"/>
              </a:rPr>
              <a:t>A. The frequency coordinator</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B. The frequencies printed on the license</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C. The highest class on the premises</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D. The class of the control operator</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28600"/>
            <a:ext cx="3657600" cy="457200"/>
          </a:xfrm>
          <a:prstGeom prst="rect">
            <a:avLst/>
          </a:prstGeom>
          <a:noFill/>
          <a:ln/>
        </p:spPr>
        <p:txBody>
          <a:bodyPr wrap="square" rtlCol="0" anchor="ctr"/>
          <a:lstStyle/>
          <a:p>
            <a:pPr indent="0" marL="0">
              <a:buNone/>
            </a:pPr>
            <a:r>
              <a:rPr lang="en-US" sz="1400" b="1" dirty="0">
                <a:solidFill>
                  <a:srgbClr val="065F46"/>
                </a:solidFill>
                <a:latin typeface="Arial" pitchFamily="34" charset="0"/>
                <a:ea typeface="Arial" pitchFamily="34" charset="-122"/>
                <a:cs typeface="Arial" pitchFamily="34" charset="-120"/>
              </a:rPr>
              <a:t>Checkpoint Quiz</a:t>
            </a:r>
            <a:endParaRPr lang="en-US" sz="1400" dirty="0"/>
          </a:p>
        </p:txBody>
      </p:sp>
      <p:sp>
        <p:nvSpPr>
          <p:cNvPr id="4" name="Text 2"/>
          <p:cNvSpPr txBox="1"/>
          <p:nvPr/>
        </p:nvSpPr>
        <p:spPr>
          <a:xfrm>
            <a:off x="7772400" y="228600"/>
            <a:ext cx="914400" cy="457200"/>
          </a:xfrm>
          <a:prstGeom prst="rect">
            <a:avLst/>
          </a:prstGeom>
          <a:noFill/>
          <a:ln/>
        </p:spPr>
        <p:txBody>
          <a:bodyPr wrap="square" rtlCol="0" anchor="ctr"/>
          <a:lstStyle/>
          <a:p>
            <a:pPr algn="r" indent="0" marL="0">
              <a:buNone/>
            </a:pPr>
            <a:r>
              <a:rPr lang="en-US" sz="1400" b="1" dirty="0">
                <a:solidFill>
                  <a:srgbClr val="94A3B8"/>
                </a:solidFill>
                <a:latin typeface="Arial" pitchFamily="34" charset="0"/>
                <a:ea typeface="Arial" pitchFamily="34" charset="-122"/>
                <a:cs typeface="Arial" pitchFamily="34" charset="-120"/>
              </a:rPr>
              <a:t>Q9</a:t>
            </a:r>
            <a:endParaRPr lang="en-US" sz="1400" dirty="0"/>
          </a:p>
        </p:txBody>
      </p:sp>
      <p:sp>
        <p:nvSpPr>
          <p:cNvPr id="5" name="Text 3"/>
          <p:cNvSpPr txBox="1"/>
          <p:nvPr/>
        </p:nvSpPr>
        <p:spPr>
          <a:xfrm>
            <a:off x="640080" y="822960"/>
            <a:ext cx="7863840" cy="8229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What is the grace period for renewal if an amateur license expires?</a:t>
            </a:r>
            <a:endParaRPr lang="en-US" sz="1800" dirty="0"/>
          </a:p>
        </p:txBody>
      </p:sp>
      <p:sp>
        <p:nvSpPr>
          <p:cNvPr id="6" name="Text 4"/>
          <p:cNvSpPr txBox="1"/>
          <p:nvPr/>
        </p:nvSpPr>
        <p:spPr>
          <a:xfrm>
            <a:off x="914400" y="1828800"/>
            <a:ext cx="7315200" cy="2743200"/>
          </a:xfrm>
          <a:prstGeom prst="rect">
            <a:avLst/>
          </a:prstGeom>
          <a:noFill/>
          <a:ln/>
        </p:spPr>
        <p:txBody>
          <a:bodyPr wrap="square" lIns="0" tIns="0" rIns="0" bIns="0" rtlCol="0" anchor="t"/>
          <a:lstStyle/>
          <a:p>
            <a:pPr indent="0" marL="0">
              <a:spcAft>
                <a:spcPts val="1200"/>
              </a:spcAft>
              <a:buNone/>
            </a:pPr>
            <a:r>
              <a:rPr lang="en-US" sz="1500" dirty="0">
                <a:solidFill>
                  <a:srgbClr val="334155"/>
                </a:solidFill>
                <a:latin typeface="Arial" pitchFamily="34" charset="0"/>
                <a:ea typeface="Arial" pitchFamily="34" charset="-122"/>
                <a:cs typeface="Arial" pitchFamily="34" charset="-120"/>
              </a:rPr>
              <a:t>A. Two years</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B. Three years</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C. Five years</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D. Ten years</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28600"/>
            <a:ext cx="3657600" cy="457200"/>
          </a:xfrm>
          <a:prstGeom prst="rect">
            <a:avLst/>
          </a:prstGeom>
          <a:noFill/>
          <a:ln/>
        </p:spPr>
        <p:txBody>
          <a:bodyPr wrap="square" rtlCol="0" anchor="ctr"/>
          <a:lstStyle/>
          <a:p>
            <a:pPr indent="0" marL="0">
              <a:buNone/>
            </a:pPr>
            <a:r>
              <a:rPr lang="en-US" sz="1400" b="1" dirty="0">
                <a:solidFill>
                  <a:srgbClr val="065F46"/>
                </a:solidFill>
                <a:latin typeface="Arial" pitchFamily="34" charset="0"/>
                <a:ea typeface="Arial" pitchFamily="34" charset="-122"/>
                <a:cs typeface="Arial" pitchFamily="34" charset="-120"/>
              </a:rPr>
              <a:t>Checkpoint Quiz</a:t>
            </a:r>
            <a:endParaRPr lang="en-US" sz="1400" dirty="0"/>
          </a:p>
        </p:txBody>
      </p:sp>
      <p:sp>
        <p:nvSpPr>
          <p:cNvPr id="4" name="Text 2"/>
          <p:cNvSpPr txBox="1"/>
          <p:nvPr/>
        </p:nvSpPr>
        <p:spPr>
          <a:xfrm>
            <a:off x="7772400" y="228600"/>
            <a:ext cx="914400" cy="457200"/>
          </a:xfrm>
          <a:prstGeom prst="rect">
            <a:avLst/>
          </a:prstGeom>
          <a:noFill/>
          <a:ln/>
        </p:spPr>
        <p:txBody>
          <a:bodyPr wrap="square" rtlCol="0" anchor="ctr"/>
          <a:lstStyle/>
          <a:p>
            <a:pPr algn="r" indent="0" marL="0">
              <a:buNone/>
            </a:pPr>
            <a:r>
              <a:rPr lang="en-US" sz="1400" b="1" dirty="0">
                <a:solidFill>
                  <a:srgbClr val="94A3B8"/>
                </a:solidFill>
                <a:latin typeface="Arial" pitchFamily="34" charset="0"/>
                <a:ea typeface="Arial" pitchFamily="34" charset="-122"/>
                <a:cs typeface="Arial" pitchFamily="34" charset="-120"/>
              </a:rPr>
              <a:t>Q10</a:t>
            </a:r>
            <a:endParaRPr lang="en-US" sz="1400" dirty="0"/>
          </a:p>
        </p:txBody>
      </p:sp>
      <p:sp>
        <p:nvSpPr>
          <p:cNvPr id="5" name="Text 3"/>
          <p:cNvSpPr txBox="1"/>
          <p:nvPr/>
        </p:nvSpPr>
        <p:spPr>
          <a:xfrm>
            <a:off x="640080" y="822960"/>
            <a:ext cx="7863840" cy="8229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How does the FCC define broadcasting for the Amateur Radio Service?</a:t>
            </a:r>
            <a:endParaRPr lang="en-US" sz="1800" dirty="0"/>
          </a:p>
        </p:txBody>
      </p:sp>
      <p:sp>
        <p:nvSpPr>
          <p:cNvPr id="6" name="Text 4"/>
          <p:cNvSpPr txBox="1"/>
          <p:nvPr/>
        </p:nvSpPr>
        <p:spPr>
          <a:xfrm>
            <a:off x="914400" y="1828800"/>
            <a:ext cx="7315200" cy="2743200"/>
          </a:xfrm>
          <a:prstGeom prst="rect">
            <a:avLst/>
          </a:prstGeom>
          <a:noFill/>
          <a:ln/>
        </p:spPr>
        <p:txBody>
          <a:bodyPr wrap="square" lIns="0" tIns="0" rIns="0" bIns="0" rtlCol="0" anchor="t"/>
          <a:lstStyle/>
          <a:p>
            <a:pPr indent="0" marL="0">
              <a:spcAft>
                <a:spcPts val="1200"/>
              </a:spcAft>
              <a:buNone/>
            </a:pPr>
            <a:r>
              <a:rPr lang="en-US" sz="1500" dirty="0">
                <a:solidFill>
                  <a:srgbClr val="334155"/>
                </a:solidFill>
                <a:latin typeface="Arial" pitchFamily="34" charset="0"/>
                <a:ea typeface="Arial" pitchFamily="34" charset="-122"/>
                <a:cs typeface="Arial" pitchFamily="34" charset="-120"/>
              </a:rPr>
              <a:t>A. Two-way transmissions by amateur stations</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B. Any transmission made by the licensed station</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C. Transmissions directed only to amateur operators</a:t>
            </a:r>
            <a:endParaRPr lang="en-US" sz="1500" dirty="0"/>
          </a:p>
          <a:p>
            <a:pPr indent="0" marL="0">
              <a:spcAft>
                <a:spcPts val="1200"/>
              </a:spcAft>
              <a:buNone/>
            </a:pPr>
            <a:r>
              <a:rPr lang="en-US" sz="1500" dirty="0">
                <a:solidFill>
                  <a:srgbClr val="334155"/>
                </a:solidFill>
                <a:latin typeface="Arial" pitchFamily="34" charset="0"/>
                <a:ea typeface="Arial" pitchFamily="34" charset="-122"/>
                <a:cs typeface="Arial" pitchFamily="34" charset="-120"/>
              </a:rPr>
              <a:t>D. Transmissions intended for reception by the general public</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731520" y="1645920"/>
            <a:ext cx="7680960" cy="91440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Before Next Session</a:t>
            </a:r>
            <a:endParaRPr lang="en-US" sz="3000" dirty="0"/>
          </a:p>
        </p:txBody>
      </p:sp>
      <p:sp>
        <p:nvSpPr>
          <p:cNvPr id="4" name="Text 2"/>
          <p:cNvSpPr txBox="1"/>
          <p:nvPr/>
        </p:nvSpPr>
        <p:spPr>
          <a:xfrm>
            <a:off x="731520" y="2651760"/>
            <a:ext cx="7680960" cy="548640"/>
          </a:xfrm>
          <a:prstGeom prst="rect">
            <a:avLst/>
          </a:prstGeom>
          <a:noFill/>
          <a:ln/>
        </p:spPr>
        <p:txBody>
          <a:bodyPr wrap="square" rtlCol="0" anchor="ctr"/>
          <a:lstStyle/>
          <a:p>
            <a:pPr indent="0" marL="0">
              <a:buNone/>
            </a:pPr>
            <a:r>
              <a:rPr lang="en-US" sz="1500" dirty="0">
                <a:solidFill>
                  <a:srgbClr val="6EE7B7"/>
                </a:solidFill>
                <a:latin typeface="Arial" pitchFamily="34" charset="0"/>
                <a:ea typeface="Arial" pitchFamily="34" charset="-122"/>
                <a:cs typeface="Arial" pitchFamily="34" charset="-120"/>
              </a:rPr>
              <a:t>Your assignment for Module 2</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txBox="1"/>
          <p:nvPr/>
        </p:nvSpPr>
        <p:spPr>
          <a:xfrm>
            <a:off x="640080" y="274320"/>
            <a:ext cx="7863840" cy="64008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Your Assignment</a:t>
            </a:r>
            <a:endParaRPr lang="en-US" sz="2400" dirty="0"/>
          </a:p>
        </p:txBody>
      </p:sp>
      <p:sp>
        <p:nvSpPr>
          <p:cNvPr id="4" name="Shape 2"/>
          <p:cNvSpPr/>
          <p:nvPr/>
        </p:nvSpPr>
        <p:spPr>
          <a:xfrm>
            <a:off x="640080" y="868680"/>
            <a:ext cx="2743200" cy="36576"/>
          </a:xfrm>
          <a:prstGeom prst="rect">
            <a:avLst/>
          </a:prstGeom>
          <a:solidFill>
            <a:srgbClr val="10B981"/>
          </a:solidFill>
          <a:ln/>
        </p:spPr>
      </p:sp>
      <p:sp>
        <p:nvSpPr>
          <p:cNvPr id="5" name="Text 3"/>
          <p:cNvSpPr txBox="1"/>
          <p:nvPr/>
        </p:nvSpPr>
        <p:spPr>
          <a:xfrm>
            <a:off x="640080" y="1097280"/>
            <a:ext cx="7863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Drill HamStudy sections T1A through T1F</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Target: 80%+ confidence on each section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HamStudy tracks what you're getting wrong and drills those harder</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Trust the system — it works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Coming in Module 2: Operating &amp; Propagation</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How to actually use a repeater</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CTCSS tones, DMR, Q signals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How radio waves travel and propagation modes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  → Station setup and controls</a:t>
            </a:r>
            <a:endParaRPr lang="en-US" sz="1400" dirty="0"/>
          </a:p>
          <a:p>
            <a:pPr marL="342900" indent="-342900">
              <a:spcAft>
                <a:spcPts val="800"/>
              </a:spcAft>
              <a:buSzPct val="100000"/>
              <a:buChar char="•"/>
            </a:pPr>
            <a:r>
              <a:rPr lang="en-US" sz="1400" dirty="0">
                <a:solidFill>
                  <a:srgbClr val="334155"/>
                </a:solidFill>
                <a:latin typeface="Arial" pitchFamily="34" charset="0"/>
                <a:ea typeface="Arial" pitchFamily="34" charset="-122"/>
                <a:cs typeface="Arial" pitchFamily="34" charset="-120"/>
              </a:rPr>
              <a:t>See you next session!</a:t>
            </a:r>
            <a:endParaRPr lang="en-US" sz="1400" dirty="0"/>
          </a:p>
        </p:txBody>
      </p:sp>
      <p:sp>
        <p:nvSpPr>
          <p:cNvPr id="6" name="Text 4"/>
          <p:cNvSpPr txBox="1"/>
          <p:nvPr/>
        </p:nvSpPr>
        <p:spPr>
          <a:xfrm>
            <a:off x="457200" y="4754880"/>
            <a:ext cx="36576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TavaOne Education — Module 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License &amp; Rules</dc:title>
  <dc:subject>Technician License Course - Module 1</dc:subject>
  <dc:creator>TavaOne Education</dc:creator>
  <cp:lastModifiedBy>TavaOne Education</cp:lastModifiedBy>
  <cp:revision>1</cp:revision>
  <dcterms:created xsi:type="dcterms:W3CDTF">2026-09-15T17:48:51Z</dcterms:created>
  <dcterms:modified xsi:type="dcterms:W3CDTF">2026-09-15T17:48:51Z</dcterms:modified>
</cp:coreProperties>
</file>