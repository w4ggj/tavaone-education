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 opening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easier half of the course. We've done the hardest work. Module 6 consolidates signal theory you already know from operating FT8 and other digital modes — now you'll understand why they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Fourier analysis is the mathematical tool that explains why every waveform can be treated as a collection of sine waves. Practical consequence: harmonics.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example: your 100W SSB transmitter puts out 100W PEP at voice peaks. The average power might be 30-40W. Legal limits are expressed in PEP. This is why an SSB transmitter rated at 100W PEP isn't running 100W continuously.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FM modulation is fundamentally different from AM — it encodes audio in frequency, not amplitude. The modulation index tells you how much the frequency varies.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the Carson's rule formula now. If deviation is 6 kHz and audio is 2.5 kHz: BW = 2×(6+2.5) = 2×8.5 = 17 kHz. Have students work one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math behind digital modes — error correction, modulation schemes, and constellation diagrams.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 vs ARQ: space probes use FEC because there's no way to ask for a retransmit from Voyager. Winlink email uses ARQ because you can wait for a retry. Moon bounce uses FEC because the round-trip delay makes ARQ impractical.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QPSK constellation: 4 points on the compass. Each point is 1 unique state. 2 bits define which point. At higher SNR you can pack 16-QAM (16 points), 64-QAM (64 points). More points = more data rate = less noise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Keying defects are a practical operating issue. Spread spectrum is a technology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clicks are the most common source of amateur complaints to the FCC. A properly shaped keying waveform has rise and fall times of about 5ms — fast enough for good CW sending but slow enough to contain sidebands.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guaranteed point if you know the basics. RF safety is also practically important for any serious amateur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consequence: a big beam antenna pointed at a neighbor's house is more of a concern than an omnidirectional vertical, even at the same transmitter power. The gain concentrates the energy in one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BeO story: in the 1970s-80s, power transistors commonly used BeO as a heat spreader. A technician who filed down a transistor case without knowing got very sick. It's on the exam and it's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 is lighter — review this grid and move into the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0.707 × 200. Just memorize the 0.707 multiplier (= 1/sqrt(2)).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division: 6k/2k = 3. Higher index = more sidebands = wider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deviation + audio, then multiply by 2. (5+3)=8, ×2=16 kHz.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point on the constellation is one unique symbol. QPSK has 4 points. 16-QAM has 16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Baud = symbols per second. QPSK encodes 2 bits in each symbol. Multiply: 1200 × 2 = 2400 bps.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switching = wide sidebands. 5ms rise time is a good target for 15-20 wpm CW.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a jammer's perspective: a jammer at one frequency kills only a tiny fraction of the spread signal's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other station is 240,000 miles away on the Moon, waiting for an ARQ retransmit is not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BeO looks like white ceramic. Old high-power transistors often used it as a heat spreader. The 'do not grind' warning is on the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if your neighbor knows about your station, they're still 'uncontrolled' by FCC definition — they're not the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and send students to HamStudy.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8288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Module 6: Signals, Emissions &amp; Safety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Fourier Analysis · Modulation · Digital Signals · Spread Spectrum · RF Safety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2024-2028 Amateur Extra Question Pool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TavaOne Education  ·  Pinellas STEM Radio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Module 6 Overview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5 exam questions — E8A-D (4 Qs) + E0A (1 Q) — only 10% of exam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Lighter module — good recovery after Module 5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But: E8 has real formula content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RMS voltage: Vrms = 0.707 × Vpeak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FM modulation index: peak deviation / modulating frequency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Carson's rule: BW = 2 × (deviation + max audio frequency)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Baud rate vs bit rate relationship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E0A safety: only 1 question but a guaranteed point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Know: MPE limits, duty cycle, BeO hazard, controlled vs uncontrolled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E8-E0 · Signals &amp; Safety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Part 1: Fourier Analysis and Power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Subelement E8A — 1 exam question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Fourier Analysis and Harmonics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Fourier's theorem: any complex periodic waveform = fundamental + harmonics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Harmonics: integer multiples of the fundamental frequency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2nd harmonic: 2× fundamental; 3rd: 3×; etc.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Square wave: fundamental + all ODD harmonics (3rd, 5th, 7th...)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This is why digital circuits radiate harmonics across the spectrum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And why switching amplifiers MUST have output low-pass filters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RMS Voltage (sine wave):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Vrms = 0.707 × Vpeak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Or: Vrms = Vpeak / √2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Example: 200V peak → 141.4V RMS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Peak Envelope Power (PEP):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PEP = (Vrms)² / Z   measured at the highest amplitude point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For SSB: measure the peak of the modulation envelope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Average power &lt; PEP for SSB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E8-E0 · Signals &amp; Safety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Part 2: FM Modulation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Subelement E8B — 1 exam question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FM Modulation Index and Carson's Rule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Modulation index: peak frequency deviation / modulating frequency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Example: 5 kHz deviation, 1 kHz audio → index = 5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Higher index = more sidebands = more bandwidth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Deviation ratio: max frequency deviation / max modulating frequency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Design parameter (uses maximum values, not instantaneous)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Carson's Rule — FM bandwidth: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BW = 2 × (max deviation + max modulating frequency)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Example: 5 kHz deviation, 3 kHz audio → BW = 2×(5+3) = 16 kHz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This gives the bandwidth containing ~98% of the signal power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Frequency-Division Multiplexing (FDM): signals on different subcarriers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Time-Division Multiplexing (TDM): signals share the channel in time slots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OFDM: many narrow subcarriers, each using QAM or QPSK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E8-E0 · Signals &amp; Safety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Part 3: Digital Signal Theory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Subelement E8C — 1 exam question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Digital Modulation and Error Correction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Shannon's theorem: maximum data rate depends on bandwidth AND signal-to-noise ratio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Forward Error Correction (FEC):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Adds redundant bits at the transmitter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Receiver can DETECT and CORRECT errors without retransmission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Used when retransmission is impossible: EME, broadcast, satellites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Automatic Repeat Request (ARQ):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Receiver detects errors and REQUESTS retransmission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Used when two-way links exist: Winlink, PACTOR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Baud rate vs bit rate: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Baud rate = symbols per second (signal state changes per second)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Bit rate = baud rate × bits per symbol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QPSK: 2 bits per symbol → 1200 baud = 2400 bps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16-QAM: 4 bits per symbol → 1200 baud = 4800 bps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E8-E0 · Signals &amp; Safety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Modulation Schemes and Constellation Diagrams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BPSK: 2 phase states (0°, 180°) — 1 bit per symbol; most robust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QPSK: 4 phase states (0°, 90°, 180°, 270°) — 2 bits per symbol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QAM: varies both amplitude AND phase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16-QAM: 4 bits per symbol (16 unique states)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64-QAM: 6 bits per symbol (64 unique states — more susceptible to noise)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OFDM: many narrow subcarriers simultaneously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Each subcarrier uses QAM or QPSK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Used in DVB-T (amateur ATV), Wi-Fi, LTE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Constellation diagram: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Plots I (in-phase) vs Q (quadrature) — shows all possible signal states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Each point = one symbol (specific amplitude + phase combination)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Noise causes points to spread — if adjacent points overlap, bit errors occur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E8-E0 · Signals &amp; Safety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Part 4: Keying Defects and Spread Spectrum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Subelement E8D — 1 exam question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Keying Defects and Spread Spectrum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Keying Defects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14800" cy="36118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3258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Key clicks: rise/fall time too fast → wide sidebands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→ Sounds like 'thwack' on nearby frequencies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→ Fix: slow rise/fall times with RC shaping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Chirp: oscillator frequency changes on keying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→ Power supply voltage pulling the VFO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→ Fix: better voltage regulation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Overmodulation (digital): excessive drive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→ Splatter on adjacent frequencies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ASCII: 7-bit code (128 characters)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Baudot (RTTY): 5-bit with shift characters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Spread Spectrum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114800" cy="361188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3258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DSSS (Direct Sequence):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→ Multiply signal by pseudo-random code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→ Spreads signal across wide bandwidth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→ Looks like noise to others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FHSS (Frequency Hopping):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→ Rapidly hop between frequencies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→ Using pseudo-random sequence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Both: resistant to interference and jamming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FCC: SS only above 222 MHz in Amateur Service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E8-E0 · Signals &amp; Safety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Part 5: RF and Electrical Safety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Subelement E0A — 1 exam question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RF Safety Fundamentals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RF biological effect: thermal — RF energy heats body tissue like a microwave oven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MPE (Maximum Permissible Exposure): FCC RF field strength limits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Different limits for different frequency ranges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Lower frequency = higher MPE (body absorbs less)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Duty cycle reduces average exposure: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50% duty cycle = half the average exposure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Pulsed modes (SSB, WSPR) have lower duty cycle than CW or FM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Controlled environment: amateur operators who know about RF and take precautions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Uncontrolled environment: general public, neighbors — STRICTER MPE limits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Your neighbors are in an uncontrolled environment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You must meet the stricter limit at their location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EIRP-based evaluation: use actual transmitter power + antenna gain - losses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E8-E0 · Signals &amp; Safety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Hazardous Materials and Grounding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Lead solder: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Toxic if ingested — wash hands after soldering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Use fume extraction or solder outdoors — don't breathe solder fumes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Beryllium oxide (BeO):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Found in some old RF power transistors and magnetrons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Appears as white ceramic inside some transistors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EXTREMELY toxic as dust — DO NOT sand, grind, or break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If you find old transistors with white ceramic insulator — handle with extreme care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CRT high voltage: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Capacitors retain lethal charge even when unplugged — discharge before working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Single-point station ground: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All equipment grounds meet at one point — prevents ground loops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Lightning protection: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Surge protectors on all coax and control lines at the single-point ground panel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Disconnect antennas during lightning — no protector is perfect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E8-E0 · Signals &amp; Safety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Key Numbers — Module 6</a:t>
            </a:r>
            <a:endParaRPr lang="en-US" sz="2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RMS voltage (sine wave)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Vrms = 0.707 × Vpeak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PEP measurement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At highest amplitude point; (Vrms)²/Z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FM modulation index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Peak deviation / modulating frequency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Deviation ratio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Max deviation / max modulating frequency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Carson's rule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BW = 2×(deviation + max audio freq)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OFDM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Many narrow subcarriers; each QAM or QPSK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FEC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Error correction without retransmission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ARQ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Requests retransmission on error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Baud rate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Symbols per second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QPSK bits per symbol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2 bits per symbol (4 phase states)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QAM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Varies both amplitude and phase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Key clicks caused by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Rise/fall time too fast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Chirp caused by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Power supply pulling VFO on keying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DSSS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Pseudo-random code spreads signal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FHSS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Pseudo-random frequency hopping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SS authorized above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222 MHz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Controlled environment MPE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Amateur operators (aware of RF)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Uncontrolled environment MPE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General public; stricter limits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BeO hazard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Extremely toxic dust; never grind or break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Single-point ground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All station grounds at one point; prevents loops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E8-E0 · Signals &amp; Safety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1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is the RMS voltage of a 200V peak sine wave?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200 V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141.4 V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100 V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282.8 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B — Vrms = 0.707 × 200 = 141.4V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2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is the FM modulation index with 6 kHz deviation and 2 kHz audio?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12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3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0.33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B — Index = deviation/audio freq = 6000/2000 = 3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3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Using Carson's rule, what is the bandwidth with 5 kHz deviation and 3 kHz audio?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8 kHz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10 kHz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16 kHz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6 kHz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C — BW = 2×(5+3) = 16 kHz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4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do constellation diagrams display?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Antenna radiation patterns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Phase and amplitude states of a digital signal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Frequency vs. time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Modulation index vs. audio frequency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B — I vs Q plot showing all possible signal states (amplitude + phase)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5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is the bit rate of a 1200-baud QPSK signal?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1200 bps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600 bps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2400 bps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4800 bps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C — QPSK: 2 bits/symbol; 1200 baud × 2 = 2400 bps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6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causes key clicks in CW transmission?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Excessive power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Oscillator chirp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Rise/fall time too fast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Antenna mismatch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C — Key clicks: keying rise/fall time too fast → wide sidebands that splatter across the band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7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is a primary advantage of spread spectrum?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Narrower bandwidth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Lower power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Resistance to interference and jamming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Better audio quality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C — Spreading signal across wide bandwidth makes it resistant to narrowband interference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8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FEC allows the receiver to do what that ARQ cannot?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Increase data rate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Detect and correct errors without requesting retransmission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Compress the signal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Synchronize clock automatically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B — FEC corrects errors without asking for a retransmit; ARQ must request retransmission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9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material in some old RF transistors requires extreme caution to avoid creating dust?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Lead solder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Silicon dioxide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Beryllium oxide (BeO)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Tin plating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C — BeO dust is extremely toxic; never sand, grind, or break components containing it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10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Your neighbors live near your antenna. Which MPE environment applies at their location?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Controlled — they're near an amateur station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Uncontrolled — general public, stricter limits apply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No limits apply to neighboring properties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Controlled if they have been notified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B — Uncontrolled environment (general public) stricter MPE limits apply at all neighboring locations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Before Module 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2"/>
                </a:solidFill>
              </a:rPr>
              <a:t>Your assignment: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Drill HamStudy E8A-E8D and E0A to 80%+ confidence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Practice Carson's rule and the RMS voltage formula — both appear directly on the exam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E0A safety: know BeO hazard, duty cycle effect on MPE, controlled vs uncontrolled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2"/>
                </a:solidFill>
              </a:rPr>
              <a:t>Coming up: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CBB"/>
                </a:solidFill>
              </a:rPr>
              <a:t>Module 7: Antennas and Transmission Lines — the final module. Real antenna math, Smith chart, transmission line theory. 8 questions tied with E7. Come with Module 3 math fresh.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2026-09-19T04:03:24Z</dcterms:created>
  <dcterms:modified xsi:type="dcterms:W3CDTF">2026-09-19T04:03:24Z</dcterms:modified>
</cp:coreProperties>
</file>