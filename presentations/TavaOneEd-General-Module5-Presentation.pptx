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5 covers G9 (Antennas and Feed Lines, 4 Qs) and G0 (Electrical and RF Safety, 2 Qs) = 6 of 35 exam questions = 17%. This is the last content module before the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G9A covers feed lines and SWR. G9B covers basic HF antennas. G9C covers directional antennas.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SWR fundamentals are heavily tested in G9. Key misconceptions to address: antenna tuner does NOT fix the SWR on the feed line — it makes the radio happy while potentially sending high SWR signal down a lossy feed line. Also: feed line loss makes SWR APPEAR better at the radio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 line comparison is tested. Know which coax is which loss level. Ladder line is important to know: it has very low loss even at high SWR, which is why it's used with doublet antennas on multiple bands through an ATU. Velocity factor appears in matching section calculations.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Quarter-wave matching is tested in G9. The formula Z = √(Z₁ × Z₂) must be memorized. Physical length = (246/f) × VF for quarter wave. EFHW antennas are very popular in portable/POTA operation and the 49:1 ratio is a specific testable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dipole formula 468/f is frequently tested. Know it. EFHW and why it works on multiple bands (fundamental + harmonics) is also tested. The direction of radiation from a dipole (broadside to the wire) is a physical concept worth mentioning.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Yagi element roles are tested: directors shorter, in front; reflector longer, behind. The dBd vs. dBi distinction is also tested. dBi = dBd + 2.15.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ATU misconception is a very common exam question: ATU does NOT improve the antenna, does NOT reduce feed line SWR, does NOT make a bad antenna better. It only makes the radio happy. Students frequently think the ATU is magic. Make sure they know it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G0 covers RF exposure (MPE, duty cycle, evaluation requirements) and electrical safety. 2 exam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G0A is only 2 exam questions but they're well-defined. Duty cycle is the most commonly tested concept: FM = 100%, SSB ≈ 20%, CW ≈ 40%. The lower duty cycle of SSB means your time-averaged exposure is less than FM at the same power level. This is why SSB at 100W is often below MPE thresholds that FM would trigger.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 asks about when evaluation is required and how to reduce exposure. The key variables in the calculation are transmitter power, antenna gain, frequency, duty cycle, and distance. Distance is the most effective variable to change — power drops as the square of the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G0B electrical safety questions focus on specific facts: capacitor discharge hazard, bleeder resistors, grounding types, lightning protection. The most important safety rule for lightning: disconnect the antennas. This is tested and the correct answer is always disconnect, not "use a surge protector."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√(50 × 200) = √10000 = 100 ohms. The quarter-wave matching section formula is Z = √(Z₁ × Z₂). This gives the characteristic impedance of the matching section needed. 100-ohm coax can be made by paralleling two 50-ohm lines or using specific commercial coax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The ATU matches the radio's 50-ohm output to whatever the feed line+antenna presents. It does NOT fix SWR on the feed line past the tuner, does NOT improve antenna efficiency, and does NOT protect the antenna. It protects the TRANSCEIVER finals from an impedance mismatch.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Directors are SHORTER than the driven element and placed IN FRONT (toward the direction you want to transmit/receive). The reflector is LONGER and placed BEHIND. Memory aid: director "directs" the signal forward; reflector "reflects" it back into the driven element from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SSB ≈ 20% duty cycle because the carrier is only present during voice peaks, not continuously. FM = 100% (always full carrier). CW ≈ 40% (key down about 40% of a typical transmission). This matters for RF exposure calculations: at the same average power, SSB's time-averaged exposure is much less than FM.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Bleeder resistor: connected across the filter capacitors; provides a discharge path when power is removed. Without it, caps can hold lethal voltage for minutes or hours after shutdown. The bleeder slowly drains them to a safe level. Secondary benefit: improves voltage regulation under light 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G9 has 4 exam questions (most in this module) and G0 has 2. Highest priority: SWR facts (2:1 = 11% reflected), antenna tuner limitations, dipole formula (468/f), Yagi elements (directors in front, shorter), duty cycle for exposure (SSB ≈ 20%), bleeder resistors. NEXT SESSION IS CAPSTONE — full practice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0B981"/>
          </a:solidFill>
          <a:ln/>
        </p:spPr>
      </p:sp>
      <p:sp>
        <p:nvSpPr>
          <p:cNvPr id="3" name="Text 1"/>
          <p:cNvSpPr/>
          <p:nvPr/>
        </p:nvSpPr>
        <p:spPr>
          <a:xfrm>
            <a:off x="457200" y="457200"/>
            <a:ext cx="8229600" cy="274320"/>
          </a:xfrm>
          <a:prstGeom prst="rect">
            <a:avLst/>
          </a:prstGeom>
          <a:noFill/>
          <a:ln/>
        </p:spPr>
        <p:txBody>
          <a:bodyPr wrap="square" rtlCol="0" anchor="ctr"/>
          <a:lstStyle/>
          <a:p>
            <a:pPr indent="0" marL="0">
              <a:buNone/>
            </a:pPr>
            <a:r>
              <a:rPr lang="en-US" sz="900" b="1" spc="200" kern="0" dirty="0">
                <a:solidFill>
                  <a:srgbClr val="6EE7B7"/>
                </a:solidFill>
                <a:latin typeface="Calibri" pitchFamily="34" charset="0"/>
                <a:ea typeface="Calibri" pitchFamily="34" charset="-122"/>
                <a:cs typeface="Calibri" pitchFamily="34" charset="-120"/>
              </a:rPr>
              <a:t>TavaOne Education</a:t>
            </a:r>
            <a:endParaRPr lang="en-US" sz="900" dirty="0"/>
          </a:p>
        </p:txBody>
      </p:sp>
      <p:sp>
        <p:nvSpPr>
          <p:cNvPr id="4" name="Text 2"/>
          <p:cNvSpPr/>
          <p:nvPr/>
        </p:nvSpPr>
        <p:spPr>
          <a:xfrm>
            <a:off x="457200" y="777240"/>
            <a:ext cx="8229600" cy="22860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General License Course · 2023–2027 Pool</a:t>
            </a:r>
            <a:endParaRPr lang="en-US" sz="1000" dirty="0"/>
          </a:p>
        </p:txBody>
      </p:sp>
      <p:sp>
        <p:nvSpPr>
          <p:cNvPr id="5" name="Text 3"/>
          <p:cNvSpPr/>
          <p:nvPr/>
        </p:nvSpPr>
        <p:spPr>
          <a:xfrm>
            <a:off x="457200" y="1828800"/>
            <a:ext cx="7772400" cy="201168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Module 5</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Antennas, Feed Lines</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&amp; Safety</a:t>
            </a:r>
            <a:endParaRPr lang="en-US" sz="3600" dirty="0"/>
          </a:p>
        </p:txBody>
      </p:sp>
      <p:sp>
        <p:nvSpPr>
          <p:cNvPr id="6" name="Text 4"/>
          <p:cNvSpPr/>
          <p:nvPr/>
        </p:nvSpPr>
        <p:spPr>
          <a:xfrm>
            <a:off x="457200" y="3931920"/>
            <a:ext cx="7772400" cy="457200"/>
          </a:xfrm>
          <a:prstGeom prst="rect">
            <a:avLst/>
          </a:prstGeom>
          <a:noFill/>
          <a:ln/>
        </p:spPr>
        <p:txBody>
          <a:bodyPr wrap="square" rtlCol="0" anchor="ctr"/>
          <a:lstStyle/>
          <a:p>
            <a:pPr indent="0" marL="0">
              <a:buNone/>
            </a:pPr>
            <a:r>
              <a:rPr lang="en-US" sz="1600" dirty="0">
                <a:solidFill>
                  <a:srgbClr val="6EE7B7"/>
                </a:solidFill>
                <a:latin typeface="Calibri" pitchFamily="34" charset="0"/>
                <a:ea typeface="Calibri" pitchFamily="34" charset="-122"/>
                <a:cs typeface="Calibri" pitchFamily="34" charset="-120"/>
              </a:rPr>
              <a:t>General License Course · G9 + G0 · 6 Exam Questions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10B981"/>
          </a:solidFill>
          <a:ln/>
        </p:spPr>
      </p:sp>
      <p:sp>
        <p:nvSpPr>
          <p:cNvPr id="3" name="Text 1"/>
          <p:cNvSpPr/>
          <p:nvPr/>
        </p:nvSpPr>
        <p:spPr>
          <a:xfrm>
            <a:off x="457200" y="2286000"/>
            <a:ext cx="8229600" cy="10972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Hour 1</a:t>
            </a:r>
            <a:endParaRPr lang="en-US" sz="3000" dirty="0"/>
          </a:p>
        </p:txBody>
      </p:sp>
      <p:sp>
        <p:nvSpPr>
          <p:cNvPr id="4" name="Text 2"/>
          <p:cNvSpPr/>
          <p:nvPr/>
        </p:nvSpPr>
        <p:spPr>
          <a:xfrm>
            <a:off x="457200" y="3474720"/>
            <a:ext cx="8229600" cy="457200"/>
          </a:xfrm>
          <a:prstGeom prst="rect">
            <a:avLst/>
          </a:prstGeom>
          <a:noFill/>
          <a:ln/>
        </p:spPr>
        <p:txBody>
          <a:bodyPr wrap="square" rtlCol="0" anchor="ctr"/>
          <a:lstStyle/>
          <a:p>
            <a:pPr indent="0" marL="0">
              <a:buNone/>
            </a:pPr>
            <a:r>
              <a:rPr lang="en-US" sz="1400" dirty="0">
                <a:solidFill>
                  <a:srgbClr val="6EE7B7"/>
                </a:solidFill>
                <a:latin typeface="Calibri" pitchFamily="34" charset="0"/>
                <a:ea typeface="Calibri" pitchFamily="34" charset="-122"/>
                <a:cs typeface="Calibri" pitchFamily="34" charset="-120"/>
              </a:rPr>
              <a:t>HF Antennas and Feed Lines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p:spPr>
      </p:sp>
      <p:sp>
        <p:nvSpPr>
          <p:cNvPr id="3" name="Text 1"/>
          <p:cNvSpPr/>
          <p:nvPr/>
        </p:nvSpPr>
        <p:spPr>
          <a:xfrm>
            <a:off x="457200" y="137160"/>
            <a:ext cx="8229600" cy="502920"/>
          </a:xfrm>
          <a:prstGeom prst="rect">
            <a:avLst/>
          </a:prstGeom>
          <a:noFill/>
          <a:ln/>
        </p:spPr>
        <p:txBody>
          <a:bodyPr wrap="square"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G9A — SWR and Feed Lines</a:t>
            </a:r>
            <a:endParaRPr lang="en-US" sz="2000" dirty="0"/>
          </a:p>
        </p:txBody>
      </p:sp>
      <p:sp>
        <p:nvSpPr>
          <p:cNvPr id="4" name="Shape 2"/>
          <p:cNvSpPr/>
          <p:nvPr/>
        </p:nvSpPr>
        <p:spPr>
          <a:xfrm>
            <a:off x="457200" y="658368"/>
            <a:ext cx="8046720" cy="0"/>
          </a:xfrm>
          <a:prstGeom prst="line">
            <a:avLst/>
          </a:prstGeom>
          <a:noFill/>
          <a:ln w="19050">
            <a:solidFill>
              <a:srgbClr val="6EE7B7"/>
            </a:solidFill>
            <a:prstDash val="solid"/>
          </a:ln>
        </p:spPr>
      </p:sp>
      <p:sp>
        <p:nvSpPr>
          <p:cNvPr id="5" name="Text 3"/>
          <p:cNvSpPr/>
          <p:nvPr/>
        </p:nvSpPr>
        <p:spPr>
          <a:xfrm>
            <a:off x="457200" y="822960"/>
            <a:ext cx="8229600" cy="5303520"/>
          </a:xfrm>
          <a:prstGeom prst="rect">
            <a:avLst/>
          </a:prstGeom>
          <a:noFill/>
          <a:ln/>
        </p:spPr>
        <p:txBody>
          <a:bodyPr wrap="square" rtlCol="0" anchor="t"/>
          <a:lstStyle/>
          <a:p>
            <a:pPr>
              <a:spcAft>
                <a:spcPts val="400"/>
              </a:spcAft>
            </a:pPr>
            <a:r>
              <a:rPr lang="en-US" sz="1300" dirty="0">
                <a:solidFill>
                  <a:srgbClr val="334155"/>
                </a:solidFill>
                <a:latin typeface="Calibri" pitchFamily="34" charset="0"/>
                <a:ea typeface="Calibri" pitchFamily="34" charset="-122"/>
                <a:cs typeface="Calibri" pitchFamily="34" charset="-120"/>
              </a:rPr>
              <a:t>SWR (Standing Wave Ratio): measure of impedance mismatch between the feed line and the antenna</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1:1 SWR = perfect match; all power gets to the antenna. This is the ideal.</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At 2:1 SWR: ~11% of power is reflected back; about 89% reaches the antenna — acceptable</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At 3:1 SWR: ~25% reflected; most transceivers fold back power above 3:1 to protect their finals</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High SWR causes: impedance mismatch, damaged/wet connector, antenna not resonant, wrong feed point</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SWR at the transmitter ≠ SWR at the antenna: feed line loss absorbs some of the reflected power → makes SWR look better at the radio end (but you're still losing power to heat)</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Dummy load (50 ohms): produces 1:1 SWR — use for testing without transmitting into the air</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Antenna tuner (ATU): matches the radio output to the feed line; SWR at the radio becomes 1:1; SWR on the feed line between tuner and antenna is unchanged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p:spPr>
      </p:sp>
      <p:sp>
        <p:nvSpPr>
          <p:cNvPr id="3" name="Text 1"/>
          <p:cNvSpPr/>
          <p:nvPr/>
        </p:nvSpPr>
        <p:spPr>
          <a:xfrm>
            <a:off x="457200" y="137160"/>
            <a:ext cx="8229600" cy="502920"/>
          </a:xfrm>
          <a:prstGeom prst="rect">
            <a:avLst/>
          </a:prstGeom>
          <a:noFill/>
          <a:ln/>
        </p:spPr>
        <p:txBody>
          <a:bodyPr wrap="square"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G9A — Feed Line Comparison</a:t>
            </a:r>
            <a:endParaRPr lang="en-US" sz="2000" dirty="0"/>
          </a:p>
        </p:txBody>
      </p:sp>
      <p:sp>
        <p:nvSpPr>
          <p:cNvPr id="4" name="Shape 2"/>
          <p:cNvSpPr/>
          <p:nvPr/>
        </p:nvSpPr>
        <p:spPr>
          <a:xfrm>
            <a:off x="457200" y="658368"/>
            <a:ext cx="8046720" cy="0"/>
          </a:xfrm>
          <a:prstGeom prst="line">
            <a:avLst/>
          </a:prstGeom>
          <a:noFill/>
          <a:ln w="19050">
            <a:solidFill>
              <a:srgbClr val="6EE7B7"/>
            </a:solidFill>
            <a:prstDash val="solid"/>
          </a:ln>
        </p:spPr>
      </p:sp>
      <p:sp>
        <p:nvSpPr>
          <p:cNvPr id="5" name="Text 3"/>
          <p:cNvSpPr/>
          <p:nvPr/>
        </p:nvSpPr>
        <p:spPr>
          <a:xfrm>
            <a:off x="457200" y="822960"/>
            <a:ext cx="8229600" cy="5303520"/>
          </a:xfrm>
          <a:prstGeom prst="rect">
            <a:avLst/>
          </a:prstGeom>
          <a:noFill/>
          <a:ln/>
        </p:spPr>
        <p:txBody>
          <a:bodyPr wrap="square" rtlCol="0" anchor="t"/>
          <a:lstStyle/>
          <a:p>
            <a:pPr>
              <a:spcAft>
                <a:spcPts val="400"/>
              </a:spcAft>
            </a:pPr>
            <a:r>
              <a:rPr lang="en-US" sz="1300" dirty="0">
                <a:solidFill>
                  <a:srgbClr val="334155"/>
                </a:solidFill>
                <a:latin typeface="Calibri" pitchFamily="34" charset="0"/>
                <a:ea typeface="Calibri" pitchFamily="34" charset="-122"/>
                <a:cs typeface="Calibri" pitchFamily="34" charset="-120"/>
              </a:rPr>
              <a:t>RG-58: small diameter coax; high loss (~3 dB/100 ft at 30 MHz); fine for short portable runs, not base station HF</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RG-213: standard 50-ohm coax; moderate loss (~1.5 dB/100 ft at 30 MHz); good for most base station use</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LMR-400: low-loss coax; ~0.7 dB/100 ft at 30 MHz; use for long runs or high frequencies</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LMR-600/LMR-1200: even lower loss; used for VHF/UHF long runs and contest stations</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450-ohm open-wire (ladder line): very low loss (&lt;0.1 dB/100 ft); balanced; needs balanced tuner input; can work with high SWR without excessive loss</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Velocity factor: how fast the signal travels relative to speed of light in free space</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RG-58 VF ≈ 0.66; RG-213 VF ≈ 0.66; LMR-400 VF ≈ 0.85; 450-ohm ladder line VF ≈ 0.91</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Electrical length = physical length × velocity factor; matters for phased arrays and matching stubs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p:spPr>
      </p:sp>
      <p:sp>
        <p:nvSpPr>
          <p:cNvPr id="3" name="Text 1"/>
          <p:cNvSpPr/>
          <p:nvPr/>
        </p:nvSpPr>
        <p:spPr>
          <a:xfrm>
            <a:off x="457200" y="137160"/>
            <a:ext cx="8229600" cy="502920"/>
          </a:xfrm>
          <a:prstGeom prst="rect">
            <a:avLst/>
          </a:prstGeom>
          <a:noFill/>
          <a:ln/>
        </p:spPr>
        <p:txBody>
          <a:bodyPr wrap="square"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G9A — Quarter-Wave Matching Section</a:t>
            </a:r>
            <a:endParaRPr lang="en-US" sz="2000" dirty="0"/>
          </a:p>
        </p:txBody>
      </p:sp>
      <p:sp>
        <p:nvSpPr>
          <p:cNvPr id="4" name="Shape 2"/>
          <p:cNvSpPr/>
          <p:nvPr/>
        </p:nvSpPr>
        <p:spPr>
          <a:xfrm>
            <a:off x="457200" y="658368"/>
            <a:ext cx="8046720" cy="0"/>
          </a:xfrm>
          <a:prstGeom prst="line">
            <a:avLst/>
          </a:prstGeom>
          <a:noFill/>
          <a:ln w="19050">
            <a:solidFill>
              <a:srgbClr val="6EE7B7"/>
            </a:solidFill>
            <a:prstDash val="solid"/>
          </a:ln>
        </p:spPr>
      </p:sp>
      <p:sp>
        <p:nvSpPr>
          <p:cNvPr id="5" name="Text 3"/>
          <p:cNvSpPr/>
          <p:nvPr/>
        </p:nvSpPr>
        <p:spPr>
          <a:xfrm>
            <a:off x="457200" y="822960"/>
            <a:ext cx="8229600" cy="5303520"/>
          </a:xfrm>
          <a:prstGeom prst="rect">
            <a:avLst/>
          </a:prstGeom>
          <a:noFill/>
          <a:ln/>
        </p:spPr>
        <p:txBody>
          <a:bodyPr wrap="square" rtlCol="0" anchor="t"/>
          <a:lstStyle/>
          <a:p>
            <a:pPr>
              <a:spcAft>
                <a:spcPts val="400"/>
              </a:spcAft>
            </a:pPr>
            <a:r>
              <a:rPr lang="en-US" sz="1300" dirty="0">
                <a:solidFill>
                  <a:srgbClr val="334155"/>
                </a:solidFill>
                <a:latin typeface="Calibri" pitchFamily="34" charset="0"/>
                <a:ea typeface="Calibri" pitchFamily="34" charset="-122"/>
                <a:cs typeface="Calibri" pitchFamily="34" charset="-120"/>
              </a:rPr>
              <a:t>Quarter-wave transformer: a section of transmission line exactly ¼ wavelength long</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It transforms impedance: Z_match = √(Z₁ × Z₂)</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Example: to match 50Ω coax to a 200Ω antenna — use a ¼-wave section of 100Ω line</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Because: Z = √(50 × 200) = √10000 = 100Ω</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Physical length of ¼-wave section = (246/f in MHz) × velocity factor</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For a 14 MHz signal in 50Ω coax (VF=0.66): 246/14 × 0.66 ≈ 11.6 feet</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Half-wave section: transforms impedance exactly the same as if not there; useful for putting the match point at a convenient location</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End-fed half-wave (EFHW) transformer: 49:1 or 64:1 unun; transforms ~2450Ω antenna impedance to ~50Ω; works on multiple bands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p:spPr>
      </p:sp>
      <p:sp>
        <p:nvSpPr>
          <p:cNvPr id="3" name="Text 1"/>
          <p:cNvSpPr/>
          <p:nvPr/>
        </p:nvSpPr>
        <p:spPr>
          <a:xfrm>
            <a:off x="457200" y="137160"/>
            <a:ext cx="8229600" cy="502920"/>
          </a:xfrm>
          <a:prstGeom prst="rect">
            <a:avLst/>
          </a:prstGeom>
          <a:noFill/>
          <a:ln/>
        </p:spPr>
        <p:txBody>
          <a:bodyPr wrap="square"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G9B — HF Antenna Fundamentals</a:t>
            </a:r>
            <a:endParaRPr lang="en-US" sz="2000" dirty="0"/>
          </a:p>
        </p:txBody>
      </p:sp>
      <p:sp>
        <p:nvSpPr>
          <p:cNvPr id="4" name="Shape 2"/>
          <p:cNvSpPr/>
          <p:nvPr/>
        </p:nvSpPr>
        <p:spPr>
          <a:xfrm>
            <a:off x="457200" y="658368"/>
            <a:ext cx="8046720" cy="0"/>
          </a:xfrm>
          <a:prstGeom prst="line">
            <a:avLst/>
          </a:prstGeom>
          <a:noFill/>
          <a:ln w="19050">
            <a:solidFill>
              <a:srgbClr val="6EE7B7"/>
            </a:solidFill>
            <a:prstDash val="solid"/>
          </a:ln>
        </p:spPr>
      </p:sp>
      <p:sp>
        <p:nvSpPr>
          <p:cNvPr id="5" name="Text 3"/>
          <p:cNvSpPr/>
          <p:nvPr/>
        </p:nvSpPr>
        <p:spPr>
          <a:xfrm>
            <a:off x="457200" y="822960"/>
            <a:ext cx="8229600" cy="5303520"/>
          </a:xfrm>
          <a:prstGeom prst="rect">
            <a:avLst/>
          </a:prstGeom>
          <a:noFill/>
          <a:ln/>
        </p:spPr>
        <p:txBody>
          <a:bodyPr wrap="square" rtlCol="0" anchor="t"/>
          <a:lstStyle/>
          <a:p>
            <a:pPr>
              <a:spcAft>
                <a:spcPts val="400"/>
              </a:spcAft>
            </a:pPr>
            <a:r>
              <a:rPr lang="en-US" sz="1300" dirty="0">
                <a:solidFill>
                  <a:srgbClr val="334155"/>
                </a:solidFill>
                <a:latin typeface="Calibri" pitchFamily="34" charset="0"/>
                <a:ea typeface="Calibri" pitchFamily="34" charset="-122"/>
                <a:cs typeface="Calibri" pitchFamily="34" charset="-120"/>
              </a:rPr>
              <a:t>Half-wave dipole: simplest antenna; resonant; fed at center; length = 468/f(MHz) feet total</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Example: 20m dipole at 14.225 MHz = 468/14.225 = 32.9 ft total (16.45 ft per side)</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Height matters: higher dipole → lower takeoff angle → better DX; lower → higher angle → regional</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Flat-top dipole feeds at ~70Ω (varies with height); matched reasonably well with 50Ω coax + choke balun</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Inverted-V: apex up, ends down at 45°; feedpoint impedance lowers (~50Ω often); omnidirectional horizontally</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EFHW (End-Fed Half-Wave): very popular for portable; 49:1 unun at feedpoint; single conductor runs to tree</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EFHW works on fundamental + harmonics: 40m half-wave also resonates on 20m and 10m (even harmonics)</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Fan dipole: multiple dipoles fed at the same point; each resonates on its own band; no traps needed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p:spPr>
      </p:sp>
      <p:sp>
        <p:nvSpPr>
          <p:cNvPr id="3" name="Text 1"/>
          <p:cNvSpPr/>
          <p:nvPr/>
        </p:nvSpPr>
        <p:spPr>
          <a:xfrm>
            <a:off x="457200" y="137160"/>
            <a:ext cx="8229600" cy="502920"/>
          </a:xfrm>
          <a:prstGeom prst="rect">
            <a:avLst/>
          </a:prstGeom>
          <a:noFill/>
          <a:ln/>
        </p:spPr>
        <p:txBody>
          <a:bodyPr wrap="square"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G9C — Directional Antennas</a:t>
            </a:r>
            <a:endParaRPr lang="en-US" sz="2000" dirty="0"/>
          </a:p>
        </p:txBody>
      </p:sp>
      <p:sp>
        <p:nvSpPr>
          <p:cNvPr id="4" name="Shape 2"/>
          <p:cNvSpPr/>
          <p:nvPr/>
        </p:nvSpPr>
        <p:spPr>
          <a:xfrm>
            <a:off x="457200" y="658368"/>
            <a:ext cx="8046720" cy="0"/>
          </a:xfrm>
          <a:prstGeom prst="line">
            <a:avLst/>
          </a:prstGeom>
          <a:noFill/>
          <a:ln w="19050">
            <a:solidFill>
              <a:srgbClr val="6EE7B7"/>
            </a:solidFill>
            <a:prstDash val="solid"/>
          </a:ln>
        </p:spPr>
      </p:sp>
      <p:sp>
        <p:nvSpPr>
          <p:cNvPr id="5" name="Text 3"/>
          <p:cNvSpPr/>
          <p:nvPr/>
        </p:nvSpPr>
        <p:spPr>
          <a:xfrm>
            <a:off x="457200" y="822960"/>
            <a:ext cx="3931920" cy="320040"/>
          </a:xfrm>
          <a:prstGeom prst="rect">
            <a:avLst/>
          </a:prstGeom>
          <a:noFill/>
          <a:ln/>
        </p:spPr>
        <p:txBody>
          <a:bodyPr wrap="square" rtlCol="0" anchor="ctr"/>
          <a:lstStyle/>
          <a:p>
            <a:pPr indent="0" marL="0">
              <a:buNone/>
            </a:pPr>
            <a:r>
              <a:rPr lang="en-US" sz="1300" b="1" dirty="0">
                <a:solidFill>
                  <a:srgbClr val="065F46"/>
                </a:solidFill>
                <a:latin typeface="Calibri" pitchFamily="34" charset="0"/>
                <a:ea typeface="Calibri" pitchFamily="34" charset="-122"/>
                <a:cs typeface="Calibri" pitchFamily="34" charset="-120"/>
              </a:rPr>
              <a:t>Yagi Antenna</a:t>
            </a:r>
            <a:endParaRPr lang="en-US" sz="1300" dirty="0"/>
          </a:p>
        </p:txBody>
      </p:sp>
      <p:sp>
        <p:nvSpPr>
          <p:cNvPr id="6" name="Text 4"/>
          <p:cNvSpPr/>
          <p:nvPr/>
        </p:nvSpPr>
        <p:spPr>
          <a:xfrm>
            <a:off x="457200" y="1188720"/>
            <a:ext cx="3931920" cy="5029200"/>
          </a:xfrm>
          <a:prstGeom prst="rect">
            <a:avLst/>
          </a:prstGeom>
          <a:noFill/>
          <a:ln/>
        </p:spPr>
        <p:txBody>
          <a:bodyPr wrap="square" rtlCol="0" anchor="t"/>
          <a:lstStyle/>
          <a:p>
            <a:pPr>
              <a:spcAft>
                <a:spcPts val="400"/>
              </a:spcAft>
            </a:pPr>
            <a:r>
              <a:rPr lang="en-US" sz="1200" dirty="0">
                <a:solidFill>
                  <a:srgbClr val="334155"/>
                </a:solidFill>
                <a:latin typeface="Calibri" pitchFamily="34" charset="0"/>
                <a:ea typeface="Calibri" pitchFamily="34" charset="-122"/>
                <a:cs typeface="Calibri" pitchFamily="34" charset="-120"/>
              </a:rPr>
              <a:t>Driven element: fed directly from the coax; ½-wave dipole</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Directors: shorter than driven element; placed in front (toward desired direction); one or more</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Reflector: longer than driven element; placed behind; only one</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More elements = more gain and narrower beamwidth</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Gain in dBd (over dipole): 3-el Yagi ≈ 5 dBd; 5-el ≈ 8 dBd</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dBi = dBd + 2.15 (isotropic reference = 2.15 dB below dipole)</a:t>
            </a:r>
            <a:endParaRPr lang="en-US" sz="1200" dirty="0"/>
          </a:p>
        </p:txBody>
      </p:sp>
      <p:sp>
        <p:nvSpPr>
          <p:cNvPr id="7" name="Shape 5"/>
          <p:cNvSpPr/>
          <p:nvPr/>
        </p:nvSpPr>
        <p:spPr>
          <a:xfrm>
            <a:off x="4572000" y="822960"/>
            <a:ext cx="0" cy="5394960"/>
          </a:xfrm>
          <a:prstGeom prst="line">
            <a:avLst/>
          </a:prstGeom>
          <a:noFill/>
          <a:ln w="6350">
            <a:solidFill>
              <a:srgbClr val="94A3B8"/>
            </a:solidFill>
            <a:prstDash val="solid"/>
          </a:ln>
        </p:spPr>
      </p:sp>
      <p:sp>
        <p:nvSpPr>
          <p:cNvPr id="8" name="Text 6"/>
          <p:cNvSpPr/>
          <p:nvPr/>
        </p:nvSpPr>
        <p:spPr>
          <a:xfrm>
            <a:off x="4754880" y="822960"/>
            <a:ext cx="3931920" cy="320040"/>
          </a:xfrm>
          <a:prstGeom prst="rect">
            <a:avLst/>
          </a:prstGeom>
          <a:noFill/>
          <a:ln/>
        </p:spPr>
        <p:txBody>
          <a:bodyPr wrap="square" rtlCol="0" anchor="ctr"/>
          <a:lstStyle/>
          <a:p>
            <a:pPr indent="0" marL="0">
              <a:buNone/>
            </a:pPr>
            <a:r>
              <a:rPr lang="en-US" sz="1300" b="1" dirty="0">
                <a:solidFill>
                  <a:srgbClr val="065F46"/>
                </a:solidFill>
                <a:latin typeface="Calibri" pitchFamily="34" charset="0"/>
                <a:ea typeface="Calibri" pitchFamily="34" charset="-122"/>
                <a:cs typeface="Calibri" pitchFamily="34" charset="-120"/>
              </a:rPr>
              <a:t>Baluns for Antennas</a:t>
            </a:r>
            <a:endParaRPr lang="en-US" sz="1300" dirty="0"/>
          </a:p>
        </p:txBody>
      </p:sp>
      <p:sp>
        <p:nvSpPr>
          <p:cNvPr id="9" name="Text 7"/>
          <p:cNvSpPr/>
          <p:nvPr/>
        </p:nvSpPr>
        <p:spPr>
          <a:xfrm>
            <a:off x="4754880" y="1188720"/>
            <a:ext cx="3931920" cy="5029200"/>
          </a:xfrm>
          <a:prstGeom prst="rect">
            <a:avLst/>
          </a:prstGeom>
          <a:noFill/>
          <a:ln/>
        </p:spPr>
        <p:txBody>
          <a:bodyPr wrap="square" rtlCol="0" anchor="t"/>
          <a:lstStyle/>
          <a:p>
            <a:pPr>
              <a:spcAft>
                <a:spcPts val="400"/>
              </a:spcAft>
            </a:pPr>
            <a:r>
              <a:rPr lang="en-US" sz="1200" dirty="0">
                <a:solidFill>
                  <a:srgbClr val="334155"/>
                </a:solidFill>
                <a:latin typeface="Calibri" pitchFamily="34" charset="0"/>
                <a:ea typeface="Calibri" pitchFamily="34" charset="-122"/>
                <a:cs typeface="Calibri" pitchFamily="34" charset="-120"/>
              </a:rPr>
              <a:t>1:1 choke balun: blocks common-mode current on coax shield; used at dipole and Yagi feedpoints</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Without a choke balun: RF flows on coax shield → comes into shack → causes RFI</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4:1 voltage balun: transforms 200Ω balanced (folded dipole) to 50Ω</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4:1 current balun: used with ladder line to coax transition at ATU output</a:t>
            </a:r>
            <a:endParaRPr lang="en-US" sz="1200" dirty="0"/>
          </a:p>
          <a:p>
            <a:pPr>
              <a:spcAft>
                <a:spcPts val="400"/>
              </a:spcAft>
            </a:pPr>
            <a:r>
              <a:rPr lang="en-US" sz="1200" dirty="0">
                <a:solidFill>
                  <a:srgbClr val="334155"/>
                </a:solidFill>
                <a:latin typeface="Calibri" pitchFamily="34" charset="0"/>
                <a:ea typeface="Calibri" pitchFamily="34" charset="-122"/>
                <a:cs typeface="Calibri" pitchFamily="34" charset="-120"/>
              </a:rPr>
              <a:t>Unun: unbalanced-to-unbalanced; 49:1 for EFHW; 9:1 for end-fed random wire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p:spPr>
      </p:sp>
      <p:sp>
        <p:nvSpPr>
          <p:cNvPr id="3" name="Text 1"/>
          <p:cNvSpPr/>
          <p:nvPr/>
        </p:nvSpPr>
        <p:spPr>
          <a:xfrm>
            <a:off x="457200" y="137160"/>
            <a:ext cx="8229600" cy="502920"/>
          </a:xfrm>
          <a:prstGeom prst="rect">
            <a:avLst/>
          </a:prstGeom>
          <a:noFill/>
          <a:ln/>
        </p:spPr>
        <p:txBody>
          <a:bodyPr wrap="square"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G9D — Antenna Tuners</a:t>
            </a:r>
            <a:endParaRPr lang="en-US" sz="2000" dirty="0"/>
          </a:p>
        </p:txBody>
      </p:sp>
      <p:sp>
        <p:nvSpPr>
          <p:cNvPr id="4" name="Shape 2"/>
          <p:cNvSpPr/>
          <p:nvPr/>
        </p:nvSpPr>
        <p:spPr>
          <a:xfrm>
            <a:off x="457200" y="658368"/>
            <a:ext cx="8046720" cy="0"/>
          </a:xfrm>
          <a:prstGeom prst="line">
            <a:avLst/>
          </a:prstGeom>
          <a:noFill/>
          <a:ln w="19050">
            <a:solidFill>
              <a:srgbClr val="6EE7B7"/>
            </a:solidFill>
            <a:prstDash val="solid"/>
          </a:ln>
        </p:spPr>
      </p:sp>
      <p:sp>
        <p:nvSpPr>
          <p:cNvPr id="5" name="Text 3"/>
          <p:cNvSpPr/>
          <p:nvPr/>
        </p:nvSpPr>
        <p:spPr>
          <a:xfrm>
            <a:off x="457200" y="822960"/>
            <a:ext cx="8229600" cy="5303520"/>
          </a:xfrm>
          <a:prstGeom prst="rect">
            <a:avLst/>
          </a:prstGeom>
          <a:noFill/>
          <a:ln/>
        </p:spPr>
        <p:txBody>
          <a:bodyPr wrap="square" rtlCol="0" anchor="t"/>
          <a:lstStyle/>
          <a:p>
            <a:pPr>
              <a:spcAft>
                <a:spcPts val="400"/>
              </a:spcAft>
            </a:pPr>
            <a:r>
              <a:rPr lang="en-US" sz="1300" dirty="0">
                <a:solidFill>
                  <a:srgbClr val="334155"/>
                </a:solidFill>
                <a:latin typeface="Calibri" pitchFamily="34" charset="0"/>
                <a:ea typeface="Calibri" pitchFamily="34" charset="-122"/>
                <a:cs typeface="Calibri" pitchFamily="34" charset="-120"/>
              </a:rPr>
              <a:t>Antenna tuner (ATU, transmatch): matches the transceiver output impedance to the feed line+antenna system</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What it does: presents a 50Ω match to the transceiver so the radio sends maximum power</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What it does NOT do: reduce SWR on the feed line between the tuner and antenna</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What it does NOT do: make a bad antenna better; a lossy antenna or lossy feed line stays lossy</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What it does NOT do: protect the antenna — it protects the transceiver final</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L-network: simple 2-element network; efficient; works best in specific impedance ranges</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T-network: most common in commercial tuners (MFJ, LDG, etc.); wide impedance range</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Pi-network: used in tube amplifiers; provides some harmonic filtering</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Mobile: loading coils on short HF verticals compensate for the antenna being electrically short; efficient is ~50% at best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10B981"/>
          </a:solidFill>
          <a:ln/>
        </p:spPr>
      </p:sp>
      <p:sp>
        <p:nvSpPr>
          <p:cNvPr id="3" name="Text 1"/>
          <p:cNvSpPr/>
          <p:nvPr/>
        </p:nvSpPr>
        <p:spPr>
          <a:xfrm>
            <a:off x="457200" y="2286000"/>
            <a:ext cx="8229600" cy="10972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Hour 2</a:t>
            </a:r>
            <a:endParaRPr lang="en-US" sz="3000" dirty="0"/>
          </a:p>
        </p:txBody>
      </p:sp>
      <p:sp>
        <p:nvSpPr>
          <p:cNvPr id="4" name="Text 2"/>
          <p:cNvSpPr/>
          <p:nvPr/>
        </p:nvSpPr>
        <p:spPr>
          <a:xfrm>
            <a:off x="457200" y="3474720"/>
            <a:ext cx="8229600" cy="457200"/>
          </a:xfrm>
          <a:prstGeom prst="rect">
            <a:avLst/>
          </a:prstGeom>
          <a:noFill/>
          <a:ln/>
        </p:spPr>
        <p:txBody>
          <a:bodyPr wrap="square" rtlCol="0" anchor="ctr"/>
          <a:lstStyle/>
          <a:p>
            <a:pPr indent="0" marL="0">
              <a:buNone/>
            </a:pPr>
            <a:r>
              <a:rPr lang="en-US" sz="1400" dirty="0">
                <a:solidFill>
                  <a:srgbClr val="6EE7B7"/>
                </a:solidFill>
                <a:latin typeface="Calibri" pitchFamily="34" charset="0"/>
                <a:ea typeface="Calibri" pitchFamily="34" charset="-122"/>
                <a:cs typeface="Calibri" pitchFamily="34" charset="-120"/>
              </a:rPr>
              <a:t>RF and Electrical Safety</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p:spPr>
      </p:sp>
      <p:sp>
        <p:nvSpPr>
          <p:cNvPr id="3" name="Text 1"/>
          <p:cNvSpPr/>
          <p:nvPr/>
        </p:nvSpPr>
        <p:spPr>
          <a:xfrm>
            <a:off x="457200" y="137160"/>
            <a:ext cx="8229600" cy="502920"/>
          </a:xfrm>
          <a:prstGeom prst="rect">
            <a:avLst/>
          </a:prstGeom>
          <a:noFill/>
          <a:ln/>
        </p:spPr>
        <p:txBody>
          <a:bodyPr wrap="square"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G0A — RF Safety and MPE</a:t>
            </a:r>
            <a:endParaRPr lang="en-US" sz="2000" dirty="0"/>
          </a:p>
        </p:txBody>
      </p:sp>
      <p:sp>
        <p:nvSpPr>
          <p:cNvPr id="4" name="Shape 2"/>
          <p:cNvSpPr/>
          <p:nvPr/>
        </p:nvSpPr>
        <p:spPr>
          <a:xfrm>
            <a:off x="457200" y="658368"/>
            <a:ext cx="8046720" cy="0"/>
          </a:xfrm>
          <a:prstGeom prst="line">
            <a:avLst/>
          </a:prstGeom>
          <a:noFill/>
          <a:ln w="19050">
            <a:solidFill>
              <a:srgbClr val="6EE7B7"/>
            </a:solidFill>
            <a:prstDash val="solid"/>
          </a:ln>
        </p:spPr>
      </p:sp>
      <p:sp>
        <p:nvSpPr>
          <p:cNvPr id="5" name="Text 3"/>
          <p:cNvSpPr/>
          <p:nvPr/>
        </p:nvSpPr>
        <p:spPr>
          <a:xfrm>
            <a:off x="457200" y="822960"/>
            <a:ext cx="8229600" cy="5303520"/>
          </a:xfrm>
          <a:prstGeom prst="rect">
            <a:avLst/>
          </a:prstGeom>
          <a:noFill/>
          <a:ln/>
        </p:spPr>
        <p:txBody>
          <a:bodyPr wrap="square" rtlCol="0" anchor="t"/>
          <a:lstStyle/>
          <a:p>
            <a:pPr>
              <a:spcAft>
                <a:spcPts val="400"/>
              </a:spcAft>
            </a:pPr>
            <a:r>
              <a:rPr lang="en-US" sz="1300" dirty="0">
                <a:solidFill>
                  <a:srgbClr val="334155"/>
                </a:solidFill>
                <a:latin typeface="Calibri" pitchFamily="34" charset="0"/>
                <a:ea typeface="Calibri" pitchFamily="34" charset="-122"/>
                <a:cs typeface="Calibri" pitchFamily="34" charset="-120"/>
              </a:rPr>
              <a:t>RF radiation: non-ionizing; does not break chemical bonds (unlike X-rays); can cause heating at high intensities</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MPE (Maximum Permissible Exposure): FCC-established limits for how much RF field strength humans may be exposed to</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Two environments: Controlled (operator and people who are aware of RF, like family) vs. Uncontrolled (neighbors, passersby) — different MPE limits</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Duty cycle: fraction of time transmitting during a given period; matters because RF exposure is time-averaged</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FM: 100% duty cycle (carrier is always present when transmitting)</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CW: ~40% duty cycle (key down/up, not continuous)</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SSB: ~20% duty cycle (carrier only present during voice peaks, approximately)</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FT8 and digital modes: ~100% while transmitting (continuous carrier during each 15-second burst)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p:spPr>
      </p:sp>
      <p:sp>
        <p:nvSpPr>
          <p:cNvPr id="3" name="Text 1"/>
          <p:cNvSpPr/>
          <p:nvPr/>
        </p:nvSpPr>
        <p:spPr>
          <a:xfrm>
            <a:off x="457200" y="137160"/>
            <a:ext cx="8229600" cy="502920"/>
          </a:xfrm>
          <a:prstGeom prst="rect">
            <a:avLst/>
          </a:prstGeom>
          <a:noFill/>
          <a:ln/>
        </p:spPr>
        <p:txBody>
          <a:bodyPr wrap="square"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G0A — RF Exposure Evaluation</a:t>
            </a:r>
            <a:endParaRPr lang="en-US" sz="2000" dirty="0"/>
          </a:p>
        </p:txBody>
      </p:sp>
      <p:sp>
        <p:nvSpPr>
          <p:cNvPr id="4" name="Shape 2"/>
          <p:cNvSpPr/>
          <p:nvPr/>
        </p:nvSpPr>
        <p:spPr>
          <a:xfrm>
            <a:off x="457200" y="658368"/>
            <a:ext cx="8046720" cy="0"/>
          </a:xfrm>
          <a:prstGeom prst="line">
            <a:avLst/>
          </a:prstGeom>
          <a:noFill/>
          <a:ln w="19050">
            <a:solidFill>
              <a:srgbClr val="6EE7B7"/>
            </a:solidFill>
            <a:prstDash val="solid"/>
          </a:ln>
        </p:spPr>
      </p:sp>
      <p:sp>
        <p:nvSpPr>
          <p:cNvPr id="5" name="Text 3"/>
          <p:cNvSpPr/>
          <p:nvPr/>
        </p:nvSpPr>
        <p:spPr>
          <a:xfrm>
            <a:off x="457200" y="822960"/>
            <a:ext cx="8229600" cy="5303520"/>
          </a:xfrm>
          <a:prstGeom prst="rect">
            <a:avLst/>
          </a:prstGeom>
          <a:noFill/>
          <a:ln/>
        </p:spPr>
        <p:txBody>
          <a:bodyPr wrap="square" rtlCol="0" anchor="t"/>
          <a:lstStyle/>
          <a:p>
            <a:pPr>
              <a:spcAft>
                <a:spcPts val="400"/>
              </a:spcAft>
            </a:pPr>
            <a:r>
              <a:rPr lang="en-US" sz="1300" dirty="0">
                <a:solidFill>
                  <a:srgbClr val="334155"/>
                </a:solidFill>
                <a:latin typeface="Calibri" pitchFamily="34" charset="0"/>
                <a:ea typeface="Calibri" pitchFamily="34" charset="-122"/>
                <a:cs typeface="Calibri" pitchFamily="34" charset="-120"/>
              </a:rPr>
              <a:t>When required: any station that exceeds power levels in Part 97.13(c)(1) must perform an RF exposure evaluation</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The thresholds vary by band: e.g., HF below 30 MHz: mobile stations need evaluation if &gt;50W PEP</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Evaluation methods: use FCC OET Bulletin 65 tables, online calculators (ARRL RF Safety Calculator), or math</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Variables: transmitter power, antenna gain, feed line loss, operating frequency, duty cycle, distance</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Reducing exposure: increase distance (power density drops as 1/r²), reduce power, reduce duty cycle, use directional antenna (point away from people)</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Near-field vs. far-field: within about 1 wavelength = near field; calculations differ; near field can be complex</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Practical: most 100W HF stations with base station antennas at reasonable height are fine; document the evaluation</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The FCC requires the evaluation be done — NOT that you pass some test; you evaluate and document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p:spPr>
      </p:sp>
      <p:sp>
        <p:nvSpPr>
          <p:cNvPr id="3" name="Text 1"/>
          <p:cNvSpPr/>
          <p:nvPr/>
        </p:nvSpPr>
        <p:spPr>
          <a:xfrm>
            <a:off x="457200" y="137160"/>
            <a:ext cx="8229600" cy="502920"/>
          </a:xfrm>
          <a:prstGeom prst="rect">
            <a:avLst/>
          </a:prstGeom>
          <a:noFill/>
          <a:ln/>
        </p:spPr>
        <p:txBody>
          <a:bodyPr wrap="square" rtlCol="0" anchor="ctr"/>
          <a:lstStyle/>
          <a:p>
            <a:pPr indent="0" marL="0">
              <a:buNone/>
            </a:pPr>
            <a:r>
              <a:rPr lang="en-US" sz="2000" b="1" dirty="0">
                <a:solidFill>
                  <a:srgbClr val="0F172A"/>
                </a:solidFill>
                <a:latin typeface="Calibri" pitchFamily="34" charset="0"/>
                <a:ea typeface="Calibri" pitchFamily="34" charset="-122"/>
                <a:cs typeface="Calibri" pitchFamily="34" charset="-120"/>
              </a:rPr>
              <a:t>G0B — Electrical Safety</a:t>
            </a:r>
            <a:endParaRPr lang="en-US" sz="2000" dirty="0"/>
          </a:p>
        </p:txBody>
      </p:sp>
      <p:sp>
        <p:nvSpPr>
          <p:cNvPr id="4" name="Shape 2"/>
          <p:cNvSpPr/>
          <p:nvPr/>
        </p:nvSpPr>
        <p:spPr>
          <a:xfrm>
            <a:off x="457200" y="658368"/>
            <a:ext cx="8046720" cy="0"/>
          </a:xfrm>
          <a:prstGeom prst="line">
            <a:avLst/>
          </a:prstGeom>
          <a:noFill/>
          <a:ln w="19050">
            <a:solidFill>
              <a:srgbClr val="6EE7B7"/>
            </a:solidFill>
            <a:prstDash val="solid"/>
          </a:ln>
        </p:spPr>
      </p:sp>
      <p:sp>
        <p:nvSpPr>
          <p:cNvPr id="5" name="Text 3"/>
          <p:cNvSpPr/>
          <p:nvPr/>
        </p:nvSpPr>
        <p:spPr>
          <a:xfrm>
            <a:off x="457200" y="822960"/>
            <a:ext cx="8229600" cy="5303520"/>
          </a:xfrm>
          <a:prstGeom prst="rect">
            <a:avLst/>
          </a:prstGeom>
          <a:noFill/>
          <a:ln/>
        </p:spPr>
        <p:txBody>
          <a:bodyPr wrap="square" rtlCol="0" anchor="t"/>
          <a:lstStyle/>
          <a:p>
            <a:pPr>
              <a:spcAft>
                <a:spcPts val="400"/>
              </a:spcAft>
            </a:pPr>
            <a:r>
              <a:rPr lang="en-US" sz="1300" dirty="0">
                <a:solidFill>
                  <a:srgbClr val="334155"/>
                </a:solidFill>
                <a:latin typeface="Calibri" pitchFamily="34" charset="0"/>
                <a:ea typeface="Calibri" pitchFamily="34" charset="-122"/>
                <a:cs typeface="Calibri" pitchFamily="34" charset="-120"/>
              </a:rPr>
              <a:t>Power supply filter capacitors: can hold lethal charge after power is removed; discharge before touching</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Bleeder resistor: connected across filter capacitors; drains charge when power is off; automatic safety device</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Grounding: three types in a ham station — equipment chassis ground (safety), RF ground (antenna radials), lightning protection ground</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Lightning protection: gas discharge arrestors in coax provide a path to ground for direct strikes</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Most important lightning protection: disconnect antennas and feed lines during storms — nothing else works as well</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Power wiring: fuse at the battery/power supply, as close to the source as practical; protects the wiring</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Antenna installation: never install near power lines; if antenna falls, minimum clearance = 1 wire length</a:t>
            </a:r>
            <a:endParaRPr lang="en-US" sz="1300" dirty="0"/>
          </a:p>
          <a:p>
            <a:pPr>
              <a:spcAft>
                <a:spcPts val="400"/>
              </a:spcAft>
            </a:pPr>
            <a:r>
              <a:rPr lang="en-US" sz="1300" dirty="0">
                <a:solidFill>
                  <a:srgbClr val="334155"/>
                </a:solidFill>
                <a:latin typeface="Calibri" pitchFamily="34" charset="0"/>
                <a:ea typeface="Calibri" pitchFamily="34" charset="-122"/>
                <a:cs typeface="Calibri" pitchFamily="34" charset="-120"/>
              </a:rPr>
              <a:t>Tower climbing: never climb alone; use proper harness; know emergency rescue procedures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p:spPr>
      </p:sp>
      <p:sp>
        <p:nvSpPr>
          <p:cNvPr id="3" name="Text 1"/>
          <p:cNvSpPr/>
          <p:nvPr/>
        </p:nvSpPr>
        <p:spPr>
          <a:xfrm>
            <a:off x="457200" y="137160"/>
            <a:ext cx="8229600" cy="365760"/>
          </a:xfrm>
          <a:prstGeom prst="rect">
            <a:avLst/>
          </a:prstGeom>
          <a:noFill/>
          <a:ln/>
        </p:spPr>
        <p:txBody>
          <a:bodyPr wrap="square" rtlCol="0" anchor="ctr"/>
          <a:lstStyle/>
          <a:p>
            <a:pPr indent="0" marL="0">
              <a:buNone/>
            </a:pPr>
            <a:r>
              <a:rPr lang="en-US" sz="1300" b="1" dirty="0">
                <a:solidFill>
                  <a:srgbClr val="6EE7B7"/>
                </a:solidFill>
                <a:latin typeface="Calibri" pitchFamily="34" charset="0"/>
                <a:ea typeface="Calibri" pitchFamily="34" charset="-122"/>
                <a:cs typeface="Calibri" pitchFamily="34" charset="-120"/>
              </a:rPr>
              <a:t>Checkpoint Quiz</a:t>
            </a:r>
            <a:endParaRPr lang="en-US" sz="1300" dirty="0"/>
          </a:p>
        </p:txBody>
      </p:sp>
      <p:sp>
        <p:nvSpPr>
          <p:cNvPr id="4" name="Text 2"/>
          <p:cNvSpPr/>
          <p:nvPr/>
        </p:nvSpPr>
        <p:spPr>
          <a:xfrm>
            <a:off x="457200" y="640080"/>
            <a:ext cx="8229600" cy="1371600"/>
          </a:xfrm>
          <a:prstGeom prst="rect">
            <a:avLst/>
          </a:prstGeom>
          <a:noFill/>
          <a:ln/>
        </p:spPr>
        <p:txBody>
          <a:bodyPr wrap="square"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What is the impedance of a quarter-wave matching section needed to match 50 ohms to 200 ohms?</a:t>
            </a:r>
            <a:endParaRPr lang="en-US" sz="1700" dirty="0"/>
          </a:p>
        </p:txBody>
      </p:sp>
      <p:sp>
        <p:nvSpPr>
          <p:cNvPr id="5" name="Shape 3"/>
          <p:cNvSpPr/>
          <p:nvPr/>
        </p:nvSpPr>
        <p:spPr>
          <a:xfrm>
            <a:off x="457200" y="2194560"/>
            <a:ext cx="8229600" cy="822960"/>
          </a:xfrm>
          <a:prstGeom prst="roundRect">
            <a:avLst>
              <a:gd name="adj" fmla="val 8889"/>
            </a:avLst>
          </a:prstGeom>
          <a:solidFill>
            <a:srgbClr val="065F46"/>
          </a:solidFill>
          <a:ln/>
        </p:spPr>
      </p:sp>
      <p:sp>
        <p:nvSpPr>
          <p:cNvPr id="6" name="Text 4"/>
          <p:cNvSpPr/>
          <p:nvPr/>
        </p:nvSpPr>
        <p:spPr>
          <a:xfrm>
            <a:off x="640080" y="2286000"/>
            <a:ext cx="7772400" cy="640080"/>
          </a:xfrm>
          <a:prstGeom prst="rect">
            <a:avLst/>
          </a:prstGeom>
          <a:noFill/>
          <a:ln/>
        </p:spPr>
        <p:txBody>
          <a:bodyPr wrap="square" rtlCol="0" anchor="ctr"/>
          <a:lstStyle/>
          <a:p>
            <a:pPr indent="0" marL="0">
              <a:buNone/>
            </a:pPr>
            <a:r>
              <a:rPr lang="en-US" sz="1300" dirty="0">
                <a:solidFill>
                  <a:srgbClr val="6EE7B7"/>
                </a:solidFill>
                <a:latin typeface="Calibri" pitchFamily="34" charset="0"/>
                <a:ea typeface="Calibri" pitchFamily="34" charset="-122"/>
                <a:cs typeface="Calibri" pitchFamily="34" charset="-120"/>
              </a:rPr>
              <a:t>A.  100 ohms</a:t>
            </a:r>
            <a:endParaRPr lang="en-US" sz="1300" dirty="0"/>
          </a:p>
        </p:txBody>
      </p:sp>
      <p:sp>
        <p:nvSpPr>
          <p:cNvPr id="7" name="Shape 5"/>
          <p:cNvSpPr/>
          <p:nvPr/>
        </p:nvSpPr>
        <p:spPr>
          <a:xfrm>
            <a:off x="457200" y="3200400"/>
            <a:ext cx="8229600" cy="822960"/>
          </a:xfrm>
          <a:prstGeom prst="roundRect">
            <a:avLst>
              <a:gd name="adj" fmla="val 8889"/>
            </a:avLst>
          </a:prstGeom>
          <a:solidFill>
            <a:srgbClr val="1E293B"/>
          </a:solidFill>
          <a:ln/>
        </p:spPr>
      </p:sp>
      <p:sp>
        <p:nvSpPr>
          <p:cNvPr id="8" name="Text 6"/>
          <p:cNvSpPr/>
          <p:nvPr/>
        </p:nvSpPr>
        <p:spPr>
          <a:xfrm>
            <a:off x="640080" y="3291840"/>
            <a:ext cx="77724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  150 ohms</a:t>
            </a:r>
            <a:endParaRPr lang="en-US" sz="1300" dirty="0"/>
          </a:p>
        </p:txBody>
      </p:sp>
      <p:sp>
        <p:nvSpPr>
          <p:cNvPr id="9" name="Shape 7"/>
          <p:cNvSpPr/>
          <p:nvPr/>
        </p:nvSpPr>
        <p:spPr>
          <a:xfrm>
            <a:off x="457200" y="4206240"/>
            <a:ext cx="8229600" cy="822960"/>
          </a:xfrm>
          <a:prstGeom prst="roundRect">
            <a:avLst>
              <a:gd name="adj" fmla="val 8889"/>
            </a:avLst>
          </a:prstGeom>
          <a:solidFill>
            <a:srgbClr val="1E293B"/>
          </a:solidFill>
          <a:ln/>
        </p:spPr>
      </p:sp>
      <p:sp>
        <p:nvSpPr>
          <p:cNvPr id="10" name="Text 8"/>
          <p:cNvSpPr/>
          <p:nvPr/>
        </p:nvSpPr>
        <p:spPr>
          <a:xfrm>
            <a:off x="640080" y="4297680"/>
            <a:ext cx="77724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  50 ohms</a:t>
            </a:r>
            <a:endParaRPr lang="en-US" sz="1300" dirty="0"/>
          </a:p>
        </p:txBody>
      </p:sp>
      <p:sp>
        <p:nvSpPr>
          <p:cNvPr id="11" name="Shape 9"/>
          <p:cNvSpPr/>
          <p:nvPr/>
        </p:nvSpPr>
        <p:spPr>
          <a:xfrm>
            <a:off x="457200" y="5212080"/>
            <a:ext cx="8229600" cy="822960"/>
          </a:xfrm>
          <a:prstGeom prst="roundRect">
            <a:avLst>
              <a:gd name="adj" fmla="val 8889"/>
            </a:avLst>
          </a:prstGeom>
          <a:solidFill>
            <a:srgbClr val="1E293B"/>
          </a:solidFill>
          <a:ln/>
        </p:spPr>
      </p:sp>
      <p:sp>
        <p:nvSpPr>
          <p:cNvPr id="12" name="Text 10"/>
          <p:cNvSpPr/>
          <p:nvPr/>
        </p:nvSpPr>
        <p:spPr>
          <a:xfrm>
            <a:off x="640080" y="5303520"/>
            <a:ext cx="77724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  250 ohms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p:spPr>
      </p:sp>
      <p:sp>
        <p:nvSpPr>
          <p:cNvPr id="3" name="Text 1"/>
          <p:cNvSpPr/>
          <p:nvPr/>
        </p:nvSpPr>
        <p:spPr>
          <a:xfrm>
            <a:off x="457200" y="137160"/>
            <a:ext cx="8229600" cy="365760"/>
          </a:xfrm>
          <a:prstGeom prst="rect">
            <a:avLst/>
          </a:prstGeom>
          <a:noFill/>
          <a:ln/>
        </p:spPr>
        <p:txBody>
          <a:bodyPr wrap="square" rtlCol="0" anchor="ctr"/>
          <a:lstStyle/>
          <a:p>
            <a:pPr indent="0" marL="0">
              <a:buNone/>
            </a:pPr>
            <a:r>
              <a:rPr lang="en-US" sz="1300" b="1" dirty="0">
                <a:solidFill>
                  <a:srgbClr val="6EE7B7"/>
                </a:solidFill>
                <a:latin typeface="Calibri" pitchFamily="34" charset="0"/>
                <a:ea typeface="Calibri" pitchFamily="34" charset="-122"/>
                <a:cs typeface="Calibri" pitchFamily="34" charset="-120"/>
              </a:rPr>
              <a:t>Checkpoint Quiz</a:t>
            </a:r>
            <a:endParaRPr lang="en-US" sz="1300" dirty="0"/>
          </a:p>
        </p:txBody>
      </p:sp>
      <p:sp>
        <p:nvSpPr>
          <p:cNvPr id="4" name="Text 2"/>
          <p:cNvSpPr/>
          <p:nvPr/>
        </p:nvSpPr>
        <p:spPr>
          <a:xfrm>
            <a:off x="457200" y="640080"/>
            <a:ext cx="8229600" cy="1371600"/>
          </a:xfrm>
          <a:prstGeom prst="rect">
            <a:avLst/>
          </a:prstGeom>
          <a:noFill/>
          <a:ln/>
        </p:spPr>
        <p:txBody>
          <a:bodyPr wrap="square"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Which of the following actions does an antenna tuner (transmatch) perform?</a:t>
            </a:r>
            <a:endParaRPr lang="en-US" sz="1700" dirty="0"/>
          </a:p>
        </p:txBody>
      </p:sp>
      <p:sp>
        <p:nvSpPr>
          <p:cNvPr id="5" name="Shape 3"/>
          <p:cNvSpPr/>
          <p:nvPr/>
        </p:nvSpPr>
        <p:spPr>
          <a:xfrm>
            <a:off x="457200" y="2194560"/>
            <a:ext cx="8229600" cy="822960"/>
          </a:xfrm>
          <a:prstGeom prst="roundRect">
            <a:avLst>
              <a:gd name="adj" fmla="val 8889"/>
            </a:avLst>
          </a:prstGeom>
          <a:solidFill>
            <a:srgbClr val="065F46"/>
          </a:solidFill>
          <a:ln/>
        </p:spPr>
      </p:sp>
      <p:sp>
        <p:nvSpPr>
          <p:cNvPr id="6" name="Text 4"/>
          <p:cNvSpPr/>
          <p:nvPr/>
        </p:nvSpPr>
        <p:spPr>
          <a:xfrm>
            <a:off x="640080" y="2286000"/>
            <a:ext cx="7772400" cy="640080"/>
          </a:xfrm>
          <a:prstGeom prst="rect">
            <a:avLst/>
          </a:prstGeom>
          <a:noFill/>
          <a:ln/>
        </p:spPr>
        <p:txBody>
          <a:bodyPr wrap="square" rtlCol="0" anchor="ctr"/>
          <a:lstStyle/>
          <a:p>
            <a:pPr indent="0" marL="0">
              <a:buNone/>
            </a:pPr>
            <a:r>
              <a:rPr lang="en-US" sz="1300" dirty="0">
                <a:solidFill>
                  <a:srgbClr val="6EE7B7"/>
                </a:solidFill>
                <a:latin typeface="Calibri" pitchFamily="34" charset="0"/>
                <a:ea typeface="Calibri" pitchFamily="34" charset="-122"/>
                <a:cs typeface="Calibri" pitchFamily="34" charset="-120"/>
              </a:rPr>
              <a:t>A.  It matches the transmitter output impedance to the feed line and antenna system</a:t>
            </a:r>
            <a:endParaRPr lang="en-US" sz="1300" dirty="0"/>
          </a:p>
        </p:txBody>
      </p:sp>
      <p:sp>
        <p:nvSpPr>
          <p:cNvPr id="7" name="Shape 5"/>
          <p:cNvSpPr/>
          <p:nvPr/>
        </p:nvSpPr>
        <p:spPr>
          <a:xfrm>
            <a:off x="457200" y="3200400"/>
            <a:ext cx="8229600" cy="822960"/>
          </a:xfrm>
          <a:prstGeom prst="roundRect">
            <a:avLst>
              <a:gd name="adj" fmla="val 8889"/>
            </a:avLst>
          </a:prstGeom>
          <a:solidFill>
            <a:srgbClr val="1E293B"/>
          </a:solidFill>
          <a:ln/>
        </p:spPr>
      </p:sp>
      <p:sp>
        <p:nvSpPr>
          <p:cNvPr id="8" name="Text 6"/>
          <p:cNvSpPr/>
          <p:nvPr/>
        </p:nvSpPr>
        <p:spPr>
          <a:xfrm>
            <a:off x="640080" y="3291840"/>
            <a:ext cx="77724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  It reduces SWR on the feed line between the tuner and antenna</a:t>
            </a:r>
            <a:endParaRPr lang="en-US" sz="1300" dirty="0"/>
          </a:p>
        </p:txBody>
      </p:sp>
      <p:sp>
        <p:nvSpPr>
          <p:cNvPr id="9" name="Shape 7"/>
          <p:cNvSpPr/>
          <p:nvPr/>
        </p:nvSpPr>
        <p:spPr>
          <a:xfrm>
            <a:off x="457200" y="4206240"/>
            <a:ext cx="8229600" cy="822960"/>
          </a:xfrm>
          <a:prstGeom prst="roundRect">
            <a:avLst>
              <a:gd name="adj" fmla="val 8889"/>
            </a:avLst>
          </a:prstGeom>
          <a:solidFill>
            <a:srgbClr val="1E293B"/>
          </a:solidFill>
          <a:ln/>
        </p:spPr>
      </p:sp>
      <p:sp>
        <p:nvSpPr>
          <p:cNvPr id="10" name="Text 8"/>
          <p:cNvSpPr/>
          <p:nvPr/>
        </p:nvSpPr>
        <p:spPr>
          <a:xfrm>
            <a:off x="640080" y="4297680"/>
            <a:ext cx="77724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  It increases antenna efficiency by canceling reactive components</a:t>
            </a:r>
            <a:endParaRPr lang="en-US" sz="1300" dirty="0"/>
          </a:p>
        </p:txBody>
      </p:sp>
      <p:sp>
        <p:nvSpPr>
          <p:cNvPr id="11" name="Shape 9"/>
          <p:cNvSpPr/>
          <p:nvPr/>
        </p:nvSpPr>
        <p:spPr>
          <a:xfrm>
            <a:off x="457200" y="5212080"/>
            <a:ext cx="8229600" cy="822960"/>
          </a:xfrm>
          <a:prstGeom prst="roundRect">
            <a:avLst>
              <a:gd name="adj" fmla="val 8889"/>
            </a:avLst>
          </a:prstGeom>
          <a:solidFill>
            <a:srgbClr val="1E293B"/>
          </a:solidFill>
          <a:ln/>
        </p:spPr>
      </p:sp>
      <p:sp>
        <p:nvSpPr>
          <p:cNvPr id="12" name="Text 10"/>
          <p:cNvSpPr/>
          <p:nvPr/>
        </p:nvSpPr>
        <p:spPr>
          <a:xfrm>
            <a:off x="640080" y="5303520"/>
            <a:ext cx="77724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  It protects the antenna from high RF voltages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p:spPr>
      </p:sp>
      <p:sp>
        <p:nvSpPr>
          <p:cNvPr id="3" name="Text 1"/>
          <p:cNvSpPr/>
          <p:nvPr/>
        </p:nvSpPr>
        <p:spPr>
          <a:xfrm>
            <a:off x="457200" y="137160"/>
            <a:ext cx="8229600" cy="365760"/>
          </a:xfrm>
          <a:prstGeom prst="rect">
            <a:avLst/>
          </a:prstGeom>
          <a:noFill/>
          <a:ln/>
        </p:spPr>
        <p:txBody>
          <a:bodyPr wrap="square" rtlCol="0" anchor="ctr"/>
          <a:lstStyle/>
          <a:p>
            <a:pPr indent="0" marL="0">
              <a:buNone/>
            </a:pPr>
            <a:r>
              <a:rPr lang="en-US" sz="1300" b="1" dirty="0">
                <a:solidFill>
                  <a:srgbClr val="6EE7B7"/>
                </a:solidFill>
                <a:latin typeface="Calibri" pitchFamily="34" charset="0"/>
                <a:ea typeface="Calibri" pitchFamily="34" charset="-122"/>
                <a:cs typeface="Calibri" pitchFamily="34" charset="-120"/>
              </a:rPr>
              <a:t>Checkpoint Quiz</a:t>
            </a:r>
            <a:endParaRPr lang="en-US" sz="1300" dirty="0"/>
          </a:p>
        </p:txBody>
      </p:sp>
      <p:sp>
        <p:nvSpPr>
          <p:cNvPr id="4" name="Text 2"/>
          <p:cNvSpPr/>
          <p:nvPr/>
        </p:nvSpPr>
        <p:spPr>
          <a:xfrm>
            <a:off x="457200" y="640080"/>
            <a:ext cx="8229600" cy="1371600"/>
          </a:xfrm>
          <a:prstGeom prst="rect">
            <a:avLst/>
          </a:prstGeom>
          <a:noFill/>
          <a:ln/>
        </p:spPr>
        <p:txBody>
          <a:bodyPr wrap="square"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In a Yagi antenna, where are the director elements located relative to the driven element?</a:t>
            </a:r>
            <a:endParaRPr lang="en-US" sz="1700" dirty="0"/>
          </a:p>
        </p:txBody>
      </p:sp>
      <p:sp>
        <p:nvSpPr>
          <p:cNvPr id="5" name="Shape 3"/>
          <p:cNvSpPr/>
          <p:nvPr/>
        </p:nvSpPr>
        <p:spPr>
          <a:xfrm>
            <a:off x="457200" y="2194560"/>
            <a:ext cx="8229600" cy="822960"/>
          </a:xfrm>
          <a:prstGeom prst="roundRect">
            <a:avLst>
              <a:gd name="adj" fmla="val 8889"/>
            </a:avLst>
          </a:prstGeom>
          <a:solidFill>
            <a:srgbClr val="065F46"/>
          </a:solidFill>
          <a:ln/>
        </p:spPr>
      </p:sp>
      <p:sp>
        <p:nvSpPr>
          <p:cNvPr id="6" name="Text 4"/>
          <p:cNvSpPr/>
          <p:nvPr/>
        </p:nvSpPr>
        <p:spPr>
          <a:xfrm>
            <a:off x="640080" y="2286000"/>
            <a:ext cx="7772400" cy="640080"/>
          </a:xfrm>
          <a:prstGeom prst="rect">
            <a:avLst/>
          </a:prstGeom>
          <a:noFill/>
          <a:ln/>
        </p:spPr>
        <p:txBody>
          <a:bodyPr wrap="square" rtlCol="0" anchor="ctr"/>
          <a:lstStyle/>
          <a:p>
            <a:pPr indent="0" marL="0">
              <a:buNone/>
            </a:pPr>
            <a:r>
              <a:rPr lang="en-US" sz="1300" dirty="0">
                <a:solidFill>
                  <a:srgbClr val="6EE7B7"/>
                </a:solidFill>
                <a:latin typeface="Calibri" pitchFamily="34" charset="0"/>
                <a:ea typeface="Calibri" pitchFamily="34" charset="-122"/>
                <a:cs typeface="Calibri" pitchFamily="34" charset="-120"/>
              </a:rPr>
              <a:t>A.  In front of the driven element, toward the desired direction of transmission</a:t>
            </a:r>
            <a:endParaRPr lang="en-US" sz="1300" dirty="0"/>
          </a:p>
        </p:txBody>
      </p:sp>
      <p:sp>
        <p:nvSpPr>
          <p:cNvPr id="7" name="Shape 5"/>
          <p:cNvSpPr/>
          <p:nvPr/>
        </p:nvSpPr>
        <p:spPr>
          <a:xfrm>
            <a:off x="457200" y="3200400"/>
            <a:ext cx="8229600" cy="822960"/>
          </a:xfrm>
          <a:prstGeom prst="roundRect">
            <a:avLst>
              <a:gd name="adj" fmla="val 8889"/>
            </a:avLst>
          </a:prstGeom>
          <a:solidFill>
            <a:srgbClr val="1E293B"/>
          </a:solidFill>
          <a:ln/>
        </p:spPr>
      </p:sp>
      <p:sp>
        <p:nvSpPr>
          <p:cNvPr id="8" name="Text 6"/>
          <p:cNvSpPr/>
          <p:nvPr/>
        </p:nvSpPr>
        <p:spPr>
          <a:xfrm>
            <a:off x="640080" y="3291840"/>
            <a:ext cx="77724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  Behind the driven element, away from the desired direction</a:t>
            </a:r>
            <a:endParaRPr lang="en-US" sz="1300" dirty="0"/>
          </a:p>
        </p:txBody>
      </p:sp>
      <p:sp>
        <p:nvSpPr>
          <p:cNvPr id="9" name="Shape 7"/>
          <p:cNvSpPr/>
          <p:nvPr/>
        </p:nvSpPr>
        <p:spPr>
          <a:xfrm>
            <a:off x="457200" y="4206240"/>
            <a:ext cx="8229600" cy="822960"/>
          </a:xfrm>
          <a:prstGeom prst="roundRect">
            <a:avLst>
              <a:gd name="adj" fmla="val 8889"/>
            </a:avLst>
          </a:prstGeom>
          <a:solidFill>
            <a:srgbClr val="1E293B"/>
          </a:solidFill>
          <a:ln/>
        </p:spPr>
      </p:sp>
      <p:sp>
        <p:nvSpPr>
          <p:cNvPr id="10" name="Text 8"/>
          <p:cNvSpPr/>
          <p:nvPr/>
        </p:nvSpPr>
        <p:spPr>
          <a:xfrm>
            <a:off x="640080" y="4297680"/>
            <a:ext cx="77724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  On either side of the driven element for horizontal gain</a:t>
            </a:r>
            <a:endParaRPr lang="en-US" sz="1300" dirty="0"/>
          </a:p>
        </p:txBody>
      </p:sp>
      <p:sp>
        <p:nvSpPr>
          <p:cNvPr id="11" name="Shape 9"/>
          <p:cNvSpPr/>
          <p:nvPr/>
        </p:nvSpPr>
        <p:spPr>
          <a:xfrm>
            <a:off x="457200" y="5212080"/>
            <a:ext cx="8229600" cy="822960"/>
          </a:xfrm>
          <a:prstGeom prst="roundRect">
            <a:avLst>
              <a:gd name="adj" fmla="val 8889"/>
            </a:avLst>
          </a:prstGeom>
          <a:solidFill>
            <a:srgbClr val="1E293B"/>
          </a:solidFill>
          <a:ln/>
        </p:spPr>
      </p:sp>
      <p:sp>
        <p:nvSpPr>
          <p:cNvPr id="12" name="Text 10"/>
          <p:cNvSpPr/>
          <p:nvPr/>
        </p:nvSpPr>
        <p:spPr>
          <a:xfrm>
            <a:off x="640080" y="5303520"/>
            <a:ext cx="77724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  At 90 degrees to the driven element for circular polarization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p:spPr>
      </p:sp>
      <p:sp>
        <p:nvSpPr>
          <p:cNvPr id="3" name="Text 1"/>
          <p:cNvSpPr/>
          <p:nvPr/>
        </p:nvSpPr>
        <p:spPr>
          <a:xfrm>
            <a:off x="457200" y="137160"/>
            <a:ext cx="8229600" cy="365760"/>
          </a:xfrm>
          <a:prstGeom prst="rect">
            <a:avLst/>
          </a:prstGeom>
          <a:noFill/>
          <a:ln/>
        </p:spPr>
        <p:txBody>
          <a:bodyPr wrap="square" rtlCol="0" anchor="ctr"/>
          <a:lstStyle/>
          <a:p>
            <a:pPr indent="0" marL="0">
              <a:buNone/>
            </a:pPr>
            <a:r>
              <a:rPr lang="en-US" sz="1300" b="1" dirty="0">
                <a:solidFill>
                  <a:srgbClr val="6EE7B7"/>
                </a:solidFill>
                <a:latin typeface="Calibri" pitchFamily="34" charset="0"/>
                <a:ea typeface="Calibri" pitchFamily="34" charset="-122"/>
                <a:cs typeface="Calibri" pitchFamily="34" charset="-120"/>
              </a:rPr>
              <a:t>Checkpoint Quiz</a:t>
            </a:r>
            <a:endParaRPr lang="en-US" sz="1300" dirty="0"/>
          </a:p>
        </p:txBody>
      </p:sp>
      <p:sp>
        <p:nvSpPr>
          <p:cNvPr id="4" name="Text 2"/>
          <p:cNvSpPr/>
          <p:nvPr/>
        </p:nvSpPr>
        <p:spPr>
          <a:xfrm>
            <a:off x="457200" y="640080"/>
            <a:ext cx="8229600" cy="1371600"/>
          </a:xfrm>
          <a:prstGeom prst="rect">
            <a:avLst/>
          </a:prstGeom>
          <a:noFill/>
          <a:ln/>
        </p:spPr>
        <p:txBody>
          <a:bodyPr wrap="square"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What is the approximate duty cycle of single-sideband voice transmissions?</a:t>
            </a:r>
            <a:endParaRPr lang="en-US" sz="1700" dirty="0"/>
          </a:p>
        </p:txBody>
      </p:sp>
      <p:sp>
        <p:nvSpPr>
          <p:cNvPr id="5" name="Shape 3"/>
          <p:cNvSpPr/>
          <p:nvPr/>
        </p:nvSpPr>
        <p:spPr>
          <a:xfrm>
            <a:off x="457200" y="2194560"/>
            <a:ext cx="8229600" cy="822960"/>
          </a:xfrm>
          <a:prstGeom prst="roundRect">
            <a:avLst>
              <a:gd name="adj" fmla="val 8889"/>
            </a:avLst>
          </a:prstGeom>
          <a:solidFill>
            <a:srgbClr val="065F46"/>
          </a:solidFill>
          <a:ln/>
        </p:spPr>
      </p:sp>
      <p:sp>
        <p:nvSpPr>
          <p:cNvPr id="6" name="Text 4"/>
          <p:cNvSpPr/>
          <p:nvPr/>
        </p:nvSpPr>
        <p:spPr>
          <a:xfrm>
            <a:off x="640080" y="2286000"/>
            <a:ext cx="7772400" cy="640080"/>
          </a:xfrm>
          <a:prstGeom prst="rect">
            <a:avLst/>
          </a:prstGeom>
          <a:noFill/>
          <a:ln/>
        </p:spPr>
        <p:txBody>
          <a:bodyPr wrap="square" rtlCol="0" anchor="ctr"/>
          <a:lstStyle/>
          <a:p>
            <a:pPr indent="0" marL="0">
              <a:buNone/>
            </a:pPr>
            <a:r>
              <a:rPr lang="en-US" sz="1300" dirty="0">
                <a:solidFill>
                  <a:srgbClr val="6EE7B7"/>
                </a:solidFill>
                <a:latin typeface="Calibri" pitchFamily="34" charset="0"/>
                <a:ea typeface="Calibri" pitchFamily="34" charset="-122"/>
                <a:cs typeface="Calibri" pitchFamily="34" charset="-120"/>
              </a:rPr>
              <a:t>A.  20%</a:t>
            </a:r>
            <a:endParaRPr lang="en-US" sz="1300" dirty="0"/>
          </a:p>
        </p:txBody>
      </p:sp>
      <p:sp>
        <p:nvSpPr>
          <p:cNvPr id="7" name="Shape 5"/>
          <p:cNvSpPr/>
          <p:nvPr/>
        </p:nvSpPr>
        <p:spPr>
          <a:xfrm>
            <a:off x="457200" y="3200400"/>
            <a:ext cx="8229600" cy="822960"/>
          </a:xfrm>
          <a:prstGeom prst="roundRect">
            <a:avLst>
              <a:gd name="adj" fmla="val 8889"/>
            </a:avLst>
          </a:prstGeom>
          <a:solidFill>
            <a:srgbClr val="1E293B"/>
          </a:solidFill>
          <a:ln/>
        </p:spPr>
      </p:sp>
      <p:sp>
        <p:nvSpPr>
          <p:cNvPr id="8" name="Text 6"/>
          <p:cNvSpPr/>
          <p:nvPr/>
        </p:nvSpPr>
        <p:spPr>
          <a:xfrm>
            <a:off x="640080" y="3291840"/>
            <a:ext cx="77724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  100%</a:t>
            </a:r>
            <a:endParaRPr lang="en-US" sz="1300" dirty="0"/>
          </a:p>
        </p:txBody>
      </p:sp>
      <p:sp>
        <p:nvSpPr>
          <p:cNvPr id="9" name="Shape 7"/>
          <p:cNvSpPr/>
          <p:nvPr/>
        </p:nvSpPr>
        <p:spPr>
          <a:xfrm>
            <a:off x="457200" y="4206240"/>
            <a:ext cx="8229600" cy="822960"/>
          </a:xfrm>
          <a:prstGeom prst="roundRect">
            <a:avLst>
              <a:gd name="adj" fmla="val 8889"/>
            </a:avLst>
          </a:prstGeom>
          <a:solidFill>
            <a:srgbClr val="1E293B"/>
          </a:solidFill>
          <a:ln/>
        </p:spPr>
      </p:sp>
      <p:sp>
        <p:nvSpPr>
          <p:cNvPr id="10" name="Text 8"/>
          <p:cNvSpPr/>
          <p:nvPr/>
        </p:nvSpPr>
        <p:spPr>
          <a:xfrm>
            <a:off x="640080" y="4297680"/>
            <a:ext cx="77724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  50%</a:t>
            </a:r>
            <a:endParaRPr lang="en-US" sz="1300" dirty="0"/>
          </a:p>
        </p:txBody>
      </p:sp>
      <p:sp>
        <p:nvSpPr>
          <p:cNvPr id="11" name="Shape 9"/>
          <p:cNvSpPr/>
          <p:nvPr/>
        </p:nvSpPr>
        <p:spPr>
          <a:xfrm>
            <a:off x="457200" y="5212080"/>
            <a:ext cx="8229600" cy="822960"/>
          </a:xfrm>
          <a:prstGeom prst="roundRect">
            <a:avLst>
              <a:gd name="adj" fmla="val 8889"/>
            </a:avLst>
          </a:prstGeom>
          <a:solidFill>
            <a:srgbClr val="1E293B"/>
          </a:solidFill>
          <a:ln/>
        </p:spPr>
      </p:sp>
      <p:sp>
        <p:nvSpPr>
          <p:cNvPr id="12" name="Text 10"/>
          <p:cNvSpPr/>
          <p:nvPr/>
        </p:nvSpPr>
        <p:spPr>
          <a:xfrm>
            <a:off x="640080" y="5303520"/>
            <a:ext cx="77724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  40%</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p:spPr>
      </p:sp>
      <p:sp>
        <p:nvSpPr>
          <p:cNvPr id="3" name="Text 1"/>
          <p:cNvSpPr/>
          <p:nvPr/>
        </p:nvSpPr>
        <p:spPr>
          <a:xfrm>
            <a:off x="457200" y="137160"/>
            <a:ext cx="8229600" cy="365760"/>
          </a:xfrm>
          <a:prstGeom prst="rect">
            <a:avLst/>
          </a:prstGeom>
          <a:noFill/>
          <a:ln/>
        </p:spPr>
        <p:txBody>
          <a:bodyPr wrap="square" rtlCol="0" anchor="ctr"/>
          <a:lstStyle/>
          <a:p>
            <a:pPr indent="0" marL="0">
              <a:buNone/>
            </a:pPr>
            <a:r>
              <a:rPr lang="en-US" sz="1300" b="1" dirty="0">
                <a:solidFill>
                  <a:srgbClr val="6EE7B7"/>
                </a:solidFill>
                <a:latin typeface="Calibri" pitchFamily="34" charset="0"/>
                <a:ea typeface="Calibri" pitchFamily="34" charset="-122"/>
                <a:cs typeface="Calibri" pitchFamily="34" charset="-120"/>
              </a:rPr>
              <a:t>Checkpoint Quiz</a:t>
            </a:r>
            <a:endParaRPr lang="en-US" sz="1300" dirty="0"/>
          </a:p>
        </p:txBody>
      </p:sp>
      <p:sp>
        <p:nvSpPr>
          <p:cNvPr id="4" name="Text 2"/>
          <p:cNvSpPr/>
          <p:nvPr/>
        </p:nvSpPr>
        <p:spPr>
          <a:xfrm>
            <a:off x="457200" y="640080"/>
            <a:ext cx="8229600" cy="1371600"/>
          </a:xfrm>
          <a:prstGeom prst="rect">
            <a:avLst/>
          </a:prstGeom>
          <a:noFill/>
          <a:ln/>
        </p:spPr>
        <p:txBody>
          <a:bodyPr wrap="square"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What is the purpose of a bleeder resistor in a power supply?</a:t>
            </a:r>
            <a:endParaRPr lang="en-US" sz="1700" dirty="0"/>
          </a:p>
        </p:txBody>
      </p:sp>
      <p:sp>
        <p:nvSpPr>
          <p:cNvPr id="5" name="Shape 3"/>
          <p:cNvSpPr/>
          <p:nvPr/>
        </p:nvSpPr>
        <p:spPr>
          <a:xfrm>
            <a:off x="457200" y="2194560"/>
            <a:ext cx="8229600" cy="822960"/>
          </a:xfrm>
          <a:prstGeom prst="roundRect">
            <a:avLst>
              <a:gd name="adj" fmla="val 8889"/>
            </a:avLst>
          </a:prstGeom>
          <a:solidFill>
            <a:srgbClr val="065F46"/>
          </a:solidFill>
          <a:ln/>
        </p:spPr>
      </p:sp>
      <p:sp>
        <p:nvSpPr>
          <p:cNvPr id="6" name="Text 4"/>
          <p:cNvSpPr/>
          <p:nvPr/>
        </p:nvSpPr>
        <p:spPr>
          <a:xfrm>
            <a:off x="640080" y="2286000"/>
            <a:ext cx="7772400" cy="640080"/>
          </a:xfrm>
          <a:prstGeom prst="rect">
            <a:avLst/>
          </a:prstGeom>
          <a:noFill/>
          <a:ln/>
        </p:spPr>
        <p:txBody>
          <a:bodyPr wrap="square" rtlCol="0" anchor="ctr"/>
          <a:lstStyle/>
          <a:p>
            <a:pPr indent="0" marL="0">
              <a:buNone/>
            </a:pPr>
            <a:r>
              <a:rPr lang="en-US" sz="1300" dirty="0">
                <a:solidFill>
                  <a:srgbClr val="6EE7B7"/>
                </a:solidFill>
                <a:latin typeface="Calibri" pitchFamily="34" charset="0"/>
                <a:ea typeface="Calibri" pitchFamily="34" charset="-122"/>
                <a:cs typeface="Calibri" pitchFamily="34" charset="-120"/>
              </a:rPr>
              <a:t>A.  To discharge filter capacitors when power is removed</a:t>
            </a:r>
            <a:endParaRPr lang="en-US" sz="1300" dirty="0"/>
          </a:p>
        </p:txBody>
      </p:sp>
      <p:sp>
        <p:nvSpPr>
          <p:cNvPr id="7" name="Shape 5"/>
          <p:cNvSpPr/>
          <p:nvPr/>
        </p:nvSpPr>
        <p:spPr>
          <a:xfrm>
            <a:off x="457200" y="3200400"/>
            <a:ext cx="8229600" cy="822960"/>
          </a:xfrm>
          <a:prstGeom prst="roundRect">
            <a:avLst>
              <a:gd name="adj" fmla="val 8889"/>
            </a:avLst>
          </a:prstGeom>
          <a:solidFill>
            <a:srgbClr val="1E293B"/>
          </a:solidFill>
          <a:ln/>
        </p:spPr>
      </p:sp>
      <p:sp>
        <p:nvSpPr>
          <p:cNvPr id="8" name="Text 6"/>
          <p:cNvSpPr/>
          <p:nvPr/>
        </p:nvSpPr>
        <p:spPr>
          <a:xfrm>
            <a:off x="640080" y="3291840"/>
            <a:ext cx="77724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  To regulate the output voltage</a:t>
            </a:r>
            <a:endParaRPr lang="en-US" sz="1300" dirty="0"/>
          </a:p>
        </p:txBody>
      </p:sp>
      <p:sp>
        <p:nvSpPr>
          <p:cNvPr id="9" name="Shape 7"/>
          <p:cNvSpPr/>
          <p:nvPr/>
        </p:nvSpPr>
        <p:spPr>
          <a:xfrm>
            <a:off x="457200" y="4206240"/>
            <a:ext cx="8229600" cy="822960"/>
          </a:xfrm>
          <a:prstGeom prst="roundRect">
            <a:avLst>
              <a:gd name="adj" fmla="val 8889"/>
            </a:avLst>
          </a:prstGeom>
          <a:solidFill>
            <a:srgbClr val="1E293B"/>
          </a:solidFill>
          <a:ln/>
        </p:spPr>
      </p:sp>
      <p:sp>
        <p:nvSpPr>
          <p:cNvPr id="10" name="Text 8"/>
          <p:cNvSpPr/>
          <p:nvPr/>
        </p:nvSpPr>
        <p:spPr>
          <a:xfrm>
            <a:off x="640080" y="4297680"/>
            <a:ext cx="77724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  To limit current to protect the rectifier diodes</a:t>
            </a:r>
            <a:endParaRPr lang="en-US" sz="1300" dirty="0"/>
          </a:p>
        </p:txBody>
      </p:sp>
      <p:sp>
        <p:nvSpPr>
          <p:cNvPr id="11" name="Shape 9"/>
          <p:cNvSpPr/>
          <p:nvPr/>
        </p:nvSpPr>
        <p:spPr>
          <a:xfrm>
            <a:off x="457200" y="5212080"/>
            <a:ext cx="8229600" cy="822960"/>
          </a:xfrm>
          <a:prstGeom prst="roundRect">
            <a:avLst>
              <a:gd name="adj" fmla="val 8889"/>
            </a:avLst>
          </a:prstGeom>
          <a:solidFill>
            <a:srgbClr val="1E293B"/>
          </a:solidFill>
          <a:ln/>
        </p:spPr>
      </p:sp>
      <p:sp>
        <p:nvSpPr>
          <p:cNvPr id="12" name="Text 10"/>
          <p:cNvSpPr/>
          <p:nvPr/>
        </p:nvSpPr>
        <p:spPr>
          <a:xfrm>
            <a:off x="640080" y="5303520"/>
            <a:ext cx="77724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  To reduce ripple in the filter capacitor</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10B981"/>
          </a:solidFill>
          <a:ln/>
        </p:spPr>
      </p:sp>
      <p:sp>
        <p:nvSpPr>
          <p:cNvPr id="3" name="Text 1"/>
          <p:cNvSpPr/>
          <p:nvPr/>
        </p:nvSpPr>
        <p:spPr>
          <a:xfrm>
            <a:off x="457200" y="457200"/>
            <a:ext cx="7772400" cy="548640"/>
          </a:xfrm>
          <a:prstGeom prst="rect">
            <a:avLst/>
          </a:prstGeom>
          <a:noFill/>
          <a:ln/>
        </p:spPr>
        <p:txBody>
          <a:bodyPr wrap="square" rtlCol="0" anchor="ctr"/>
          <a:lstStyle/>
          <a:p>
            <a:pPr indent="0" marL="0">
              <a:buNone/>
            </a:pPr>
            <a:r>
              <a:rPr lang="en-US" sz="2200" b="1" dirty="0">
                <a:solidFill>
                  <a:srgbClr val="6EE7B7"/>
                </a:solidFill>
                <a:latin typeface="Calibri" pitchFamily="34" charset="0"/>
                <a:ea typeface="Calibri" pitchFamily="34" charset="-122"/>
                <a:cs typeface="Calibri" pitchFamily="34" charset="-120"/>
              </a:rPr>
              <a:t>HamStudy Assignment</a:t>
            </a:r>
            <a:endParaRPr lang="en-US" sz="2200" dirty="0"/>
          </a:p>
        </p:txBody>
      </p:sp>
      <p:sp>
        <p:nvSpPr>
          <p:cNvPr id="4" name="Text 2"/>
          <p:cNvSpPr/>
          <p:nvPr/>
        </p:nvSpPr>
        <p:spPr>
          <a:xfrm>
            <a:off x="457200" y="1097280"/>
            <a:ext cx="7315200" cy="3657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Drill these sections before capstone:</a:t>
            </a:r>
            <a:endParaRPr lang="en-US" sz="1400" dirty="0"/>
          </a:p>
        </p:txBody>
      </p:sp>
      <p:sp>
        <p:nvSpPr>
          <p:cNvPr id="5" name="Text 3"/>
          <p:cNvSpPr/>
          <p:nvPr/>
        </p:nvSpPr>
        <p:spPr>
          <a:xfrm>
            <a:off x="457200" y="1645920"/>
            <a:ext cx="5486400" cy="22860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G9A — Feed Lines &amp; SWR</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G9B — HF Antennas</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G9C — Directional Antennas</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G9D — Tuners &amp; Special Antennas</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G0A — RF Safety &amp; MPE</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G0B — Electrical Safety</a:t>
            </a:r>
            <a:endParaRPr lang="en-US" sz="1600" dirty="0"/>
          </a:p>
        </p:txBody>
      </p:sp>
      <p:sp>
        <p:nvSpPr>
          <p:cNvPr id="6" name="Text 4"/>
          <p:cNvSpPr/>
          <p:nvPr/>
        </p:nvSpPr>
        <p:spPr>
          <a:xfrm>
            <a:off x="457200" y="4114800"/>
            <a:ext cx="7315200" cy="36576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hamstudy.org · scan to join our study group</a:t>
            </a:r>
            <a:endParaRPr lang="en-US" sz="1200" dirty="0"/>
          </a:p>
        </p:txBody>
      </p:sp>
      <p:sp>
        <p:nvSpPr>
          <p:cNvPr id="7" name="Text 5"/>
          <p:cNvSpPr/>
          <p:nvPr/>
        </p:nvSpPr>
        <p:spPr>
          <a:xfrm>
            <a:off x="457200" y="5029200"/>
            <a:ext cx="8229600" cy="365760"/>
          </a:xfrm>
          <a:prstGeom prst="rect">
            <a:avLst/>
          </a:prstGeom>
          <a:noFill/>
          <a:ln/>
        </p:spPr>
        <p:txBody>
          <a:bodyPr wrap="square" rtlCol="0" anchor="ctr"/>
          <a:lstStyle/>
          <a:p>
            <a:pPr indent="0" marL="0">
              <a:buNone/>
            </a:pPr>
            <a:r>
              <a:rPr lang="en-US" sz="1300" dirty="0">
                <a:solidFill>
                  <a:srgbClr val="6EE7B7"/>
                </a:solidFill>
                <a:latin typeface="Calibri" pitchFamily="34" charset="0"/>
                <a:ea typeface="Calibri" pitchFamily="34" charset="-122"/>
                <a:cs typeface="Calibri" pitchFamily="34" charset="-120"/>
              </a:rPr>
              <a:t>Next session: Capstone — bring everything, full practice exams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2026-09-19T05:18:21Z</dcterms:created>
  <dcterms:modified xsi:type="dcterms:W3CDTF">2026-09-19T05:18:21Z</dcterms:modified>
</cp:coreProperties>
</file>