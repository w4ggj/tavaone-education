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covers G7 (Practical Circuits, 3 Qs) and G8 (Signals and Emissions, 3 Qs) = 6 of 35 exam questions = 17%. Practical circuits includes power supplies, amplifiers, and receivers. Signals covers modulation, digital modes, and emission designators.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G7 covers power supply fundamentals, amplifier classes, and receiver architecture. Foundational knowledge for understanding how transceivers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G7A power supply questions focus on ripple frequency (120 Hz for full-wave), and the function of each stage (transform → rectify → filter → regulate). The ripple frequency = 2× line frequency for full-wave is a high-probability exam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Amplifier class is tested in G7B. Key facts: Class A and AB = linear = OK for SSB; Class C = non-linear = only CW or FM. The efficiency vs. linearity trade-off is the concept. Why not Class C for SSB? Because the non-linearity creates sideband distortion.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Negative feedback is tested conceptually: reduces gain, reduces distortion, improves stability. This is a foundational electronics concept. The G8 exam questions sometimes touch on feedback in the context of oscillators vs. amplifiers.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superhet architecture is tested. Students need to know the signal flow and what each stage does. Key testable facts: why do we need an IF? (easier to filter). What does the BFO do? (demodulate SSB/CW). What does AGC do? (level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G8 covers modulation modes (AM, SSB, FM), emission designators, and digital modes. 3 exam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Emission designators are tested in G8. J3E (SSB) is the one most students need to know. The bandwidth comparison is also testable — remember PSK31 is actually narrower than CW in many implementations. The overall order: CW &lt; SSB &lt; AM &lt; FM.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FM deviation is testable. Know: ±5 kHz max deviation for VHF amateur FM. Capture effect is a G8 question — FM captures the strongest signal. Intermodulation in the context of G8 is more about receiver IMD than transmitter distortion.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G8C digital mode questions focus on operating characteristics. FT8's clock requirement (±1 second) is a testable fact. PSK31's dial-vs-actual-RF distinction is also tested. RTTY's 170 Hz shift is a specific fact that shows up in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Full-wave rectifier processes both the positive and negative halves of the AC cycle. 60 Hz input × 2 = 120 Hz ripple. The filter capacitor must filter at 120 Hz. Half-wave rectifier would produce 60 Hz ripple (one half of each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Class AB is the preferred choice for SSB finals. It's linear enough to preserve the SSB signal's integrity (unlike Class C) while being more efficient than Class A. Class C is non-linear and suitable only for CW or FM. Class A is linear but too inefficient for high-power finals.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Capture effect: FM receiver locks onto the stronger of two signals on the same frequency and suppresses the weaker one. This is both a feature (works well in mobile use, ignores weak interferers) and a limitation (you might not hear a weaker station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J3E: J = single sideband with suppressed carrier; 3 = analog voice (telephony); E = telephony. A3E = AM double sideband (A = double sideband full carrier). F3E = FM phone. G3E = PM phone. The J designator for SSB is the most frequently tested emission designator.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BFO injects a carrier into the detector stage to mix with the SSB or CW signal. The detected audio is the beat frequency between the BFO and the signal. Without the BFO, SSB sounds like Donald Duck and CW sounds like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G7 and G8 together = 17% of the exam. High-priority: 120 Hz ripple (full-wave rectifier), amplifier classes (A/AB = linear for SSB; C = FM/CW only), J3E emission designator, capture effect in FM, FT8 clock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0B981"/>
          </a:solidFill>
          <a:ln/>
        </p:spPr>
      </p:sp>
      <p:sp>
        <p:nvSpPr>
          <p:cNvPr id="3" name="Text 1"/>
          <p:cNvSpPr/>
          <p:nvPr/>
        </p:nvSpPr>
        <p:spPr>
          <a:xfrm>
            <a:off x="457200" y="457200"/>
            <a:ext cx="8229600" cy="274320"/>
          </a:xfrm>
          <a:prstGeom prst="rect">
            <a:avLst/>
          </a:prstGeom>
          <a:noFill/>
          <a:ln/>
        </p:spPr>
        <p:txBody>
          <a:bodyPr wrap="square" rtlCol="0" anchor="ctr"/>
          <a:lstStyle/>
          <a:p>
            <a:pPr indent="0" marL="0">
              <a:buNone/>
            </a:pPr>
            <a:r>
              <a:rPr lang="en-US" sz="900" b="1" spc="200" kern="0" dirty="0">
                <a:solidFill>
                  <a:srgbClr val="6EE7B7"/>
                </a:solidFill>
                <a:latin typeface="Calibri" pitchFamily="34" charset="0"/>
                <a:ea typeface="Calibri" pitchFamily="34" charset="-122"/>
                <a:cs typeface="Calibri" pitchFamily="34" charset="-120"/>
              </a:rPr>
              <a:t>TavaOne Education</a:t>
            </a:r>
            <a:endParaRPr lang="en-US" sz="900" dirty="0"/>
          </a:p>
        </p:txBody>
      </p:sp>
      <p:sp>
        <p:nvSpPr>
          <p:cNvPr id="4" name="Text 2"/>
          <p:cNvSpPr/>
          <p:nvPr/>
        </p:nvSpPr>
        <p:spPr>
          <a:xfrm>
            <a:off x="457200" y="777240"/>
            <a:ext cx="8229600" cy="22860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General License Course · 2023–2027 Pool</a:t>
            </a:r>
            <a:endParaRPr lang="en-US" sz="1000" dirty="0"/>
          </a:p>
        </p:txBody>
      </p:sp>
      <p:sp>
        <p:nvSpPr>
          <p:cNvPr id="5" name="Text 3"/>
          <p:cNvSpPr/>
          <p:nvPr/>
        </p:nvSpPr>
        <p:spPr>
          <a:xfrm>
            <a:off x="457200" y="1828800"/>
            <a:ext cx="7772400" cy="20116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Module 4</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Signals, Emissions</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&amp; Practical Circuits</a:t>
            </a:r>
            <a:endParaRPr lang="en-US" sz="3600" dirty="0"/>
          </a:p>
        </p:txBody>
      </p:sp>
      <p:sp>
        <p:nvSpPr>
          <p:cNvPr id="6" name="Text 4"/>
          <p:cNvSpPr/>
          <p:nvPr/>
        </p:nvSpPr>
        <p:spPr>
          <a:xfrm>
            <a:off x="457200" y="3931920"/>
            <a:ext cx="7772400" cy="457200"/>
          </a:xfrm>
          <a:prstGeom prst="rect">
            <a:avLst/>
          </a:prstGeom>
          <a:noFill/>
          <a:ln/>
        </p:spPr>
        <p:txBody>
          <a:bodyPr wrap="square" rtlCol="0" anchor="ctr"/>
          <a:lstStyle/>
          <a:p>
            <a:pPr indent="0" marL="0">
              <a:buNone/>
            </a:pPr>
            <a:r>
              <a:rPr lang="en-US" sz="1600" dirty="0">
                <a:solidFill>
                  <a:srgbClr val="6EE7B7"/>
                </a:solidFill>
                <a:latin typeface="Calibri" pitchFamily="34" charset="0"/>
                <a:ea typeface="Calibri" pitchFamily="34" charset="-122"/>
                <a:cs typeface="Calibri" pitchFamily="34" charset="-120"/>
              </a:rPr>
              <a:t>General License Course · G7 + G8 · 6 Exam Questions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10B981"/>
          </a:solidFill>
          <a:ln/>
        </p:spPr>
      </p:sp>
      <p:sp>
        <p:nvSpPr>
          <p:cNvPr id="3" name="Text 1"/>
          <p:cNvSpPr/>
          <p:nvPr/>
        </p:nvSpPr>
        <p:spPr>
          <a:xfrm>
            <a:off x="457200" y="2286000"/>
            <a:ext cx="8229600" cy="10972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Hour 1</a:t>
            </a:r>
            <a:endParaRPr lang="en-US" sz="3000" dirty="0"/>
          </a:p>
        </p:txBody>
      </p:sp>
      <p:sp>
        <p:nvSpPr>
          <p:cNvPr id="4" name="Text 2"/>
          <p:cNvSpPr/>
          <p:nvPr/>
        </p:nvSpPr>
        <p:spPr>
          <a:xfrm>
            <a:off x="457200" y="3474720"/>
            <a:ext cx="8229600" cy="457200"/>
          </a:xfrm>
          <a:prstGeom prst="rect">
            <a:avLst/>
          </a:prstGeom>
          <a:noFill/>
          <a:ln/>
        </p:spPr>
        <p:txBody>
          <a:bodyPr wrap="square" rtlCol="0" anchor="ctr"/>
          <a:lstStyle/>
          <a:p>
            <a:pPr indent="0" marL="0">
              <a:buNone/>
            </a:pPr>
            <a:r>
              <a:rPr lang="en-US" sz="1400" dirty="0">
                <a:solidFill>
                  <a:srgbClr val="6EE7B7"/>
                </a:solidFill>
                <a:latin typeface="Calibri" pitchFamily="34" charset="0"/>
                <a:ea typeface="Calibri" pitchFamily="34" charset="-122"/>
                <a:cs typeface="Calibri" pitchFamily="34" charset="-120"/>
              </a:rPr>
              <a:t>Practical Circuits: Power, Amplifiers, Receivers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G7A — Power Supplies</a:t>
            </a:r>
            <a:endParaRPr lang="en-US" sz="20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Text 3"/>
          <p:cNvSpPr/>
          <p:nvPr/>
        </p:nvSpPr>
        <p:spPr>
          <a:xfrm>
            <a:off x="457200" y="822960"/>
            <a:ext cx="8229600" cy="5303520"/>
          </a:xfrm>
          <a:prstGeom prst="rect">
            <a:avLst/>
          </a:prstGeom>
          <a:noFill/>
          <a:ln/>
        </p:spPr>
        <p:txBody>
          <a:bodyPr wrap="square" rtlCol="0" anchor="t"/>
          <a:lstStyle/>
          <a:p>
            <a:pPr>
              <a:spcAft>
                <a:spcPts val="400"/>
              </a:spcAft>
            </a:pPr>
            <a:r>
              <a:rPr lang="en-US" sz="1300" dirty="0">
                <a:solidFill>
                  <a:srgbClr val="334155"/>
                </a:solidFill>
                <a:latin typeface="Calibri" pitchFamily="34" charset="0"/>
                <a:ea typeface="Calibri" pitchFamily="34" charset="-122"/>
                <a:cs typeface="Calibri" pitchFamily="34" charset="-120"/>
              </a:rPr>
              <a:t>Transformer: steps AC voltage up or down; provides isolation from the power line (safety)</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Rectifier: converts AC to pulsating DC; common types: half-wave (wastes half), full-wave (center tap), full-wave bridge (most common)</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Filter capacitor: smooths pulsating DC to ripple DC; larger capacitor = less ripple</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Ripple frequency: for full-wave rectifier on 60 Hz AC → ripple = 120 Hz (twice the input frequency)</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Voltage regulator: maintains constant output despite load or line changes; IC regulators (7805 = 5V, 7812 = 12V, etc.)</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Switching power supply: chops DC at high frequency for efficiency; compact and efficient; can cause RFI</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Linear supply: wasteful (drops excess voltage as heat) but very clean RF-wise</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Battery types: lead-acid (flooded, AGM, gel), lithium iron phosphate (LiFePO4); charging requirements differ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G7B — Amplifier Classes</a:t>
            </a:r>
            <a:endParaRPr lang="en-US" sz="20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Text 3"/>
          <p:cNvSpPr/>
          <p:nvPr/>
        </p:nvSpPr>
        <p:spPr>
          <a:xfrm>
            <a:off x="457200" y="822960"/>
            <a:ext cx="3931920" cy="320040"/>
          </a:xfrm>
          <a:prstGeom prst="rect">
            <a:avLst/>
          </a:prstGeom>
          <a:noFill/>
          <a:ln/>
        </p:spPr>
        <p:txBody>
          <a:bodyPr wrap="square" rtlCol="0" anchor="ctr"/>
          <a:lstStyle/>
          <a:p>
            <a:pPr indent="0" marL="0">
              <a:buNone/>
            </a:pPr>
            <a:r>
              <a:rPr lang="en-US" sz="1300" b="1" dirty="0">
                <a:solidFill>
                  <a:srgbClr val="065F46"/>
                </a:solidFill>
                <a:latin typeface="Calibri" pitchFamily="34" charset="0"/>
                <a:ea typeface="Calibri" pitchFamily="34" charset="-122"/>
                <a:cs typeface="Calibri" pitchFamily="34" charset="-120"/>
              </a:rPr>
              <a:t>Linear Classes (for SSB)</a:t>
            </a:r>
            <a:endParaRPr lang="en-US" sz="1300" dirty="0"/>
          </a:p>
        </p:txBody>
      </p:sp>
      <p:sp>
        <p:nvSpPr>
          <p:cNvPr id="6" name="Text 4"/>
          <p:cNvSpPr/>
          <p:nvPr/>
        </p:nvSpPr>
        <p:spPr>
          <a:xfrm>
            <a:off x="457200" y="1188720"/>
            <a:ext cx="3931920" cy="5029200"/>
          </a:xfrm>
          <a:prstGeom prst="rect">
            <a:avLst/>
          </a:prstGeom>
          <a:noFill/>
          <a:ln/>
        </p:spPr>
        <p:txBody>
          <a:bodyPr wrap="square" rtlCol="0" anchor="t"/>
          <a:lstStyle/>
          <a:p>
            <a:pPr>
              <a:spcAft>
                <a:spcPts val="400"/>
              </a:spcAft>
            </a:pPr>
            <a:r>
              <a:rPr lang="en-US" sz="1200" dirty="0">
                <a:solidFill>
                  <a:srgbClr val="334155"/>
                </a:solidFill>
                <a:latin typeface="Calibri" pitchFamily="34" charset="0"/>
                <a:ea typeface="Calibri" pitchFamily="34" charset="-122"/>
                <a:cs typeface="Calibri" pitchFamily="34" charset="-120"/>
              </a:rPr>
              <a:t>Class A: always conducting; output follows input; low distortion; ~25-30% efficient</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Class AB: conducts slightly more than half cycle; good linearity; 50-70% efficient; most SSB finals use this</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Both A and AB required for SSB — you need linear amplification to preserve the sideband's information</a:t>
            </a:r>
            <a:endParaRPr lang="en-US" sz="1200" dirty="0"/>
          </a:p>
        </p:txBody>
      </p:sp>
      <p:sp>
        <p:nvSpPr>
          <p:cNvPr id="7" name="Shape 5"/>
          <p:cNvSpPr/>
          <p:nvPr/>
        </p:nvSpPr>
        <p:spPr>
          <a:xfrm>
            <a:off x="4572000" y="822960"/>
            <a:ext cx="0" cy="5394960"/>
          </a:xfrm>
          <a:prstGeom prst="line">
            <a:avLst/>
          </a:prstGeom>
          <a:noFill/>
          <a:ln w="6350">
            <a:solidFill>
              <a:srgbClr val="94A3B8"/>
            </a:solidFill>
            <a:prstDash val="solid"/>
          </a:ln>
        </p:spPr>
      </p:sp>
      <p:sp>
        <p:nvSpPr>
          <p:cNvPr id="8" name="Text 6"/>
          <p:cNvSpPr/>
          <p:nvPr/>
        </p:nvSpPr>
        <p:spPr>
          <a:xfrm>
            <a:off x="4754880" y="822960"/>
            <a:ext cx="3931920" cy="320040"/>
          </a:xfrm>
          <a:prstGeom prst="rect">
            <a:avLst/>
          </a:prstGeom>
          <a:noFill/>
          <a:ln/>
        </p:spPr>
        <p:txBody>
          <a:bodyPr wrap="square" rtlCol="0" anchor="ctr"/>
          <a:lstStyle/>
          <a:p>
            <a:pPr indent="0" marL="0">
              <a:buNone/>
            </a:pPr>
            <a:r>
              <a:rPr lang="en-US" sz="1300" b="1" dirty="0">
                <a:solidFill>
                  <a:srgbClr val="065F46"/>
                </a:solidFill>
                <a:latin typeface="Calibri" pitchFamily="34" charset="0"/>
                <a:ea typeface="Calibri" pitchFamily="34" charset="-122"/>
                <a:cs typeface="Calibri" pitchFamily="34" charset="-120"/>
              </a:rPr>
              <a:t>Non-Linear Classes (CW/FM)</a:t>
            </a:r>
            <a:endParaRPr lang="en-US" sz="1300" dirty="0"/>
          </a:p>
        </p:txBody>
      </p:sp>
      <p:sp>
        <p:nvSpPr>
          <p:cNvPr id="9" name="Text 7"/>
          <p:cNvSpPr/>
          <p:nvPr/>
        </p:nvSpPr>
        <p:spPr>
          <a:xfrm>
            <a:off x="4754880" y="1188720"/>
            <a:ext cx="3931920" cy="5029200"/>
          </a:xfrm>
          <a:prstGeom prst="rect">
            <a:avLst/>
          </a:prstGeom>
          <a:noFill/>
          <a:ln/>
        </p:spPr>
        <p:txBody>
          <a:bodyPr wrap="square" rtlCol="0" anchor="t"/>
          <a:lstStyle/>
          <a:p>
            <a:pPr>
              <a:spcAft>
                <a:spcPts val="400"/>
              </a:spcAft>
            </a:pPr>
            <a:r>
              <a:rPr lang="en-US" sz="1200" dirty="0">
                <a:solidFill>
                  <a:srgbClr val="334155"/>
                </a:solidFill>
                <a:latin typeface="Calibri" pitchFamily="34" charset="0"/>
                <a:ea typeface="Calibri" pitchFamily="34" charset="-122"/>
                <a:cs typeface="Calibri" pitchFamily="34" charset="-120"/>
              </a:rPr>
              <a:t>Class B: conducts exactly half cycle; more efficient than A (~75%)</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Class C: conducts less than half cycle; ~80% efficient; highly non-linear; only for CW or FM where distortion doesn't matter</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Class D/E: switching amplifiers; very high efficiency; emerging in ham radio</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Class C on SSB = terrible distortion = splatter = causing interference to adjacent channels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G7B — Negative Feedback in Amplifiers</a:t>
            </a:r>
            <a:endParaRPr lang="en-US" sz="20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Text 3"/>
          <p:cNvSpPr/>
          <p:nvPr/>
        </p:nvSpPr>
        <p:spPr>
          <a:xfrm>
            <a:off x="457200" y="822960"/>
            <a:ext cx="8229600" cy="5303520"/>
          </a:xfrm>
          <a:prstGeom prst="rect">
            <a:avLst/>
          </a:prstGeom>
          <a:noFill/>
          <a:ln/>
        </p:spPr>
        <p:txBody>
          <a:bodyPr wrap="square" rtlCol="0" anchor="t"/>
          <a:lstStyle/>
          <a:p>
            <a:pPr>
              <a:spcAft>
                <a:spcPts val="400"/>
              </a:spcAft>
            </a:pPr>
            <a:r>
              <a:rPr lang="en-US" sz="1300" dirty="0">
                <a:solidFill>
                  <a:srgbClr val="334155"/>
                </a:solidFill>
                <a:latin typeface="Calibri" pitchFamily="34" charset="0"/>
                <a:ea typeface="Calibri" pitchFamily="34" charset="-122"/>
                <a:cs typeface="Calibri" pitchFamily="34" charset="-120"/>
              </a:rPr>
              <a:t>Negative feedback: take a fraction of the output, invert it, add it back to the input</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Effect: the amplifier "corrects" itself → less distortion → more linear response</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Trade-off: gain is reduced by the feedback amount (if you feed back 10%, gain drops ~10×)</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Benefits: more stable gain over temperature and frequency; lower output impedance; wider bandwidth</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Op-amps run with massive negative feedback (open-loop gain = 100,000, closed-loop = whatever you set with resistors)</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Oscillators: use POSITIVE feedback → signal grows until limited; the feedback must be in-phase</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The difference: negative feedback stabilizes; positive feedback creates oscillation</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Audio amplifiers in transceivers always use negative feedback for low distortion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G7C — The Superheterodyne Receiver</a:t>
            </a:r>
            <a:endParaRPr lang="en-US" sz="20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Text 3"/>
          <p:cNvSpPr/>
          <p:nvPr/>
        </p:nvSpPr>
        <p:spPr>
          <a:xfrm>
            <a:off x="457200" y="822960"/>
            <a:ext cx="8229600" cy="5303520"/>
          </a:xfrm>
          <a:prstGeom prst="rect">
            <a:avLst/>
          </a:prstGeom>
          <a:noFill/>
          <a:ln/>
        </p:spPr>
        <p:txBody>
          <a:bodyPr wrap="square" rtlCol="0" anchor="t"/>
          <a:lstStyle/>
          <a:p>
            <a:pPr>
              <a:spcAft>
                <a:spcPts val="400"/>
              </a:spcAft>
            </a:pPr>
            <a:r>
              <a:rPr lang="en-US" sz="1300" dirty="0">
                <a:solidFill>
                  <a:srgbClr val="334155"/>
                </a:solidFill>
                <a:latin typeface="Calibri" pitchFamily="34" charset="0"/>
                <a:ea typeface="Calibri" pitchFamily="34" charset="-122"/>
                <a:cs typeface="Calibri" pitchFamily="34" charset="-120"/>
              </a:rPr>
              <a:t>Superheterodyne (superhet): the architecture used in virtually all HF receivers since the 1920s</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Signal path: Antenna → RF stage → Mixer → IF amplifier → Detector → Audio amplifier → Speaker</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Mixer: combines the incoming RF with a local oscillator (LO) signal; produces sum and difference frequencies</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IF (Intermediate Frequency): a fixed frequency (455 kHz common for AM; 10.7 MHz for FM; 8.215 MHz for SSB); filtering happens here</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Why convert to IF? A fixed-frequency filter is much easier to make sharp and stable than a tunable one</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BFO (Beat Frequency Oscillator): injects a carrier to heterodyne against the IF; required for SSB and CW demodulation</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AGC (Automatic Gain Control): maintains constant audio level as signal strength varies; samples IF level</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SDR: Software Defined Radio — ADC digitizes the signal early in the chain; everything else done in software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10B981"/>
          </a:solidFill>
          <a:ln/>
        </p:spPr>
      </p:sp>
      <p:sp>
        <p:nvSpPr>
          <p:cNvPr id="3" name="Text 1"/>
          <p:cNvSpPr/>
          <p:nvPr/>
        </p:nvSpPr>
        <p:spPr>
          <a:xfrm>
            <a:off x="457200" y="2286000"/>
            <a:ext cx="8229600" cy="10972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Hour 2</a:t>
            </a:r>
            <a:endParaRPr lang="en-US" sz="3000" dirty="0"/>
          </a:p>
        </p:txBody>
      </p:sp>
      <p:sp>
        <p:nvSpPr>
          <p:cNvPr id="4" name="Text 2"/>
          <p:cNvSpPr/>
          <p:nvPr/>
        </p:nvSpPr>
        <p:spPr>
          <a:xfrm>
            <a:off x="457200" y="3474720"/>
            <a:ext cx="8229600" cy="457200"/>
          </a:xfrm>
          <a:prstGeom prst="rect">
            <a:avLst/>
          </a:prstGeom>
          <a:noFill/>
          <a:ln/>
        </p:spPr>
        <p:txBody>
          <a:bodyPr wrap="square" rtlCol="0" anchor="ctr"/>
          <a:lstStyle/>
          <a:p>
            <a:pPr indent="0" marL="0">
              <a:buNone/>
            </a:pPr>
            <a:r>
              <a:rPr lang="en-US" sz="1400" dirty="0">
                <a:solidFill>
                  <a:srgbClr val="6EE7B7"/>
                </a:solidFill>
                <a:latin typeface="Calibri" pitchFamily="34" charset="0"/>
                <a:ea typeface="Calibri" pitchFamily="34" charset="-122"/>
                <a:cs typeface="Calibri" pitchFamily="34" charset="-120"/>
              </a:rPr>
              <a:t>Signals and Emissions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G8A — Modulation Modes Compared</a:t>
            </a:r>
            <a:endParaRPr lang="en-US" sz="20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Text 3"/>
          <p:cNvSpPr/>
          <p:nvPr/>
        </p:nvSpPr>
        <p:spPr>
          <a:xfrm>
            <a:off x="457200" y="822960"/>
            <a:ext cx="8229600" cy="5303520"/>
          </a:xfrm>
          <a:prstGeom prst="rect">
            <a:avLst/>
          </a:prstGeom>
          <a:noFill/>
          <a:ln/>
        </p:spPr>
        <p:txBody>
          <a:bodyPr wrap="square" rtlCol="0" anchor="t"/>
          <a:lstStyle/>
          <a:p>
            <a:pPr>
              <a:spcAft>
                <a:spcPts val="400"/>
              </a:spcAft>
            </a:pPr>
            <a:r>
              <a:rPr lang="en-US" sz="1300" dirty="0">
                <a:solidFill>
                  <a:srgbClr val="334155"/>
                </a:solidFill>
                <a:latin typeface="Calibri" pitchFamily="34" charset="0"/>
                <a:ea typeface="Calibri" pitchFamily="34" charset="-122"/>
                <a:cs typeface="Calibri" pitchFamily="34" charset="-120"/>
              </a:rPr>
              <a:t>AM (Double-sideband AM): carrier + two sidebands; carrier wastes 2/3 of transmitter power</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SSB (Single Sideband, suppressed carrier): one sideband, no carrier; most efficient; ~3 kHz bandwidth</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FM (Frequency Modulation): frequency varies with audio; constant amplitude (no amplitude fading); ~15 kHz for VHF</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Emission designators: J3E = SSB phone (the J means suppressed carrier, 3 = phone, E = telephony)</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A3E = AM double sideband; F3E = FM phone; G3E = PM phone; F1B = RTTY; J2B = PSK</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Bandwidth comparison: CW (~200 Hz) &lt; PSK31 (~80 Hz, narrower!) &lt; SSB (~3 kHz) &lt; AM (~6 kHz) &lt; FM (~15 kHz)</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Why SSB for HF? Efficient power use, narrow bandwidth, punches through noise better than AM</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Why FM for VHF/UHF? Noise immunity (capture effect), simple receivers, FM-only repeaters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G8B — FM Deviation and Modulation</a:t>
            </a:r>
            <a:endParaRPr lang="en-US" sz="20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Text 3"/>
          <p:cNvSpPr/>
          <p:nvPr/>
        </p:nvSpPr>
        <p:spPr>
          <a:xfrm>
            <a:off x="457200" y="822960"/>
            <a:ext cx="8229600" cy="5303520"/>
          </a:xfrm>
          <a:prstGeom prst="rect">
            <a:avLst/>
          </a:prstGeom>
          <a:noFill/>
          <a:ln/>
        </p:spPr>
        <p:txBody>
          <a:bodyPr wrap="square" rtlCol="0" anchor="t"/>
          <a:lstStyle/>
          <a:p>
            <a:pPr>
              <a:spcAft>
                <a:spcPts val="400"/>
              </a:spcAft>
            </a:pPr>
            <a:r>
              <a:rPr lang="en-US" sz="1300" dirty="0">
                <a:solidFill>
                  <a:srgbClr val="334155"/>
                </a:solidFill>
                <a:latin typeface="Calibri" pitchFamily="34" charset="0"/>
                <a:ea typeface="Calibri" pitchFamily="34" charset="-122"/>
                <a:cs typeface="Calibri" pitchFamily="34" charset="-120"/>
              </a:rPr>
              <a:t>FM deviation: how far the carrier swings above and below center frequency in response to audio</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Amateur VHF FM: ±5 kHz maximum deviation (so channel width = 2×5 = 10 kHz around center)</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Modulation index (FM): ratio of frequency deviation to modulating frequency; index = Δf / fm</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Deviation ratio: ratio of MAXIMUM deviation to MAXIMUM modulating frequency</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Overdeviation: audio too loud → exceeds ±5 kHz → adjacent channel interference; "wideband" sounds of over-deviated stations</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Capture effect: FM receiver "captures" the stronger of two co-channel signals; suppresses the weaker; why FM is good in mobile use</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Intermodulation products: f_IM = n×f1 ± m×f2; third-order (2f1−f2) fall close in — receiver problem</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Carson's rule: approximate FM bandwidth = 2 × (max deviation + max modulating freq)</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G8C — Digital Modes</a:t>
            </a:r>
            <a:endParaRPr lang="en-US" sz="20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Text 3"/>
          <p:cNvSpPr/>
          <p:nvPr/>
        </p:nvSpPr>
        <p:spPr>
          <a:xfrm>
            <a:off x="457200" y="822960"/>
            <a:ext cx="8229600" cy="5303520"/>
          </a:xfrm>
          <a:prstGeom prst="rect">
            <a:avLst/>
          </a:prstGeom>
          <a:noFill/>
          <a:ln/>
        </p:spPr>
        <p:txBody>
          <a:bodyPr wrap="square" rtlCol="0" anchor="t"/>
          <a:lstStyle/>
          <a:p>
            <a:pPr>
              <a:spcAft>
                <a:spcPts val="400"/>
              </a:spcAft>
            </a:pPr>
            <a:r>
              <a:rPr lang="en-US" sz="1300" dirty="0">
                <a:solidFill>
                  <a:srgbClr val="334155"/>
                </a:solidFill>
                <a:latin typeface="Calibri" pitchFamily="34" charset="0"/>
                <a:ea typeface="Calibri" pitchFamily="34" charset="-122"/>
                <a:cs typeface="Calibri" pitchFamily="34" charset="-120"/>
              </a:rPr>
              <a:t>RTTY (Radio Teletype): two frequencies (mark and space), 170 Hz shift standard, 45.45 baud; uses LSB with AFSK</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PSK31: phase-shift keying; 31.25 baud; ~80 Hz bandwidth; keyboard-to-keyboard; uses LSB with AFSK</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PSK31 note: dial frequency ≠ RF frequency; add audio tone (~1500 Hz) to dial to get actual RF</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FT8: 15-second transmit/receive cycles; computer clock must be within ±1 second of UTC; 4-tone GFSK; ~50 Hz wide</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FT8 uses: WSJT-X software; exchanges grid squares and signal reports; fully automated QSO</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MFSK: multi-frequency shift keying; multiple tones for higher throughput; more robust than 2-tone FSK</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Winlink: email over radio; HF gateways; uses PACTOR or Ardop; addressed as regular email</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APRS: 1200 baud on VHF (144.39 MHz); position, messaging, weather; uses AX.25 protocol</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1300" b="1" dirty="0">
                <a:solidFill>
                  <a:srgbClr val="6EE7B7"/>
                </a:solidFill>
                <a:latin typeface="Calibri" pitchFamily="34" charset="0"/>
                <a:ea typeface="Calibri" pitchFamily="34" charset="-122"/>
                <a:cs typeface="Calibri" pitchFamily="34" charset="-120"/>
              </a:rPr>
              <a:t>Checkpoint Quiz</a:t>
            </a:r>
            <a:endParaRPr lang="en-US" sz="1300" dirty="0"/>
          </a:p>
        </p:txBody>
      </p:sp>
      <p:sp>
        <p:nvSpPr>
          <p:cNvPr id="4" name="Text 2"/>
          <p:cNvSpPr/>
          <p:nvPr/>
        </p:nvSpPr>
        <p:spPr>
          <a:xfrm>
            <a:off x="457200" y="640080"/>
            <a:ext cx="8229600" cy="1371600"/>
          </a:xfrm>
          <a:prstGeom prst="rect">
            <a:avLst/>
          </a:prstGeom>
          <a:noFill/>
          <a:ln/>
        </p:spPr>
        <p:txBody>
          <a:bodyPr wrap="square"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What is the ripple frequency output of a full-wave rectifier connected to a 60 Hz AC source?</a:t>
            </a:r>
            <a:endParaRPr lang="en-US" sz="1700" dirty="0"/>
          </a:p>
        </p:txBody>
      </p:sp>
      <p:sp>
        <p:nvSpPr>
          <p:cNvPr id="5" name="Shape 3"/>
          <p:cNvSpPr/>
          <p:nvPr/>
        </p:nvSpPr>
        <p:spPr>
          <a:xfrm>
            <a:off x="457200" y="2194560"/>
            <a:ext cx="8229600" cy="822960"/>
          </a:xfrm>
          <a:prstGeom prst="roundRect">
            <a:avLst>
              <a:gd name="adj" fmla="val 8889"/>
            </a:avLst>
          </a:prstGeom>
          <a:solidFill>
            <a:srgbClr val="065F46"/>
          </a:solidFill>
          <a:ln/>
        </p:spPr>
      </p:sp>
      <p:sp>
        <p:nvSpPr>
          <p:cNvPr id="6" name="Text 4"/>
          <p:cNvSpPr/>
          <p:nvPr/>
        </p:nvSpPr>
        <p:spPr>
          <a:xfrm>
            <a:off x="640080" y="2286000"/>
            <a:ext cx="7772400" cy="640080"/>
          </a:xfrm>
          <a:prstGeom prst="rect">
            <a:avLst/>
          </a:prstGeom>
          <a:noFill/>
          <a:ln/>
        </p:spPr>
        <p:txBody>
          <a:bodyPr wrap="square" rtlCol="0" anchor="ctr"/>
          <a:lstStyle/>
          <a:p>
            <a:pPr indent="0" marL="0">
              <a:buNone/>
            </a:pPr>
            <a:r>
              <a:rPr lang="en-US" sz="1300" dirty="0">
                <a:solidFill>
                  <a:srgbClr val="6EE7B7"/>
                </a:solidFill>
                <a:latin typeface="Calibri" pitchFamily="34" charset="0"/>
                <a:ea typeface="Calibri" pitchFamily="34" charset="-122"/>
                <a:cs typeface="Calibri" pitchFamily="34" charset="-120"/>
              </a:rPr>
              <a:t>A.  120 Hz</a:t>
            </a:r>
            <a:endParaRPr lang="en-US" sz="1300" dirty="0"/>
          </a:p>
        </p:txBody>
      </p:sp>
      <p:sp>
        <p:nvSpPr>
          <p:cNvPr id="7" name="Shape 5"/>
          <p:cNvSpPr/>
          <p:nvPr/>
        </p:nvSpPr>
        <p:spPr>
          <a:xfrm>
            <a:off x="457200" y="3200400"/>
            <a:ext cx="8229600" cy="822960"/>
          </a:xfrm>
          <a:prstGeom prst="roundRect">
            <a:avLst>
              <a:gd name="adj" fmla="val 8889"/>
            </a:avLst>
          </a:prstGeom>
          <a:solidFill>
            <a:srgbClr val="1E293B"/>
          </a:solidFill>
          <a:ln/>
        </p:spPr>
      </p:sp>
      <p:sp>
        <p:nvSpPr>
          <p:cNvPr id="8" name="Text 6"/>
          <p:cNvSpPr/>
          <p:nvPr/>
        </p:nvSpPr>
        <p:spPr>
          <a:xfrm>
            <a:off x="640080" y="329184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  60 Hz</a:t>
            </a:r>
            <a:endParaRPr lang="en-US" sz="1300" dirty="0"/>
          </a:p>
        </p:txBody>
      </p:sp>
      <p:sp>
        <p:nvSpPr>
          <p:cNvPr id="9" name="Shape 7"/>
          <p:cNvSpPr/>
          <p:nvPr/>
        </p:nvSpPr>
        <p:spPr>
          <a:xfrm>
            <a:off x="457200" y="4206240"/>
            <a:ext cx="8229600" cy="822960"/>
          </a:xfrm>
          <a:prstGeom prst="roundRect">
            <a:avLst>
              <a:gd name="adj" fmla="val 8889"/>
            </a:avLst>
          </a:prstGeom>
          <a:solidFill>
            <a:srgbClr val="1E293B"/>
          </a:solidFill>
          <a:ln/>
        </p:spPr>
      </p:sp>
      <p:sp>
        <p:nvSpPr>
          <p:cNvPr id="10" name="Text 8"/>
          <p:cNvSpPr/>
          <p:nvPr/>
        </p:nvSpPr>
        <p:spPr>
          <a:xfrm>
            <a:off x="640080" y="429768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  240 Hz</a:t>
            </a:r>
            <a:endParaRPr lang="en-US" sz="1300" dirty="0"/>
          </a:p>
        </p:txBody>
      </p:sp>
      <p:sp>
        <p:nvSpPr>
          <p:cNvPr id="11" name="Shape 9"/>
          <p:cNvSpPr/>
          <p:nvPr/>
        </p:nvSpPr>
        <p:spPr>
          <a:xfrm>
            <a:off x="457200" y="5212080"/>
            <a:ext cx="8229600" cy="822960"/>
          </a:xfrm>
          <a:prstGeom prst="roundRect">
            <a:avLst>
              <a:gd name="adj" fmla="val 8889"/>
            </a:avLst>
          </a:prstGeom>
          <a:solidFill>
            <a:srgbClr val="1E293B"/>
          </a:solidFill>
          <a:ln/>
        </p:spPr>
      </p:sp>
      <p:sp>
        <p:nvSpPr>
          <p:cNvPr id="12" name="Text 10"/>
          <p:cNvSpPr/>
          <p:nvPr/>
        </p:nvSpPr>
        <p:spPr>
          <a:xfrm>
            <a:off x="640080" y="530352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  30 Hz</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1300" b="1" dirty="0">
                <a:solidFill>
                  <a:srgbClr val="6EE7B7"/>
                </a:solidFill>
                <a:latin typeface="Calibri" pitchFamily="34" charset="0"/>
                <a:ea typeface="Calibri" pitchFamily="34" charset="-122"/>
                <a:cs typeface="Calibri" pitchFamily="34" charset="-120"/>
              </a:rPr>
              <a:t>Checkpoint Quiz</a:t>
            </a:r>
            <a:endParaRPr lang="en-US" sz="1300" dirty="0"/>
          </a:p>
        </p:txBody>
      </p:sp>
      <p:sp>
        <p:nvSpPr>
          <p:cNvPr id="4" name="Text 2"/>
          <p:cNvSpPr/>
          <p:nvPr/>
        </p:nvSpPr>
        <p:spPr>
          <a:xfrm>
            <a:off x="457200" y="640080"/>
            <a:ext cx="8229600" cy="1371600"/>
          </a:xfrm>
          <a:prstGeom prst="rect">
            <a:avLst/>
          </a:prstGeom>
          <a:noFill/>
          <a:ln/>
        </p:spPr>
        <p:txBody>
          <a:bodyPr wrap="square"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Which amplifier class is most suitable for use in the final stage of a single-sideband transmitter?</a:t>
            </a:r>
            <a:endParaRPr lang="en-US" sz="1700" dirty="0"/>
          </a:p>
        </p:txBody>
      </p:sp>
      <p:sp>
        <p:nvSpPr>
          <p:cNvPr id="5" name="Shape 3"/>
          <p:cNvSpPr/>
          <p:nvPr/>
        </p:nvSpPr>
        <p:spPr>
          <a:xfrm>
            <a:off x="457200" y="2194560"/>
            <a:ext cx="8229600" cy="822960"/>
          </a:xfrm>
          <a:prstGeom prst="roundRect">
            <a:avLst>
              <a:gd name="adj" fmla="val 8889"/>
            </a:avLst>
          </a:prstGeom>
          <a:solidFill>
            <a:srgbClr val="065F46"/>
          </a:solidFill>
          <a:ln/>
        </p:spPr>
      </p:sp>
      <p:sp>
        <p:nvSpPr>
          <p:cNvPr id="6" name="Text 4"/>
          <p:cNvSpPr/>
          <p:nvPr/>
        </p:nvSpPr>
        <p:spPr>
          <a:xfrm>
            <a:off x="640080" y="2286000"/>
            <a:ext cx="7772400" cy="640080"/>
          </a:xfrm>
          <a:prstGeom prst="rect">
            <a:avLst/>
          </a:prstGeom>
          <a:noFill/>
          <a:ln/>
        </p:spPr>
        <p:txBody>
          <a:bodyPr wrap="square" rtlCol="0" anchor="ctr"/>
          <a:lstStyle/>
          <a:p>
            <a:pPr indent="0" marL="0">
              <a:buNone/>
            </a:pPr>
            <a:r>
              <a:rPr lang="en-US" sz="1300" dirty="0">
                <a:solidFill>
                  <a:srgbClr val="6EE7B7"/>
                </a:solidFill>
                <a:latin typeface="Calibri" pitchFamily="34" charset="0"/>
                <a:ea typeface="Calibri" pitchFamily="34" charset="-122"/>
                <a:cs typeface="Calibri" pitchFamily="34" charset="-120"/>
              </a:rPr>
              <a:t>A.  Class AB</a:t>
            </a:r>
            <a:endParaRPr lang="en-US" sz="1300" dirty="0"/>
          </a:p>
        </p:txBody>
      </p:sp>
      <p:sp>
        <p:nvSpPr>
          <p:cNvPr id="7" name="Shape 5"/>
          <p:cNvSpPr/>
          <p:nvPr/>
        </p:nvSpPr>
        <p:spPr>
          <a:xfrm>
            <a:off x="457200" y="3200400"/>
            <a:ext cx="8229600" cy="822960"/>
          </a:xfrm>
          <a:prstGeom prst="roundRect">
            <a:avLst>
              <a:gd name="adj" fmla="val 8889"/>
            </a:avLst>
          </a:prstGeom>
          <a:solidFill>
            <a:srgbClr val="1E293B"/>
          </a:solidFill>
          <a:ln/>
        </p:spPr>
      </p:sp>
      <p:sp>
        <p:nvSpPr>
          <p:cNvPr id="8" name="Text 6"/>
          <p:cNvSpPr/>
          <p:nvPr/>
        </p:nvSpPr>
        <p:spPr>
          <a:xfrm>
            <a:off x="640080" y="329184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  Class A</a:t>
            </a:r>
            <a:endParaRPr lang="en-US" sz="1300" dirty="0"/>
          </a:p>
        </p:txBody>
      </p:sp>
      <p:sp>
        <p:nvSpPr>
          <p:cNvPr id="9" name="Shape 7"/>
          <p:cNvSpPr/>
          <p:nvPr/>
        </p:nvSpPr>
        <p:spPr>
          <a:xfrm>
            <a:off x="457200" y="4206240"/>
            <a:ext cx="8229600" cy="822960"/>
          </a:xfrm>
          <a:prstGeom prst="roundRect">
            <a:avLst>
              <a:gd name="adj" fmla="val 8889"/>
            </a:avLst>
          </a:prstGeom>
          <a:solidFill>
            <a:srgbClr val="1E293B"/>
          </a:solidFill>
          <a:ln/>
        </p:spPr>
      </p:sp>
      <p:sp>
        <p:nvSpPr>
          <p:cNvPr id="10" name="Text 8"/>
          <p:cNvSpPr/>
          <p:nvPr/>
        </p:nvSpPr>
        <p:spPr>
          <a:xfrm>
            <a:off x="640080" y="429768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  Class C</a:t>
            </a:r>
            <a:endParaRPr lang="en-US" sz="1300" dirty="0"/>
          </a:p>
        </p:txBody>
      </p:sp>
      <p:sp>
        <p:nvSpPr>
          <p:cNvPr id="11" name="Shape 9"/>
          <p:cNvSpPr/>
          <p:nvPr/>
        </p:nvSpPr>
        <p:spPr>
          <a:xfrm>
            <a:off x="457200" y="5212080"/>
            <a:ext cx="8229600" cy="822960"/>
          </a:xfrm>
          <a:prstGeom prst="roundRect">
            <a:avLst>
              <a:gd name="adj" fmla="val 8889"/>
            </a:avLst>
          </a:prstGeom>
          <a:solidFill>
            <a:srgbClr val="1E293B"/>
          </a:solidFill>
          <a:ln/>
        </p:spPr>
      </p:sp>
      <p:sp>
        <p:nvSpPr>
          <p:cNvPr id="12" name="Text 10"/>
          <p:cNvSpPr/>
          <p:nvPr/>
        </p:nvSpPr>
        <p:spPr>
          <a:xfrm>
            <a:off x="640080" y="530352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  Class 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1300" b="1" dirty="0">
                <a:solidFill>
                  <a:srgbClr val="6EE7B7"/>
                </a:solidFill>
                <a:latin typeface="Calibri" pitchFamily="34" charset="0"/>
                <a:ea typeface="Calibri" pitchFamily="34" charset="-122"/>
                <a:cs typeface="Calibri" pitchFamily="34" charset="-120"/>
              </a:rPr>
              <a:t>Checkpoint Quiz</a:t>
            </a:r>
            <a:endParaRPr lang="en-US" sz="1300" dirty="0"/>
          </a:p>
        </p:txBody>
      </p:sp>
      <p:sp>
        <p:nvSpPr>
          <p:cNvPr id="4" name="Text 2"/>
          <p:cNvSpPr/>
          <p:nvPr/>
        </p:nvSpPr>
        <p:spPr>
          <a:xfrm>
            <a:off x="457200" y="640080"/>
            <a:ext cx="8229600" cy="1371600"/>
          </a:xfrm>
          <a:prstGeom prst="rect">
            <a:avLst/>
          </a:prstGeom>
          <a:noFill/>
          <a:ln/>
        </p:spPr>
        <p:txBody>
          <a:bodyPr wrap="square"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What term describes the ability of an FM receiver to suppress the weaker of two co-channel signals?</a:t>
            </a:r>
            <a:endParaRPr lang="en-US" sz="1700" dirty="0"/>
          </a:p>
        </p:txBody>
      </p:sp>
      <p:sp>
        <p:nvSpPr>
          <p:cNvPr id="5" name="Shape 3"/>
          <p:cNvSpPr/>
          <p:nvPr/>
        </p:nvSpPr>
        <p:spPr>
          <a:xfrm>
            <a:off x="457200" y="2194560"/>
            <a:ext cx="8229600" cy="822960"/>
          </a:xfrm>
          <a:prstGeom prst="roundRect">
            <a:avLst>
              <a:gd name="adj" fmla="val 8889"/>
            </a:avLst>
          </a:prstGeom>
          <a:solidFill>
            <a:srgbClr val="065F46"/>
          </a:solidFill>
          <a:ln/>
        </p:spPr>
      </p:sp>
      <p:sp>
        <p:nvSpPr>
          <p:cNvPr id="6" name="Text 4"/>
          <p:cNvSpPr/>
          <p:nvPr/>
        </p:nvSpPr>
        <p:spPr>
          <a:xfrm>
            <a:off x="640080" y="2286000"/>
            <a:ext cx="7772400" cy="640080"/>
          </a:xfrm>
          <a:prstGeom prst="rect">
            <a:avLst/>
          </a:prstGeom>
          <a:noFill/>
          <a:ln/>
        </p:spPr>
        <p:txBody>
          <a:bodyPr wrap="square" rtlCol="0" anchor="ctr"/>
          <a:lstStyle/>
          <a:p>
            <a:pPr indent="0" marL="0">
              <a:buNone/>
            </a:pPr>
            <a:r>
              <a:rPr lang="en-US" sz="1300" dirty="0">
                <a:solidFill>
                  <a:srgbClr val="6EE7B7"/>
                </a:solidFill>
                <a:latin typeface="Calibri" pitchFamily="34" charset="0"/>
                <a:ea typeface="Calibri" pitchFamily="34" charset="-122"/>
                <a:cs typeface="Calibri" pitchFamily="34" charset="-120"/>
              </a:rPr>
              <a:t>A.  Capture effect</a:t>
            </a:r>
            <a:endParaRPr lang="en-US" sz="1300" dirty="0"/>
          </a:p>
        </p:txBody>
      </p:sp>
      <p:sp>
        <p:nvSpPr>
          <p:cNvPr id="7" name="Shape 5"/>
          <p:cNvSpPr/>
          <p:nvPr/>
        </p:nvSpPr>
        <p:spPr>
          <a:xfrm>
            <a:off x="457200" y="3200400"/>
            <a:ext cx="8229600" cy="822960"/>
          </a:xfrm>
          <a:prstGeom prst="roundRect">
            <a:avLst>
              <a:gd name="adj" fmla="val 8889"/>
            </a:avLst>
          </a:prstGeom>
          <a:solidFill>
            <a:srgbClr val="1E293B"/>
          </a:solidFill>
          <a:ln/>
        </p:spPr>
      </p:sp>
      <p:sp>
        <p:nvSpPr>
          <p:cNvPr id="8" name="Text 6"/>
          <p:cNvSpPr/>
          <p:nvPr/>
        </p:nvSpPr>
        <p:spPr>
          <a:xfrm>
            <a:off x="640080" y="329184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  Quieting effect</a:t>
            </a:r>
            <a:endParaRPr lang="en-US" sz="1300" dirty="0"/>
          </a:p>
        </p:txBody>
      </p:sp>
      <p:sp>
        <p:nvSpPr>
          <p:cNvPr id="9" name="Shape 7"/>
          <p:cNvSpPr/>
          <p:nvPr/>
        </p:nvSpPr>
        <p:spPr>
          <a:xfrm>
            <a:off x="457200" y="4206240"/>
            <a:ext cx="8229600" cy="822960"/>
          </a:xfrm>
          <a:prstGeom prst="roundRect">
            <a:avLst>
              <a:gd name="adj" fmla="val 8889"/>
            </a:avLst>
          </a:prstGeom>
          <a:solidFill>
            <a:srgbClr val="1E293B"/>
          </a:solidFill>
          <a:ln/>
        </p:spPr>
      </p:sp>
      <p:sp>
        <p:nvSpPr>
          <p:cNvPr id="10" name="Text 8"/>
          <p:cNvSpPr/>
          <p:nvPr/>
        </p:nvSpPr>
        <p:spPr>
          <a:xfrm>
            <a:off x="640080" y="429768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  Desensitization</a:t>
            </a:r>
            <a:endParaRPr lang="en-US" sz="1300" dirty="0"/>
          </a:p>
        </p:txBody>
      </p:sp>
      <p:sp>
        <p:nvSpPr>
          <p:cNvPr id="11" name="Shape 9"/>
          <p:cNvSpPr/>
          <p:nvPr/>
        </p:nvSpPr>
        <p:spPr>
          <a:xfrm>
            <a:off x="457200" y="5212080"/>
            <a:ext cx="8229600" cy="822960"/>
          </a:xfrm>
          <a:prstGeom prst="roundRect">
            <a:avLst>
              <a:gd name="adj" fmla="val 8889"/>
            </a:avLst>
          </a:prstGeom>
          <a:solidFill>
            <a:srgbClr val="1E293B"/>
          </a:solidFill>
          <a:ln/>
        </p:spPr>
      </p:sp>
      <p:sp>
        <p:nvSpPr>
          <p:cNvPr id="12" name="Text 10"/>
          <p:cNvSpPr/>
          <p:nvPr/>
        </p:nvSpPr>
        <p:spPr>
          <a:xfrm>
            <a:off x="640080" y="530352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  Adjacent channel rejection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1300" b="1" dirty="0">
                <a:solidFill>
                  <a:srgbClr val="6EE7B7"/>
                </a:solidFill>
                <a:latin typeface="Calibri" pitchFamily="34" charset="0"/>
                <a:ea typeface="Calibri" pitchFamily="34" charset="-122"/>
                <a:cs typeface="Calibri" pitchFamily="34" charset="-120"/>
              </a:rPr>
              <a:t>Checkpoint Quiz</a:t>
            </a:r>
            <a:endParaRPr lang="en-US" sz="1300" dirty="0"/>
          </a:p>
        </p:txBody>
      </p:sp>
      <p:sp>
        <p:nvSpPr>
          <p:cNvPr id="4" name="Text 2"/>
          <p:cNvSpPr/>
          <p:nvPr/>
        </p:nvSpPr>
        <p:spPr>
          <a:xfrm>
            <a:off x="457200" y="640080"/>
            <a:ext cx="8229600" cy="1371600"/>
          </a:xfrm>
          <a:prstGeom prst="rect">
            <a:avLst/>
          </a:prstGeom>
          <a:noFill/>
          <a:ln/>
        </p:spPr>
        <p:txBody>
          <a:bodyPr wrap="square"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What is the emission designator for a single-sideband phone signal with a suppressed carrier?</a:t>
            </a:r>
            <a:endParaRPr lang="en-US" sz="1700" dirty="0"/>
          </a:p>
        </p:txBody>
      </p:sp>
      <p:sp>
        <p:nvSpPr>
          <p:cNvPr id="5" name="Shape 3"/>
          <p:cNvSpPr/>
          <p:nvPr/>
        </p:nvSpPr>
        <p:spPr>
          <a:xfrm>
            <a:off x="457200" y="2194560"/>
            <a:ext cx="8229600" cy="822960"/>
          </a:xfrm>
          <a:prstGeom prst="roundRect">
            <a:avLst>
              <a:gd name="adj" fmla="val 8889"/>
            </a:avLst>
          </a:prstGeom>
          <a:solidFill>
            <a:srgbClr val="065F46"/>
          </a:solidFill>
          <a:ln/>
        </p:spPr>
      </p:sp>
      <p:sp>
        <p:nvSpPr>
          <p:cNvPr id="6" name="Text 4"/>
          <p:cNvSpPr/>
          <p:nvPr/>
        </p:nvSpPr>
        <p:spPr>
          <a:xfrm>
            <a:off x="640080" y="2286000"/>
            <a:ext cx="7772400" cy="640080"/>
          </a:xfrm>
          <a:prstGeom prst="rect">
            <a:avLst/>
          </a:prstGeom>
          <a:noFill/>
          <a:ln/>
        </p:spPr>
        <p:txBody>
          <a:bodyPr wrap="square" rtlCol="0" anchor="ctr"/>
          <a:lstStyle/>
          <a:p>
            <a:pPr indent="0" marL="0">
              <a:buNone/>
            </a:pPr>
            <a:r>
              <a:rPr lang="en-US" sz="1300" dirty="0">
                <a:solidFill>
                  <a:srgbClr val="6EE7B7"/>
                </a:solidFill>
                <a:latin typeface="Calibri" pitchFamily="34" charset="0"/>
                <a:ea typeface="Calibri" pitchFamily="34" charset="-122"/>
                <a:cs typeface="Calibri" pitchFamily="34" charset="-120"/>
              </a:rPr>
              <a:t>A.  J3E</a:t>
            </a:r>
            <a:endParaRPr lang="en-US" sz="1300" dirty="0"/>
          </a:p>
        </p:txBody>
      </p:sp>
      <p:sp>
        <p:nvSpPr>
          <p:cNvPr id="7" name="Shape 5"/>
          <p:cNvSpPr/>
          <p:nvPr/>
        </p:nvSpPr>
        <p:spPr>
          <a:xfrm>
            <a:off x="457200" y="3200400"/>
            <a:ext cx="8229600" cy="822960"/>
          </a:xfrm>
          <a:prstGeom prst="roundRect">
            <a:avLst>
              <a:gd name="adj" fmla="val 8889"/>
            </a:avLst>
          </a:prstGeom>
          <a:solidFill>
            <a:srgbClr val="1E293B"/>
          </a:solidFill>
          <a:ln/>
        </p:spPr>
      </p:sp>
      <p:sp>
        <p:nvSpPr>
          <p:cNvPr id="8" name="Text 6"/>
          <p:cNvSpPr/>
          <p:nvPr/>
        </p:nvSpPr>
        <p:spPr>
          <a:xfrm>
            <a:off x="640080" y="329184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  A3E</a:t>
            </a:r>
            <a:endParaRPr lang="en-US" sz="1300" dirty="0"/>
          </a:p>
        </p:txBody>
      </p:sp>
      <p:sp>
        <p:nvSpPr>
          <p:cNvPr id="9" name="Shape 7"/>
          <p:cNvSpPr/>
          <p:nvPr/>
        </p:nvSpPr>
        <p:spPr>
          <a:xfrm>
            <a:off x="457200" y="4206240"/>
            <a:ext cx="8229600" cy="822960"/>
          </a:xfrm>
          <a:prstGeom prst="roundRect">
            <a:avLst>
              <a:gd name="adj" fmla="val 8889"/>
            </a:avLst>
          </a:prstGeom>
          <a:solidFill>
            <a:srgbClr val="1E293B"/>
          </a:solidFill>
          <a:ln/>
        </p:spPr>
      </p:sp>
      <p:sp>
        <p:nvSpPr>
          <p:cNvPr id="10" name="Text 8"/>
          <p:cNvSpPr/>
          <p:nvPr/>
        </p:nvSpPr>
        <p:spPr>
          <a:xfrm>
            <a:off x="640080" y="429768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  F3E</a:t>
            </a:r>
            <a:endParaRPr lang="en-US" sz="1300" dirty="0"/>
          </a:p>
        </p:txBody>
      </p:sp>
      <p:sp>
        <p:nvSpPr>
          <p:cNvPr id="11" name="Shape 9"/>
          <p:cNvSpPr/>
          <p:nvPr/>
        </p:nvSpPr>
        <p:spPr>
          <a:xfrm>
            <a:off x="457200" y="5212080"/>
            <a:ext cx="8229600" cy="822960"/>
          </a:xfrm>
          <a:prstGeom prst="roundRect">
            <a:avLst>
              <a:gd name="adj" fmla="val 8889"/>
            </a:avLst>
          </a:prstGeom>
          <a:solidFill>
            <a:srgbClr val="1E293B"/>
          </a:solidFill>
          <a:ln/>
        </p:spPr>
      </p:sp>
      <p:sp>
        <p:nvSpPr>
          <p:cNvPr id="12" name="Text 10"/>
          <p:cNvSpPr/>
          <p:nvPr/>
        </p:nvSpPr>
        <p:spPr>
          <a:xfrm>
            <a:off x="640080" y="530352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  G3E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1300" b="1" dirty="0">
                <a:solidFill>
                  <a:srgbClr val="6EE7B7"/>
                </a:solidFill>
                <a:latin typeface="Calibri" pitchFamily="34" charset="0"/>
                <a:ea typeface="Calibri" pitchFamily="34" charset="-122"/>
                <a:cs typeface="Calibri" pitchFamily="34" charset="-120"/>
              </a:rPr>
              <a:t>Checkpoint Quiz</a:t>
            </a:r>
            <a:endParaRPr lang="en-US" sz="1300" dirty="0"/>
          </a:p>
        </p:txBody>
      </p:sp>
      <p:sp>
        <p:nvSpPr>
          <p:cNvPr id="4" name="Text 2"/>
          <p:cNvSpPr/>
          <p:nvPr/>
        </p:nvSpPr>
        <p:spPr>
          <a:xfrm>
            <a:off x="457200" y="640080"/>
            <a:ext cx="8229600" cy="1371600"/>
          </a:xfrm>
          <a:prstGeom prst="rect">
            <a:avLst/>
          </a:prstGeom>
          <a:noFill/>
          <a:ln/>
        </p:spPr>
        <p:txBody>
          <a:bodyPr wrap="square"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What function does a Beat Frequency Oscillator (BFO) serve in a receiver?</a:t>
            </a:r>
            <a:endParaRPr lang="en-US" sz="1700" dirty="0"/>
          </a:p>
        </p:txBody>
      </p:sp>
      <p:sp>
        <p:nvSpPr>
          <p:cNvPr id="5" name="Shape 3"/>
          <p:cNvSpPr/>
          <p:nvPr/>
        </p:nvSpPr>
        <p:spPr>
          <a:xfrm>
            <a:off x="457200" y="2194560"/>
            <a:ext cx="8229600" cy="822960"/>
          </a:xfrm>
          <a:prstGeom prst="roundRect">
            <a:avLst>
              <a:gd name="adj" fmla="val 8889"/>
            </a:avLst>
          </a:prstGeom>
          <a:solidFill>
            <a:srgbClr val="065F46"/>
          </a:solidFill>
          <a:ln/>
        </p:spPr>
      </p:sp>
      <p:sp>
        <p:nvSpPr>
          <p:cNvPr id="6" name="Text 4"/>
          <p:cNvSpPr/>
          <p:nvPr/>
        </p:nvSpPr>
        <p:spPr>
          <a:xfrm>
            <a:off x="640080" y="2286000"/>
            <a:ext cx="7772400" cy="640080"/>
          </a:xfrm>
          <a:prstGeom prst="rect">
            <a:avLst/>
          </a:prstGeom>
          <a:noFill/>
          <a:ln/>
        </p:spPr>
        <p:txBody>
          <a:bodyPr wrap="square" rtlCol="0" anchor="ctr"/>
          <a:lstStyle/>
          <a:p>
            <a:pPr indent="0" marL="0">
              <a:buNone/>
            </a:pPr>
            <a:r>
              <a:rPr lang="en-US" sz="1300" dirty="0">
                <a:solidFill>
                  <a:srgbClr val="6EE7B7"/>
                </a:solidFill>
                <a:latin typeface="Calibri" pitchFamily="34" charset="0"/>
                <a:ea typeface="Calibri" pitchFamily="34" charset="-122"/>
                <a:cs typeface="Calibri" pitchFamily="34" charset="-120"/>
              </a:rPr>
              <a:t>A.  It generates a carrier to heterodyne with the IF signal for SSB and CW demodulation</a:t>
            </a:r>
            <a:endParaRPr lang="en-US" sz="1300" dirty="0"/>
          </a:p>
        </p:txBody>
      </p:sp>
      <p:sp>
        <p:nvSpPr>
          <p:cNvPr id="7" name="Shape 5"/>
          <p:cNvSpPr/>
          <p:nvPr/>
        </p:nvSpPr>
        <p:spPr>
          <a:xfrm>
            <a:off x="457200" y="3200400"/>
            <a:ext cx="8229600" cy="822960"/>
          </a:xfrm>
          <a:prstGeom prst="roundRect">
            <a:avLst>
              <a:gd name="adj" fmla="val 8889"/>
            </a:avLst>
          </a:prstGeom>
          <a:solidFill>
            <a:srgbClr val="1E293B"/>
          </a:solidFill>
          <a:ln/>
        </p:spPr>
      </p:sp>
      <p:sp>
        <p:nvSpPr>
          <p:cNvPr id="8" name="Text 6"/>
          <p:cNvSpPr/>
          <p:nvPr/>
        </p:nvSpPr>
        <p:spPr>
          <a:xfrm>
            <a:off x="640080" y="329184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  It stabilizes the local oscillator frequency</a:t>
            </a:r>
            <a:endParaRPr lang="en-US" sz="1300" dirty="0"/>
          </a:p>
        </p:txBody>
      </p:sp>
      <p:sp>
        <p:nvSpPr>
          <p:cNvPr id="9" name="Shape 7"/>
          <p:cNvSpPr/>
          <p:nvPr/>
        </p:nvSpPr>
        <p:spPr>
          <a:xfrm>
            <a:off x="457200" y="4206240"/>
            <a:ext cx="8229600" cy="822960"/>
          </a:xfrm>
          <a:prstGeom prst="roundRect">
            <a:avLst>
              <a:gd name="adj" fmla="val 8889"/>
            </a:avLst>
          </a:prstGeom>
          <a:solidFill>
            <a:srgbClr val="1E293B"/>
          </a:solidFill>
          <a:ln/>
        </p:spPr>
      </p:sp>
      <p:sp>
        <p:nvSpPr>
          <p:cNvPr id="10" name="Text 8"/>
          <p:cNvSpPr/>
          <p:nvPr/>
        </p:nvSpPr>
        <p:spPr>
          <a:xfrm>
            <a:off x="640080" y="429768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  It provides automatic gain control for the IF stage</a:t>
            </a:r>
            <a:endParaRPr lang="en-US" sz="1300" dirty="0"/>
          </a:p>
        </p:txBody>
      </p:sp>
      <p:sp>
        <p:nvSpPr>
          <p:cNvPr id="11" name="Shape 9"/>
          <p:cNvSpPr/>
          <p:nvPr/>
        </p:nvSpPr>
        <p:spPr>
          <a:xfrm>
            <a:off x="457200" y="5212080"/>
            <a:ext cx="8229600" cy="822960"/>
          </a:xfrm>
          <a:prstGeom prst="roundRect">
            <a:avLst>
              <a:gd name="adj" fmla="val 8889"/>
            </a:avLst>
          </a:prstGeom>
          <a:solidFill>
            <a:srgbClr val="1E293B"/>
          </a:solidFill>
          <a:ln/>
        </p:spPr>
      </p:sp>
      <p:sp>
        <p:nvSpPr>
          <p:cNvPr id="12" name="Text 10"/>
          <p:cNvSpPr/>
          <p:nvPr/>
        </p:nvSpPr>
        <p:spPr>
          <a:xfrm>
            <a:off x="640080" y="530352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  It converts the detected audio to a digital signal</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10B981"/>
          </a:solidFill>
          <a:ln/>
        </p:spPr>
      </p:sp>
      <p:sp>
        <p:nvSpPr>
          <p:cNvPr id="3" name="Text 1"/>
          <p:cNvSpPr/>
          <p:nvPr/>
        </p:nvSpPr>
        <p:spPr>
          <a:xfrm>
            <a:off x="457200" y="457200"/>
            <a:ext cx="7772400" cy="548640"/>
          </a:xfrm>
          <a:prstGeom prst="rect">
            <a:avLst/>
          </a:prstGeom>
          <a:noFill/>
          <a:ln/>
        </p:spPr>
        <p:txBody>
          <a:bodyPr wrap="square" rtlCol="0" anchor="ctr"/>
          <a:lstStyle/>
          <a:p>
            <a:pPr indent="0" marL="0">
              <a:buNone/>
            </a:pPr>
            <a:r>
              <a:rPr lang="en-US" sz="2200" b="1" dirty="0">
                <a:solidFill>
                  <a:srgbClr val="6EE7B7"/>
                </a:solidFill>
                <a:latin typeface="Calibri" pitchFamily="34" charset="0"/>
                <a:ea typeface="Calibri" pitchFamily="34" charset="-122"/>
                <a:cs typeface="Calibri" pitchFamily="34" charset="-120"/>
              </a:rPr>
              <a:t>HamStudy Assignment</a:t>
            </a:r>
            <a:endParaRPr lang="en-US" sz="2200" dirty="0"/>
          </a:p>
        </p:txBody>
      </p:sp>
      <p:sp>
        <p:nvSpPr>
          <p:cNvPr id="4" name="Text 2"/>
          <p:cNvSpPr/>
          <p:nvPr/>
        </p:nvSpPr>
        <p:spPr>
          <a:xfrm>
            <a:off x="457200" y="1097280"/>
            <a:ext cx="73152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Drill these sections before next module:</a:t>
            </a:r>
            <a:endParaRPr lang="en-US" sz="1400" dirty="0"/>
          </a:p>
        </p:txBody>
      </p:sp>
      <p:sp>
        <p:nvSpPr>
          <p:cNvPr id="5" name="Text 3"/>
          <p:cNvSpPr/>
          <p:nvPr/>
        </p:nvSpPr>
        <p:spPr>
          <a:xfrm>
            <a:off x="457200" y="1645920"/>
            <a:ext cx="5486400" cy="22860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G7A — Power Supplies</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G7B — Amplifiers &amp; Oscillators</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G7C — Receivers &amp; Transmitters</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G8A — Modulation Modes</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G8B — FM &amp; Modulation</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G8C — Digital Modes</a:t>
            </a:r>
            <a:endParaRPr lang="en-US" sz="1600" dirty="0"/>
          </a:p>
        </p:txBody>
      </p:sp>
      <p:sp>
        <p:nvSpPr>
          <p:cNvPr id="6" name="Text 4"/>
          <p:cNvSpPr/>
          <p:nvPr/>
        </p:nvSpPr>
        <p:spPr>
          <a:xfrm>
            <a:off x="457200" y="4114800"/>
            <a:ext cx="7315200" cy="36576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hamstudy.org · scan to join our study group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2026-09-19T05:16:16Z</dcterms:created>
  <dcterms:modified xsi:type="dcterms:W3CDTF">2026-09-19T05:16:16Z</dcterms:modified>
</cp:coreProperties>
</file>