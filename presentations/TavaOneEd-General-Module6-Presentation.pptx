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content tonight. Two full-length practice exams, targeted weak-area review, and exam-day logistics. Students have everything they need. The goal is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logistic clearly. Emphasize: $35 fee is paid AFTER the exam online, not at the exam table. VEs come here. Bring photo ID. No trick questions — the answer is always in the four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drawn from each of 35 question groups. Students can identify their weakest subelements and know exactly how many exam questions they face from each. G1, G2, G4, G9 carry the most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exactly like the real exam. No talking, no looking things up. Grade as a group immediately after. Students who score 26+ are passing — but we push for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just say the right answer — explain WHY. Focus on the reasoning, not letter memorization. Flag weak subelements per student for targeted drilling in Hour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splits if needed. Rapid-fire on the most-missed topics. Then a second practice exam focused on weak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cheat-sheet slide. Leave it up during targeted drilling. These are the highest-probability exam questions across all ten subelements.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Propagation and safety each contribute a few questions. The D-layer nighttime disappearance (why 40m/80m open at night), MUF concept, and duty cycle for MPE calculations are the most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send-off. Keep it short and sincere. They did the work. The exam is a formality at this point. Remind them about CORES and give them the URL. Remind them once their license shows Active in ULS they can operate — they don't wait for a paper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0B981"/>
          </a:solidFill>
          <a:ln/>
        </p:spPr>
      </p:sp>
      <p:sp>
        <p:nvSpPr>
          <p:cNvPr id="3" name="Text 1"/>
          <p:cNvSpPr/>
          <p:nvPr/>
        </p:nvSpPr>
        <p:spPr>
          <a:xfrm>
            <a:off x="457200" y="457200"/>
            <a:ext cx="8229600" cy="274320"/>
          </a:xfrm>
          <a:prstGeom prst="rect">
            <a:avLst/>
          </a:prstGeom>
          <a:noFill/>
          <a:ln/>
        </p:spPr>
        <p:txBody>
          <a:bodyPr wrap="square" rtlCol="0" anchor="ctr"/>
          <a:lstStyle/>
          <a:p>
            <a:pPr indent="0" marL="0">
              <a:buNone/>
            </a:pPr>
            <a:r>
              <a:rPr lang="en-US" sz="900" b="1" spc="200" kern="0" dirty="0">
                <a:solidFill>
                  <a:srgbClr val="6EE7B7"/>
                </a:solidFill>
                <a:latin typeface="Calibri" pitchFamily="34" charset="0"/>
                <a:ea typeface="Calibri" pitchFamily="34" charset="-122"/>
                <a:cs typeface="Calibri" pitchFamily="34" charset="-120"/>
              </a:rPr>
              <a:t>TavaOne Education</a:t>
            </a:r>
            <a:endParaRPr lang="en-US" sz="900" dirty="0"/>
          </a:p>
        </p:txBody>
      </p:sp>
      <p:sp>
        <p:nvSpPr>
          <p:cNvPr id="4" name="Text 2"/>
          <p:cNvSpPr/>
          <p:nvPr/>
        </p:nvSpPr>
        <p:spPr>
          <a:xfrm>
            <a:off x="457200" y="777240"/>
            <a:ext cx="822960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General License Course · 2023–2027 Pool</a:t>
            </a:r>
            <a:endParaRPr lang="en-US" sz="1000" dirty="0"/>
          </a:p>
        </p:txBody>
      </p:sp>
      <p:sp>
        <p:nvSpPr>
          <p:cNvPr id="5" name="Text 3"/>
          <p:cNvSpPr/>
          <p:nvPr/>
        </p:nvSpPr>
        <p:spPr>
          <a:xfrm>
            <a:off x="457200" y="1828800"/>
            <a:ext cx="7772400" cy="2011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Module 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Capstone &amp;</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Exam Prep</a:t>
            </a:r>
            <a:endParaRPr lang="en-US" sz="3600" dirty="0"/>
          </a:p>
        </p:txBody>
      </p:sp>
      <p:sp>
        <p:nvSpPr>
          <p:cNvPr id="6" name="Text 4"/>
          <p:cNvSpPr/>
          <p:nvPr/>
        </p:nvSpPr>
        <p:spPr>
          <a:xfrm>
            <a:off x="457200" y="3931920"/>
            <a:ext cx="7772400" cy="457200"/>
          </a:xfrm>
          <a:prstGeom prst="rect">
            <a:avLst/>
          </a:prstGeom>
          <a:noFill/>
          <a:ln/>
        </p:spPr>
        <p:txBody>
          <a:bodyPr wrap="square" rtlCol="0" anchor="ctr"/>
          <a:lstStyle/>
          <a:p>
            <a:pPr indent="0" marL="0">
              <a:buNone/>
            </a:pPr>
            <a:r>
              <a:rPr lang="en-US" sz="1600" dirty="0">
                <a:solidFill>
                  <a:srgbClr val="6EE7B7"/>
                </a:solidFill>
                <a:latin typeface="Calibri" pitchFamily="34" charset="0"/>
                <a:ea typeface="Calibri" pitchFamily="34" charset="-122"/>
                <a:cs typeface="Calibri" pitchFamily="34" charset="-120"/>
              </a:rPr>
              <a:t>Full Pool Review · 2 Practice Exams · You're Ready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Exam Day Logistics</a:t>
            </a:r>
            <a:endParaRPr lang="en-US" sz="26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914400"/>
            <a:ext cx="1188720" cy="457200"/>
          </a:xfrm>
          <a:prstGeom prst="rect">
            <a:avLst/>
          </a:prstGeom>
          <a:noFill/>
          <a:ln/>
        </p:spPr>
        <p:txBody>
          <a:bodyPr wrap="square" rtlCol="0" anchor="ctr"/>
          <a:lstStyle/>
          <a:p>
            <a:pPr indent="0" marL="0">
              <a:buNone/>
            </a:pPr>
            <a:r>
              <a:rPr lang="en-US" sz="1200" b="1" dirty="0">
                <a:solidFill>
                  <a:srgbClr val="6EE7B7"/>
                </a:solidFill>
                <a:latin typeface="Calibri" pitchFamily="34" charset="0"/>
                <a:ea typeface="Calibri" pitchFamily="34" charset="-122"/>
                <a:cs typeface="Calibri" pitchFamily="34" charset="-120"/>
              </a:rPr>
              <a:t>WHERE</a:t>
            </a:r>
            <a:endParaRPr lang="en-US" sz="1200" dirty="0"/>
          </a:p>
        </p:txBody>
      </p:sp>
      <p:sp>
        <p:nvSpPr>
          <p:cNvPr id="6" name="Text 4"/>
          <p:cNvSpPr/>
          <p:nvPr/>
        </p:nvSpPr>
        <p:spPr>
          <a:xfrm>
            <a:off x="1737360" y="914400"/>
            <a:ext cx="71323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Right here — VEs come to us at the Pinellas STEM Radio Lab</a:t>
            </a:r>
            <a:endParaRPr lang="en-US" sz="1300" dirty="0"/>
          </a:p>
        </p:txBody>
      </p:sp>
      <p:sp>
        <p:nvSpPr>
          <p:cNvPr id="7" name="Text 5"/>
          <p:cNvSpPr/>
          <p:nvPr/>
        </p:nvSpPr>
        <p:spPr>
          <a:xfrm>
            <a:off x="457200" y="1828800"/>
            <a:ext cx="1188720" cy="457200"/>
          </a:xfrm>
          <a:prstGeom prst="rect">
            <a:avLst/>
          </a:prstGeom>
          <a:noFill/>
          <a:ln/>
        </p:spPr>
        <p:txBody>
          <a:bodyPr wrap="square" rtlCol="0" anchor="ctr"/>
          <a:lstStyle/>
          <a:p>
            <a:pPr indent="0" marL="0">
              <a:buNone/>
            </a:pPr>
            <a:r>
              <a:rPr lang="en-US" sz="1200" b="1" dirty="0">
                <a:solidFill>
                  <a:srgbClr val="6EE7B7"/>
                </a:solidFill>
                <a:latin typeface="Calibri" pitchFamily="34" charset="0"/>
                <a:ea typeface="Calibri" pitchFamily="34" charset="-122"/>
                <a:cs typeface="Calibri" pitchFamily="34" charset="-120"/>
              </a:rPr>
              <a:t>BRING</a:t>
            </a:r>
            <a:endParaRPr lang="en-US" sz="1200" dirty="0"/>
          </a:p>
        </p:txBody>
      </p:sp>
      <p:sp>
        <p:nvSpPr>
          <p:cNvPr id="8" name="Text 6"/>
          <p:cNvSpPr/>
          <p:nvPr/>
        </p:nvSpPr>
        <p:spPr>
          <a:xfrm>
            <a:off x="1737360" y="1828800"/>
            <a:ext cx="71323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Government-issued photo ID · Your existing Technician license</a:t>
            </a:r>
            <a:endParaRPr lang="en-US" sz="1300" dirty="0"/>
          </a:p>
        </p:txBody>
      </p:sp>
      <p:sp>
        <p:nvSpPr>
          <p:cNvPr id="9" name="Text 7"/>
          <p:cNvSpPr/>
          <p:nvPr/>
        </p:nvSpPr>
        <p:spPr>
          <a:xfrm>
            <a:off x="457200" y="2743200"/>
            <a:ext cx="1188720" cy="457200"/>
          </a:xfrm>
          <a:prstGeom prst="rect">
            <a:avLst/>
          </a:prstGeom>
          <a:noFill/>
          <a:ln/>
        </p:spPr>
        <p:txBody>
          <a:bodyPr wrap="square" rtlCol="0" anchor="ctr"/>
          <a:lstStyle/>
          <a:p>
            <a:pPr indent="0" marL="0">
              <a:buNone/>
            </a:pPr>
            <a:r>
              <a:rPr lang="en-US" sz="1200" b="1" dirty="0">
                <a:solidFill>
                  <a:srgbClr val="6EE7B7"/>
                </a:solidFill>
                <a:latin typeface="Calibri" pitchFamily="34" charset="0"/>
                <a:ea typeface="Calibri" pitchFamily="34" charset="-122"/>
                <a:cs typeface="Calibri" pitchFamily="34" charset="-120"/>
              </a:rPr>
              <a:t>FRN</a:t>
            </a:r>
            <a:endParaRPr lang="en-US" sz="1200" dirty="0"/>
          </a:p>
        </p:txBody>
      </p:sp>
      <p:sp>
        <p:nvSpPr>
          <p:cNvPr id="10" name="Text 8"/>
          <p:cNvSpPr/>
          <p:nvPr/>
        </p:nvSpPr>
        <p:spPr>
          <a:xfrm>
            <a:off x="1737360" y="2743200"/>
            <a:ext cx="71323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Bring your FCC Registration Number if you have one; VEs can look you up if not</a:t>
            </a:r>
            <a:endParaRPr lang="en-US" sz="1300" dirty="0"/>
          </a:p>
        </p:txBody>
      </p:sp>
      <p:sp>
        <p:nvSpPr>
          <p:cNvPr id="11" name="Text 9"/>
          <p:cNvSpPr/>
          <p:nvPr/>
        </p:nvSpPr>
        <p:spPr>
          <a:xfrm>
            <a:off x="457200" y="3657600"/>
            <a:ext cx="1188720" cy="457200"/>
          </a:xfrm>
          <a:prstGeom prst="rect">
            <a:avLst/>
          </a:prstGeom>
          <a:noFill/>
          <a:ln/>
        </p:spPr>
        <p:txBody>
          <a:bodyPr wrap="square" rtlCol="0" anchor="ctr"/>
          <a:lstStyle/>
          <a:p>
            <a:pPr indent="0" marL="0">
              <a:buNone/>
            </a:pPr>
            <a:r>
              <a:rPr lang="en-US" sz="1200" b="1" dirty="0">
                <a:solidFill>
                  <a:srgbClr val="6EE7B7"/>
                </a:solidFill>
                <a:latin typeface="Calibri" pitchFamily="34" charset="0"/>
                <a:ea typeface="Calibri" pitchFamily="34" charset="-122"/>
                <a:cs typeface="Calibri" pitchFamily="34" charset="-120"/>
              </a:rPr>
              <a:t>FEE</a:t>
            </a:r>
            <a:endParaRPr lang="en-US" sz="1200" dirty="0"/>
          </a:p>
        </p:txBody>
      </p:sp>
      <p:sp>
        <p:nvSpPr>
          <p:cNvPr id="12" name="Text 10"/>
          <p:cNvSpPr/>
          <p:nvPr/>
        </p:nvSpPr>
        <p:spPr>
          <a:xfrm>
            <a:off x="1737360" y="3657600"/>
            <a:ext cx="71323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$35 FCC fee — paid ONLINE through CORES after the VEs submit your application. NOT paid at the exam.</a:t>
            </a:r>
            <a:endParaRPr lang="en-US" sz="1300" dirty="0"/>
          </a:p>
        </p:txBody>
      </p:sp>
      <p:sp>
        <p:nvSpPr>
          <p:cNvPr id="13" name="Text 11"/>
          <p:cNvSpPr/>
          <p:nvPr/>
        </p:nvSpPr>
        <p:spPr>
          <a:xfrm>
            <a:off x="457200" y="4572000"/>
            <a:ext cx="1188720" cy="457200"/>
          </a:xfrm>
          <a:prstGeom prst="rect">
            <a:avLst/>
          </a:prstGeom>
          <a:noFill/>
          <a:ln/>
        </p:spPr>
        <p:txBody>
          <a:bodyPr wrap="square" rtlCol="0" anchor="ctr"/>
          <a:lstStyle/>
          <a:p>
            <a:pPr indent="0" marL="0">
              <a:buNone/>
            </a:pPr>
            <a:r>
              <a:rPr lang="en-US" sz="1200" b="1" dirty="0">
                <a:solidFill>
                  <a:srgbClr val="6EE7B7"/>
                </a:solidFill>
                <a:latin typeface="Calibri" pitchFamily="34" charset="0"/>
                <a:ea typeface="Calibri" pitchFamily="34" charset="-122"/>
                <a:cs typeface="Calibri" pitchFamily="34" charset="-120"/>
              </a:rPr>
              <a:t>FORMAT</a:t>
            </a:r>
            <a:endParaRPr lang="en-US" sz="1200" dirty="0"/>
          </a:p>
        </p:txBody>
      </p:sp>
      <p:sp>
        <p:nvSpPr>
          <p:cNvPr id="14" name="Text 12"/>
          <p:cNvSpPr/>
          <p:nvPr/>
        </p:nvSpPr>
        <p:spPr>
          <a:xfrm>
            <a:off x="1737360" y="4572000"/>
            <a:ext cx="71323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35 questions · multiple choice · 4 options · 26 correct to pass (74%)</a:t>
            </a:r>
            <a:endParaRPr lang="en-US" sz="1300" dirty="0"/>
          </a:p>
        </p:txBody>
      </p:sp>
      <p:sp>
        <p:nvSpPr>
          <p:cNvPr id="15" name="Text 13"/>
          <p:cNvSpPr/>
          <p:nvPr/>
        </p:nvSpPr>
        <p:spPr>
          <a:xfrm>
            <a:off x="457200" y="5486400"/>
            <a:ext cx="1188720" cy="457200"/>
          </a:xfrm>
          <a:prstGeom prst="rect">
            <a:avLst/>
          </a:prstGeom>
          <a:noFill/>
          <a:ln/>
        </p:spPr>
        <p:txBody>
          <a:bodyPr wrap="square" rtlCol="0" anchor="ctr"/>
          <a:lstStyle/>
          <a:p>
            <a:pPr indent="0" marL="0">
              <a:buNone/>
            </a:pPr>
            <a:r>
              <a:rPr lang="en-US" sz="1200" b="1" dirty="0">
                <a:solidFill>
                  <a:srgbClr val="6EE7B7"/>
                </a:solidFill>
                <a:latin typeface="Calibri" pitchFamily="34" charset="0"/>
                <a:ea typeface="Calibri" pitchFamily="34" charset="-122"/>
                <a:cs typeface="Calibri" pitchFamily="34" charset="-120"/>
              </a:rPr>
              <a:t>TIME</a:t>
            </a:r>
            <a:endParaRPr lang="en-US" sz="1200" dirty="0"/>
          </a:p>
        </p:txBody>
      </p:sp>
      <p:sp>
        <p:nvSpPr>
          <p:cNvPr id="16" name="Text 14"/>
          <p:cNvSpPr/>
          <p:nvPr/>
        </p:nvSpPr>
        <p:spPr>
          <a:xfrm>
            <a:off x="1737360" y="5486400"/>
            <a:ext cx="713232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Most people finish in 15–20 minutes. No rush.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What's on the Exam</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Shape 3"/>
          <p:cNvSpPr/>
          <p:nvPr/>
        </p:nvSpPr>
        <p:spPr>
          <a:xfrm>
            <a:off x="274320" y="777240"/>
            <a:ext cx="8595360" cy="484632"/>
          </a:xfrm>
          <a:prstGeom prst="rect">
            <a:avLst/>
          </a:prstGeom>
          <a:solidFill>
            <a:srgbClr val="0F172A"/>
          </a:solidFill>
          <a:ln/>
        </p:spPr>
      </p:sp>
      <p:sp>
        <p:nvSpPr>
          <p:cNvPr id="6" name="Text 4"/>
          <p:cNvSpPr/>
          <p:nvPr/>
        </p:nvSpPr>
        <p:spPr>
          <a:xfrm>
            <a:off x="365760" y="850392"/>
            <a:ext cx="2743200" cy="347472"/>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Subelement</a:t>
            </a:r>
            <a:endParaRPr lang="en-US" sz="1100" dirty="0"/>
          </a:p>
        </p:txBody>
      </p:sp>
      <p:sp>
        <p:nvSpPr>
          <p:cNvPr id="7" name="Text 5"/>
          <p:cNvSpPr/>
          <p:nvPr/>
        </p:nvSpPr>
        <p:spPr>
          <a:xfrm>
            <a:off x="3200400" y="850392"/>
            <a:ext cx="4297680" cy="347472"/>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p>
        </p:txBody>
      </p:sp>
      <p:sp>
        <p:nvSpPr>
          <p:cNvPr id="8" name="Text 6"/>
          <p:cNvSpPr/>
          <p:nvPr/>
        </p:nvSpPr>
        <p:spPr>
          <a:xfrm>
            <a:off x="7589520" y="850392"/>
            <a:ext cx="137160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 Questions</a:t>
            </a:r>
            <a:endParaRPr lang="en-US" sz="1100" dirty="0"/>
          </a:p>
        </p:txBody>
      </p:sp>
      <p:sp>
        <p:nvSpPr>
          <p:cNvPr id="9" name="Shape 7"/>
          <p:cNvSpPr/>
          <p:nvPr/>
        </p:nvSpPr>
        <p:spPr>
          <a:xfrm>
            <a:off x="274320" y="1280160"/>
            <a:ext cx="8595360" cy="484632"/>
          </a:xfrm>
          <a:prstGeom prst="rect">
            <a:avLst/>
          </a:prstGeom>
          <a:solidFill>
            <a:srgbClr val="FFFFFF"/>
          </a:solidFill>
          <a:ln/>
        </p:spPr>
      </p:sp>
      <p:sp>
        <p:nvSpPr>
          <p:cNvPr id="10" name="Text 8"/>
          <p:cNvSpPr/>
          <p:nvPr/>
        </p:nvSpPr>
        <p:spPr>
          <a:xfrm>
            <a:off x="365760" y="135331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G1</a:t>
            </a:r>
            <a:endParaRPr lang="en-US" sz="1100" dirty="0"/>
          </a:p>
        </p:txBody>
      </p:sp>
      <p:sp>
        <p:nvSpPr>
          <p:cNvPr id="11" name="Text 9"/>
          <p:cNvSpPr/>
          <p:nvPr/>
        </p:nvSpPr>
        <p:spPr>
          <a:xfrm>
            <a:off x="3200400" y="135331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Commission's Rules</a:t>
            </a:r>
            <a:endParaRPr lang="en-US" sz="1100" dirty="0"/>
          </a:p>
        </p:txBody>
      </p:sp>
      <p:sp>
        <p:nvSpPr>
          <p:cNvPr id="12" name="Text 10"/>
          <p:cNvSpPr/>
          <p:nvPr/>
        </p:nvSpPr>
        <p:spPr>
          <a:xfrm>
            <a:off x="7589520" y="135331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5</a:t>
            </a:r>
            <a:endParaRPr lang="en-US" sz="1100" dirty="0"/>
          </a:p>
        </p:txBody>
      </p:sp>
      <p:sp>
        <p:nvSpPr>
          <p:cNvPr id="13" name="Shape 11"/>
          <p:cNvSpPr/>
          <p:nvPr/>
        </p:nvSpPr>
        <p:spPr>
          <a:xfrm>
            <a:off x="274320" y="1783080"/>
            <a:ext cx="8595360" cy="484632"/>
          </a:xfrm>
          <a:prstGeom prst="rect">
            <a:avLst/>
          </a:prstGeom>
          <a:solidFill>
            <a:srgbClr val="F8FAFC"/>
          </a:solidFill>
          <a:ln/>
        </p:spPr>
      </p:sp>
      <p:sp>
        <p:nvSpPr>
          <p:cNvPr id="14" name="Text 12"/>
          <p:cNvSpPr/>
          <p:nvPr/>
        </p:nvSpPr>
        <p:spPr>
          <a:xfrm>
            <a:off x="365760" y="185623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G2</a:t>
            </a:r>
            <a:endParaRPr lang="en-US" sz="1100" dirty="0"/>
          </a:p>
        </p:txBody>
      </p:sp>
      <p:sp>
        <p:nvSpPr>
          <p:cNvPr id="15" name="Text 13"/>
          <p:cNvSpPr/>
          <p:nvPr/>
        </p:nvSpPr>
        <p:spPr>
          <a:xfrm>
            <a:off x="3200400" y="185623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Operating Procedures</a:t>
            </a:r>
            <a:endParaRPr lang="en-US" sz="1100" dirty="0"/>
          </a:p>
        </p:txBody>
      </p:sp>
      <p:sp>
        <p:nvSpPr>
          <p:cNvPr id="16" name="Text 14"/>
          <p:cNvSpPr/>
          <p:nvPr/>
        </p:nvSpPr>
        <p:spPr>
          <a:xfrm>
            <a:off x="7589520" y="185623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5</a:t>
            </a:r>
            <a:endParaRPr lang="en-US" sz="1100" dirty="0"/>
          </a:p>
        </p:txBody>
      </p:sp>
      <p:sp>
        <p:nvSpPr>
          <p:cNvPr id="17" name="Shape 15"/>
          <p:cNvSpPr/>
          <p:nvPr/>
        </p:nvSpPr>
        <p:spPr>
          <a:xfrm>
            <a:off x="274320" y="2286000"/>
            <a:ext cx="8595360" cy="484632"/>
          </a:xfrm>
          <a:prstGeom prst="rect">
            <a:avLst/>
          </a:prstGeom>
          <a:solidFill>
            <a:srgbClr val="FFFFFF"/>
          </a:solidFill>
          <a:ln/>
        </p:spPr>
      </p:sp>
      <p:sp>
        <p:nvSpPr>
          <p:cNvPr id="18" name="Text 16"/>
          <p:cNvSpPr/>
          <p:nvPr/>
        </p:nvSpPr>
        <p:spPr>
          <a:xfrm>
            <a:off x="365760" y="235915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G3</a:t>
            </a:r>
            <a:endParaRPr lang="en-US" sz="1100" dirty="0"/>
          </a:p>
        </p:txBody>
      </p:sp>
      <p:sp>
        <p:nvSpPr>
          <p:cNvPr id="19" name="Text 17"/>
          <p:cNvSpPr/>
          <p:nvPr/>
        </p:nvSpPr>
        <p:spPr>
          <a:xfrm>
            <a:off x="3200400" y="235915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Radio Wave Propagation</a:t>
            </a:r>
            <a:endParaRPr lang="en-US" sz="1100" dirty="0"/>
          </a:p>
        </p:txBody>
      </p:sp>
      <p:sp>
        <p:nvSpPr>
          <p:cNvPr id="20" name="Text 18"/>
          <p:cNvSpPr/>
          <p:nvPr/>
        </p:nvSpPr>
        <p:spPr>
          <a:xfrm>
            <a:off x="7589520" y="235915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3</a:t>
            </a:r>
            <a:endParaRPr lang="en-US" sz="1100" dirty="0"/>
          </a:p>
        </p:txBody>
      </p:sp>
      <p:sp>
        <p:nvSpPr>
          <p:cNvPr id="21" name="Shape 19"/>
          <p:cNvSpPr/>
          <p:nvPr/>
        </p:nvSpPr>
        <p:spPr>
          <a:xfrm>
            <a:off x="274320" y="2788920"/>
            <a:ext cx="8595360" cy="484632"/>
          </a:xfrm>
          <a:prstGeom prst="rect">
            <a:avLst/>
          </a:prstGeom>
          <a:solidFill>
            <a:srgbClr val="F8FAFC"/>
          </a:solidFill>
          <a:ln/>
        </p:spPr>
      </p:sp>
      <p:sp>
        <p:nvSpPr>
          <p:cNvPr id="22" name="Text 20"/>
          <p:cNvSpPr/>
          <p:nvPr/>
        </p:nvSpPr>
        <p:spPr>
          <a:xfrm>
            <a:off x="365760" y="286207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G4</a:t>
            </a:r>
            <a:endParaRPr lang="en-US" sz="1100" dirty="0"/>
          </a:p>
        </p:txBody>
      </p:sp>
      <p:sp>
        <p:nvSpPr>
          <p:cNvPr id="23" name="Text 21"/>
          <p:cNvSpPr/>
          <p:nvPr/>
        </p:nvSpPr>
        <p:spPr>
          <a:xfrm>
            <a:off x="3200400" y="286207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Amateur Radio Practices</a:t>
            </a:r>
            <a:endParaRPr lang="en-US" sz="1100" dirty="0"/>
          </a:p>
        </p:txBody>
      </p:sp>
      <p:sp>
        <p:nvSpPr>
          <p:cNvPr id="24" name="Text 22"/>
          <p:cNvSpPr/>
          <p:nvPr/>
        </p:nvSpPr>
        <p:spPr>
          <a:xfrm>
            <a:off x="7589520" y="286207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5</a:t>
            </a:r>
            <a:endParaRPr lang="en-US" sz="1100" dirty="0"/>
          </a:p>
        </p:txBody>
      </p:sp>
      <p:sp>
        <p:nvSpPr>
          <p:cNvPr id="25" name="Shape 23"/>
          <p:cNvSpPr/>
          <p:nvPr/>
        </p:nvSpPr>
        <p:spPr>
          <a:xfrm>
            <a:off x="274320" y="3291840"/>
            <a:ext cx="8595360" cy="484632"/>
          </a:xfrm>
          <a:prstGeom prst="rect">
            <a:avLst/>
          </a:prstGeom>
          <a:solidFill>
            <a:srgbClr val="FFFFFF"/>
          </a:solidFill>
          <a:ln/>
        </p:spPr>
      </p:sp>
      <p:sp>
        <p:nvSpPr>
          <p:cNvPr id="26" name="Text 24"/>
          <p:cNvSpPr/>
          <p:nvPr/>
        </p:nvSpPr>
        <p:spPr>
          <a:xfrm>
            <a:off x="365760" y="336499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G5</a:t>
            </a:r>
            <a:endParaRPr lang="en-US" sz="1100" dirty="0"/>
          </a:p>
        </p:txBody>
      </p:sp>
      <p:sp>
        <p:nvSpPr>
          <p:cNvPr id="27" name="Text 25"/>
          <p:cNvSpPr/>
          <p:nvPr/>
        </p:nvSpPr>
        <p:spPr>
          <a:xfrm>
            <a:off x="3200400" y="336499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Electrical Principles</a:t>
            </a:r>
            <a:endParaRPr lang="en-US" sz="1100" dirty="0"/>
          </a:p>
        </p:txBody>
      </p:sp>
      <p:sp>
        <p:nvSpPr>
          <p:cNvPr id="28" name="Text 26"/>
          <p:cNvSpPr/>
          <p:nvPr/>
        </p:nvSpPr>
        <p:spPr>
          <a:xfrm>
            <a:off x="7589520" y="336499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3</a:t>
            </a:r>
            <a:endParaRPr lang="en-US" sz="1100" dirty="0"/>
          </a:p>
        </p:txBody>
      </p:sp>
      <p:sp>
        <p:nvSpPr>
          <p:cNvPr id="29" name="Shape 27"/>
          <p:cNvSpPr/>
          <p:nvPr/>
        </p:nvSpPr>
        <p:spPr>
          <a:xfrm>
            <a:off x="274320" y="3794760"/>
            <a:ext cx="8595360" cy="484632"/>
          </a:xfrm>
          <a:prstGeom prst="rect">
            <a:avLst/>
          </a:prstGeom>
          <a:solidFill>
            <a:srgbClr val="F8FAFC"/>
          </a:solidFill>
          <a:ln/>
        </p:spPr>
      </p:sp>
      <p:sp>
        <p:nvSpPr>
          <p:cNvPr id="30" name="Text 28"/>
          <p:cNvSpPr/>
          <p:nvPr/>
        </p:nvSpPr>
        <p:spPr>
          <a:xfrm>
            <a:off x="365760" y="386791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G6</a:t>
            </a:r>
            <a:endParaRPr lang="en-US" sz="1100" dirty="0"/>
          </a:p>
        </p:txBody>
      </p:sp>
      <p:sp>
        <p:nvSpPr>
          <p:cNvPr id="31" name="Text 29"/>
          <p:cNvSpPr/>
          <p:nvPr/>
        </p:nvSpPr>
        <p:spPr>
          <a:xfrm>
            <a:off x="3200400" y="386791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Circuit Components</a:t>
            </a:r>
            <a:endParaRPr lang="en-US" sz="1100" dirty="0"/>
          </a:p>
        </p:txBody>
      </p:sp>
      <p:sp>
        <p:nvSpPr>
          <p:cNvPr id="32" name="Text 30"/>
          <p:cNvSpPr/>
          <p:nvPr/>
        </p:nvSpPr>
        <p:spPr>
          <a:xfrm>
            <a:off x="7589520" y="386791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2</a:t>
            </a:r>
            <a:endParaRPr lang="en-US" sz="1100" dirty="0"/>
          </a:p>
        </p:txBody>
      </p:sp>
      <p:sp>
        <p:nvSpPr>
          <p:cNvPr id="33" name="Shape 31"/>
          <p:cNvSpPr/>
          <p:nvPr/>
        </p:nvSpPr>
        <p:spPr>
          <a:xfrm>
            <a:off x="274320" y="4297680"/>
            <a:ext cx="8595360" cy="484632"/>
          </a:xfrm>
          <a:prstGeom prst="rect">
            <a:avLst/>
          </a:prstGeom>
          <a:solidFill>
            <a:srgbClr val="FFFFFF"/>
          </a:solidFill>
          <a:ln/>
        </p:spPr>
      </p:sp>
      <p:sp>
        <p:nvSpPr>
          <p:cNvPr id="34" name="Text 32"/>
          <p:cNvSpPr/>
          <p:nvPr/>
        </p:nvSpPr>
        <p:spPr>
          <a:xfrm>
            <a:off x="365760" y="437083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G7</a:t>
            </a:r>
            <a:endParaRPr lang="en-US" sz="1100" dirty="0"/>
          </a:p>
        </p:txBody>
      </p:sp>
      <p:sp>
        <p:nvSpPr>
          <p:cNvPr id="35" name="Text 33"/>
          <p:cNvSpPr/>
          <p:nvPr/>
        </p:nvSpPr>
        <p:spPr>
          <a:xfrm>
            <a:off x="3200400" y="437083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Practical Circuits</a:t>
            </a:r>
            <a:endParaRPr lang="en-US" sz="1100" dirty="0"/>
          </a:p>
        </p:txBody>
      </p:sp>
      <p:sp>
        <p:nvSpPr>
          <p:cNvPr id="36" name="Text 34"/>
          <p:cNvSpPr/>
          <p:nvPr/>
        </p:nvSpPr>
        <p:spPr>
          <a:xfrm>
            <a:off x="7589520" y="437083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3</a:t>
            </a:r>
            <a:endParaRPr lang="en-US" sz="1100" dirty="0"/>
          </a:p>
        </p:txBody>
      </p:sp>
      <p:sp>
        <p:nvSpPr>
          <p:cNvPr id="37" name="Shape 35"/>
          <p:cNvSpPr/>
          <p:nvPr/>
        </p:nvSpPr>
        <p:spPr>
          <a:xfrm>
            <a:off x="274320" y="4800600"/>
            <a:ext cx="8595360" cy="484632"/>
          </a:xfrm>
          <a:prstGeom prst="rect">
            <a:avLst/>
          </a:prstGeom>
          <a:solidFill>
            <a:srgbClr val="F8FAFC"/>
          </a:solidFill>
          <a:ln/>
        </p:spPr>
      </p:sp>
      <p:sp>
        <p:nvSpPr>
          <p:cNvPr id="38" name="Text 36"/>
          <p:cNvSpPr/>
          <p:nvPr/>
        </p:nvSpPr>
        <p:spPr>
          <a:xfrm>
            <a:off x="365760" y="487375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G8</a:t>
            </a:r>
            <a:endParaRPr lang="en-US" sz="1100" dirty="0"/>
          </a:p>
        </p:txBody>
      </p:sp>
      <p:sp>
        <p:nvSpPr>
          <p:cNvPr id="39" name="Text 37"/>
          <p:cNvSpPr/>
          <p:nvPr/>
        </p:nvSpPr>
        <p:spPr>
          <a:xfrm>
            <a:off x="3200400" y="487375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Signals and Emissions</a:t>
            </a:r>
            <a:endParaRPr lang="en-US" sz="1100" dirty="0"/>
          </a:p>
        </p:txBody>
      </p:sp>
      <p:sp>
        <p:nvSpPr>
          <p:cNvPr id="40" name="Text 38"/>
          <p:cNvSpPr/>
          <p:nvPr/>
        </p:nvSpPr>
        <p:spPr>
          <a:xfrm>
            <a:off x="7589520" y="487375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3</a:t>
            </a:r>
            <a:endParaRPr lang="en-US" sz="1100" dirty="0"/>
          </a:p>
        </p:txBody>
      </p:sp>
      <p:sp>
        <p:nvSpPr>
          <p:cNvPr id="41" name="Shape 39"/>
          <p:cNvSpPr/>
          <p:nvPr/>
        </p:nvSpPr>
        <p:spPr>
          <a:xfrm>
            <a:off x="274320" y="5303520"/>
            <a:ext cx="8595360" cy="484632"/>
          </a:xfrm>
          <a:prstGeom prst="rect">
            <a:avLst/>
          </a:prstGeom>
          <a:solidFill>
            <a:srgbClr val="FFFFFF"/>
          </a:solidFill>
          <a:ln/>
        </p:spPr>
      </p:sp>
      <p:sp>
        <p:nvSpPr>
          <p:cNvPr id="42" name="Text 40"/>
          <p:cNvSpPr/>
          <p:nvPr/>
        </p:nvSpPr>
        <p:spPr>
          <a:xfrm>
            <a:off x="365760" y="537667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G9</a:t>
            </a:r>
            <a:endParaRPr lang="en-US" sz="1100" dirty="0"/>
          </a:p>
        </p:txBody>
      </p:sp>
      <p:sp>
        <p:nvSpPr>
          <p:cNvPr id="43" name="Text 41"/>
          <p:cNvSpPr/>
          <p:nvPr/>
        </p:nvSpPr>
        <p:spPr>
          <a:xfrm>
            <a:off x="3200400" y="5376672"/>
            <a:ext cx="429768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Antennas and Feed Lines</a:t>
            </a:r>
            <a:endParaRPr lang="en-US" sz="1100" dirty="0"/>
          </a:p>
        </p:txBody>
      </p:sp>
      <p:sp>
        <p:nvSpPr>
          <p:cNvPr id="44" name="Text 42"/>
          <p:cNvSpPr/>
          <p:nvPr/>
        </p:nvSpPr>
        <p:spPr>
          <a:xfrm>
            <a:off x="7589520" y="537667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4</a:t>
            </a:r>
            <a:endParaRPr lang="en-US" sz="1100" dirty="0"/>
          </a:p>
        </p:txBody>
      </p:sp>
      <p:sp>
        <p:nvSpPr>
          <p:cNvPr id="45" name="Shape 43"/>
          <p:cNvSpPr/>
          <p:nvPr/>
        </p:nvSpPr>
        <p:spPr>
          <a:xfrm>
            <a:off x="274320" y="5806440"/>
            <a:ext cx="8595360" cy="484632"/>
          </a:xfrm>
          <a:prstGeom prst="rect">
            <a:avLst/>
          </a:prstGeom>
          <a:solidFill>
            <a:srgbClr val="065F46"/>
          </a:solidFill>
          <a:ln/>
        </p:spPr>
      </p:sp>
      <p:sp>
        <p:nvSpPr>
          <p:cNvPr id="46" name="Text 44"/>
          <p:cNvSpPr/>
          <p:nvPr/>
        </p:nvSpPr>
        <p:spPr>
          <a:xfrm>
            <a:off x="365760" y="5879592"/>
            <a:ext cx="2743200" cy="347472"/>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G0</a:t>
            </a:r>
            <a:endParaRPr lang="en-US" sz="1100" dirty="0"/>
          </a:p>
        </p:txBody>
      </p:sp>
      <p:sp>
        <p:nvSpPr>
          <p:cNvPr id="47" name="Text 45"/>
          <p:cNvSpPr/>
          <p:nvPr/>
        </p:nvSpPr>
        <p:spPr>
          <a:xfrm>
            <a:off x="3200400" y="5879592"/>
            <a:ext cx="4297680" cy="347472"/>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Electrical and RF Safety</a:t>
            </a:r>
            <a:endParaRPr lang="en-US" sz="1100" dirty="0"/>
          </a:p>
        </p:txBody>
      </p:sp>
      <p:sp>
        <p:nvSpPr>
          <p:cNvPr id="48" name="Text 46"/>
          <p:cNvSpPr/>
          <p:nvPr/>
        </p:nvSpPr>
        <p:spPr>
          <a:xfrm>
            <a:off x="7589520" y="5879592"/>
            <a:ext cx="137160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9" name="Shape 47"/>
          <p:cNvSpPr/>
          <p:nvPr/>
        </p:nvSpPr>
        <p:spPr>
          <a:xfrm>
            <a:off x="274320" y="6309360"/>
            <a:ext cx="8595360" cy="484632"/>
          </a:xfrm>
          <a:prstGeom prst="rect">
            <a:avLst/>
          </a:prstGeom>
          <a:solidFill>
            <a:srgbClr val="FFFFFF"/>
          </a:solidFill>
          <a:ln/>
        </p:spPr>
      </p:sp>
      <p:sp>
        <p:nvSpPr>
          <p:cNvPr id="50" name="Text 48"/>
          <p:cNvSpPr/>
          <p:nvPr/>
        </p:nvSpPr>
        <p:spPr>
          <a:xfrm>
            <a:off x="365760" y="6382512"/>
            <a:ext cx="2743200" cy="347472"/>
          </a:xfrm>
          <a:prstGeom prst="rect">
            <a:avLst/>
          </a:prstGeom>
          <a:noFill/>
          <a:ln/>
        </p:spPr>
        <p:txBody>
          <a:bodyPr wrap="square" rtlCol="0" anchor="ctr"/>
          <a:lstStyle/>
          <a:p>
            <a:pPr algn="l" indent="0" marL="0">
              <a:buNone/>
            </a:pPr>
            <a:r>
              <a:rPr lang="en-US" sz="1100" dirty="0">
                <a:solidFill>
                  <a:srgbClr val="334155"/>
                </a:solidFill>
                <a:latin typeface="Calibri" pitchFamily="34" charset="0"/>
                <a:ea typeface="Calibri" pitchFamily="34" charset="-122"/>
                <a:cs typeface="Calibri" pitchFamily="34" charset="-120"/>
              </a:rPr>
              <a:t>TOTAL</a:t>
            </a:r>
            <a:endParaRPr lang="en-US" sz="1100" dirty="0"/>
          </a:p>
        </p:txBody>
      </p:sp>
      <p:sp>
        <p:nvSpPr>
          <p:cNvPr id="51" name="Text 49"/>
          <p:cNvSpPr/>
          <p:nvPr/>
        </p:nvSpPr>
        <p:spPr>
          <a:xfrm>
            <a:off x="3200400" y="6382512"/>
            <a:ext cx="4297680" cy="347472"/>
          </a:xfrm>
          <a:prstGeom prst="rect">
            <a:avLst/>
          </a:prstGeom>
          <a:noFill/>
          <a:ln/>
        </p:spPr>
        <p:txBody>
          <a:bodyPr wrap="square" rtlCol="0" anchor="ctr"/>
          <a:lstStyle/>
          <a:p>
            <a:pPr algn="l" indent="0" marL="0">
              <a:buNone/>
            </a:pPr>
            <a:endParaRPr lang="en-US" sz="1100" dirty="0"/>
          </a:p>
        </p:txBody>
      </p:sp>
      <p:sp>
        <p:nvSpPr>
          <p:cNvPr id="52" name="Text 50"/>
          <p:cNvSpPr/>
          <p:nvPr/>
        </p:nvSpPr>
        <p:spPr>
          <a:xfrm>
            <a:off x="7589520" y="6382512"/>
            <a:ext cx="1371600" cy="347472"/>
          </a:xfrm>
          <a:prstGeom prst="rect">
            <a:avLst/>
          </a:prstGeom>
          <a:noFill/>
          <a:ln/>
        </p:spPr>
        <p:txBody>
          <a:bodyPr wrap="square" rtlCol="0" anchor="ctr"/>
          <a:lstStyle/>
          <a:p>
            <a:pPr algn="ctr" indent="0" marL="0">
              <a:buNone/>
            </a:pPr>
            <a:r>
              <a:rPr lang="en-US" sz="1100" dirty="0">
                <a:solidFill>
                  <a:srgbClr val="065F46"/>
                </a:solidFill>
                <a:latin typeface="Calibri" pitchFamily="34" charset="0"/>
                <a:ea typeface="Calibri" pitchFamily="34" charset="-122"/>
                <a:cs typeface="Calibri" pitchFamily="34" charset="-120"/>
              </a:rPr>
              <a:t>35 (need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Practice Exam 1</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35 Questions · 30 Minutes · Silent Individual Work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Review</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Go Through Every Missed Question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Hour 2</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Targeted Review + Practice Exam 2</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Quick Reference: Most-Tested Facts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Rules &amp; Operating (G1/G2)</a:t>
            </a:r>
            <a:endParaRPr lang="en-US" sz="1300" dirty="0"/>
          </a:p>
        </p:txBody>
      </p:sp>
      <p:sp>
        <p:nvSpPr>
          <p:cNvPr id="6" name="Text 4"/>
          <p:cNvSpPr/>
          <p:nvPr/>
        </p:nvSpPr>
        <p:spPr>
          <a:xfrm>
            <a:off x="45720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60m: channelized, USB only, 100W ERP max</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30m: no phone, 200W max</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CEPT/IARP: General and above only (not Tech)</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VE minimum: 3 VEs per session</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General VEs: Element 2 only</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PRB-1: zoning must reasonably accommodate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LSB below 10 MHz, USB above 10 MHz</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QRL = is this freq in use?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ARES = ARRL volunteer; RACES = govt activated</a:t>
            </a:r>
            <a:endParaRPr lang="en-US" sz="1200" dirty="0"/>
          </a:p>
        </p:txBody>
      </p:sp>
      <p:sp>
        <p:nvSpPr>
          <p:cNvPr id="7" name="Shape 5"/>
          <p:cNvSpPr/>
          <p:nvPr/>
        </p:nvSpPr>
        <p:spPr>
          <a:xfrm>
            <a:off x="4572000" y="822960"/>
            <a:ext cx="0" cy="5394960"/>
          </a:xfrm>
          <a:prstGeom prst="line">
            <a:avLst/>
          </a:prstGeom>
          <a:noFill/>
          <a:ln w="6350">
            <a:solidFill>
              <a:srgbClr val="94A3B8"/>
            </a:solidFill>
            <a:prstDash val="solid"/>
          </a:ln>
        </p:spPr>
      </p:sp>
      <p:sp>
        <p:nvSpPr>
          <p:cNvPr id="8" name="Text 6"/>
          <p:cNvSpPr/>
          <p:nvPr/>
        </p:nvSpPr>
        <p:spPr>
          <a:xfrm>
            <a:off x="475488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Technical (G5/G7/G8/G9)</a:t>
            </a:r>
            <a:endParaRPr lang="en-US" sz="1300" dirty="0"/>
          </a:p>
        </p:txBody>
      </p:sp>
      <p:sp>
        <p:nvSpPr>
          <p:cNvPr id="9" name="Text 7"/>
          <p:cNvSpPr/>
          <p:nvPr/>
        </p:nvSpPr>
        <p:spPr>
          <a:xfrm>
            <a:off x="475488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Xc = 1/(2πfC) — decreases with frequency</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XL = 2πfL — increases with frequency</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Full-wave rectifier ripple = 120 Hz</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Class A/AB = linear (SSB); Class C = FM/CW only</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J3E = SSB suppressed carrier</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FM deviation: ±5 kHz max; capture effect</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Dipole = 468/f(MHz) feet</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SWR 2:1 = 11% reflected power</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ATU does NOT fix feed line SWR</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SSB duty cycle ≈ 20%; FM = 100%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Quick Reference: Propagation &amp; Safety (G3/G0)</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Propagation</a:t>
            </a:r>
            <a:endParaRPr lang="en-US" sz="1300" dirty="0"/>
          </a:p>
        </p:txBody>
      </p:sp>
      <p:sp>
        <p:nvSpPr>
          <p:cNvPr id="6" name="Text 4"/>
          <p:cNvSpPr/>
          <p:nvPr/>
        </p:nvSpPr>
        <p:spPr>
          <a:xfrm>
            <a:off x="45720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D layer: absorbs daytime, gone at night</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E layer: sporadic-E, unpredictable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F2 layer: the DX layer, reflects HF</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MUF: above it = goes to space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LUF: below it = absorbed by D layer</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High SFI = good HF; high K-index = bad</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NVIS: 80m/40m nearly vertical, regional</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Gray line: enhanced DX at dawn/dusk</a:t>
            </a:r>
            <a:endParaRPr lang="en-US" sz="1200" dirty="0"/>
          </a:p>
        </p:txBody>
      </p:sp>
      <p:sp>
        <p:nvSpPr>
          <p:cNvPr id="7" name="Shape 5"/>
          <p:cNvSpPr/>
          <p:nvPr/>
        </p:nvSpPr>
        <p:spPr>
          <a:xfrm>
            <a:off x="4572000" y="822960"/>
            <a:ext cx="0" cy="5394960"/>
          </a:xfrm>
          <a:prstGeom prst="line">
            <a:avLst/>
          </a:prstGeom>
          <a:noFill/>
          <a:ln w="6350">
            <a:solidFill>
              <a:srgbClr val="94A3B8"/>
            </a:solidFill>
            <a:prstDash val="solid"/>
          </a:ln>
        </p:spPr>
      </p:sp>
      <p:sp>
        <p:nvSpPr>
          <p:cNvPr id="8" name="Text 6"/>
          <p:cNvSpPr/>
          <p:nvPr/>
        </p:nvSpPr>
        <p:spPr>
          <a:xfrm>
            <a:off x="475488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Safety</a:t>
            </a:r>
            <a:endParaRPr lang="en-US" sz="1300" dirty="0"/>
          </a:p>
        </p:txBody>
      </p:sp>
      <p:sp>
        <p:nvSpPr>
          <p:cNvPr id="9" name="Text 7"/>
          <p:cNvSpPr/>
          <p:nvPr/>
        </p:nvSpPr>
        <p:spPr>
          <a:xfrm>
            <a:off x="475488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Filter caps hold charge after power off</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Bleeder resistor discharges caps safely</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Lightning: DISCONNECT antennas</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Gas discharge arrestors: close but not enough</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RF MPE: SSB ≈ 20% duty cycle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FM = 100% duty cycle for RF exposure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Controlled vs. uncontrolled MPE limits differ</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Distance is most effective exposure reducer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0B981"/>
          </a:solidFill>
          <a:ln/>
        </p:spPr>
      </p:sp>
      <p:sp>
        <p:nvSpPr>
          <p:cNvPr id="3" name="Text 1"/>
          <p:cNvSpPr/>
          <p:nvPr/>
        </p:nvSpPr>
        <p:spPr>
          <a:xfrm>
            <a:off x="457200" y="1097280"/>
            <a:ext cx="82296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You're Ready.</a:t>
            </a:r>
            <a:endParaRPr lang="en-US" sz="4200" dirty="0"/>
          </a:p>
        </p:txBody>
      </p:sp>
      <p:sp>
        <p:nvSpPr>
          <p:cNvPr id="4" name="Text 2"/>
          <p:cNvSpPr/>
          <p:nvPr/>
        </p:nvSpPr>
        <p:spPr>
          <a:xfrm>
            <a:off x="457200" y="2286000"/>
            <a:ext cx="8229600" cy="502920"/>
          </a:xfrm>
          <a:prstGeom prst="rect">
            <a:avLst/>
          </a:prstGeom>
          <a:noFill/>
          <a:ln/>
        </p:spPr>
        <p:txBody>
          <a:bodyPr wrap="square" rtlCol="0" anchor="ctr"/>
          <a:lstStyle/>
          <a:p>
            <a:pPr indent="0" marL="0">
              <a:buNone/>
            </a:pPr>
            <a:r>
              <a:rPr lang="en-US" sz="1800" dirty="0">
                <a:solidFill>
                  <a:srgbClr val="6EE7B7"/>
                </a:solidFill>
                <a:latin typeface="Calibri" pitchFamily="34" charset="0"/>
                <a:ea typeface="Calibri" pitchFamily="34" charset="-122"/>
                <a:cs typeface="Calibri" pitchFamily="34" charset="-120"/>
              </a:rPr>
              <a:t>You did the work. You know this material.</a:t>
            </a:r>
            <a:endParaRPr lang="en-US" sz="1800" dirty="0"/>
          </a:p>
        </p:txBody>
      </p:sp>
      <p:sp>
        <p:nvSpPr>
          <p:cNvPr id="5" name="Text 3"/>
          <p:cNvSpPr/>
          <p:nvPr/>
        </p:nvSpPr>
        <p:spPr>
          <a:xfrm>
            <a:off x="457200" y="3108960"/>
            <a:ext cx="8229600" cy="365760"/>
          </a:xfrm>
          <a:prstGeom prst="rect">
            <a:avLst/>
          </a:prstGeom>
          <a:noFill/>
          <a:ln/>
        </p:spPr>
        <p:txBody>
          <a:bodyPr wrap="square"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After you pass:</a:t>
            </a:r>
            <a:endParaRPr lang="en-US" sz="1300" dirty="0"/>
          </a:p>
        </p:txBody>
      </p:sp>
      <p:sp>
        <p:nvSpPr>
          <p:cNvPr id="6" name="Text 4"/>
          <p:cNvSpPr/>
          <p:nvPr/>
        </p:nvSpPr>
        <p:spPr>
          <a:xfrm>
            <a:off x="640080" y="3520440"/>
            <a:ext cx="82296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VEs submit your paperwork → pay $35 at CORES (fcc.gov) → license appears in ULS in a few days</a:t>
            </a:r>
            <a:endParaRPr lang="en-US" sz="1200" dirty="0"/>
          </a:p>
        </p:txBody>
      </p:sp>
      <p:sp>
        <p:nvSpPr>
          <p:cNvPr id="7" name="Text 5"/>
          <p:cNvSpPr/>
          <p:nvPr/>
        </p:nvSpPr>
        <p:spPr>
          <a:xfrm>
            <a:off x="640080" y="4023360"/>
            <a:ext cx="82296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Once Active in ULS → you can operate immediately, no paper license needed</a:t>
            </a:r>
            <a:endParaRPr lang="en-US" sz="1200" dirty="0"/>
          </a:p>
        </p:txBody>
      </p:sp>
      <p:sp>
        <p:nvSpPr>
          <p:cNvPr id="8" name="Text 6"/>
          <p:cNvSpPr/>
          <p:nvPr/>
        </p:nvSpPr>
        <p:spPr>
          <a:xfrm>
            <a:off x="640080" y="4526280"/>
            <a:ext cx="82296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What opens up: 80m, 40m, 20m phone · DX chasing · POTA on HF · HF contesting</a:t>
            </a:r>
            <a:endParaRPr lang="en-US" sz="1200" dirty="0"/>
          </a:p>
        </p:txBody>
      </p:sp>
      <p:sp>
        <p:nvSpPr>
          <p:cNvPr id="9" name="Text 7"/>
          <p:cNvSpPr/>
          <p:nvPr/>
        </p:nvSpPr>
        <p:spPr>
          <a:xfrm>
            <a:off x="457200" y="5669280"/>
            <a:ext cx="822960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73 de TavaOne Education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2026-09-19T12:02:31Z</dcterms:created>
  <dcterms:modified xsi:type="dcterms:W3CDTF">2026-09-19T12:02:31Z</dcterms:modified>
</cp:coreProperties>
</file>